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4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3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12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35.png" ContentType="image/png"/>
  <Override PartName="/ppt/media/image32.jpeg" ContentType="image/jpeg"/>
  <Override PartName="/ppt/media/image31.jpeg" ContentType="image/jpe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34.jpeg" ContentType="image/jpeg"/>
  <Override PartName="/ppt/media/image24.png" ContentType="image/png"/>
  <Override PartName="/ppt/media/image9.png" ContentType="image/png"/>
  <Override PartName="/ppt/media/image10.png" ContentType="image/png"/>
  <Override PartName="/ppt/media/image23.png" ContentType="image/png"/>
  <Override PartName="/ppt/media/image8.png" ContentType="image/png"/>
  <Override PartName="/ppt/media/image36.png" ContentType="image/png"/>
  <Override PartName="/ppt/media/image1.png" ContentType="image/png"/>
  <Override PartName="/ppt/media/image6.png" ContentType="image/png"/>
  <Override PartName="/ppt/media/image21.png" ContentType="image/png"/>
  <Override PartName="/ppt/media/image30.jpeg" ContentType="image/jpeg"/>
  <Override PartName="/ppt/media/image2.png" ContentType="image/png"/>
  <Override PartName="/ppt/media/image7.png" ContentType="image/png"/>
  <Override PartName="/ppt/media/image22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11.png" ContentType="image/png"/>
  <Override PartName="/ppt/media/image12.png" ContentType="image/png"/>
  <Override PartName="/ppt/media/image33.jpeg" ContentType="image/jpe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5.png" ContentType="image/png"/>
  <Override PartName="/ppt/media/image2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Masters/slideMaster3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en-GB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notes' format</a:t>
            </a:r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1C451AB5-0550-4626-99FF-136333AB8706}" type="slidenum"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1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A694178A-FF47-48E0-9225-837F7DF22882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r>
              <a:rPr b="0" lang="en-GB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http://www.allaboutcircuits.com/technical-articles/introduction-to-the-i2c-bus/</a:t>
            </a:r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8094446F-E613-4665-8738-15CE93C27B04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r>
              <a:rPr b="0" lang="en-GB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http://www.allaboutcircuits.com/technical-articles/introduction-to-the-i2c-bus/</a:t>
            </a:r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5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E6D0764A-99F7-4362-BF27-AA53A287D708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r>
              <a:rPr b="0" lang="en-GB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http://www.allaboutcircuits.com/technical-articles/introduction-to-the-i2c-bus/</a:t>
            </a:r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7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AB8D8E67-828A-4619-BE58-A0DF328273CC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9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91DD65AE-A299-4B08-AD90-02DF21181345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r>
              <a:rPr b="0" lang="en-GB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http://www.allaboutcircuits.com/technical-articles/introduction-to-the-i2c-bus/</a:t>
            </a:r>
            <a:endParaRPr b="0" lang="en-GB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E44EC4FE-CC72-43D3-9C3F-C605A86C95AB}" type="slidenum">
              <a:rPr b="0" lang="en-GB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272880" y="286560"/>
            <a:ext cx="11726280" cy="3206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  <p:pic>
        <p:nvPicPr>
          <p:cNvPr id="44" name="" descr=""/>
          <p:cNvPicPr/>
          <p:nvPr/>
        </p:nvPicPr>
        <p:blipFill>
          <a:blip r:embed="rId3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272880" y="286560"/>
            <a:ext cx="11726280" cy="3206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272880" y="286560"/>
            <a:ext cx="11726280" cy="3206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272880" y="3564720"/>
            <a:ext cx="1172628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81640" y="104508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28164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272880" y="3564720"/>
            <a:ext cx="5722200" cy="2300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3112920" y="1044720"/>
            <a:ext cx="6045480" cy="48236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 hidden="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3"/>
          <p:cNvSpPr/>
          <p:nvPr/>
        </p:nvSpPr>
        <p:spPr>
          <a:xfrm>
            <a:off x="272520" y="978480"/>
            <a:ext cx="11726640" cy="36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rgbClr val="6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2616480"/>
          </a:xfrm>
          <a:prstGeom prst="rect">
            <a:avLst/>
          </a:prstGeom>
        </p:spPr>
        <p:txBody>
          <a:bodyPr anchor="b"/>
          <a:p>
            <a:pPr>
              <a:lnSpc>
                <a:spcPct val="85000"/>
              </a:lnSpc>
            </a:pPr>
            <a:r>
              <a:rPr b="0" lang="en-US" sz="8000" spc="-49" strike="noStrike">
                <a:solidFill>
                  <a:srgbClr val="262626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Click to edit Master title style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27/09/18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/>
          <a:p>
            <a:endParaRPr b="0" lang="en-GB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292EAB3-BB15-4F9E-A6F0-0CBFE48D5249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Line 10"/>
          <p:cNvSpPr/>
          <p:nvPr/>
        </p:nvSpPr>
        <p:spPr>
          <a:xfrm>
            <a:off x="1097280" y="3408840"/>
            <a:ext cx="9875520" cy="36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CustomShape 2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Line 3"/>
          <p:cNvSpPr/>
          <p:nvPr/>
        </p:nvSpPr>
        <p:spPr>
          <a:xfrm>
            <a:off x="272520" y="978480"/>
            <a:ext cx="11726640" cy="36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272880" y="286560"/>
            <a:ext cx="11726280" cy="691560"/>
          </a:xfrm>
          <a:prstGeom prst="rect">
            <a:avLst/>
          </a:prstGeom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Click to edit Master title style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272880" y="1045080"/>
            <a:ext cx="11726280" cy="4823640"/>
          </a:xfrm>
          <a:prstGeom prst="rect">
            <a:avLst/>
          </a:prstGeom>
        </p:spPr>
        <p:txBody>
          <a:bodyPr lIns="0" r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74988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93276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27/09/18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/>
          <a:p>
            <a:endParaRPr b="0" lang="en-GB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6C59696-B8ED-47D3-8D0D-FC6C905927FB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2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Line 3"/>
          <p:cNvSpPr/>
          <p:nvPr/>
        </p:nvSpPr>
        <p:spPr>
          <a:xfrm>
            <a:off x="272520" y="978480"/>
            <a:ext cx="11726640" cy="36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264600" y="286560"/>
            <a:ext cx="11742480" cy="691560"/>
          </a:xfrm>
          <a:prstGeom prst="rect">
            <a:avLst/>
          </a:prstGeom>
        </p:spPr>
        <p:txBody>
          <a:bodyPr anchor="b"/>
          <a:p>
            <a:pPr>
              <a:lnSpc>
                <a:spcPct val="85000"/>
              </a:lnSpc>
            </a:pPr>
            <a:r>
              <a:rPr b="0" lang="en-US" sz="4000" spc="-49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Click to edit Master title style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65120" y="1066680"/>
            <a:ext cx="5590440" cy="4802040"/>
          </a:xfrm>
          <a:prstGeom prst="rect">
            <a:avLst/>
          </a:prstGeom>
        </p:spPr>
        <p:txBody>
          <a:bodyPr lIns="0" r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74988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93276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6237000" y="1066680"/>
            <a:ext cx="5770080" cy="4802040"/>
          </a:xfrm>
          <a:prstGeom prst="rect">
            <a:avLst/>
          </a:prstGeom>
        </p:spPr>
        <p:txBody>
          <a:bodyPr lIns="0" r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74988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93276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en-GB" sz="9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27/09/18</a:t>
            </a:r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4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/>
          <a:p>
            <a:endParaRPr b="0" lang="en-GB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5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54ED7564-AFC5-47B7-9E08-4605DFB7770F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://www.byteparadigm.com/applications/introduction-to-i2c-and-spi-protocols/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438840" y="938880"/>
            <a:ext cx="11484360" cy="19386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ctr">
              <a:lnSpc>
                <a:spcPct val="100000"/>
              </a:lnSpc>
            </a:pPr>
            <a:r>
              <a:rPr b="1" lang="en-US" sz="44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Wired Communication Standards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59840" y="3839400"/>
            <a:ext cx="10058040" cy="2433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100000"/>
              </a:lnSpc>
            </a:pPr>
            <a:r>
              <a:rPr b="1" lang="en-GB" sz="2400" spc="19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Kumar Yelamarthi</a:t>
            </a:r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600" spc="199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Central Michigan University</a:t>
            </a:r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600" spc="199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Mt Pleasant, MI</a:t>
            </a:r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D3AAD8E3-4C74-4CAD-9474-2C5D3CE2E126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Motivation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272880" y="1045080"/>
            <a:ext cx="1172628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Connect different systems together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Two embedded systems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desktop and an embedded system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Connect different chips together in the same embedded system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MCU to peripheral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MCU to MCU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Without using a lot of I/O lines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I/O lines require I/O pads which cost $$$ and size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16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I/O lines require PCB area which costs $$$ and size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Options?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SPI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</a:t>
            </a:r>
            <a:r>
              <a:rPr b="0" lang="en-US" sz="2000" spc="-1" strike="noStrike" baseline="3000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0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A15F06C-919A-4FEA-B70D-A8430145EFCF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82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15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66" end="3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18" end="3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27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34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38" end="3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Questions to ask in selection process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272880" y="1045080"/>
            <a:ext cx="1172628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Number of wires required?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Asynchronous or synchronous?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How fast can it transfer data?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Can it support more than two endpoints?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Can it support more than one master?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How do we support flow control?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How does it handle errors/noise?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3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258FA11-A822-49CA-BC1D-E62B4009F6FD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264600" y="286560"/>
            <a:ext cx="117424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85000"/>
              </a:lnSpc>
            </a:pPr>
            <a:r>
              <a:rPr b="0" lang="en-US" sz="4000" spc="-49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Parallel vs. Serial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6237000" y="1066680"/>
            <a:ext cx="5770080" cy="480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Parallel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Transfer multiple bits at the same time.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Requires buses of data transmission wires (8, 16, 32,…)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Fast, straightforward, relatively easy to implement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Requires more input/output lines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Transfer data one single bit at a time.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Requires only two wires (data and clock)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Relatively slow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Which is better suited for microcontrollers?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6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7808FCE5-38A1-45CC-870A-6B08109DE55A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47" name="Picture 2" descr=""/>
          <p:cNvPicPr/>
          <p:nvPr/>
        </p:nvPicPr>
        <p:blipFill>
          <a:blip r:embed="rId1"/>
          <a:stretch/>
        </p:blipFill>
        <p:spPr>
          <a:xfrm>
            <a:off x="2293920" y="1141920"/>
            <a:ext cx="2235600" cy="3065400"/>
          </a:xfrm>
          <a:prstGeom prst="rect">
            <a:avLst/>
          </a:prstGeom>
          <a:ln>
            <a:noFill/>
          </a:ln>
        </p:spPr>
      </p:pic>
      <p:pic>
        <p:nvPicPr>
          <p:cNvPr id="148" name="Picture 4" descr=""/>
          <p:cNvPicPr/>
          <p:nvPr/>
        </p:nvPicPr>
        <p:blipFill>
          <a:blip r:embed="rId2"/>
          <a:stretch/>
        </p:blipFill>
        <p:spPr>
          <a:xfrm>
            <a:off x="992520" y="4712400"/>
            <a:ext cx="4838040" cy="1015560"/>
          </a:xfrm>
          <a:prstGeom prst="rect">
            <a:avLst/>
          </a:prstGeom>
          <a:ln>
            <a:noFill/>
          </a:ln>
        </p:spPr>
      </p:pic>
      <p:sp>
        <p:nvSpPr>
          <p:cNvPr id="149" name="CustomShape 4"/>
          <p:cNvSpPr/>
          <p:nvPr/>
        </p:nvSpPr>
        <p:spPr>
          <a:xfrm>
            <a:off x="4483080" y="564948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93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01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41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82" end="2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99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Synchronous and Asynchronous Serial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272880" y="1045080"/>
            <a:ext cx="11726280" cy="5228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Known serial interface in embedded systems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Universal Serial Bus (USB)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Ethernet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 standard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SPI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</a:t>
            </a:r>
            <a:r>
              <a:rPr b="0" lang="en-US" sz="1800" spc="-1" strike="noStrike" baseline="3000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Synchronous Serial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Pairs its data line with a clock signal, and all devices on serial bus share a common clock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Faster serial transfer, but requires at least one extra wire between communicating devices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Example: SPI, I</a:t>
            </a:r>
            <a:r>
              <a:rPr b="0" lang="en-US" sz="1800" spc="-1" strike="noStrike" baseline="30000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Asynchronous Serial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is transferred without support from an external clock signal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Ideal for minimizing the required wires and input-output pins.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Examples: UART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2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76483709-B806-4E30-A489-B882FA8F3F4F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Rules of Asynchronous Serial, aka Serial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272880" y="1045080"/>
            <a:ext cx="1172628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Number of built-in rules help ensure robust and error free data transfer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Baud rate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bits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Synchronization bits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Parity bits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Baud rate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Specifies how fast data is sent over a serial line. 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Usually expressed in units of bits-per-second (bps)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Determines how long the transmitter holds a serial line high/low or at what period the receiving device samples its line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Can be of any value, but both transmitter and receiver should have the same baud rate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Standard baud rates are 1200, 2400, 4800, 9600, 19200, 38400, 57600, 115200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5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9C3006B5-4A78-43B7-A5F7-FE040FC3C2AD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timing>
    <p:tnLst>
      <p:par>
        <p:cTn id="47" dur="indefinite" restart="never" nodeType="tmRoot">
          <p:childTnLst>
            <p:seq>
              <p:cTn id="4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Data Packets in Serial transfer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272880" y="1045080"/>
            <a:ext cx="11726280" cy="5299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Each block of data transmitted is actually sent in a packet/frame of bits.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bits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Amount of data in each bit can be from 5 to 9 bits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 is important to agree on </a:t>
            </a:r>
            <a:r>
              <a:rPr b="0" lang="en-US" sz="1800" spc="-1" strike="noStrike" u="sng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endianness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(is data sent MSB to LSB or vice-versa?)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order not stated, default is LSB sent first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Synchronization bits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Two or three special bits are transferred along with data bits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Start bit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marks the beginning of a data packet. Usually 1 bit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Indicated by an idle data line going from 1 to 0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Stop bit(s)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marks the end of a data packet. Configurable to 1 or 2 bit, usually 1 bit.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Indicated by stop bit(s) transition back to the idle state by holding the line at 1.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8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3579790-C13E-4D84-99C1-25C3E5B889B0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59" name="Picture 2" descr=""/>
          <p:cNvPicPr/>
          <p:nvPr/>
        </p:nvPicPr>
        <p:blipFill>
          <a:blip r:embed="rId1"/>
          <a:stretch/>
        </p:blipFill>
        <p:spPr>
          <a:xfrm>
            <a:off x="6428880" y="1453320"/>
            <a:ext cx="5678280" cy="760680"/>
          </a:xfrm>
          <a:prstGeom prst="rect">
            <a:avLst/>
          </a:prstGeom>
          <a:ln>
            <a:noFill/>
          </a:ln>
        </p:spPr>
      </p:pic>
      <p:sp>
        <p:nvSpPr>
          <p:cNvPr id="160" name="CustomShape 4"/>
          <p:cNvSpPr/>
          <p:nvPr/>
        </p:nvSpPr>
        <p:spPr>
          <a:xfrm>
            <a:off x="10391400" y="209628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Data Packets in Serial transfer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272880" y="1045080"/>
            <a:ext cx="11726280" cy="5299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Parity bits </a:t>
            </a:r>
            <a:r>
              <a:rPr b="0" i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(Optional)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simple and low-level error checking method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Options: Odd or Even parity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Odd parity bit = 1 if the number of 1’s in data is odd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Even parity bit = 1 if the number of 1’s in data is even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 u="sng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Example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</a:t>
            </a: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9600 8N1 OK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Baud rate = </a:t>
            </a:r>
            <a:r>
              <a:rPr b="0" lang="en-US" sz="18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9600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bits = </a:t>
            </a:r>
            <a:r>
              <a:rPr b="0" lang="en-US" sz="18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Parity bits = </a:t>
            </a:r>
            <a:r>
              <a:rPr b="0" lang="en-US" sz="18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Stop bits = </a:t>
            </a:r>
            <a:r>
              <a:rPr b="0" lang="en-US" sz="18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= </a:t>
            </a:r>
            <a:r>
              <a:rPr b="0" lang="en-US" sz="18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OK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 – ASCII Value = 79 = 01001111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 – ASCII Value = 75 = 01001011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3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763EA91A-0347-483E-BA18-89D23F96A931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64" name="Picture 2" descr=""/>
          <p:cNvPicPr/>
          <p:nvPr/>
        </p:nvPicPr>
        <p:blipFill>
          <a:blip r:embed="rId1"/>
          <a:stretch/>
        </p:blipFill>
        <p:spPr>
          <a:xfrm>
            <a:off x="6428880" y="1453320"/>
            <a:ext cx="5678280" cy="760680"/>
          </a:xfrm>
          <a:prstGeom prst="rect">
            <a:avLst/>
          </a:prstGeom>
          <a:ln>
            <a:noFill/>
          </a:ln>
        </p:spPr>
      </p:pic>
      <p:pic>
        <p:nvPicPr>
          <p:cNvPr id="165" name="Picture 2" descr=""/>
          <p:cNvPicPr/>
          <p:nvPr/>
        </p:nvPicPr>
        <p:blipFill>
          <a:blip r:embed="rId2"/>
          <a:stretch/>
        </p:blipFill>
        <p:spPr>
          <a:xfrm>
            <a:off x="4797000" y="4171680"/>
            <a:ext cx="7202160" cy="942840"/>
          </a:xfrm>
          <a:prstGeom prst="rect">
            <a:avLst/>
          </a:prstGeom>
          <a:ln>
            <a:noFill/>
          </a:ln>
        </p:spPr>
      </p:pic>
      <p:sp>
        <p:nvSpPr>
          <p:cNvPr id="166" name="CustomShape 4"/>
          <p:cNvSpPr/>
          <p:nvPr/>
        </p:nvSpPr>
        <p:spPr>
          <a:xfrm>
            <a:off x="10391400" y="209628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7" name="CustomShape 5"/>
          <p:cNvSpPr/>
          <p:nvPr/>
        </p:nvSpPr>
        <p:spPr>
          <a:xfrm>
            <a:off x="10391400" y="504864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Serial – Wiring and Hardware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272880" y="1045080"/>
            <a:ext cx="1172628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 bus consists of two wires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TX – sends data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RX – receives data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Interface can operate as </a:t>
            </a:r>
            <a:r>
              <a:rPr b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full-duplex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or </a:t>
            </a:r>
            <a:r>
              <a:rPr b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half-duplex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Full duplex – both devices can send and receive simultaneously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Half duplex – devices must take turns sending and receiving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Some devices need only one way communication.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Accordingly, only wire is visible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0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375A4068-9708-4F72-B3CE-8E6E3637058C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71" name="Picture 2" descr=""/>
          <p:cNvPicPr/>
          <p:nvPr/>
        </p:nvPicPr>
        <p:blipFill>
          <a:blip r:embed="rId1"/>
          <a:stretch/>
        </p:blipFill>
        <p:spPr>
          <a:xfrm>
            <a:off x="8379360" y="1279080"/>
            <a:ext cx="3340800" cy="2026440"/>
          </a:xfrm>
          <a:prstGeom prst="rect">
            <a:avLst/>
          </a:prstGeom>
          <a:ln>
            <a:noFill/>
          </a:ln>
        </p:spPr>
      </p:pic>
      <p:pic>
        <p:nvPicPr>
          <p:cNvPr id="172" name="Picture 4" descr=""/>
          <p:cNvPicPr/>
          <p:nvPr/>
        </p:nvPicPr>
        <p:blipFill>
          <a:blip r:embed="rId2"/>
          <a:srcRect l="2047" t="15017" r="567" b="20000"/>
          <a:stretch/>
        </p:blipFill>
        <p:spPr>
          <a:xfrm rot="800400">
            <a:off x="5982840" y="4070520"/>
            <a:ext cx="2705760" cy="1805400"/>
          </a:xfrm>
          <a:prstGeom prst="rect">
            <a:avLst/>
          </a:prstGeom>
          <a:ln>
            <a:noFill/>
          </a:ln>
        </p:spPr>
      </p:pic>
      <p:sp>
        <p:nvSpPr>
          <p:cNvPr id="173" name="CustomShape 4"/>
          <p:cNvSpPr/>
          <p:nvPr/>
        </p:nvSpPr>
        <p:spPr>
          <a:xfrm>
            <a:off x="7226280" y="541620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47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95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4" descr=""/>
          <p:cNvPicPr/>
          <p:nvPr/>
        </p:nvPicPr>
        <p:blipFill>
          <a:blip r:embed="rId1"/>
          <a:stretch/>
        </p:blipFill>
        <p:spPr>
          <a:xfrm>
            <a:off x="7455960" y="4624200"/>
            <a:ext cx="4637520" cy="1677600"/>
          </a:xfrm>
          <a:prstGeom prst="rect">
            <a:avLst/>
          </a:prstGeom>
          <a:ln>
            <a:noFill/>
          </a:ln>
        </p:spPr>
      </p:pic>
      <p:sp>
        <p:nvSpPr>
          <p:cNvPr id="175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Serial – Hardware Implementation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6" name="TextShape 2"/>
          <p:cNvSpPr txBox="1"/>
          <p:nvPr/>
        </p:nvSpPr>
        <p:spPr>
          <a:xfrm>
            <a:off x="272880" y="1045080"/>
            <a:ext cx="11726280" cy="525708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Transistor-Transistor Logic (TTL)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TTL serial signals exist between a microcontrollers’ voltage supply range (usually 0V to 3.3V or 5V)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signal at the VCC level indicates either an idle line, a bit of value 1, or a stop bit.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0V (GND) signal represents either a start bit or a data bit of value 0.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Easier to implement in embedded systems, but susceptible to losses across long transmission lines.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RS-232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Usually found in old computers and legacy peripherals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Usually range between -5V to +5V, though specs allow for anything from +/- 3V to +/- 25V.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low voltage indicates either the idle line, a stop bit, or a data bit of value 1.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high voltage indicates either a start bit, or a 0-value data bit.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RS-485 is better suited to long range serial transmissions.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7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789B7BB6-2AE0-4B65-9B0C-1EBC82546CF5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78" name="Picture 2" descr=""/>
          <p:cNvPicPr/>
          <p:nvPr/>
        </p:nvPicPr>
        <p:blipFill>
          <a:blip r:embed="rId2"/>
          <a:stretch/>
        </p:blipFill>
        <p:spPr>
          <a:xfrm>
            <a:off x="6780600" y="2722680"/>
            <a:ext cx="5218560" cy="950760"/>
          </a:xfrm>
          <a:prstGeom prst="rect">
            <a:avLst/>
          </a:prstGeom>
          <a:ln>
            <a:noFill/>
          </a:ln>
        </p:spPr>
      </p:pic>
      <p:sp>
        <p:nvSpPr>
          <p:cNvPr id="179" name="CustomShape 4"/>
          <p:cNvSpPr/>
          <p:nvPr/>
        </p:nvSpPr>
        <p:spPr>
          <a:xfrm>
            <a:off x="10556640" y="3673800"/>
            <a:ext cx="1800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65" dur="indefinite" restart="never" nodeType="tmRoot">
          <p:childTnLst>
            <p:seq>
              <p:cTn id="6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Universal Asynchronous Receiver/Transmitter - UART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1" name="TextShape 2"/>
          <p:cNvSpPr txBox="1"/>
          <p:nvPr/>
        </p:nvSpPr>
        <p:spPr>
          <a:xfrm>
            <a:off x="272880" y="1045080"/>
            <a:ext cx="6999840" cy="521460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UART is a block of circuitry responsible for implementing serial communication.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UART acts as an intermediary between parallel and serial interfaces.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Available as standalone ICs, but generally integrated inside a microcontroller.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the transmit side, a UART must create the data packet and send it out with precise timing.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the receive side, a UART has to sample RX lines, and extract the data from the packet received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2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57C3D59D-1E64-47BD-ACE6-FFAD3FE7E115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83" name="Picture 2" descr=""/>
          <p:cNvPicPr/>
          <p:nvPr/>
        </p:nvPicPr>
        <p:blipFill>
          <a:blip r:embed="rId1"/>
          <a:stretch/>
        </p:blipFill>
        <p:spPr>
          <a:xfrm>
            <a:off x="7401600" y="1647360"/>
            <a:ext cx="4633560" cy="3521520"/>
          </a:xfrm>
          <a:prstGeom prst="rect">
            <a:avLst/>
          </a:prstGeom>
          <a:ln>
            <a:noFill/>
          </a:ln>
        </p:spPr>
      </p:pic>
      <p:sp>
        <p:nvSpPr>
          <p:cNvPr id="184" name="CustomShape 4"/>
          <p:cNvSpPr/>
          <p:nvPr/>
        </p:nvSpPr>
        <p:spPr>
          <a:xfrm>
            <a:off x="10036080" y="5169240"/>
            <a:ext cx="14428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Sparkfun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Universal Asynchronous Receiver/Transmitter - UART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272880" y="1045080"/>
            <a:ext cx="699984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Advanced UARTs have a built in buffer, where data is stored tentatively for the microcontroller to obtain when timely.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Specifically useful in high speed data retrieval 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Software UART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 interface can be </a:t>
            </a:r>
            <a:r>
              <a:rPr b="1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bit-banged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by the processor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an ideal process, but works for simple applications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Mostly common known as </a:t>
            </a:r>
            <a:r>
              <a:rPr b="0" i="1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SoftwareSerial</a:t>
            </a: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in Arduino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7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ECA1C72A-DF30-45A8-B252-B8A33F0C24AC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88" name="Picture 2" descr=""/>
          <p:cNvPicPr/>
          <p:nvPr/>
        </p:nvPicPr>
        <p:blipFill>
          <a:blip r:embed="rId1"/>
          <a:stretch/>
        </p:blipFill>
        <p:spPr>
          <a:xfrm>
            <a:off x="7493760" y="1392840"/>
            <a:ext cx="4726080" cy="4768200"/>
          </a:xfrm>
          <a:prstGeom prst="rect">
            <a:avLst/>
          </a:prstGeom>
          <a:ln>
            <a:noFill/>
          </a:ln>
        </p:spPr>
      </p:pic>
      <p:sp>
        <p:nvSpPr>
          <p:cNvPr id="189" name="CustomShape 4"/>
          <p:cNvSpPr/>
          <p:nvPr/>
        </p:nvSpPr>
        <p:spPr>
          <a:xfrm>
            <a:off x="10295640" y="5659920"/>
            <a:ext cx="18961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Exar ST16C550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Common Mistakes in Serial Communication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1" name="TextShape 2"/>
          <p:cNvSpPr txBox="1"/>
          <p:nvPr/>
        </p:nvSpPr>
        <p:spPr>
          <a:xfrm>
            <a:off x="272880" y="1045080"/>
            <a:ext cx="735840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Baud Rate Mismatch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two devices are not communicating at same speed, data can be misinterpreted or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Make sure that baud rate is same on both devices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Bus Contention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 communication is designed to allow just two devices to communicate across one serial bus. 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2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1AA1CD9-FF0A-40EE-B7C6-2447D735F7B6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93" name="Picture 2" descr=""/>
          <p:cNvPicPr/>
          <p:nvPr/>
        </p:nvPicPr>
        <p:blipFill>
          <a:blip r:embed="rId1"/>
          <a:stretch/>
        </p:blipFill>
        <p:spPr>
          <a:xfrm>
            <a:off x="8224920" y="1045080"/>
            <a:ext cx="3774240" cy="1979280"/>
          </a:xfrm>
          <a:prstGeom prst="rect">
            <a:avLst/>
          </a:prstGeom>
          <a:ln>
            <a:noFill/>
          </a:ln>
        </p:spPr>
      </p:pic>
      <p:pic>
        <p:nvPicPr>
          <p:cNvPr id="194" name="Picture 4" descr=""/>
          <p:cNvPicPr/>
          <p:nvPr/>
        </p:nvPicPr>
        <p:blipFill>
          <a:blip r:embed="rId2"/>
          <a:stretch/>
        </p:blipFill>
        <p:spPr>
          <a:xfrm>
            <a:off x="6472080" y="3459960"/>
            <a:ext cx="2319840" cy="2475360"/>
          </a:xfrm>
          <a:prstGeom prst="rect">
            <a:avLst/>
          </a:prstGeom>
          <a:ln>
            <a:noFill/>
          </a:ln>
        </p:spPr>
      </p:pic>
      <p:pic>
        <p:nvPicPr>
          <p:cNvPr id="195" name="Picture 6" descr=""/>
          <p:cNvPicPr/>
          <p:nvPr/>
        </p:nvPicPr>
        <p:blipFill>
          <a:blip r:embed="rId3"/>
          <a:stretch/>
        </p:blipFill>
        <p:spPr>
          <a:xfrm>
            <a:off x="9385920" y="3457080"/>
            <a:ext cx="2340720" cy="2487240"/>
          </a:xfrm>
          <a:prstGeom prst="rect">
            <a:avLst/>
          </a:prstGeom>
          <a:ln>
            <a:noFill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Limitations of Serial Communication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7" name="TextShape 2"/>
          <p:cNvSpPr txBox="1"/>
          <p:nvPr/>
        </p:nvSpPr>
        <p:spPr>
          <a:xfrm>
            <a:off x="272880" y="1045080"/>
            <a:ext cx="8370720" cy="52268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Lack of clock signal –  no control over when data is sent or any guarantee that both sides are running at precisely the same rate.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This can be a problem when two systems with slightly different clocks try to communicate with each other.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Asynchronous serial connections add extra start and stop bits to each byte help the receiver sync up to data as it arrives.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Both sides must be at the same transmission speed.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Notice anything unusual with the data in the figure?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Serial protocols will often send the least significant bits first, so the smallest bit   is on the far left.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lower nibble is actually 0011 = 0x3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upper nibble is 0101 = 0x5.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8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0D82625-023A-4D38-82AE-99DAD7E6D3B5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99" name="CustomShape 4"/>
          <p:cNvSpPr/>
          <p:nvPr/>
        </p:nvSpPr>
        <p:spPr>
          <a:xfrm>
            <a:off x="9900360" y="4172040"/>
            <a:ext cx="1681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Mike Grusin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00" name="Picture 2" descr=""/>
          <p:cNvPicPr/>
          <p:nvPr/>
        </p:nvPicPr>
        <p:blipFill>
          <a:blip r:embed="rId1"/>
          <a:srcRect l="13975" t="0" r="12548" b="2597"/>
          <a:stretch/>
        </p:blipFill>
        <p:spPr>
          <a:xfrm>
            <a:off x="8450280" y="1707840"/>
            <a:ext cx="3741120" cy="22194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72" end="5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83" end="6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23" end="6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Serial Peripheral Interface (SPI)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2" name="TextShape 2"/>
          <p:cNvSpPr txBox="1"/>
          <p:nvPr/>
        </p:nvSpPr>
        <p:spPr>
          <a:xfrm>
            <a:off x="272880" y="1045080"/>
            <a:ext cx="791352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SPI includes a clock signal and provides a synchronous solution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Uses separate lines for data and clock.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Clock signal keeps both devices in perfect sync.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Clock signal informs the receiver when to sample the bits on the data line.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When the receiver clock line detects the edge, it will look at the data line to read the next bit.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Advantage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– a simple shift register can implement this function.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Limitation in current design?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3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75AF1AE-24E2-4FE2-BD0B-4CBDFCA1BFB3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04" name="Picture 2" descr=""/>
          <p:cNvPicPr/>
          <p:nvPr/>
        </p:nvPicPr>
        <p:blipFill>
          <a:blip r:embed="rId1"/>
          <a:srcRect l="13276" t="1125" r="17736" b="2201"/>
          <a:stretch/>
        </p:blipFill>
        <p:spPr>
          <a:xfrm>
            <a:off x="8591040" y="1785960"/>
            <a:ext cx="3408120" cy="2685600"/>
          </a:xfrm>
          <a:prstGeom prst="rect">
            <a:avLst/>
          </a:prstGeom>
          <a:ln>
            <a:noFill/>
          </a:ln>
        </p:spPr>
      </p:pic>
      <p:pic>
        <p:nvPicPr>
          <p:cNvPr id="205" name="Picture 4" descr=""/>
          <p:cNvPicPr/>
          <p:nvPr/>
        </p:nvPicPr>
        <p:blipFill>
          <a:blip r:embed="rId2"/>
          <a:stretch/>
        </p:blipFill>
        <p:spPr>
          <a:xfrm>
            <a:off x="6136200" y="4376160"/>
            <a:ext cx="558360" cy="558360"/>
          </a:xfrm>
          <a:prstGeom prst="rect">
            <a:avLst/>
          </a:prstGeom>
          <a:ln>
            <a:noFill/>
          </a:ln>
        </p:spPr>
      </p:pic>
      <p:pic>
        <p:nvPicPr>
          <p:cNvPr id="206" name="Picture 4" descr=""/>
          <p:cNvPicPr/>
          <p:nvPr/>
        </p:nvPicPr>
        <p:blipFill>
          <a:blip r:embed="rId3"/>
          <a:stretch/>
        </p:blipFill>
        <p:spPr>
          <a:xfrm>
            <a:off x="6540480" y="4376160"/>
            <a:ext cx="558360" cy="558360"/>
          </a:xfrm>
          <a:prstGeom prst="rect">
            <a:avLst/>
          </a:prstGeom>
          <a:ln>
            <a:noFill/>
          </a:ln>
        </p:spPr>
      </p:pic>
      <p:pic>
        <p:nvPicPr>
          <p:cNvPr id="207" name="Picture 4" descr=""/>
          <p:cNvPicPr/>
          <p:nvPr/>
        </p:nvPicPr>
        <p:blipFill>
          <a:blip r:embed="rId4"/>
          <a:stretch/>
        </p:blipFill>
        <p:spPr>
          <a:xfrm>
            <a:off x="6944760" y="4376160"/>
            <a:ext cx="558360" cy="558360"/>
          </a:xfrm>
          <a:prstGeom prst="rect">
            <a:avLst/>
          </a:prstGeom>
          <a:ln>
            <a:noFill/>
          </a:ln>
        </p:spPr>
      </p:pic>
      <p:sp>
        <p:nvSpPr>
          <p:cNvPr id="208" name="CustomShape 4"/>
          <p:cNvSpPr/>
          <p:nvPr/>
        </p:nvSpPr>
        <p:spPr>
          <a:xfrm>
            <a:off x="10017360" y="4467600"/>
            <a:ext cx="1681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Mike Grusin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33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01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SPI – Receiving Data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0" name="TextShape 2"/>
          <p:cNvSpPr txBox="1"/>
          <p:nvPr/>
        </p:nvSpPr>
        <p:spPr>
          <a:xfrm>
            <a:off x="272880" y="1045080"/>
            <a:ext cx="6998040" cy="525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Master – the side that generates the clock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Slave – the side that receives the clock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When data is sent from the master to a slave, it’s sent on a data line called MOSI -Master Out / Slave In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the slave needs to respond, the master will continue to generate a prearranged number of clock cycles, and the slave will put the data onto MISO -Master In / Slave Out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Prearranged -  Master must know in advance when a slave needs to return data and how much data will be returned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Full-duplex or half-duplex 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1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346E1A7E-E104-4167-ABBC-0D7EE23F7BAE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12" name="Picture 2" descr=""/>
          <p:cNvPicPr/>
          <p:nvPr/>
        </p:nvPicPr>
        <p:blipFill>
          <a:blip r:embed="rId1"/>
          <a:stretch/>
        </p:blipFill>
        <p:spPr>
          <a:xfrm>
            <a:off x="7429680" y="1771200"/>
            <a:ext cx="4762080" cy="3371400"/>
          </a:xfrm>
          <a:prstGeom prst="rect">
            <a:avLst/>
          </a:prstGeom>
          <a:ln>
            <a:noFill/>
          </a:ln>
        </p:spPr>
      </p:pic>
      <p:sp>
        <p:nvSpPr>
          <p:cNvPr id="213" name="CustomShape 4"/>
          <p:cNvSpPr/>
          <p:nvPr/>
        </p:nvSpPr>
        <p:spPr>
          <a:xfrm>
            <a:off x="10076400" y="5142960"/>
            <a:ext cx="1681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Mike Grusin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SPI – Slave Select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272880" y="1045080"/>
            <a:ext cx="657072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Slave Select informs the slave that is should wake up and receive/send data.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Useful when multiple slaves are present to identify the device of interest.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SS line is normally held high, which disconnects the slave from the SPI bus. 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Just before data is sent to the slave, the SS line is brought low, which activates the slave. 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6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EC901201-B3CD-417D-A26B-A05B2A7F7E1E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10179720" y="5627520"/>
            <a:ext cx="1681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Mike Grusin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18" name="Picture 2" descr=""/>
          <p:cNvPicPr/>
          <p:nvPr/>
        </p:nvPicPr>
        <p:blipFill>
          <a:blip r:embed="rId1"/>
          <a:stretch/>
        </p:blipFill>
        <p:spPr>
          <a:xfrm>
            <a:off x="6843960" y="1222200"/>
            <a:ext cx="5155200" cy="4381920"/>
          </a:xfrm>
          <a:prstGeom prst="rect">
            <a:avLst/>
          </a:prstGeom>
          <a:ln>
            <a:noFill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SPI – Multiple Slaves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0" name="TextShape 2"/>
          <p:cNvSpPr txBox="1"/>
          <p:nvPr/>
        </p:nvSpPr>
        <p:spPr>
          <a:xfrm>
            <a:off x="272880" y="1045080"/>
            <a:ext cx="6963840" cy="511956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Option-01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Each slave will need a separate SS line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Make the SS line of interest to </a:t>
            </a:r>
            <a:r>
              <a:rPr b="0" i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low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and retain the other lines </a:t>
            </a:r>
            <a:r>
              <a:rPr b="0" i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high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Limitation – lots of slaves will require lots of SS lines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56700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Alternative: binary decoder chips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Option-02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Daisy chain the MISO of one to MOSI of the other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Limitation – data overflows from one slave to the next. You need to transmit enough data to reach all of the devices.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i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First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piece of data you transmit will end up in the </a:t>
            </a:r>
            <a:r>
              <a:rPr b="0" i="1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last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slave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1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A600AD12-3B2E-4509-BD5F-9025B8EE332E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2" name="CustomShape 4"/>
          <p:cNvSpPr/>
          <p:nvPr/>
        </p:nvSpPr>
        <p:spPr>
          <a:xfrm>
            <a:off x="10509480" y="6010920"/>
            <a:ext cx="1681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Mike Grusin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3" name="Picture 2" descr=""/>
          <p:cNvPicPr/>
          <p:nvPr/>
        </p:nvPicPr>
        <p:blipFill>
          <a:blip r:embed="rId1"/>
          <a:stretch/>
        </p:blipFill>
        <p:spPr>
          <a:xfrm>
            <a:off x="7237080" y="1018080"/>
            <a:ext cx="4762080" cy="2476080"/>
          </a:xfrm>
          <a:prstGeom prst="rect">
            <a:avLst/>
          </a:prstGeom>
          <a:ln>
            <a:noFill/>
          </a:ln>
        </p:spPr>
      </p:pic>
      <p:pic>
        <p:nvPicPr>
          <p:cNvPr id="224" name="Picture 4" descr=""/>
          <p:cNvPicPr/>
          <p:nvPr/>
        </p:nvPicPr>
        <p:blipFill>
          <a:blip r:embed="rId2"/>
          <a:stretch/>
        </p:blipFill>
        <p:spPr>
          <a:xfrm>
            <a:off x="7237080" y="3943440"/>
            <a:ext cx="4762080" cy="2095200"/>
          </a:xfrm>
          <a:prstGeom prst="rect">
            <a:avLst/>
          </a:prstGeom>
          <a:ln>
            <a:noFill/>
          </a:ln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264600" y="286560"/>
            <a:ext cx="117424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85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SPI - Summary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6" name="TextShape 2"/>
          <p:cNvSpPr txBox="1"/>
          <p:nvPr/>
        </p:nvSpPr>
        <p:spPr>
          <a:xfrm>
            <a:off x="465120" y="1066680"/>
            <a:ext cx="5590440" cy="480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90000"/>
              </a:lnSpc>
              <a:buClr>
                <a:srgbClr val="ffc82e"/>
              </a:buClr>
              <a:buFont typeface="Calibri"/>
              <a:buChar char=" "/>
            </a:pPr>
            <a:r>
              <a:rPr b="1" lang="en-US" sz="2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Advantages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Receiver hardware can be a simple shift register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Full duplex communication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Not limited to any maximum clock speed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Faster than asynchronous serial &amp; high throughput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Supports multiple slaves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6237000" y="1066680"/>
            <a:ext cx="5770080" cy="480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90000"/>
              </a:lnSpc>
              <a:buClr>
                <a:srgbClr val="ffc82e"/>
              </a:buClr>
              <a:buFont typeface="Calibri"/>
              <a:buChar char=" "/>
            </a:pPr>
            <a:r>
              <a:rPr b="1" lang="en-US" sz="2800" spc="-1" strike="noStrike">
                <a:solidFill>
                  <a:srgbClr val="d00028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Disadvantages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 requires more signal lines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communications must be well-defined in advance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master must control all communications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Requires separate SS lines to each slave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 hardware slave acknowledgment 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 error-checking protocol defined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Only handles short distances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8" name="TextShape 4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812342A-BD7B-4856-943B-53E5CC88CC47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Challenges and  Potential Solution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0" name="TextShape 2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23E7E948-81C2-431F-866E-1662B4AA16B4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31" name="Picture 2" descr=""/>
          <p:cNvPicPr/>
          <p:nvPr/>
        </p:nvPicPr>
        <p:blipFill>
          <a:blip r:embed="rId1"/>
          <a:stretch/>
        </p:blipFill>
        <p:spPr>
          <a:xfrm>
            <a:off x="8633520" y="1382760"/>
            <a:ext cx="3262320" cy="3764160"/>
          </a:xfrm>
          <a:prstGeom prst="rect">
            <a:avLst/>
          </a:prstGeom>
          <a:ln>
            <a:noFill/>
          </a:ln>
        </p:spPr>
      </p:pic>
      <p:sp>
        <p:nvSpPr>
          <p:cNvPr id="232" name="CustomShape 3"/>
          <p:cNvSpPr/>
          <p:nvPr/>
        </p:nvSpPr>
        <p:spPr>
          <a:xfrm>
            <a:off x="9569880" y="5715360"/>
            <a:ext cx="24292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All About Circuits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3" name="Picture 4" descr=""/>
          <p:cNvPicPr/>
          <p:nvPr/>
        </p:nvPicPr>
        <p:blipFill>
          <a:blip r:embed="rId2"/>
          <a:stretch/>
        </p:blipFill>
        <p:spPr>
          <a:xfrm>
            <a:off x="730800" y="1260000"/>
            <a:ext cx="3354120" cy="4980960"/>
          </a:xfrm>
          <a:prstGeom prst="rect">
            <a:avLst/>
          </a:prstGeom>
          <a:ln>
            <a:noFill/>
          </a:ln>
        </p:spPr>
      </p:pic>
      <p:sp>
        <p:nvSpPr>
          <p:cNvPr id="234" name="CustomShape 4"/>
          <p:cNvSpPr/>
          <p:nvPr/>
        </p:nvSpPr>
        <p:spPr>
          <a:xfrm>
            <a:off x="0" y="5869080"/>
            <a:ext cx="24292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All About Circuits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5" name="TextShape 5"/>
          <p:cNvSpPr txBox="1"/>
          <p:nvPr/>
        </p:nvSpPr>
        <p:spPr>
          <a:xfrm>
            <a:off x="4409640" y="1045080"/>
            <a:ext cx="3996360" cy="51962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if you have multiple slaves?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if slaves does not know who the master is?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if there are multiple masters?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happens if a master requests data from a slave that for some reason has become nonfunctional?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if the slave becomes nonfunctional in the middle of a transmission?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What if a master claims the bus to make a transmission then crashes before releasing the bus?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Shape 1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DFF2F560-7BAE-4B47-8900-72B76EDE3C7C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37" name="Picture 2" descr=""/>
          <p:cNvPicPr/>
          <p:nvPr/>
        </p:nvPicPr>
        <p:blipFill>
          <a:blip r:embed="rId1"/>
          <a:stretch/>
        </p:blipFill>
        <p:spPr>
          <a:xfrm>
            <a:off x="8633520" y="1382760"/>
            <a:ext cx="3262320" cy="3764160"/>
          </a:xfrm>
          <a:prstGeom prst="rect">
            <a:avLst/>
          </a:prstGeom>
          <a:ln>
            <a:noFill/>
          </a:ln>
        </p:spPr>
      </p:pic>
      <p:sp>
        <p:nvSpPr>
          <p:cNvPr id="238" name="CustomShape 2"/>
          <p:cNvSpPr/>
          <p:nvPr/>
        </p:nvSpPr>
        <p:spPr>
          <a:xfrm>
            <a:off x="9569880" y="5715360"/>
            <a:ext cx="24292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All About Circuits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9" name="TextShape 3"/>
          <p:cNvSpPr txBox="1"/>
          <p:nvPr/>
        </p:nvSpPr>
        <p:spPr>
          <a:xfrm>
            <a:off x="457200" y="1045080"/>
            <a:ext cx="7949160" cy="51962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Only two signals (clock and data) are used, regardless of how many devices are on the bus.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Both signals are pulled up to a positive power supply voltage through pull-up resistors.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Each slave device is identified by means of a 7-bit address; the master must know these addresses of each slave.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All transmissions are initiated and terminated by a master.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 labels “master” and “slave” are inherently non-permanent: any device can function as a master or slave if it incorporates the necessary hardware and/or firmware. 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0" name="TextShape 4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Inter-Integrated Circuit (I</a:t>
            </a:r>
            <a:r>
              <a:rPr b="0" lang="en-US" sz="4000" spc="-49" strike="noStrike" baseline="30000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2</a:t>
            </a: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 or I2C) 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D539108-1039-4681-A7BF-DC99ED8A8AF5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42" name="Picture 2" descr=""/>
          <p:cNvPicPr/>
          <p:nvPr/>
        </p:nvPicPr>
        <p:blipFill>
          <a:blip r:embed="rId1"/>
          <a:stretch/>
        </p:blipFill>
        <p:spPr>
          <a:xfrm>
            <a:off x="8633520" y="1382760"/>
            <a:ext cx="3262320" cy="3764160"/>
          </a:xfrm>
          <a:prstGeom prst="rect">
            <a:avLst/>
          </a:prstGeom>
          <a:ln>
            <a:noFill/>
          </a:ln>
        </p:spPr>
      </p:pic>
      <p:sp>
        <p:nvSpPr>
          <p:cNvPr id="243" name="CustomShape 2"/>
          <p:cNvSpPr/>
          <p:nvPr/>
        </p:nvSpPr>
        <p:spPr>
          <a:xfrm>
            <a:off x="9569880" y="5715360"/>
            <a:ext cx="24292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All About Circuits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4" name="TextShape 3"/>
          <p:cNvSpPr txBox="1"/>
          <p:nvPr/>
        </p:nvSpPr>
        <p:spPr>
          <a:xfrm>
            <a:off x="457200" y="1045080"/>
            <a:ext cx="7949160" cy="51962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signal is updated on the falling edge of the clock signal and sampled on the rising edge.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Data is transferred in one-byte sections, with each byte followed by a one-bit handshaking signal referred to as the ACK/NACK (acknowledge or not-acknowledge) bit.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5" name="TextShape 4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Inter-Integrated Circuit (I</a:t>
            </a:r>
            <a:r>
              <a:rPr b="0" lang="en-US" sz="4000" spc="-49" strike="noStrike" baseline="30000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2</a:t>
            </a: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 or I2C) 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246" name="Picture 2" descr=""/>
          <p:cNvPicPr/>
          <p:nvPr/>
        </p:nvPicPr>
        <p:blipFill>
          <a:blip r:embed="rId2"/>
          <a:stretch/>
        </p:blipFill>
        <p:spPr>
          <a:xfrm>
            <a:off x="1645920" y="1989000"/>
            <a:ext cx="4713840" cy="1992600"/>
          </a:xfrm>
          <a:prstGeom prst="rect">
            <a:avLst/>
          </a:prstGeom>
          <a:ln>
            <a:noFill/>
          </a:ln>
        </p:spPr>
      </p:pic>
      <p:sp>
        <p:nvSpPr>
          <p:cNvPr id="247" name="CustomShape 5"/>
          <p:cNvSpPr/>
          <p:nvPr/>
        </p:nvSpPr>
        <p:spPr>
          <a:xfrm>
            <a:off x="6360120" y="2526480"/>
            <a:ext cx="92592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Source: All About Circuits</a:t>
            </a:r>
            <a:endParaRPr b="0" lang="en-GB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I</a:t>
            </a:r>
            <a:r>
              <a:rPr b="0" lang="en-US" sz="4000" spc="-49" strike="noStrike" baseline="30000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2</a:t>
            </a: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 Communications 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9" name="TextShape 2"/>
          <p:cNvSpPr txBox="1"/>
          <p:nvPr/>
        </p:nvSpPr>
        <p:spPr>
          <a:xfrm>
            <a:off x="272880" y="1045080"/>
            <a:ext cx="7041960" cy="426240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Master initiates a start condition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Masters sends the 7-bit unique address of the device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Master outputs the read or write bit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Slave sends an acknowledge bit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Byte of data is exchanged followed by an acknowledgement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Transaction ends with the master device causing a stop condition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0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64EB9EE-53FE-427F-BE80-6F2819EF5BA2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251" name="Picture 8" descr=""/>
          <p:cNvPicPr/>
          <p:nvPr/>
        </p:nvPicPr>
        <p:blipFill>
          <a:blip r:embed="rId1"/>
          <a:stretch/>
        </p:blipFill>
        <p:spPr>
          <a:xfrm>
            <a:off x="7414200" y="1401840"/>
            <a:ext cx="4510080" cy="1591560"/>
          </a:xfrm>
          <a:prstGeom prst="rect">
            <a:avLst/>
          </a:prstGeom>
          <a:ln>
            <a:noFill/>
          </a:ln>
        </p:spPr>
      </p:pic>
      <p:pic>
        <p:nvPicPr>
          <p:cNvPr id="252" name="Picture 10" descr=""/>
          <p:cNvPicPr/>
          <p:nvPr/>
        </p:nvPicPr>
        <p:blipFill>
          <a:blip r:embed="rId2"/>
          <a:stretch/>
        </p:blipFill>
        <p:spPr>
          <a:xfrm>
            <a:off x="4505040" y="5202360"/>
            <a:ext cx="7494120" cy="1248840"/>
          </a:xfrm>
          <a:prstGeom prst="rect">
            <a:avLst/>
          </a:prstGeom>
          <a:ln>
            <a:noFill/>
          </a:ln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264600" y="286560"/>
            <a:ext cx="117424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85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I2C - Summary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465120" y="1066680"/>
            <a:ext cx="5590440" cy="480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90000"/>
              </a:lnSpc>
              <a:buClr>
                <a:srgbClr val="ffc82e"/>
              </a:buClr>
              <a:buFont typeface="Calibri"/>
              <a:buChar char=" "/>
            </a:pPr>
            <a:r>
              <a:rPr b="1" lang="en-US" sz="2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Advantages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Maintains low pin/signal count even with numerous devices on the bus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Adapts to needs of different slave devices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Readily supports multiple masters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Incorporates ACK/NACK functionality for improved error handling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5" name="TextShape 3"/>
          <p:cNvSpPr txBox="1"/>
          <p:nvPr/>
        </p:nvSpPr>
        <p:spPr>
          <a:xfrm>
            <a:off x="6237000" y="1066680"/>
            <a:ext cx="5770080" cy="48020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90000"/>
              </a:lnSpc>
              <a:buClr>
                <a:srgbClr val="ffc82e"/>
              </a:buClr>
              <a:buFont typeface="Calibri"/>
              <a:buChar char=" "/>
            </a:pPr>
            <a:r>
              <a:rPr b="1" lang="en-US" sz="2800" spc="-1" strike="noStrike">
                <a:solidFill>
                  <a:srgbClr val="d00028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Disadvantages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Complexity of firmware or low-level hardware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Imposes protocol overhead and reduces throughput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Requires pull-up resistors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Limit clock speed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Consume valuable PCB real estate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84120" indent="-18252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High power dissipation</a:t>
            </a:r>
            <a:endParaRPr b="0" lang="en-US" sz="14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6" name="TextShape 4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AE3A3169-4972-4375-A11C-A11F46AEDAFF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Shape 1"/>
          <p:cNvSpPr txBox="1"/>
          <p:nvPr/>
        </p:nvSpPr>
        <p:spPr>
          <a:xfrm>
            <a:off x="272880" y="286560"/>
            <a:ext cx="11726280" cy="691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4000" spc="-49" strike="noStrike">
                <a:solidFill>
                  <a:srgbClr val="6a0032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SPI vs. I2C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8" name="TextShape 2"/>
          <p:cNvSpPr txBox="1"/>
          <p:nvPr/>
        </p:nvSpPr>
        <p:spPr>
          <a:xfrm>
            <a:off x="272880" y="1045080"/>
            <a:ext cx="11726280" cy="4823640"/>
          </a:xfrm>
          <a:prstGeom prst="rect">
            <a:avLst/>
          </a:prstGeom>
          <a:noFill/>
          <a:ln>
            <a:noFill/>
          </a:ln>
        </p:spPr>
        <p:txBody>
          <a:bodyPr lIns="0" rIns="0"/>
          <a:p>
            <a:pPr marL="91440" indent="-91080">
              <a:lnSpc>
                <a:spcPct val="90000"/>
              </a:lnSpc>
              <a:buClr>
                <a:srgbClr val="ffc82e"/>
              </a:buClr>
              <a:buFont typeface="Calibri"/>
              <a:buChar char=" "/>
            </a:pPr>
            <a:r>
              <a:rPr b="0" lang="en-US" sz="2000" spc="-1" strike="noStrike" u="sng">
                <a:solidFill>
                  <a:srgbClr val="94d340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1"/>
              </a:rPr>
              <a:t>http://www.byteparadigm.com/applications/introduction-to-i2c-and-spi-protocols/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Bus topology / routing / resources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Throughput / Speed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91440" indent="-91080">
              <a:lnSpc>
                <a:spcPct val="100000"/>
              </a:lnSpc>
              <a:buClr>
                <a:srgbClr val="ffc82e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40404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Elegance</a:t>
            </a: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40404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9" name="TextShape 3"/>
          <p:cNvSpPr txBox="1"/>
          <p:nvPr/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D8FE740D-DF4A-458F-ABEA-5C02FDB0F220}" type="slidenum">
              <a:rPr b="0" lang="en-GB" sz="105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3196</TotalTime>
  <Application>LibreOffice/5.1.6.2$Linux_X86_64 LibreOffice_project/10m0$Build-2</Application>
  <Words>1930</Words>
  <Paragraphs>333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2014-03-25T19:51:14Z</dcterms:created>
  <dc:creator>Yelamarthi, Kumar</dc:creator>
  <dc:description/>
  <dc:language>en-GB</dc:language>
  <cp:lastModifiedBy>Yelamarthi, Kumar</cp:lastModifiedBy>
  <cp:lastPrinted>2016-09-27T00:33:08Z</cp:lastPrinted>
  <dcterms:modified xsi:type="dcterms:W3CDTF">2016-09-29T14:03:54Z</dcterms:modified>
  <cp:revision>599</cp:revision>
  <dc:subject/>
  <dc:title>An Efficient and Dynamic Algorithm for Accurate Mobile Robot Navigation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25</vt:i4>
  </property>
</Properties>
</file>