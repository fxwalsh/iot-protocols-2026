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65" r:id="rId2"/>
    <p:sldId id="257" r:id="rId3"/>
    <p:sldId id="258" r:id="rId4"/>
    <p:sldId id="266" r:id="rId5"/>
    <p:sldId id="267" r:id="rId6"/>
    <p:sldId id="268" r:id="rId7"/>
    <p:sldId id="276" r:id="rId8"/>
    <p:sldId id="277" r:id="rId9"/>
    <p:sldId id="278" r:id="rId10"/>
    <p:sldId id="259" r:id="rId11"/>
    <p:sldId id="260" r:id="rId12"/>
    <p:sldId id="261" r:id="rId13"/>
    <p:sldId id="262" r:id="rId14"/>
    <p:sldId id="263" r:id="rId15"/>
    <p:sldId id="264" r:id="rId16"/>
  </p:sldIdLst>
  <p:sldSz cx="14630400" cy="8229600"/>
  <p:notesSz cx="8229600" cy="14630400"/>
  <p:embeddedFontLst>
    <p:embeddedFont>
      <p:font typeface="Raleway" pitchFamily="2" charset="0"/>
      <p:regular r:id="rId18"/>
    </p:embeddedFont>
    <p:embeddedFont>
      <p:font typeface="Roboto" panose="02000000000000000000" pitchFamily="2" charset="0"/>
      <p:regular r:id="rId19"/>
      <p:bold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82" autoAdjust="0"/>
    <p:restoredTop sz="94610"/>
  </p:normalViewPr>
  <p:slideViewPr>
    <p:cSldViewPr snapToGrid="0" snapToObjects="1">
      <p:cViewPr varScale="1">
        <p:scale>
          <a:sx n="65" d="100"/>
          <a:sy n="65" d="100"/>
        </p:scale>
        <p:origin x="92" y="8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6215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9748163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9320697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3/2/2025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544290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europeandissemination.eu/foxes-a-new-pathfinder-project-enabling-decarbonisation-for-iot-technologies/12057" TargetMode="External"/><Relationship Id="rId2" Type="http://schemas.openxmlformats.org/officeDocument/2006/relationships/image" Target="../media/image2.jpeg"/><Relationship Id="rId1" Type="http://schemas.openxmlformats.org/officeDocument/2006/relationships/slideLayout" Target="../slideLayouts/slideLayout11.xml"/><Relationship Id="rId4" Type="http://schemas.openxmlformats.org/officeDocument/2006/relationships/hyperlink" Target="https://creativecommons.org/licenses/by-nc-nd/3.0/"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hyperlink" Target="https://pxhere.com/en/photo/472624"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26742" cy="822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cloud computing with various devices&#10;&#10;AI-generated content may be incorrect.">
            <a:extLst>
              <a:ext uri="{FF2B5EF4-FFF2-40B4-BE49-F238E27FC236}">
                <a16:creationId xmlns:a16="http://schemas.microsoft.com/office/drawing/2014/main" id="{1DB60F3B-B0EC-774C-E946-48CBC3E37599}"/>
              </a:ext>
            </a:extLst>
          </p:cNvPr>
          <p:cNvPicPr>
            <a:picLocks noChangeAspect="1"/>
          </p:cNvPicPr>
          <p:nvPr/>
        </p:nvPicPr>
        <p:blipFill>
          <a:blip r:embed="rId2">
            <a:alphaModFix amt="50000"/>
            <a:extLst>
              <a:ext uri="{837473B0-CC2E-450A-ABE3-18F120FF3D39}">
                <a1611:picAttrSrcUrl xmlns:a1611="http://schemas.microsoft.com/office/drawing/2016/11/main" r:id="rId3"/>
              </a:ext>
            </a:extLst>
          </a:blip>
          <a:srcRect r="1" b="9978"/>
          <a:stretch/>
        </p:blipFill>
        <p:spPr>
          <a:xfrm>
            <a:off x="20" y="10"/>
            <a:ext cx="14626720" cy="8229590"/>
          </a:xfrm>
          <a:prstGeom prst="rect">
            <a:avLst/>
          </a:prstGeom>
        </p:spPr>
      </p:pic>
      <p:sp>
        <p:nvSpPr>
          <p:cNvPr id="2" name="Title 1"/>
          <p:cNvSpPr>
            <a:spLocks noGrp="1"/>
          </p:cNvSpPr>
          <p:nvPr>
            <p:ph type="ctrTitle"/>
          </p:nvPr>
        </p:nvSpPr>
        <p:spPr>
          <a:xfrm>
            <a:off x="1828800" y="1346835"/>
            <a:ext cx="10972800" cy="3675888"/>
          </a:xfrm>
        </p:spPr>
        <p:txBody>
          <a:bodyPr>
            <a:normAutofit/>
          </a:bodyPr>
          <a:lstStyle/>
          <a:p>
            <a:r>
              <a:rPr lang="en-US" sz="7900">
                <a:solidFill>
                  <a:schemeClr val="bg1"/>
                </a:solidFill>
                <a:cs typeface="Calibri Light"/>
              </a:rPr>
              <a:t>IoT Platforms</a:t>
            </a:r>
            <a:endParaRPr lang="en-US" sz="7900">
              <a:solidFill>
                <a:schemeClr val="bg1"/>
              </a:solidFill>
            </a:endParaRPr>
          </a:p>
        </p:txBody>
      </p:sp>
      <p:sp>
        <p:nvSpPr>
          <p:cNvPr id="3" name="Subtitle 2"/>
          <p:cNvSpPr>
            <a:spLocks noGrp="1"/>
          </p:cNvSpPr>
          <p:nvPr>
            <p:ph type="subTitle" idx="1"/>
          </p:nvPr>
        </p:nvSpPr>
        <p:spPr>
          <a:xfrm>
            <a:off x="1832457" y="5519318"/>
            <a:ext cx="10972800" cy="1843430"/>
          </a:xfrm>
        </p:spPr>
        <p:txBody>
          <a:bodyPr vert="horz" lIns="109728" tIns="54864" rIns="109728" bIns="54864" rtlCol="0">
            <a:normAutofit/>
          </a:bodyPr>
          <a:lstStyle/>
          <a:p>
            <a:r>
              <a:rPr lang="en-US">
                <a:solidFill>
                  <a:schemeClr val="bg1"/>
                </a:solidFill>
                <a:cs typeface="Calibri"/>
              </a:rPr>
              <a:t>Frank Walsh</a:t>
            </a:r>
            <a:endParaRPr lang="en-US">
              <a:solidFill>
                <a:schemeClr val="bg1"/>
              </a:solidFill>
            </a:endParaRPr>
          </a:p>
        </p:txBody>
      </p:sp>
      <p:sp>
        <p:nvSpPr>
          <p:cNvPr id="19"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9047" y="5242347"/>
            <a:ext cx="5092307" cy="21946"/>
          </a:xfrm>
          <a:custGeom>
            <a:avLst/>
            <a:gdLst>
              <a:gd name="connsiteX0" fmla="*/ 0 w 5092307"/>
              <a:gd name="connsiteY0" fmla="*/ 0 h 21946"/>
              <a:gd name="connsiteX1" fmla="*/ 483769 w 5092307"/>
              <a:gd name="connsiteY1" fmla="*/ 0 h 21946"/>
              <a:gd name="connsiteX2" fmla="*/ 1222154 w 5092307"/>
              <a:gd name="connsiteY2" fmla="*/ 0 h 21946"/>
              <a:gd name="connsiteX3" fmla="*/ 1756846 w 5092307"/>
              <a:gd name="connsiteY3" fmla="*/ 0 h 21946"/>
              <a:gd name="connsiteX4" fmla="*/ 2291538 w 5092307"/>
              <a:gd name="connsiteY4" fmla="*/ 0 h 21946"/>
              <a:gd name="connsiteX5" fmla="*/ 2979000 w 5092307"/>
              <a:gd name="connsiteY5" fmla="*/ 0 h 21946"/>
              <a:gd name="connsiteX6" fmla="*/ 3666461 w 5092307"/>
              <a:gd name="connsiteY6" fmla="*/ 0 h 21946"/>
              <a:gd name="connsiteX7" fmla="*/ 4252076 w 5092307"/>
              <a:gd name="connsiteY7" fmla="*/ 0 h 21946"/>
              <a:gd name="connsiteX8" fmla="*/ 5092307 w 5092307"/>
              <a:gd name="connsiteY8" fmla="*/ 0 h 21946"/>
              <a:gd name="connsiteX9" fmla="*/ 5092307 w 5092307"/>
              <a:gd name="connsiteY9" fmla="*/ 21946 h 21946"/>
              <a:gd name="connsiteX10" fmla="*/ 4455769 w 5092307"/>
              <a:gd name="connsiteY10" fmla="*/ 21946 h 21946"/>
              <a:gd name="connsiteX11" fmla="*/ 3717384 w 5092307"/>
              <a:gd name="connsiteY11" fmla="*/ 21946 h 21946"/>
              <a:gd name="connsiteX12" fmla="*/ 3233615 w 5092307"/>
              <a:gd name="connsiteY12" fmla="*/ 21946 h 21946"/>
              <a:gd name="connsiteX13" fmla="*/ 2546154 w 5092307"/>
              <a:gd name="connsiteY13" fmla="*/ 21946 h 21946"/>
              <a:gd name="connsiteX14" fmla="*/ 1960538 w 5092307"/>
              <a:gd name="connsiteY14" fmla="*/ 21946 h 21946"/>
              <a:gd name="connsiteX15" fmla="*/ 1374923 w 5092307"/>
              <a:gd name="connsiteY15" fmla="*/ 21946 h 21946"/>
              <a:gd name="connsiteX16" fmla="*/ 738385 w 5092307"/>
              <a:gd name="connsiteY16" fmla="*/ 21946 h 21946"/>
              <a:gd name="connsiteX17" fmla="*/ 0 w 5092307"/>
              <a:gd name="connsiteY17" fmla="*/ 21946 h 21946"/>
              <a:gd name="connsiteX18" fmla="*/ 0 w 5092307"/>
              <a:gd name="connsiteY18" fmla="*/ 0 h 21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2307" h="21946" fill="none" extrusionOk="0">
                <a:moveTo>
                  <a:pt x="0" y="0"/>
                </a:moveTo>
                <a:cubicBezTo>
                  <a:pt x="126622" y="2207"/>
                  <a:pt x="310281" y="-9618"/>
                  <a:pt x="483769" y="0"/>
                </a:cubicBezTo>
                <a:cubicBezTo>
                  <a:pt x="657257" y="9618"/>
                  <a:pt x="962372" y="-35609"/>
                  <a:pt x="1222154" y="0"/>
                </a:cubicBezTo>
                <a:cubicBezTo>
                  <a:pt x="1481937" y="35609"/>
                  <a:pt x="1599378" y="20188"/>
                  <a:pt x="1756846" y="0"/>
                </a:cubicBezTo>
                <a:cubicBezTo>
                  <a:pt x="1914314" y="-20188"/>
                  <a:pt x="2080092" y="-5105"/>
                  <a:pt x="2291538" y="0"/>
                </a:cubicBezTo>
                <a:cubicBezTo>
                  <a:pt x="2502984" y="5105"/>
                  <a:pt x="2714641" y="617"/>
                  <a:pt x="2979000" y="0"/>
                </a:cubicBezTo>
                <a:cubicBezTo>
                  <a:pt x="3243359" y="-617"/>
                  <a:pt x="3339677" y="-32878"/>
                  <a:pt x="3666461" y="0"/>
                </a:cubicBezTo>
                <a:cubicBezTo>
                  <a:pt x="3993245" y="32878"/>
                  <a:pt x="3959356" y="10646"/>
                  <a:pt x="4252076" y="0"/>
                </a:cubicBezTo>
                <a:cubicBezTo>
                  <a:pt x="4544797" y="-10646"/>
                  <a:pt x="4803806" y="-6208"/>
                  <a:pt x="5092307" y="0"/>
                </a:cubicBezTo>
                <a:cubicBezTo>
                  <a:pt x="5092586" y="4631"/>
                  <a:pt x="5092360" y="16862"/>
                  <a:pt x="5092307" y="21946"/>
                </a:cubicBezTo>
                <a:cubicBezTo>
                  <a:pt x="4963024" y="39542"/>
                  <a:pt x="4769693" y="24041"/>
                  <a:pt x="4455769" y="21946"/>
                </a:cubicBezTo>
                <a:cubicBezTo>
                  <a:pt x="4141845" y="19851"/>
                  <a:pt x="3943439" y="-13029"/>
                  <a:pt x="3717384" y="21946"/>
                </a:cubicBezTo>
                <a:cubicBezTo>
                  <a:pt x="3491329" y="56921"/>
                  <a:pt x="3361256" y="34282"/>
                  <a:pt x="3233615" y="21946"/>
                </a:cubicBezTo>
                <a:cubicBezTo>
                  <a:pt x="3105974" y="9610"/>
                  <a:pt x="2872163" y="30197"/>
                  <a:pt x="2546154" y="21946"/>
                </a:cubicBezTo>
                <a:cubicBezTo>
                  <a:pt x="2220145" y="13695"/>
                  <a:pt x="2168829" y="22450"/>
                  <a:pt x="1960538" y="21946"/>
                </a:cubicBezTo>
                <a:cubicBezTo>
                  <a:pt x="1752247" y="21442"/>
                  <a:pt x="1523678" y="13932"/>
                  <a:pt x="1374923" y="21946"/>
                </a:cubicBezTo>
                <a:cubicBezTo>
                  <a:pt x="1226168" y="29960"/>
                  <a:pt x="928094" y="36837"/>
                  <a:pt x="738385" y="21946"/>
                </a:cubicBezTo>
                <a:cubicBezTo>
                  <a:pt x="548676" y="7055"/>
                  <a:pt x="168941" y="-5592"/>
                  <a:pt x="0" y="21946"/>
                </a:cubicBezTo>
                <a:cubicBezTo>
                  <a:pt x="287" y="12071"/>
                  <a:pt x="-113" y="6250"/>
                  <a:pt x="0" y="0"/>
                </a:cubicBezTo>
                <a:close/>
              </a:path>
              <a:path w="5092307" h="21946" stroke="0" extrusionOk="0">
                <a:moveTo>
                  <a:pt x="0" y="0"/>
                </a:moveTo>
                <a:cubicBezTo>
                  <a:pt x="123076" y="8408"/>
                  <a:pt x="290804" y="2227"/>
                  <a:pt x="534692" y="0"/>
                </a:cubicBezTo>
                <a:cubicBezTo>
                  <a:pt x="778580" y="-2227"/>
                  <a:pt x="855490" y="-16962"/>
                  <a:pt x="1018461" y="0"/>
                </a:cubicBezTo>
                <a:cubicBezTo>
                  <a:pt x="1181432" y="16962"/>
                  <a:pt x="1320664" y="19870"/>
                  <a:pt x="1553154" y="0"/>
                </a:cubicBezTo>
                <a:cubicBezTo>
                  <a:pt x="1785644" y="-19870"/>
                  <a:pt x="2036509" y="-20672"/>
                  <a:pt x="2189692" y="0"/>
                </a:cubicBezTo>
                <a:cubicBezTo>
                  <a:pt x="2342875" y="20672"/>
                  <a:pt x="2544654" y="-33332"/>
                  <a:pt x="2877153" y="0"/>
                </a:cubicBezTo>
                <a:cubicBezTo>
                  <a:pt x="3209652" y="33332"/>
                  <a:pt x="3394712" y="30818"/>
                  <a:pt x="3615538" y="0"/>
                </a:cubicBezTo>
                <a:cubicBezTo>
                  <a:pt x="3836364" y="-30818"/>
                  <a:pt x="4201667" y="-30590"/>
                  <a:pt x="4353922" y="0"/>
                </a:cubicBezTo>
                <a:cubicBezTo>
                  <a:pt x="4506177" y="30590"/>
                  <a:pt x="4855479" y="18332"/>
                  <a:pt x="5092307" y="0"/>
                </a:cubicBezTo>
                <a:cubicBezTo>
                  <a:pt x="5091574" y="4400"/>
                  <a:pt x="5092005" y="11744"/>
                  <a:pt x="5092307" y="21946"/>
                </a:cubicBezTo>
                <a:cubicBezTo>
                  <a:pt x="4864916" y="7468"/>
                  <a:pt x="4690539" y="13687"/>
                  <a:pt x="4557615" y="21946"/>
                </a:cubicBezTo>
                <a:cubicBezTo>
                  <a:pt x="4424691" y="30205"/>
                  <a:pt x="4076201" y="51864"/>
                  <a:pt x="3819230" y="21946"/>
                </a:cubicBezTo>
                <a:cubicBezTo>
                  <a:pt x="3562259" y="-7972"/>
                  <a:pt x="3498341" y="13372"/>
                  <a:pt x="3335461" y="21946"/>
                </a:cubicBezTo>
                <a:cubicBezTo>
                  <a:pt x="3172581" y="30520"/>
                  <a:pt x="2979939" y="3719"/>
                  <a:pt x="2648000" y="21946"/>
                </a:cubicBezTo>
                <a:cubicBezTo>
                  <a:pt x="2316061" y="40173"/>
                  <a:pt x="2286972" y="9792"/>
                  <a:pt x="2062384" y="21946"/>
                </a:cubicBezTo>
                <a:cubicBezTo>
                  <a:pt x="1837796" y="34100"/>
                  <a:pt x="1672241" y="1952"/>
                  <a:pt x="1476769" y="21946"/>
                </a:cubicBezTo>
                <a:cubicBezTo>
                  <a:pt x="1281297" y="41940"/>
                  <a:pt x="975566" y="5945"/>
                  <a:pt x="738385" y="21946"/>
                </a:cubicBezTo>
                <a:cubicBezTo>
                  <a:pt x="501204" y="37947"/>
                  <a:pt x="163670" y="-14697"/>
                  <a:pt x="0" y="21946"/>
                </a:cubicBezTo>
                <a:cubicBezTo>
                  <a:pt x="-116" y="15135"/>
                  <a:pt x="-209" y="7967"/>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6408C76-DEA4-E5EC-4FFE-C941960DA859}"/>
              </a:ext>
            </a:extLst>
          </p:cNvPr>
          <p:cNvSpPr txBox="1"/>
          <p:nvPr/>
        </p:nvSpPr>
        <p:spPr>
          <a:xfrm>
            <a:off x="12167413" y="8029545"/>
            <a:ext cx="2459327"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3" tooltip="http://europeandissemination.eu/foxes-a-new-pathfinder-project-enabling-decarbonisation-for-iot-technologies/12057">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4" tooltip="https://creativecommons.org/licenses/by-nc-nd/3.0/">
                  <a:extLst>
                    <a:ext uri="{A12FA001-AC4F-418D-AE19-62706E023703}">
                      <ahyp:hlinkClr xmlns:ahyp="http://schemas.microsoft.com/office/drawing/2018/hyperlinkcolor" val="tx"/>
                    </a:ext>
                  </a:extLst>
                </a:hlinkClick>
              </a:rPr>
              <a:t>CC BY-NC-ND</a:t>
            </a:r>
            <a:endParaRPr lang="en-IE" sz="700">
              <a:solidFill>
                <a:srgbClr val="FFFFFF"/>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230874"/>
            <a:ext cx="5670590" cy="708779"/>
          </a:xfrm>
          <a:prstGeom prst="rect">
            <a:avLst/>
          </a:prstGeom>
          <a:noFill/>
          <a:ln/>
        </p:spPr>
        <p:txBody>
          <a:bodyPr wrap="none" lIns="0" tIns="0" rIns="0" bIns="0" rtlCol="0" anchor="t"/>
          <a:lstStyle/>
          <a:p>
            <a:pPr marL="0" indent="0">
              <a:lnSpc>
                <a:spcPts val="5550"/>
              </a:lnSpc>
              <a:buNone/>
            </a:pPr>
            <a:r>
              <a:rPr lang="en-US" sz="4450" dirty="0">
                <a:solidFill>
                  <a:srgbClr val="1B1B27"/>
                </a:solidFill>
                <a:latin typeface="Raleway" pitchFamily="34" charset="0"/>
                <a:ea typeface="Raleway" pitchFamily="34" charset="-122"/>
                <a:cs typeface="Raleway" pitchFamily="34" charset="-120"/>
              </a:rPr>
              <a:t>What is the Cloud?</a:t>
            </a:r>
            <a:endParaRPr lang="en-US" sz="4450" dirty="0"/>
          </a:p>
        </p:txBody>
      </p:sp>
      <p:sp>
        <p:nvSpPr>
          <p:cNvPr id="3" name="Text 1"/>
          <p:cNvSpPr/>
          <p:nvPr/>
        </p:nvSpPr>
        <p:spPr>
          <a:xfrm>
            <a:off x="793790" y="3506629"/>
            <a:ext cx="2835235" cy="354330"/>
          </a:xfrm>
          <a:prstGeom prst="rect">
            <a:avLst/>
          </a:prstGeom>
          <a:noFill/>
          <a:ln/>
        </p:spPr>
        <p:txBody>
          <a:bodyPr wrap="none" lIns="0" tIns="0" rIns="0" bIns="0" rtlCol="0" anchor="t"/>
          <a:lstStyle/>
          <a:p>
            <a:pPr marL="0" indent="0">
              <a:lnSpc>
                <a:spcPts val="2750"/>
              </a:lnSpc>
              <a:buNone/>
            </a:pPr>
            <a:r>
              <a:rPr lang="en-US" sz="2200" dirty="0">
                <a:solidFill>
                  <a:srgbClr val="1B1B27"/>
                </a:solidFill>
                <a:latin typeface="Raleway" pitchFamily="34" charset="0"/>
                <a:ea typeface="Raleway" pitchFamily="34" charset="-122"/>
                <a:cs typeface="Raleway" pitchFamily="34" charset="-120"/>
              </a:rPr>
              <a:t>Before the Cloud</a:t>
            </a:r>
            <a:endParaRPr lang="en-US" sz="2200" dirty="0"/>
          </a:p>
        </p:txBody>
      </p:sp>
      <p:sp>
        <p:nvSpPr>
          <p:cNvPr id="4" name="Text 2"/>
          <p:cNvSpPr/>
          <p:nvPr/>
        </p:nvSpPr>
        <p:spPr>
          <a:xfrm>
            <a:off x="793790" y="4087773"/>
            <a:ext cx="6244709" cy="725805"/>
          </a:xfrm>
          <a:prstGeom prst="rect">
            <a:avLst/>
          </a:prstGeom>
          <a:noFill/>
          <a:ln/>
        </p:spPr>
        <p:txBody>
          <a:bodyPr wrap="square" lIns="0" tIns="0" rIns="0" bIns="0" rtlCol="0" anchor="t"/>
          <a:lstStyle/>
          <a:p>
            <a:pPr marL="0" indent="0">
              <a:lnSpc>
                <a:spcPts val="2850"/>
              </a:lnSpc>
              <a:buNone/>
            </a:pPr>
            <a:r>
              <a:rPr lang="en-US" sz="1750" dirty="0">
                <a:solidFill>
                  <a:srgbClr val="3C3939"/>
                </a:solidFill>
                <a:latin typeface="Roboto" pitchFamily="34" charset="0"/>
                <a:ea typeface="Roboto" pitchFamily="34" charset="-122"/>
                <a:cs typeface="Roboto" pitchFamily="34" charset="-120"/>
              </a:rPr>
              <a:t>Companies managed their own data centers. They handled everything from hardware to security.</a:t>
            </a:r>
            <a:endParaRPr lang="en-US" sz="1750" dirty="0"/>
          </a:p>
        </p:txBody>
      </p:sp>
      <p:sp>
        <p:nvSpPr>
          <p:cNvPr id="5" name="Text 3"/>
          <p:cNvSpPr/>
          <p:nvPr/>
        </p:nvSpPr>
        <p:spPr>
          <a:xfrm>
            <a:off x="7599521" y="3506629"/>
            <a:ext cx="2835235" cy="354330"/>
          </a:xfrm>
          <a:prstGeom prst="rect">
            <a:avLst/>
          </a:prstGeom>
          <a:noFill/>
          <a:ln/>
        </p:spPr>
        <p:txBody>
          <a:bodyPr wrap="none" lIns="0" tIns="0" rIns="0" bIns="0" rtlCol="0" anchor="t"/>
          <a:lstStyle/>
          <a:p>
            <a:pPr marL="0" indent="0">
              <a:lnSpc>
                <a:spcPts val="2750"/>
              </a:lnSpc>
              <a:buNone/>
            </a:pPr>
            <a:r>
              <a:rPr lang="en-US" sz="2200" dirty="0">
                <a:solidFill>
                  <a:srgbClr val="1B1B27"/>
                </a:solidFill>
                <a:latin typeface="Raleway" pitchFamily="34" charset="0"/>
                <a:ea typeface="Raleway" pitchFamily="34" charset="-122"/>
                <a:cs typeface="Raleway" pitchFamily="34" charset="-120"/>
              </a:rPr>
              <a:t>Expensive and Slow</a:t>
            </a:r>
            <a:endParaRPr lang="en-US" sz="2200" dirty="0"/>
          </a:p>
        </p:txBody>
      </p:sp>
      <p:sp>
        <p:nvSpPr>
          <p:cNvPr id="6" name="Text 4"/>
          <p:cNvSpPr/>
          <p:nvPr/>
        </p:nvSpPr>
        <p:spPr>
          <a:xfrm>
            <a:off x="7599521" y="4087773"/>
            <a:ext cx="6244709" cy="725805"/>
          </a:xfrm>
          <a:prstGeom prst="rect">
            <a:avLst/>
          </a:prstGeom>
          <a:noFill/>
          <a:ln/>
        </p:spPr>
        <p:txBody>
          <a:bodyPr wrap="square" lIns="0" tIns="0" rIns="0" bIns="0" rtlCol="0" anchor="t"/>
          <a:lstStyle/>
          <a:p>
            <a:pPr marL="0" indent="0">
              <a:lnSpc>
                <a:spcPts val="2850"/>
              </a:lnSpc>
              <a:buNone/>
            </a:pPr>
            <a:r>
              <a:rPr lang="en-US" sz="1750" dirty="0">
                <a:solidFill>
                  <a:srgbClr val="3C3939"/>
                </a:solidFill>
                <a:latin typeface="Roboto" pitchFamily="34" charset="0"/>
                <a:ea typeface="Roboto" pitchFamily="34" charset="-122"/>
                <a:cs typeface="Roboto" pitchFamily="34" charset="-120"/>
              </a:rPr>
              <a:t>This was costly and required specialized staff. Scaling resources was slow and challenging.</a:t>
            </a:r>
            <a:endParaRPr lang="en-US" sz="1750" dirty="0"/>
          </a:p>
        </p:txBody>
      </p:sp>
      <p:sp>
        <p:nvSpPr>
          <p:cNvPr id="7" name="Text 5"/>
          <p:cNvSpPr/>
          <p:nvPr/>
        </p:nvSpPr>
        <p:spPr>
          <a:xfrm>
            <a:off x="793790" y="5272802"/>
            <a:ext cx="13042821" cy="725805"/>
          </a:xfrm>
          <a:prstGeom prst="rect">
            <a:avLst/>
          </a:prstGeom>
          <a:noFill/>
          <a:ln/>
        </p:spPr>
        <p:txBody>
          <a:bodyPr wrap="square" lIns="0" tIns="0" rIns="0" bIns="0" rtlCol="0" anchor="t"/>
          <a:lstStyle/>
          <a:p>
            <a:pPr marL="0" indent="0">
              <a:lnSpc>
                <a:spcPts val="2850"/>
              </a:lnSpc>
              <a:buNone/>
            </a:pPr>
            <a:r>
              <a:rPr lang="en-US" sz="1750" dirty="0">
                <a:solidFill>
                  <a:srgbClr val="3C3939"/>
                </a:solidFill>
                <a:latin typeface="Roboto" pitchFamily="34" charset="0"/>
                <a:ea typeface="Roboto" pitchFamily="34" charset="-122"/>
                <a:cs typeface="Roboto" pitchFamily="34" charset="-120"/>
              </a:rPr>
              <a:t>Data centers manage buying computers, hardware maintenance, power and cooling, networking, security, and software installation.</a:t>
            </a:r>
            <a:endParaRPr lang="en-US" sz="1750" dirty="0"/>
          </a:p>
        </p:txBody>
      </p:sp>
      <p:pic>
        <p:nvPicPr>
          <p:cNvPr id="9" name="Picture 8" descr="Clouds in the sky&#10;&#10;AI-generated content may be incorrect.">
            <a:extLst>
              <a:ext uri="{FF2B5EF4-FFF2-40B4-BE49-F238E27FC236}">
                <a16:creationId xmlns:a16="http://schemas.microsoft.com/office/drawing/2014/main" id="{02F6CA7D-C741-7B30-981B-91A89B7D19B5}"/>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8567448" y="438959"/>
            <a:ext cx="3009745" cy="260844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642586"/>
            <a:ext cx="6955155" cy="708779"/>
          </a:xfrm>
          <a:prstGeom prst="rect">
            <a:avLst/>
          </a:prstGeom>
          <a:noFill/>
          <a:ln/>
        </p:spPr>
        <p:txBody>
          <a:bodyPr wrap="none" lIns="0" tIns="0" rIns="0" bIns="0" rtlCol="0" anchor="t"/>
          <a:lstStyle/>
          <a:p>
            <a:pPr marL="0" indent="0">
              <a:lnSpc>
                <a:spcPts val="5550"/>
              </a:lnSpc>
              <a:buNone/>
            </a:pPr>
            <a:r>
              <a:rPr lang="en-US" sz="4450" dirty="0">
                <a:solidFill>
                  <a:srgbClr val="1B1B27"/>
                </a:solidFill>
                <a:latin typeface="Raleway" pitchFamily="34" charset="0"/>
                <a:ea typeface="Raleway" pitchFamily="34" charset="-122"/>
                <a:cs typeface="Raleway" pitchFamily="34" charset="-120"/>
              </a:rPr>
              <a:t>Someone Else's Computer</a:t>
            </a:r>
            <a:endParaRPr lang="en-US" sz="4450" dirty="0"/>
          </a:p>
        </p:txBody>
      </p:sp>
      <p:sp>
        <p:nvSpPr>
          <p:cNvPr id="4" name="Shape 1"/>
          <p:cNvSpPr/>
          <p:nvPr/>
        </p:nvSpPr>
        <p:spPr>
          <a:xfrm>
            <a:off x="6280190" y="2946678"/>
            <a:ext cx="510302" cy="510302"/>
          </a:xfrm>
          <a:prstGeom prst="roundRect">
            <a:avLst>
              <a:gd name="adj" fmla="val 18669"/>
            </a:avLst>
          </a:prstGeom>
          <a:solidFill>
            <a:srgbClr val="E1E1EA"/>
          </a:solidFill>
          <a:ln w="7620">
            <a:solidFill>
              <a:srgbClr val="C7C7D0"/>
            </a:solidFill>
            <a:prstDash val="solid"/>
          </a:ln>
        </p:spPr>
        <p:txBody>
          <a:bodyPr/>
          <a:lstStyle/>
          <a:p>
            <a:endParaRPr lang="en-IE"/>
          </a:p>
        </p:txBody>
      </p:sp>
      <p:sp>
        <p:nvSpPr>
          <p:cNvPr id="5" name="Text 2"/>
          <p:cNvSpPr/>
          <p:nvPr/>
        </p:nvSpPr>
        <p:spPr>
          <a:xfrm>
            <a:off x="6462474" y="3031688"/>
            <a:ext cx="145613" cy="340281"/>
          </a:xfrm>
          <a:prstGeom prst="rect">
            <a:avLst/>
          </a:prstGeom>
          <a:noFill/>
          <a:ln/>
        </p:spPr>
        <p:txBody>
          <a:bodyPr wrap="none" lIns="0" tIns="0" rIns="0" bIns="0" rtlCol="0" anchor="t"/>
          <a:lstStyle/>
          <a:p>
            <a:pPr marL="0" indent="0" algn="ctr">
              <a:lnSpc>
                <a:spcPts val="2650"/>
              </a:lnSpc>
              <a:buNone/>
            </a:pPr>
            <a:r>
              <a:rPr lang="en-US" sz="2650" dirty="0">
                <a:solidFill>
                  <a:srgbClr val="3C3939"/>
                </a:solidFill>
                <a:latin typeface="Raleway" pitchFamily="34" charset="0"/>
                <a:ea typeface="Raleway" pitchFamily="34" charset="-122"/>
                <a:cs typeface="Raleway" pitchFamily="34" charset="-120"/>
              </a:rPr>
              <a:t>1</a:t>
            </a:r>
            <a:endParaRPr lang="en-US" sz="2650" dirty="0"/>
          </a:p>
        </p:txBody>
      </p:sp>
      <p:sp>
        <p:nvSpPr>
          <p:cNvPr id="6" name="Text 3"/>
          <p:cNvSpPr/>
          <p:nvPr/>
        </p:nvSpPr>
        <p:spPr>
          <a:xfrm>
            <a:off x="7017306" y="2946678"/>
            <a:ext cx="2835235" cy="354330"/>
          </a:xfrm>
          <a:prstGeom prst="rect">
            <a:avLst/>
          </a:prstGeom>
          <a:noFill/>
          <a:ln/>
        </p:spPr>
        <p:txBody>
          <a:bodyPr wrap="none" lIns="0" tIns="0" rIns="0" bIns="0" rtlCol="0" anchor="t"/>
          <a:lstStyle/>
          <a:p>
            <a:pPr marL="0" indent="0">
              <a:lnSpc>
                <a:spcPts val="2750"/>
              </a:lnSpc>
              <a:buNone/>
            </a:pPr>
            <a:r>
              <a:rPr lang="en-US" sz="2200" dirty="0">
                <a:solidFill>
                  <a:srgbClr val="3C3939"/>
                </a:solidFill>
                <a:latin typeface="Raleway" pitchFamily="34" charset="0"/>
                <a:ea typeface="Raleway" pitchFamily="34" charset="-122"/>
                <a:cs typeface="Raleway" pitchFamily="34" charset="-120"/>
              </a:rPr>
              <a:t>Cloud Computing</a:t>
            </a:r>
            <a:endParaRPr lang="en-US" sz="2200" dirty="0"/>
          </a:p>
        </p:txBody>
      </p:sp>
      <p:sp>
        <p:nvSpPr>
          <p:cNvPr id="7" name="Text 4"/>
          <p:cNvSpPr/>
          <p:nvPr/>
        </p:nvSpPr>
        <p:spPr>
          <a:xfrm>
            <a:off x="7017306" y="3437096"/>
            <a:ext cx="2927747" cy="1451610"/>
          </a:xfrm>
          <a:prstGeom prst="rect">
            <a:avLst/>
          </a:prstGeom>
          <a:noFill/>
          <a:ln/>
        </p:spPr>
        <p:txBody>
          <a:bodyPr wrap="square" lIns="0" tIns="0" rIns="0" bIns="0" rtlCol="0" anchor="t"/>
          <a:lstStyle/>
          <a:p>
            <a:pPr marL="0" indent="0">
              <a:lnSpc>
                <a:spcPts val="2850"/>
              </a:lnSpc>
              <a:buNone/>
            </a:pPr>
            <a:r>
              <a:rPr lang="en-US" sz="1750" dirty="0">
                <a:solidFill>
                  <a:srgbClr val="3C3939"/>
                </a:solidFill>
                <a:latin typeface="Roboto" pitchFamily="34" charset="0"/>
                <a:ea typeface="Roboto" pitchFamily="34" charset="-122"/>
                <a:cs typeface="Roboto" pitchFamily="34" charset="-120"/>
              </a:rPr>
              <a:t>Rent computing power instead of buying hardware. Cloud providers manage the data centers.</a:t>
            </a:r>
            <a:endParaRPr lang="en-US" sz="1750" dirty="0"/>
          </a:p>
        </p:txBody>
      </p:sp>
      <p:sp>
        <p:nvSpPr>
          <p:cNvPr id="8" name="Shape 5"/>
          <p:cNvSpPr/>
          <p:nvPr/>
        </p:nvSpPr>
        <p:spPr>
          <a:xfrm>
            <a:off x="10171867" y="2946678"/>
            <a:ext cx="510302" cy="510302"/>
          </a:xfrm>
          <a:prstGeom prst="roundRect">
            <a:avLst>
              <a:gd name="adj" fmla="val 18669"/>
            </a:avLst>
          </a:prstGeom>
          <a:solidFill>
            <a:srgbClr val="E1E1EA"/>
          </a:solidFill>
          <a:ln w="7620">
            <a:solidFill>
              <a:srgbClr val="C7C7D0"/>
            </a:solidFill>
            <a:prstDash val="solid"/>
          </a:ln>
        </p:spPr>
        <p:txBody>
          <a:bodyPr/>
          <a:lstStyle/>
          <a:p>
            <a:endParaRPr lang="en-IE"/>
          </a:p>
        </p:txBody>
      </p:sp>
      <p:sp>
        <p:nvSpPr>
          <p:cNvPr id="9" name="Text 6"/>
          <p:cNvSpPr/>
          <p:nvPr/>
        </p:nvSpPr>
        <p:spPr>
          <a:xfrm>
            <a:off x="10338316" y="3031688"/>
            <a:ext cx="177284" cy="340281"/>
          </a:xfrm>
          <a:prstGeom prst="rect">
            <a:avLst/>
          </a:prstGeom>
          <a:noFill/>
          <a:ln/>
        </p:spPr>
        <p:txBody>
          <a:bodyPr wrap="none" lIns="0" tIns="0" rIns="0" bIns="0" rtlCol="0" anchor="t"/>
          <a:lstStyle/>
          <a:p>
            <a:pPr marL="0" indent="0" algn="ctr">
              <a:lnSpc>
                <a:spcPts val="2650"/>
              </a:lnSpc>
              <a:buNone/>
            </a:pPr>
            <a:r>
              <a:rPr lang="en-US" sz="2650" dirty="0">
                <a:solidFill>
                  <a:srgbClr val="3C3939"/>
                </a:solidFill>
                <a:latin typeface="Raleway" pitchFamily="34" charset="0"/>
                <a:ea typeface="Raleway" pitchFamily="34" charset="-122"/>
                <a:cs typeface="Raleway" pitchFamily="34" charset="-120"/>
              </a:rPr>
              <a:t>2</a:t>
            </a:r>
            <a:endParaRPr lang="en-US" sz="2650" dirty="0"/>
          </a:p>
        </p:txBody>
      </p:sp>
      <p:sp>
        <p:nvSpPr>
          <p:cNvPr id="10" name="Text 7"/>
          <p:cNvSpPr/>
          <p:nvPr/>
        </p:nvSpPr>
        <p:spPr>
          <a:xfrm>
            <a:off x="10908983" y="2946678"/>
            <a:ext cx="2835235" cy="354330"/>
          </a:xfrm>
          <a:prstGeom prst="rect">
            <a:avLst/>
          </a:prstGeom>
          <a:noFill/>
          <a:ln/>
        </p:spPr>
        <p:txBody>
          <a:bodyPr wrap="none" lIns="0" tIns="0" rIns="0" bIns="0" rtlCol="0" anchor="t"/>
          <a:lstStyle/>
          <a:p>
            <a:pPr marL="0" indent="0">
              <a:lnSpc>
                <a:spcPts val="2750"/>
              </a:lnSpc>
              <a:buNone/>
            </a:pPr>
            <a:r>
              <a:rPr lang="en-US" sz="2200" dirty="0">
                <a:solidFill>
                  <a:srgbClr val="3C3939"/>
                </a:solidFill>
                <a:latin typeface="Raleway" pitchFamily="34" charset="0"/>
                <a:ea typeface="Raleway" pitchFamily="34" charset="-122"/>
                <a:cs typeface="Raleway" pitchFamily="34" charset="-120"/>
              </a:rPr>
              <a:t>Global Data Centers</a:t>
            </a:r>
            <a:endParaRPr lang="en-US" sz="2200" dirty="0"/>
          </a:p>
        </p:txBody>
      </p:sp>
      <p:sp>
        <p:nvSpPr>
          <p:cNvPr id="11" name="Text 8"/>
          <p:cNvSpPr/>
          <p:nvPr/>
        </p:nvSpPr>
        <p:spPr>
          <a:xfrm>
            <a:off x="10908983" y="3437096"/>
            <a:ext cx="2927747" cy="1451610"/>
          </a:xfrm>
          <a:prstGeom prst="rect">
            <a:avLst/>
          </a:prstGeom>
          <a:noFill/>
          <a:ln/>
        </p:spPr>
        <p:txBody>
          <a:bodyPr wrap="square" lIns="0" tIns="0" rIns="0" bIns="0" rtlCol="0" anchor="t"/>
          <a:lstStyle/>
          <a:p>
            <a:pPr marL="0" indent="0">
              <a:lnSpc>
                <a:spcPts val="2850"/>
              </a:lnSpc>
              <a:buNone/>
            </a:pPr>
            <a:r>
              <a:rPr lang="en-US" sz="1750" dirty="0">
                <a:solidFill>
                  <a:srgbClr val="3C3939"/>
                </a:solidFill>
                <a:latin typeface="Roboto" pitchFamily="34" charset="0"/>
                <a:ea typeface="Roboto" pitchFamily="34" charset="-122"/>
                <a:cs typeface="Roboto" pitchFamily="34" charset="-120"/>
              </a:rPr>
              <a:t>Cloud data centers are located worldwide. They are managed by cloud computing providers.</a:t>
            </a:r>
            <a:endParaRPr lang="en-US" sz="1750" dirty="0"/>
          </a:p>
        </p:txBody>
      </p:sp>
      <p:sp>
        <p:nvSpPr>
          <p:cNvPr id="12" name="Shape 9"/>
          <p:cNvSpPr/>
          <p:nvPr/>
        </p:nvSpPr>
        <p:spPr>
          <a:xfrm>
            <a:off x="6280190" y="5370671"/>
            <a:ext cx="510302" cy="510302"/>
          </a:xfrm>
          <a:prstGeom prst="roundRect">
            <a:avLst>
              <a:gd name="adj" fmla="val 18669"/>
            </a:avLst>
          </a:prstGeom>
          <a:solidFill>
            <a:srgbClr val="E1E1EA"/>
          </a:solidFill>
          <a:ln w="7620">
            <a:solidFill>
              <a:srgbClr val="C7C7D0"/>
            </a:solidFill>
            <a:prstDash val="solid"/>
          </a:ln>
        </p:spPr>
        <p:txBody>
          <a:bodyPr/>
          <a:lstStyle/>
          <a:p>
            <a:endParaRPr lang="en-IE"/>
          </a:p>
        </p:txBody>
      </p:sp>
      <p:sp>
        <p:nvSpPr>
          <p:cNvPr id="13" name="Text 10"/>
          <p:cNvSpPr/>
          <p:nvPr/>
        </p:nvSpPr>
        <p:spPr>
          <a:xfrm>
            <a:off x="6444496" y="5455682"/>
            <a:ext cx="181689" cy="340281"/>
          </a:xfrm>
          <a:prstGeom prst="rect">
            <a:avLst/>
          </a:prstGeom>
          <a:noFill/>
          <a:ln/>
        </p:spPr>
        <p:txBody>
          <a:bodyPr wrap="none" lIns="0" tIns="0" rIns="0" bIns="0" rtlCol="0" anchor="t"/>
          <a:lstStyle/>
          <a:p>
            <a:pPr marL="0" indent="0" algn="ctr">
              <a:lnSpc>
                <a:spcPts val="2650"/>
              </a:lnSpc>
              <a:buNone/>
            </a:pPr>
            <a:r>
              <a:rPr lang="en-US" sz="2650" dirty="0">
                <a:solidFill>
                  <a:srgbClr val="3C3939"/>
                </a:solidFill>
                <a:latin typeface="Raleway" pitchFamily="34" charset="0"/>
                <a:ea typeface="Raleway" pitchFamily="34" charset="-122"/>
                <a:cs typeface="Raleway" pitchFamily="34" charset="-120"/>
              </a:rPr>
              <a:t>3</a:t>
            </a:r>
            <a:endParaRPr lang="en-US" sz="2650" dirty="0"/>
          </a:p>
        </p:txBody>
      </p:sp>
      <p:sp>
        <p:nvSpPr>
          <p:cNvPr id="14" name="Text 11"/>
          <p:cNvSpPr/>
          <p:nvPr/>
        </p:nvSpPr>
        <p:spPr>
          <a:xfrm>
            <a:off x="7017306" y="5370671"/>
            <a:ext cx="2835235" cy="354330"/>
          </a:xfrm>
          <a:prstGeom prst="rect">
            <a:avLst/>
          </a:prstGeom>
          <a:noFill/>
          <a:ln/>
        </p:spPr>
        <p:txBody>
          <a:bodyPr wrap="none" lIns="0" tIns="0" rIns="0" bIns="0" rtlCol="0" anchor="t"/>
          <a:lstStyle/>
          <a:p>
            <a:pPr marL="0" indent="0">
              <a:lnSpc>
                <a:spcPts val="2750"/>
              </a:lnSpc>
              <a:buNone/>
            </a:pPr>
            <a:r>
              <a:rPr lang="en-US" sz="2200" dirty="0">
                <a:solidFill>
                  <a:srgbClr val="3C3939"/>
                </a:solidFill>
                <a:latin typeface="Raleway" pitchFamily="34" charset="0"/>
                <a:ea typeface="Raleway" pitchFamily="34" charset="-122"/>
                <a:cs typeface="Raleway" pitchFamily="34" charset="-120"/>
              </a:rPr>
              <a:t>Cost Effective</a:t>
            </a:r>
            <a:endParaRPr lang="en-US" sz="2200" dirty="0"/>
          </a:p>
        </p:txBody>
      </p:sp>
      <p:sp>
        <p:nvSpPr>
          <p:cNvPr id="15" name="Text 12"/>
          <p:cNvSpPr/>
          <p:nvPr/>
        </p:nvSpPr>
        <p:spPr>
          <a:xfrm>
            <a:off x="7017306" y="5861090"/>
            <a:ext cx="6819305" cy="725805"/>
          </a:xfrm>
          <a:prstGeom prst="rect">
            <a:avLst/>
          </a:prstGeom>
          <a:noFill/>
          <a:ln/>
        </p:spPr>
        <p:txBody>
          <a:bodyPr wrap="square" lIns="0" tIns="0" rIns="0" bIns="0" rtlCol="0" anchor="t"/>
          <a:lstStyle/>
          <a:p>
            <a:pPr marL="0" indent="0">
              <a:lnSpc>
                <a:spcPts val="2850"/>
              </a:lnSpc>
              <a:buNone/>
            </a:pPr>
            <a:r>
              <a:rPr lang="en-US" sz="1750" dirty="0">
                <a:solidFill>
                  <a:srgbClr val="3C3939"/>
                </a:solidFill>
                <a:latin typeface="Roboto" pitchFamily="34" charset="0"/>
                <a:ea typeface="Roboto" pitchFamily="34" charset="-122"/>
                <a:cs typeface="Roboto" pitchFamily="34" charset="-120"/>
              </a:rPr>
              <a:t>Pay for what you use, scaling resources as needed. This lowers costs and increases efficiency.</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FB042-AECB-49EA-AFA4-BA3007681936}"/>
              </a:ext>
            </a:extLst>
          </p:cNvPr>
          <p:cNvSpPr>
            <a:spLocks noGrp="1"/>
          </p:cNvSpPr>
          <p:nvPr>
            <p:ph type="title"/>
          </p:nvPr>
        </p:nvSpPr>
        <p:spPr/>
        <p:txBody>
          <a:bodyPr/>
          <a:lstStyle/>
          <a:p>
            <a:endParaRPr lang="en-US" dirty="0" err="1"/>
          </a:p>
        </p:txBody>
      </p:sp>
      <p:sp>
        <p:nvSpPr>
          <p:cNvPr id="3" name="Content Placeholder 2">
            <a:extLst>
              <a:ext uri="{FF2B5EF4-FFF2-40B4-BE49-F238E27FC236}">
                <a16:creationId xmlns:a16="http://schemas.microsoft.com/office/drawing/2014/main" id="{9AC81755-BBA2-45C7-940B-B6B4DF17715D}"/>
              </a:ext>
            </a:extLst>
          </p:cNvPr>
          <p:cNvSpPr>
            <a:spLocks noGrp="1"/>
          </p:cNvSpPr>
          <p:nvPr>
            <p:ph idx="1"/>
          </p:nvPr>
        </p:nvSpPr>
        <p:spPr/>
        <p:txBody>
          <a:bodyPr vert="horz" lIns="109728" tIns="54864" rIns="109728" bIns="54864" rtlCol="0" anchor="t">
            <a:normAutofit fontScale="25000" lnSpcReduction="20000"/>
          </a:bodyPr>
          <a:lstStyle/>
          <a:p>
            <a:endParaRPr lang="en-US" dirty="0">
              <a:cs typeface="Calibri"/>
            </a:endParaRPr>
          </a:p>
        </p:txBody>
      </p:sp>
      <p:sp>
        <p:nvSpPr>
          <p:cNvPr id="4" name="Content Placeholder 2">
            <a:extLst>
              <a:ext uri="{FF2B5EF4-FFF2-40B4-BE49-F238E27FC236}">
                <a16:creationId xmlns:a16="http://schemas.microsoft.com/office/drawing/2014/main" id="{C1F8C671-D9B1-1BF5-5C8F-366735963B17}"/>
              </a:ext>
            </a:extLst>
          </p:cNvPr>
          <p:cNvSpPr txBox="1">
            <a:spLocks/>
          </p:cNvSpPr>
          <p:nvPr/>
        </p:nvSpPr>
        <p:spPr>
          <a:xfrm>
            <a:off x="838200" y="1825625"/>
            <a:ext cx="10515600" cy="4351338"/>
          </a:xfrm>
        </p:spPr>
        <p:txBody>
          <a:bodyPr vert="horz" lIns="91440" tIns="45720" rIns="91440" bIns="45720" rtlCol="0" anchor="t">
            <a:normAutofit fontScale="77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cs typeface="Calibri"/>
              </a:rPr>
              <a:t>IoT applications combine sensors, devices, data, analytics and integrations in a seamless and unified way</a:t>
            </a:r>
          </a:p>
          <a:p>
            <a:pPr lvl="1"/>
            <a:r>
              <a:rPr lang="en-US" dirty="0">
                <a:cs typeface="Calibri"/>
              </a:rPr>
              <a:t>e.g. your project!</a:t>
            </a:r>
          </a:p>
          <a:p>
            <a:r>
              <a:rPr lang="en-US" dirty="0">
                <a:cs typeface="Calibri"/>
              </a:rPr>
              <a:t>IoT Platforms provide software tools and components to:</a:t>
            </a:r>
          </a:p>
          <a:p>
            <a:pPr lvl="1"/>
            <a:r>
              <a:rPr lang="en-US" dirty="0">
                <a:cs typeface="Calibri"/>
              </a:rPr>
              <a:t>connect sensors, devices, and data networks</a:t>
            </a:r>
          </a:p>
          <a:p>
            <a:pPr lvl="1"/>
            <a:r>
              <a:rPr lang="en-US" dirty="0" err="1">
                <a:cs typeface="Calibri"/>
              </a:rPr>
              <a:t>Analyse</a:t>
            </a:r>
            <a:r>
              <a:rPr lang="en-US" dirty="0">
                <a:cs typeface="Calibri"/>
              </a:rPr>
              <a:t> and store data</a:t>
            </a:r>
          </a:p>
          <a:p>
            <a:pPr lvl="1"/>
            <a:r>
              <a:rPr lang="en-US" dirty="0">
                <a:cs typeface="Calibri"/>
              </a:rPr>
              <a:t>Integrate with other apps</a:t>
            </a:r>
          </a:p>
          <a:p>
            <a:r>
              <a:rPr lang="en-US" dirty="0">
                <a:cs typeface="Calibri"/>
              </a:rPr>
              <a:t>So what? We know the tech for that now (I2C, SPI, BLE, MQTT, Python...)</a:t>
            </a:r>
          </a:p>
          <a:p>
            <a:r>
              <a:rPr lang="en-US" dirty="0">
                <a:cs typeface="Calibri"/>
              </a:rPr>
              <a:t>Main selling point of an IoT platform is software that it</a:t>
            </a:r>
            <a:endParaRPr lang="en-US" sz="2600" dirty="0">
              <a:cs typeface="Calibri"/>
            </a:endParaRPr>
          </a:p>
          <a:p>
            <a:pPr lvl="1"/>
            <a:r>
              <a:rPr lang="en-US" dirty="0">
                <a:cs typeface="Calibri"/>
              </a:rPr>
              <a:t>accelerates the IoT development process </a:t>
            </a:r>
          </a:p>
          <a:p>
            <a:pPr lvl="1"/>
            <a:r>
              <a:rPr lang="en-US" dirty="0">
                <a:cs typeface="Calibri"/>
              </a:rPr>
              <a:t>Focuses on IoT: brings in best of breed features</a:t>
            </a:r>
          </a:p>
          <a:p>
            <a:pPr lvl="1"/>
            <a:r>
              <a:rPr lang="en-US" dirty="0">
                <a:cs typeface="Calibri"/>
              </a:rPr>
              <a:t>Provides initial scaffolding for IoT projects</a:t>
            </a:r>
          </a:p>
        </p:txBody>
      </p:sp>
      <p:sp>
        <p:nvSpPr>
          <p:cNvPr id="5" name="Title 1">
            <a:extLst>
              <a:ext uri="{FF2B5EF4-FFF2-40B4-BE49-F238E27FC236}">
                <a16:creationId xmlns:a16="http://schemas.microsoft.com/office/drawing/2014/main" id="{E9EB2095-9A8E-5983-488B-C18CCC8AF37E}"/>
              </a:ext>
            </a:extLst>
          </p:cNvPr>
          <p:cNvSpPr txBox="1">
            <a:spLocks/>
          </p:cNvSpPr>
          <p:nvPr/>
        </p:nvSpPr>
        <p:spPr>
          <a:xfrm>
            <a:off x="838200" y="365125"/>
            <a:ext cx="10515600" cy="1325563"/>
          </a:xfr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ts val="5550"/>
              </a:lnSpc>
            </a:pPr>
            <a:r>
              <a:rPr lang="en-US" sz="4450" dirty="0">
                <a:solidFill>
                  <a:srgbClr val="1B1B27"/>
                </a:solidFill>
                <a:latin typeface="Raleway" pitchFamily="34" charset="0"/>
              </a:rPr>
              <a:t>What are IoT platforms</a:t>
            </a:r>
          </a:p>
        </p:txBody>
      </p:sp>
    </p:spTree>
    <p:extLst>
      <p:ext uri="{BB962C8B-B14F-4D97-AF65-F5344CB8AC3E}">
        <p14:creationId xmlns:p14="http://schemas.microsoft.com/office/powerpoint/2010/main" val="3817156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B0FCB-6EE4-4E2F-B85E-51470E94B73E}"/>
              </a:ext>
            </a:extLst>
          </p:cNvPr>
          <p:cNvSpPr>
            <a:spLocks noGrp="1"/>
          </p:cNvSpPr>
          <p:nvPr>
            <p:ph type="title"/>
          </p:nvPr>
        </p:nvSpPr>
        <p:spPr>
          <a:xfrm>
            <a:off x="1152120" y="1173722"/>
            <a:ext cx="12706121" cy="1275173"/>
          </a:xfrm>
        </p:spPr>
        <p:txBody>
          <a:bodyPr anchor="b">
            <a:normAutofit/>
          </a:bodyPr>
          <a:lstStyle/>
          <a:p>
            <a:r>
              <a:rPr lang="en-US" dirty="0">
                <a:cs typeface="Calibri Light"/>
              </a:rPr>
              <a:t>What are IoT Platform</a:t>
            </a:r>
            <a:endParaRPr lang="en-US" dirty="0"/>
          </a:p>
        </p:txBody>
      </p:sp>
      <p:pic>
        <p:nvPicPr>
          <p:cNvPr id="4" name="Picture 4" descr="A screenshot of a cell phone&#10;&#10;Description generated with very high confidence">
            <a:extLst>
              <a:ext uri="{FF2B5EF4-FFF2-40B4-BE49-F238E27FC236}">
                <a16:creationId xmlns:a16="http://schemas.microsoft.com/office/drawing/2014/main" id="{321B0170-93C8-42C8-97D7-016153AE8131}"/>
              </a:ext>
            </a:extLst>
          </p:cNvPr>
          <p:cNvPicPr>
            <a:picLocks noChangeAspect="1"/>
          </p:cNvPicPr>
          <p:nvPr/>
        </p:nvPicPr>
        <p:blipFill>
          <a:blip r:embed="rId2"/>
          <a:stretch>
            <a:fillRect/>
          </a:stretch>
        </p:blipFill>
        <p:spPr>
          <a:xfrm>
            <a:off x="594957" y="3873657"/>
            <a:ext cx="5247474" cy="2217236"/>
          </a:xfrm>
          <a:prstGeom prst="rect">
            <a:avLst/>
          </a:prstGeom>
        </p:spPr>
      </p:pic>
      <p:sp>
        <p:nvSpPr>
          <p:cNvPr id="3" name="Content Placeholder 2">
            <a:extLst>
              <a:ext uri="{FF2B5EF4-FFF2-40B4-BE49-F238E27FC236}">
                <a16:creationId xmlns:a16="http://schemas.microsoft.com/office/drawing/2014/main" id="{8A6FFA19-6322-4317-BE0C-D79B540C5E68}"/>
              </a:ext>
            </a:extLst>
          </p:cNvPr>
          <p:cNvSpPr>
            <a:spLocks noGrp="1"/>
          </p:cNvSpPr>
          <p:nvPr>
            <p:ph idx="1"/>
          </p:nvPr>
        </p:nvSpPr>
        <p:spPr>
          <a:xfrm>
            <a:off x="5673348" y="2448895"/>
            <a:ext cx="7538603" cy="3858899"/>
          </a:xfrm>
        </p:spPr>
        <p:txBody>
          <a:bodyPr vert="horz" lIns="109728" tIns="54864" rIns="109728" bIns="54864" rtlCol="0" anchor="t">
            <a:noAutofit/>
          </a:bodyPr>
          <a:lstStyle/>
          <a:p>
            <a:r>
              <a:rPr lang="en-US" sz="2400" dirty="0">
                <a:cs typeface="Calibri"/>
              </a:rPr>
              <a:t>Many(not all) are cloud-based platforms that require subscription</a:t>
            </a:r>
          </a:p>
          <a:p>
            <a:r>
              <a:rPr lang="en-US" sz="2400" dirty="0">
                <a:cs typeface="Calibri"/>
              </a:rPr>
              <a:t>Provide device/language agnostic set of Software Development kits</a:t>
            </a:r>
          </a:p>
          <a:p>
            <a:pPr lvl="1"/>
            <a:r>
              <a:rPr lang="en-US" sz="2400" dirty="0">
                <a:cs typeface="Calibri"/>
              </a:rPr>
              <a:t>Arduino/</a:t>
            </a:r>
            <a:r>
              <a:rPr lang="en-US" sz="2400" dirty="0" err="1">
                <a:cs typeface="Calibri"/>
              </a:rPr>
              <a:t>RPi</a:t>
            </a:r>
            <a:r>
              <a:rPr lang="en-US" sz="2400" dirty="0">
                <a:cs typeface="Calibri"/>
              </a:rPr>
              <a:t>/</a:t>
            </a:r>
            <a:r>
              <a:rPr lang="en-US" sz="2400" dirty="0" err="1">
                <a:cs typeface="Calibri"/>
              </a:rPr>
              <a:t>beagleboard</a:t>
            </a:r>
            <a:endParaRPr lang="en-US" sz="2400" dirty="0">
              <a:cs typeface="Calibri"/>
            </a:endParaRPr>
          </a:p>
          <a:p>
            <a:r>
              <a:rPr lang="en-US" sz="2400" dirty="0">
                <a:cs typeface="Calibri"/>
              </a:rPr>
              <a:t>IoT development is generally iterative:</a:t>
            </a:r>
          </a:p>
          <a:p>
            <a:pPr lvl="1"/>
            <a:r>
              <a:rPr lang="en-US" sz="2400" dirty="0">
                <a:cs typeface="Calibri"/>
              </a:rPr>
              <a:t>Starts with initial simple use case</a:t>
            </a:r>
          </a:p>
          <a:p>
            <a:pPr lvl="1"/>
            <a:r>
              <a:rPr lang="en-US" sz="2400" dirty="0">
                <a:cs typeface="Calibri"/>
              </a:rPr>
              <a:t>Once operational, data/insights result in new </a:t>
            </a:r>
            <a:r>
              <a:rPr lang="en-US" sz="2400" dirty="0" err="1">
                <a:cs typeface="Calibri"/>
              </a:rPr>
              <a:t>usecased</a:t>
            </a:r>
            <a:endParaRPr lang="en-US" sz="2400" dirty="0">
              <a:cs typeface="Calibri"/>
            </a:endParaRPr>
          </a:p>
          <a:p>
            <a:r>
              <a:rPr lang="en-US" sz="2400" dirty="0">
                <a:cs typeface="Calibri"/>
              </a:rPr>
              <a:t>IoT platforms should promote scalable, iterative development</a:t>
            </a:r>
          </a:p>
          <a:p>
            <a:pPr lvl="1"/>
            <a:r>
              <a:rPr lang="en-US" sz="2400" dirty="0">
                <a:cs typeface="Calibri"/>
              </a:rPr>
              <a:t>Allow for quick app development</a:t>
            </a:r>
          </a:p>
          <a:p>
            <a:pPr lvl="1"/>
            <a:r>
              <a:rPr lang="en-US" sz="2400" dirty="0">
                <a:cs typeface="Calibri"/>
              </a:rPr>
              <a:t>Ability to adapt/</a:t>
            </a:r>
            <a:r>
              <a:rPr lang="en-US" sz="2400" dirty="0" err="1">
                <a:cs typeface="Calibri"/>
              </a:rPr>
              <a:t>optimise</a:t>
            </a:r>
            <a:r>
              <a:rPr lang="en-US" sz="2400" dirty="0">
                <a:cs typeface="Calibri"/>
              </a:rPr>
              <a:t> apps quickly</a:t>
            </a:r>
          </a:p>
        </p:txBody>
      </p:sp>
    </p:spTree>
    <p:extLst>
      <p:ext uri="{BB962C8B-B14F-4D97-AF65-F5344CB8AC3E}">
        <p14:creationId xmlns:p14="http://schemas.microsoft.com/office/powerpoint/2010/main" val="3901618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A5BB8-6362-4F77-8FA6-49F2CCB31579}"/>
              </a:ext>
            </a:extLst>
          </p:cNvPr>
          <p:cNvSpPr>
            <a:spLocks noGrp="1"/>
          </p:cNvSpPr>
          <p:nvPr>
            <p:ph type="title"/>
          </p:nvPr>
        </p:nvSpPr>
        <p:spPr>
          <a:xfrm>
            <a:off x="778716" y="755120"/>
            <a:ext cx="6152437" cy="2011924"/>
          </a:xfrm>
        </p:spPr>
        <p:txBody>
          <a:bodyPr>
            <a:normAutofit/>
          </a:bodyPr>
          <a:lstStyle/>
          <a:p>
            <a:r>
              <a:rPr lang="en-US" sz="5280" dirty="0">
                <a:cs typeface="Calibri Light"/>
              </a:rPr>
              <a:t>IoT Platform Characteristics</a:t>
            </a:r>
            <a:endParaRPr lang="en-US" sz="5280" dirty="0"/>
          </a:p>
        </p:txBody>
      </p:sp>
      <p:sp>
        <p:nvSpPr>
          <p:cNvPr id="3" name="Content Placeholder 2">
            <a:extLst>
              <a:ext uri="{FF2B5EF4-FFF2-40B4-BE49-F238E27FC236}">
                <a16:creationId xmlns:a16="http://schemas.microsoft.com/office/drawing/2014/main" id="{67707234-CDB8-4D88-B0B4-D7F2EF09D63A}"/>
              </a:ext>
            </a:extLst>
          </p:cNvPr>
          <p:cNvSpPr>
            <a:spLocks noGrp="1"/>
          </p:cNvSpPr>
          <p:nvPr>
            <p:ph idx="1"/>
          </p:nvPr>
        </p:nvSpPr>
        <p:spPr>
          <a:xfrm>
            <a:off x="778717" y="2926081"/>
            <a:ext cx="6152435" cy="4542503"/>
          </a:xfrm>
        </p:spPr>
        <p:txBody>
          <a:bodyPr vert="horz" lIns="109728" tIns="54864" rIns="109728" bIns="54864" rtlCol="0">
            <a:normAutofit lnSpcReduction="10000"/>
          </a:bodyPr>
          <a:lstStyle/>
          <a:p>
            <a:r>
              <a:rPr lang="en-US" sz="3120" dirty="0">
                <a:cs typeface="Calibri"/>
              </a:rPr>
              <a:t>Manage many concurrent device connections</a:t>
            </a:r>
          </a:p>
          <a:p>
            <a:r>
              <a:rPr lang="en-US" sz="3120" dirty="0">
                <a:cs typeface="Calibri"/>
              </a:rPr>
              <a:t>Connectivity across several connection types</a:t>
            </a:r>
          </a:p>
          <a:p>
            <a:r>
              <a:rPr lang="en-US" sz="3120" dirty="0">
                <a:cs typeface="Calibri"/>
              </a:rPr>
              <a:t>"Off-the-peg" IoT protocol stack</a:t>
            </a:r>
          </a:p>
          <a:p>
            <a:r>
              <a:rPr lang="en-US" sz="3120" dirty="0">
                <a:cs typeface="Calibri"/>
              </a:rPr>
              <a:t>Manage/</a:t>
            </a:r>
            <a:r>
              <a:rPr lang="en-US" sz="3120" dirty="0" err="1">
                <a:cs typeface="Calibri"/>
              </a:rPr>
              <a:t>analyse</a:t>
            </a:r>
            <a:r>
              <a:rPr lang="en-US" sz="3120" dirty="0">
                <a:cs typeface="Calibri"/>
              </a:rPr>
              <a:t>/</a:t>
            </a:r>
            <a:r>
              <a:rPr lang="en-US" sz="3120" dirty="0" err="1">
                <a:cs typeface="Calibri"/>
              </a:rPr>
              <a:t>visualise</a:t>
            </a:r>
            <a:r>
              <a:rPr lang="en-US" sz="3120" dirty="0">
                <a:cs typeface="Calibri"/>
              </a:rPr>
              <a:t> data</a:t>
            </a:r>
          </a:p>
          <a:p>
            <a:r>
              <a:rPr lang="en-US" sz="3120" dirty="0">
                <a:cs typeface="Calibri"/>
              </a:rPr>
              <a:t>Integrations to other services/apps</a:t>
            </a:r>
          </a:p>
          <a:p>
            <a:r>
              <a:rPr lang="en-US" sz="3120" dirty="0">
                <a:cs typeface="Calibri"/>
              </a:rPr>
              <a:t>App Development</a:t>
            </a:r>
          </a:p>
          <a:p>
            <a:endParaRPr lang="en-US" sz="3120" b="1" dirty="0">
              <a:cs typeface="Calibri"/>
            </a:endParaRPr>
          </a:p>
          <a:p>
            <a:pPr marL="0" indent="0">
              <a:buNone/>
            </a:pPr>
            <a:endParaRPr lang="en-US" sz="3120" b="1" dirty="0">
              <a:cs typeface="Calibri"/>
            </a:endParaRPr>
          </a:p>
        </p:txBody>
      </p:sp>
      <p:pic>
        <p:nvPicPr>
          <p:cNvPr id="2052" name="Picture 4" descr="Image result for IoT characteristics&quot;">
            <a:extLst>
              <a:ext uri="{FF2B5EF4-FFF2-40B4-BE49-F238E27FC236}">
                <a16:creationId xmlns:a16="http://schemas.microsoft.com/office/drawing/2014/main" id="{36406980-05DE-42ED-B224-F98FCEFBBE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085" b="3"/>
          <a:stretch/>
        </p:blipFill>
        <p:spPr bwMode="auto">
          <a:xfrm>
            <a:off x="7308736" y="768099"/>
            <a:ext cx="6554069" cy="6693404"/>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9748339C-DDC5-4DB8-BE4B-1AB6765410CF}"/>
              </a:ext>
            </a:extLst>
          </p:cNvPr>
          <p:cNvSpPr>
            <a:spLocks noGrp="1"/>
          </p:cNvSpPr>
          <p:nvPr>
            <p:ph type="ftr" sz="quarter" idx="11"/>
          </p:nvPr>
        </p:nvSpPr>
        <p:spPr/>
        <p:txBody>
          <a:bodyPr/>
          <a:lstStyle/>
          <a:p>
            <a:r>
              <a:rPr lang="en-GB"/>
              <a:t>Published in 2016 IEEE International Conference on Internet of Things (iThings) and IEEE Green Computing and Communications (GreenCom) and IEEE Cyber, Physical and Social Computing (CPSCom) and IEEE Smart Data (SmartData) 2016</a:t>
            </a:r>
            <a:endParaRPr lang="en-US"/>
          </a:p>
        </p:txBody>
      </p:sp>
    </p:spTree>
    <p:extLst>
      <p:ext uri="{BB962C8B-B14F-4D97-AF65-F5344CB8AC3E}">
        <p14:creationId xmlns:p14="http://schemas.microsoft.com/office/powerpoint/2010/main" val="694812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09764-6C40-4B46-8AFC-CE5F4768D24E}"/>
              </a:ext>
            </a:extLst>
          </p:cNvPr>
          <p:cNvSpPr>
            <a:spLocks noGrp="1"/>
          </p:cNvSpPr>
          <p:nvPr>
            <p:ph type="title"/>
          </p:nvPr>
        </p:nvSpPr>
        <p:spPr/>
        <p:txBody>
          <a:bodyPr/>
          <a:lstStyle/>
          <a:p>
            <a:r>
              <a:rPr lang="en-US" dirty="0">
                <a:cs typeface="Calibri Light"/>
              </a:rPr>
              <a:t>IoT Platform – general architecture</a:t>
            </a:r>
            <a:endParaRPr lang="en-US" dirty="0"/>
          </a:p>
        </p:txBody>
      </p:sp>
      <p:pic>
        <p:nvPicPr>
          <p:cNvPr id="22" name="Picture 21">
            <a:extLst>
              <a:ext uri="{FF2B5EF4-FFF2-40B4-BE49-F238E27FC236}">
                <a16:creationId xmlns:a16="http://schemas.microsoft.com/office/drawing/2014/main" id="{1AF7D151-E824-4521-B615-A5D23E19BBC2}"/>
              </a:ext>
            </a:extLst>
          </p:cNvPr>
          <p:cNvPicPr>
            <a:picLocks noChangeAspect="1"/>
          </p:cNvPicPr>
          <p:nvPr/>
        </p:nvPicPr>
        <p:blipFill>
          <a:blip r:embed="rId2"/>
          <a:stretch>
            <a:fillRect/>
          </a:stretch>
        </p:blipFill>
        <p:spPr>
          <a:xfrm>
            <a:off x="3123509" y="4896939"/>
            <a:ext cx="1117121" cy="752224"/>
          </a:xfrm>
          <a:prstGeom prst="rect">
            <a:avLst/>
          </a:prstGeom>
        </p:spPr>
      </p:pic>
      <p:pic>
        <p:nvPicPr>
          <p:cNvPr id="23" name="Picture 22" descr="A close up of a logo&#10;&#10;Description generated with very high confidence">
            <a:extLst>
              <a:ext uri="{FF2B5EF4-FFF2-40B4-BE49-F238E27FC236}">
                <a16:creationId xmlns:a16="http://schemas.microsoft.com/office/drawing/2014/main" id="{BEBFD79E-DFDF-40A6-98EC-740214419E22}"/>
              </a:ext>
            </a:extLst>
          </p:cNvPr>
          <p:cNvPicPr>
            <a:picLocks noChangeAspect="1"/>
          </p:cNvPicPr>
          <p:nvPr/>
        </p:nvPicPr>
        <p:blipFill>
          <a:blip r:embed="rId3"/>
          <a:stretch>
            <a:fillRect/>
          </a:stretch>
        </p:blipFill>
        <p:spPr>
          <a:xfrm>
            <a:off x="4734564" y="1399286"/>
            <a:ext cx="4516588" cy="4602851"/>
          </a:xfrm>
          <a:prstGeom prst="rect">
            <a:avLst/>
          </a:prstGeom>
        </p:spPr>
      </p:pic>
      <p:cxnSp>
        <p:nvCxnSpPr>
          <p:cNvPr id="24" name="Straight Arrow Connector 23">
            <a:extLst>
              <a:ext uri="{FF2B5EF4-FFF2-40B4-BE49-F238E27FC236}">
                <a16:creationId xmlns:a16="http://schemas.microsoft.com/office/drawing/2014/main" id="{50EE99D0-BB02-4BBF-A50C-B4AF37BB6C50}"/>
              </a:ext>
            </a:extLst>
          </p:cNvPr>
          <p:cNvCxnSpPr/>
          <p:nvPr/>
        </p:nvCxnSpPr>
        <p:spPr>
          <a:xfrm flipV="1">
            <a:off x="2267747" y="5639350"/>
            <a:ext cx="895505" cy="70300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9E12BE0-BA30-4D6A-9423-6EC1EDAFB217}"/>
              </a:ext>
            </a:extLst>
          </p:cNvPr>
          <p:cNvCxnSpPr>
            <a:cxnSpLocks/>
          </p:cNvCxnSpPr>
          <p:nvPr/>
        </p:nvCxnSpPr>
        <p:spPr>
          <a:xfrm>
            <a:off x="2300194" y="4866006"/>
            <a:ext cx="1001900" cy="45437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26" name="Picture 25" descr="A close up of a device&#10;&#10;Description generated with very high confidence">
            <a:extLst>
              <a:ext uri="{FF2B5EF4-FFF2-40B4-BE49-F238E27FC236}">
                <a16:creationId xmlns:a16="http://schemas.microsoft.com/office/drawing/2014/main" id="{0FFEBD0F-0BB4-450D-A9C3-E777AEF02D97}"/>
              </a:ext>
            </a:extLst>
          </p:cNvPr>
          <p:cNvPicPr>
            <a:picLocks noChangeAspect="1"/>
          </p:cNvPicPr>
          <p:nvPr/>
        </p:nvPicPr>
        <p:blipFill>
          <a:blip r:embed="rId4"/>
          <a:stretch>
            <a:fillRect/>
          </a:stretch>
        </p:blipFill>
        <p:spPr>
          <a:xfrm>
            <a:off x="1391504" y="4340335"/>
            <a:ext cx="949768" cy="961198"/>
          </a:xfrm>
          <a:prstGeom prst="rect">
            <a:avLst/>
          </a:prstGeom>
        </p:spPr>
      </p:pic>
      <p:sp>
        <p:nvSpPr>
          <p:cNvPr id="27" name="Rectangle: Rounded Corners 26">
            <a:extLst>
              <a:ext uri="{FF2B5EF4-FFF2-40B4-BE49-F238E27FC236}">
                <a16:creationId xmlns:a16="http://schemas.microsoft.com/office/drawing/2014/main" id="{642CAB90-DDD2-4FAB-A739-160F3E804C23}"/>
              </a:ext>
            </a:extLst>
          </p:cNvPr>
          <p:cNvSpPr/>
          <p:nvPr/>
        </p:nvSpPr>
        <p:spPr>
          <a:xfrm>
            <a:off x="6001071" y="3768881"/>
            <a:ext cx="1919459" cy="92475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2400" b="1" dirty="0">
                <a:cs typeface="Calibri"/>
              </a:rPr>
              <a:t>IoT Platform</a:t>
            </a:r>
            <a:endParaRPr lang="en-US" sz="2160" dirty="0"/>
          </a:p>
        </p:txBody>
      </p:sp>
      <p:pic>
        <p:nvPicPr>
          <p:cNvPr id="28" name="Picture 27" descr="A close up of a logo&#10;&#10;Description generated with very high confidence">
            <a:extLst>
              <a:ext uri="{FF2B5EF4-FFF2-40B4-BE49-F238E27FC236}">
                <a16:creationId xmlns:a16="http://schemas.microsoft.com/office/drawing/2014/main" id="{8C3122C0-D3A4-47DE-933A-B0136637986F}"/>
              </a:ext>
            </a:extLst>
          </p:cNvPr>
          <p:cNvPicPr>
            <a:picLocks noChangeAspect="1"/>
          </p:cNvPicPr>
          <p:nvPr/>
        </p:nvPicPr>
        <p:blipFill>
          <a:blip r:embed="rId5"/>
          <a:stretch>
            <a:fillRect/>
          </a:stretch>
        </p:blipFill>
        <p:spPr>
          <a:xfrm>
            <a:off x="3722674" y="6067616"/>
            <a:ext cx="445770" cy="640080"/>
          </a:xfrm>
          <a:prstGeom prst="rect">
            <a:avLst/>
          </a:prstGeom>
        </p:spPr>
      </p:pic>
      <p:pic>
        <p:nvPicPr>
          <p:cNvPr id="29" name="Picture 28" descr="A close up of a logo&#10;&#10;Description generated with very high confidence">
            <a:extLst>
              <a:ext uri="{FF2B5EF4-FFF2-40B4-BE49-F238E27FC236}">
                <a16:creationId xmlns:a16="http://schemas.microsoft.com/office/drawing/2014/main" id="{1345D94E-3218-48DB-AAAF-1684E8809AEA}"/>
              </a:ext>
            </a:extLst>
          </p:cNvPr>
          <p:cNvPicPr>
            <a:picLocks noChangeAspect="1"/>
          </p:cNvPicPr>
          <p:nvPr/>
        </p:nvPicPr>
        <p:blipFill>
          <a:blip r:embed="rId6"/>
          <a:stretch>
            <a:fillRect/>
          </a:stretch>
        </p:blipFill>
        <p:spPr>
          <a:xfrm>
            <a:off x="9472656" y="4873966"/>
            <a:ext cx="1430768" cy="1430768"/>
          </a:xfrm>
          <a:prstGeom prst="rect">
            <a:avLst/>
          </a:prstGeom>
        </p:spPr>
      </p:pic>
      <p:pic>
        <p:nvPicPr>
          <p:cNvPr id="30" name="Picture 29" descr="A close up of a device&#10;&#10;Description generated with very high confidence">
            <a:extLst>
              <a:ext uri="{FF2B5EF4-FFF2-40B4-BE49-F238E27FC236}">
                <a16:creationId xmlns:a16="http://schemas.microsoft.com/office/drawing/2014/main" id="{2D2F3D72-4A47-4957-9D89-5E7278B18665}"/>
              </a:ext>
            </a:extLst>
          </p:cNvPr>
          <p:cNvPicPr>
            <a:picLocks noChangeAspect="1"/>
          </p:cNvPicPr>
          <p:nvPr/>
        </p:nvPicPr>
        <p:blipFill>
          <a:blip r:embed="rId4"/>
          <a:stretch>
            <a:fillRect/>
          </a:stretch>
        </p:blipFill>
        <p:spPr>
          <a:xfrm>
            <a:off x="1391502" y="5853449"/>
            <a:ext cx="949768" cy="961198"/>
          </a:xfrm>
          <a:prstGeom prst="rect">
            <a:avLst/>
          </a:prstGeom>
        </p:spPr>
      </p:pic>
      <p:pic>
        <p:nvPicPr>
          <p:cNvPr id="31" name="Picture 30" descr="A close up of a logo&#10;&#10;Description generated with very high confidence">
            <a:extLst>
              <a:ext uri="{FF2B5EF4-FFF2-40B4-BE49-F238E27FC236}">
                <a16:creationId xmlns:a16="http://schemas.microsoft.com/office/drawing/2014/main" id="{F874CEB5-B548-4D3A-AFDA-A5FECAD13F36}"/>
              </a:ext>
            </a:extLst>
          </p:cNvPr>
          <p:cNvPicPr>
            <a:picLocks noChangeAspect="1"/>
          </p:cNvPicPr>
          <p:nvPr/>
        </p:nvPicPr>
        <p:blipFill>
          <a:blip r:embed="rId5"/>
          <a:stretch>
            <a:fillRect/>
          </a:stretch>
        </p:blipFill>
        <p:spPr>
          <a:xfrm>
            <a:off x="3102187" y="6067616"/>
            <a:ext cx="445770" cy="640080"/>
          </a:xfrm>
          <a:prstGeom prst="rect">
            <a:avLst/>
          </a:prstGeom>
        </p:spPr>
      </p:pic>
      <p:sp>
        <p:nvSpPr>
          <p:cNvPr id="32" name="Arrow: Left-Up 31">
            <a:extLst>
              <a:ext uri="{FF2B5EF4-FFF2-40B4-BE49-F238E27FC236}">
                <a16:creationId xmlns:a16="http://schemas.microsoft.com/office/drawing/2014/main" id="{C8B31B24-B1F5-47D8-ACA1-572BB5DB65BE}"/>
              </a:ext>
            </a:extLst>
          </p:cNvPr>
          <p:cNvSpPr/>
          <p:nvPr/>
        </p:nvSpPr>
        <p:spPr>
          <a:xfrm rot="16200000">
            <a:off x="9460768" y="3773092"/>
            <a:ext cx="998700" cy="1118440"/>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33" name="Arrow: Left-Up 32">
            <a:extLst>
              <a:ext uri="{FF2B5EF4-FFF2-40B4-BE49-F238E27FC236}">
                <a16:creationId xmlns:a16="http://schemas.microsoft.com/office/drawing/2014/main" id="{82136ADD-4FCB-4023-A29C-04C68A507A4F}"/>
              </a:ext>
            </a:extLst>
          </p:cNvPr>
          <p:cNvSpPr/>
          <p:nvPr/>
        </p:nvSpPr>
        <p:spPr>
          <a:xfrm rot="10740000">
            <a:off x="3534153" y="3842606"/>
            <a:ext cx="1183754" cy="1096669"/>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60"/>
          </a:p>
        </p:txBody>
      </p:sp>
      <p:sp>
        <p:nvSpPr>
          <p:cNvPr id="34" name="Arrow: Left-Right 33">
            <a:extLst>
              <a:ext uri="{FF2B5EF4-FFF2-40B4-BE49-F238E27FC236}">
                <a16:creationId xmlns:a16="http://schemas.microsoft.com/office/drawing/2014/main" id="{9612F9B9-A298-45AE-AB7C-C5B5A746D3D5}"/>
              </a:ext>
            </a:extLst>
          </p:cNvPr>
          <p:cNvSpPr/>
          <p:nvPr/>
        </p:nvSpPr>
        <p:spPr>
          <a:xfrm>
            <a:off x="4391730" y="5848559"/>
            <a:ext cx="5029896" cy="47270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28" tIns="54864" rIns="109728" bIns="5486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160" dirty="0">
                <a:solidFill>
                  <a:schemeClr val="tx1"/>
                </a:solidFill>
                <a:cs typeface="Calibri"/>
              </a:rPr>
              <a:t>Deploy algorithms to devices </a:t>
            </a:r>
          </a:p>
        </p:txBody>
      </p:sp>
      <p:pic>
        <p:nvPicPr>
          <p:cNvPr id="35" name="Picture 34" descr="A picture containing object&#10;&#10;Description generated with high confidence">
            <a:extLst>
              <a:ext uri="{FF2B5EF4-FFF2-40B4-BE49-F238E27FC236}">
                <a16:creationId xmlns:a16="http://schemas.microsoft.com/office/drawing/2014/main" id="{CC632604-D9CB-4AE6-8F4F-BFCFA9255CE3}"/>
              </a:ext>
            </a:extLst>
          </p:cNvPr>
          <p:cNvPicPr>
            <a:picLocks noChangeAspect="1"/>
          </p:cNvPicPr>
          <p:nvPr/>
        </p:nvPicPr>
        <p:blipFill>
          <a:blip r:embed="rId7"/>
          <a:stretch>
            <a:fillRect/>
          </a:stretch>
        </p:blipFill>
        <p:spPr>
          <a:xfrm>
            <a:off x="10442360" y="4819989"/>
            <a:ext cx="1582784" cy="1571899"/>
          </a:xfrm>
          <a:prstGeom prst="rect">
            <a:avLst/>
          </a:prstGeom>
        </p:spPr>
      </p:pic>
      <p:pic>
        <p:nvPicPr>
          <p:cNvPr id="36" name="Picture 35" descr="A close up of a building&#10;&#10;Description generated with high confidence">
            <a:extLst>
              <a:ext uri="{FF2B5EF4-FFF2-40B4-BE49-F238E27FC236}">
                <a16:creationId xmlns:a16="http://schemas.microsoft.com/office/drawing/2014/main" id="{4CA58FCF-9522-4051-8A23-DACA428A4D29}"/>
              </a:ext>
            </a:extLst>
          </p:cNvPr>
          <p:cNvPicPr>
            <a:picLocks noChangeAspect="1"/>
          </p:cNvPicPr>
          <p:nvPr/>
        </p:nvPicPr>
        <p:blipFill>
          <a:blip r:embed="rId8"/>
          <a:stretch>
            <a:fillRect/>
          </a:stretch>
        </p:blipFill>
        <p:spPr>
          <a:xfrm>
            <a:off x="9952501" y="5331617"/>
            <a:ext cx="472441" cy="418014"/>
          </a:xfrm>
          <a:prstGeom prst="rect">
            <a:avLst/>
          </a:prstGeom>
        </p:spPr>
      </p:pic>
      <p:sp>
        <p:nvSpPr>
          <p:cNvPr id="37" name="TextBox 16">
            <a:extLst>
              <a:ext uri="{FF2B5EF4-FFF2-40B4-BE49-F238E27FC236}">
                <a16:creationId xmlns:a16="http://schemas.microsoft.com/office/drawing/2014/main" id="{EAD558FA-6D14-4CEA-8025-A65C8C0F2F66}"/>
              </a:ext>
            </a:extLst>
          </p:cNvPr>
          <p:cNvSpPr txBox="1"/>
          <p:nvPr/>
        </p:nvSpPr>
        <p:spPr>
          <a:xfrm>
            <a:off x="9419100" y="3165358"/>
            <a:ext cx="3291840" cy="775597"/>
          </a:xfrm>
          <a:prstGeom prst="rect">
            <a:avLst/>
          </a:prstGeom>
        </p:spPr>
        <p:txBody>
          <a:bodyPr rot="0" spcFirstLastPara="0" vert="horz" wrap="square" lIns="109728" tIns="54864" rIns="109728" bIns="54864"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160" dirty="0"/>
              <a:t>Configure analytics/</a:t>
            </a:r>
            <a:r>
              <a:rPr lang="en-US" sz="2160" dirty="0">
                <a:cs typeface="Calibri"/>
              </a:rPr>
              <a:t>visuals/apps</a:t>
            </a:r>
          </a:p>
        </p:txBody>
      </p:sp>
      <p:sp>
        <p:nvSpPr>
          <p:cNvPr id="38" name="TextBox 17">
            <a:extLst>
              <a:ext uri="{FF2B5EF4-FFF2-40B4-BE49-F238E27FC236}">
                <a16:creationId xmlns:a16="http://schemas.microsoft.com/office/drawing/2014/main" id="{F7BB4A75-F27F-495F-98A4-01B0AEC687A5}"/>
              </a:ext>
            </a:extLst>
          </p:cNvPr>
          <p:cNvSpPr txBox="1"/>
          <p:nvPr/>
        </p:nvSpPr>
        <p:spPr>
          <a:xfrm>
            <a:off x="2354272" y="3557243"/>
            <a:ext cx="3291840" cy="443198"/>
          </a:xfrm>
          <a:prstGeom prst="rect">
            <a:avLst/>
          </a:prstGeom>
        </p:spPr>
        <p:txBody>
          <a:bodyPr rot="0" spcFirstLastPara="0" vert="horz" wrap="square" lIns="109728" tIns="54864" rIns="109728" bIns="54864"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160" dirty="0">
                <a:cs typeface="Calibri"/>
              </a:rPr>
              <a:t>Data/commands </a:t>
            </a:r>
            <a:endParaRPr lang="en-US" sz="2160" dirty="0"/>
          </a:p>
        </p:txBody>
      </p:sp>
      <p:pic>
        <p:nvPicPr>
          <p:cNvPr id="39" name="Picture 38" descr="A picture containing clipart&#10;&#10;Description generated with high confidence">
            <a:extLst>
              <a:ext uri="{FF2B5EF4-FFF2-40B4-BE49-F238E27FC236}">
                <a16:creationId xmlns:a16="http://schemas.microsoft.com/office/drawing/2014/main" id="{CC8E4F28-1549-4698-9ED7-1986CADE12EF}"/>
              </a:ext>
            </a:extLst>
          </p:cNvPr>
          <p:cNvPicPr>
            <a:picLocks noChangeAspect="1"/>
          </p:cNvPicPr>
          <p:nvPr/>
        </p:nvPicPr>
        <p:blipFill>
          <a:blip r:embed="rId9"/>
          <a:stretch>
            <a:fillRect/>
          </a:stretch>
        </p:blipFill>
        <p:spPr>
          <a:xfrm>
            <a:off x="6513431" y="2730748"/>
            <a:ext cx="971551" cy="971551"/>
          </a:xfrm>
          <a:prstGeom prst="rect">
            <a:avLst/>
          </a:prstGeom>
        </p:spPr>
      </p:pic>
      <p:pic>
        <p:nvPicPr>
          <p:cNvPr id="40" name="Picture 39" descr="A close up of a logo&#10;&#10;Description generated with very high confidence">
            <a:extLst>
              <a:ext uri="{FF2B5EF4-FFF2-40B4-BE49-F238E27FC236}">
                <a16:creationId xmlns:a16="http://schemas.microsoft.com/office/drawing/2014/main" id="{B413A8BD-E9AC-4F69-B1F3-A86915DDED44}"/>
              </a:ext>
            </a:extLst>
          </p:cNvPr>
          <p:cNvPicPr>
            <a:picLocks noChangeAspect="1"/>
          </p:cNvPicPr>
          <p:nvPr/>
        </p:nvPicPr>
        <p:blipFill>
          <a:blip r:embed="rId5"/>
          <a:stretch>
            <a:fillRect/>
          </a:stretch>
        </p:blipFill>
        <p:spPr>
          <a:xfrm>
            <a:off x="2722010" y="4152552"/>
            <a:ext cx="445770" cy="640080"/>
          </a:xfrm>
          <a:prstGeom prst="rect">
            <a:avLst/>
          </a:prstGeom>
        </p:spPr>
      </p:pic>
    </p:spTree>
    <p:extLst>
      <p:ext uri="{BB962C8B-B14F-4D97-AF65-F5344CB8AC3E}">
        <p14:creationId xmlns:p14="http://schemas.microsoft.com/office/powerpoint/2010/main" val="413095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2" grpId="0" animBg="1"/>
      <p:bldP spid="33" grpId="0" animBg="1"/>
      <p:bldP spid="34" grpId="0" animBg="1"/>
      <p:bldP spid="37" grpId="0"/>
      <p:bldP spid="3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4EFE4-1B57-4043-BC35-52A109D59D0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AE9C960C-7028-4D69-B0C2-D69C9B06CE0F}"/>
              </a:ext>
            </a:extLst>
          </p:cNvPr>
          <p:cNvSpPr>
            <a:spLocks noGrp="1"/>
          </p:cNvSpPr>
          <p:nvPr>
            <p:ph idx="1"/>
          </p:nvPr>
        </p:nvSpPr>
        <p:spPr/>
        <p:txBody>
          <a:bodyPr vert="horz" lIns="109728" tIns="54864" rIns="109728" bIns="54864" rtlCol="0" anchor="t">
            <a:normAutofit fontScale="25000" lnSpcReduction="20000"/>
          </a:bodyPr>
          <a:lstStyle/>
          <a:p>
            <a:endParaRPr lang="en-US" dirty="0">
              <a:cs typeface="Calibri"/>
            </a:endParaRPr>
          </a:p>
        </p:txBody>
      </p:sp>
      <p:sp>
        <p:nvSpPr>
          <p:cNvPr id="4" name="Content Placeholder 2">
            <a:extLst>
              <a:ext uri="{FF2B5EF4-FFF2-40B4-BE49-F238E27FC236}">
                <a16:creationId xmlns:a16="http://schemas.microsoft.com/office/drawing/2014/main" id="{4CAA2567-D542-4799-7338-469D704F4CAE}"/>
              </a:ext>
            </a:extLst>
          </p:cNvPr>
          <p:cNvSpPr txBox="1">
            <a:spLocks/>
          </p:cNvSpPr>
          <p:nvPr/>
        </p:nvSpPr>
        <p:spPr>
          <a:xfrm>
            <a:off x="838200" y="1825625"/>
            <a:ext cx="10515600" cy="4351338"/>
          </a:xfrm>
        </p:spPr>
        <p:txBody>
          <a:bodyPr vert="horz" lIns="91440" tIns="45720" rIns="91440" bIns="45720" rtlCol="0" anchor="t">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cs typeface="Calibri"/>
              </a:rPr>
              <a:t>Use sofware component that has been pre-built and pre-tested. This increases the reliability of your application and reduces development effort.</a:t>
            </a:r>
          </a:p>
          <a:p>
            <a:r>
              <a:rPr lang="en-US">
                <a:cs typeface="Calibri"/>
              </a:rPr>
              <a:t>IoT frameworks constantly evolve, providing new features, integrations etc.</a:t>
            </a:r>
          </a:p>
          <a:p>
            <a:r>
              <a:rPr lang="en-US">
                <a:cs typeface="Calibri"/>
              </a:rPr>
              <a:t>Encourages better "design pattern" for your IoT app.</a:t>
            </a:r>
          </a:p>
          <a:p>
            <a:r>
              <a:rPr lang="en-US">
                <a:cs typeface="Calibri"/>
              </a:rPr>
              <a:t>Predefined APIs and docs</a:t>
            </a:r>
          </a:p>
          <a:p>
            <a:pPr lvl="1"/>
            <a:r>
              <a:rPr lang="en-US">
                <a:cs typeface="Calibri"/>
              </a:rPr>
              <a:t>Great for collaboration </a:t>
            </a:r>
            <a:endParaRPr lang="en-US"/>
          </a:p>
          <a:p>
            <a:r>
              <a:rPr lang="en-US">
                <a:cs typeface="Calibri"/>
              </a:rPr>
              <a:t>"Baked-in" standards and features:</a:t>
            </a:r>
          </a:p>
          <a:p>
            <a:pPr lvl="1"/>
            <a:r>
              <a:rPr lang="en-US">
                <a:cs typeface="Calibri"/>
              </a:rPr>
              <a:t>Security, authentication, scalability... </a:t>
            </a:r>
          </a:p>
          <a:p>
            <a:endParaRPr lang="en-US" dirty="0">
              <a:cs typeface="Calibri"/>
            </a:endParaRPr>
          </a:p>
        </p:txBody>
      </p:sp>
      <p:sp>
        <p:nvSpPr>
          <p:cNvPr id="6" name="Title 1">
            <a:extLst>
              <a:ext uri="{FF2B5EF4-FFF2-40B4-BE49-F238E27FC236}">
                <a16:creationId xmlns:a16="http://schemas.microsoft.com/office/drawing/2014/main" id="{797AC0F9-1B10-B59F-5546-2B0A351E478E}"/>
              </a:ext>
            </a:extLst>
          </p:cNvPr>
          <p:cNvSpPr txBox="1">
            <a:spLocks/>
          </p:cNvSpPr>
          <p:nvPr/>
        </p:nvSpPr>
        <p:spPr>
          <a:xfrm>
            <a:off x="838200" y="365125"/>
            <a:ext cx="10515600" cy="1325563"/>
          </a:xfr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cs typeface="Calibri Light"/>
              </a:rPr>
              <a:t>IoT Platform Advantages</a:t>
            </a:r>
            <a:endParaRPr lang="en-US" dirty="0"/>
          </a:p>
        </p:txBody>
      </p:sp>
    </p:spTree>
    <p:extLst>
      <p:ext uri="{BB962C8B-B14F-4D97-AF65-F5344CB8AC3E}">
        <p14:creationId xmlns:p14="http://schemas.microsoft.com/office/powerpoint/2010/main" val="312678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92D4E-000A-4835-9BA0-C2A2BB207F26}"/>
              </a:ext>
            </a:extLst>
          </p:cNvPr>
          <p:cNvSpPr>
            <a:spLocks noGrp="1"/>
          </p:cNvSpPr>
          <p:nvPr>
            <p:ph type="title"/>
          </p:nvPr>
        </p:nvSpPr>
        <p:spPr>
          <a:xfrm>
            <a:off x="778716" y="755120"/>
            <a:ext cx="7903789" cy="2011924"/>
          </a:xfrm>
        </p:spPr>
        <p:txBody>
          <a:bodyPr>
            <a:normAutofit/>
          </a:bodyPr>
          <a:lstStyle/>
          <a:p>
            <a:r>
              <a:rPr lang="en-US" sz="5280" dirty="0">
                <a:cs typeface="Calibri Light"/>
              </a:rPr>
              <a:t>Which one?</a:t>
            </a:r>
            <a:endParaRPr lang="en-US" sz="5280" dirty="0"/>
          </a:p>
        </p:txBody>
      </p:sp>
      <p:sp>
        <p:nvSpPr>
          <p:cNvPr id="3" name="Content Placeholder 2">
            <a:extLst>
              <a:ext uri="{FF2B5EF4-FFF2-40B4-BE49-F238E27FC236}">
                <a16:creationId xmlns:a16="http://schemas.microsoft.com/office/drawing/2014/main" id="{9A17A76F-9C76-4568-95B8-2B2CC8019ECD}"/>
              </a:ext>
            </a:extLst>
          </p:cNvPr>
          <p:cNvSpPr>
            <a:spLocks noGrp="1"/>
          </p:cNvSpPr>
          <p:nvPr>
            <p:ph idx="1"/>
          </p:nvPr>
        </p:nvSpPr>
        <p:spPr>
          <a:xfrm>
            <a:off x="778717" y="2926081"/>
            <a:ext cx="7903787" cy="4542503"/>
          </a:xfrm>
        </p:spPr>
        <p:txBody>
          <a:bodyPr vert="horz" lIns="109728" tIns="54864" rIns="109728" bIns="54864" rtlCol="0">
            <a:normAutofit/>
          </a:bodyPr>
          <a:lstStyle/>
          <a:p>
            <a:r>
              <a:rPr lang="en-US" sz="1560" dirty="0">
                <a:cs typeface="Calibri"/>
              </a:rPr>
              <a:t>Connectivity</a:t>
            </a:r>
          </a:p>
          <a:p>
            <a:pPr lvl="1"/>
            <a:r>
              <a:rPr lang="en-US" sz="1560" dirty="0">
                <a:cs typeface="Calibri"/>
              </a:rPr>
              <a:t>Does the platform provide suitable capability and integrations (</a:t>
            </a:r>
            <a:r>
              <a:rPr lang="en-US" sz="1560" dirty="0" err="1">
                <a:cs typeface="Calibri"/>
              </a:rPr>
              <a:t>WiFi</a:t>
            </a:r>
            <a:r>
              <a:rPr lang="en-US" sz="1560" dirty="0">
                <a:cs typeface="Calibri"/>
              </a:rPr>
              <a:t>/Cellular/</a:t>
            </a:r>
            <a:r>
              <a:rPr lang="en-US" sz="1560" dirty="0" err="1">
                <a:cs typeface="Calibri"/>
              </a:rPr>
              <a:t>LPWan</a:t>
            </a:r>
            <a:r>
              <a:rPr lang="en-US" sz="1560" dirty="0">
                <a:cs typeface="Calibri"/>
              </a:rPr>
              <a:t>-Sigfox)</a:t>
            </a:r>
          </a:p>
          <a:p>
            <a:r>
              <a:rPr lang="en-US" sz="1560" dirty="0">
                <a:cs typeface="Calibri"/>
              </a:rPr>
              <a:t>Maturity</a:t>
            </a:r>
          </a:p>
          <a:p>
            <a:pPr lvl="1"/>
            <a:r>
              <a:rPr lang="en-US" sz="1560" dirty="0">
                <a:cs typeface="Calibri"/>
              </a:rPr>
              <a:t>In business for long? Critical mass in developer community?</a:t>
            </a:r>
          </a:p>
          <a:p>
            <a:r>
              <a:rPr lang="en-US" sz="1560" dirty="0">
                <a:cs typeface="Calibri"/>
              </a:rPr>
              <a:t>Free</a:t>
            </a:r>
          </a:p>
          <a:p>
            <a:pPr lvl="1"/>
            <a:r>
              <a:rPr lang="en-US" sz="1560" dirty="0">
                <a:cs typeface="Calibri"/>
              </a:rPr>
              <a:t>Is there a free tier (handy for evaluation)?</a:t>
            </a:r>
          </a:p>
          <a:p>
            <a:r>
              <a:rPr lang="en-US" sz="1560" dirty="0">
                <a:cs typeface="Calibri"/>
              </a:rPr>
              <a:t>Service type</a:t>
            </a:r>
          </a:p>
          <a:p>
            <a:pPr lvl="1"/>
            <a:r>
              <a:rPr lang="en-US" sz="1560" dirty="0">
                <a:cs typeface="Calibri"/>
              </a:rPr>
              <a:t>Platforms try to distinguish themselves – what specialisms/USP does it have? </a:t>
            </a:r>
          </a:p>
          <a:p>
            <a:r>
              <a:rPr lang="en-US" sz="1560" dirty="0">
                <a:cs typeface="Calibri"/>
              </a:rPr>
              <a:t>Security</a:t>
            </a:r>
          </a:p>
          <a:p>
            <a:pPr lvl="1"/>
            <a:r>
              <a:rPr lang="en-US" sz="1560" dirty="0">
                <a:cs typeface="Calibri"/>
              </a:rPr>
              <a:t>What security model do they use? Is there security issues reported in past?</a:t>
            </a:r>
          </a:p>
          <a:p>
            <a:r>
              <a:rPr lang="en-US" sz="1560" dirty="0">
                <a:cs typeface="Calibri"/>
              </a:rPr>
              <a:t>Geographic area</a:t>
            </a:r>
          </a:p>
          <a:p>
            <a:pPr lvl="1"/>
            <a:r>
              <a:rPr lang="en-US" sz="1560" dirty="0">
                <a:cs typeface="Calibri"/>
              </a:rPr>
              <a:t>Does it operate well at your location (can you select edges/data </a:t>
            </a:r>
            <a:r>
              <a:rPr lang="en-US" sz="1560" dirty="0" err="1">
                <a:cs typeface="Calibri"/>
              </a:rPr>
              <a:t>centres</a:t>
            </a:r>
            <a:r>
              <a:rPr lang="en-US" sz="1560" dirty="0">
                <a:cs typeface="Calibri"/>
              </a:rPr>
              <a:t>)</a:t>
            </a:r>
          </a:p>
        </p:txBody>
      </p:sp>
      <p:pic>
        <p:nvPicPr>
          <p:cNvPr id="1026" name="Picture 2" descr="Image result for which one&quot;">
            <a:extLst>
              <a:ext uri="{FF2B5EF4-FFF2-40B4-BE49-F238E27FC236}">
                <a16:creationId xmlns:a16="http://schemas.microsoft.com/office/drawing/2014/main" id="{8F067301-A892-4D93-A514-53FBD8B6F2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524" r="21838" b="3"/>
          <a:stretch/>
        </p:blipFill>
        <p:spPr bwMode="auto">
          <a:xfrm>
            <a:off x="9067691" y="768099"/>
            <a:ext cx="4795114" cy="6693404"/>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7779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040130"/>
            <a:ext cx="5670590" cy="708779"/>
          </a:xfrm>
          <a:prstGeom prst="rect">
            <a:avLst/>
          </a:prstGeom>
          <a:noFill/>
          <a:ln/>
        </p:spPr>
        <p:txBody>
          <a:bodyPr wrap="none" lIns="0" tIns="0" rIns="0" bIns="0" rtlCol="0" anchor="t"/>
          <a:lstStyle/>
          <a:p>
            <a:pPr marL="0" indent="0">
              <a:lnSpc>
                <a:spcPts val="5550"/>
              </a:lnSpc>
              <a:buNone/>
            </a:pPr>
            <a:r>
              <a:rPr lang="en-US" sz="4450" dirty="0">
                <a:solidFill>
                  <a:srgbClr val="1B1B27"/>
                </a:solidFill>
                <a:latin typeface="Raleway" pitchFamily="34" charset="0"/>
                <a:ea typeface="Raleway" pitchFamily="34" charset="-122"/>
                <a:cs typeface="Raleway" pitchFamily="34" charset="-120"/>
              </a:rPr>
              <a:t>Microsoft Azure</a:t>
            </a:r>
            <a:endParaRPr lang="en-US" sz="4450" dirty="0"/>
          </a:p>
        </p:txBody>
      </p:sp>
      <p:sp>
        <p:nvSpPr>
          <p:cNvPr id="4" name="Shape 1"/>
          <p:cNvSpPr/>
          <p:nvPr/>
        </p:nvSpPr>
        <p:spPr>
          <a:xfrm>
            <a:off x="1118711" y="2089071"/>
            <a:ext cx="30480" cy="5100280"/>
          </a:xfrm>
          <a:prstGeom prst="roundRect">
            <a:avLst>
              <a:gd name="adj" fmla="val 312558"/>
            </a:avLst>
          </a:prstGeom>
          <a:solidFill>
            <a:srgbClr val="C7C7D0"/>
          </a:solidFill>
          <a:ln/>
        </p:spPr>
        <p:txBody>
          <a:bodyPr/>
          <a:lstStyle/>
          <a:p>
            <a:endParaRPr lang="en-IE"/>
          </a:p>
        </p:txBody>
      </p:sp>
      <p:sp>
        <p:nvSpPr>
          <p:cNvPr id="5" name="Shape 2"/>
          <p:cNvSpPr/>
          <p:nvPr/>
        </p:nvSpPr>
        <p:spPr>
          <a:xfrm>
            <a:off x="1358622" y="2584133"/>
            <a:ext cx="793790" cy="30480"/>
          </a:xfrm>
          <a:prstGeom prst="roundRect">
            <a:avLst>
              <a:gd name="adj" fmla="val 312558"/>
            </a:avLst>
          </a:prstGeom>
          <a:solidFill>
            <a:srgbClr val="C7C7D0"/>
          </a:solidFill>
          <a:ln/>
        </p:spPr>
        <p:txBody>
          <a:bodyPr/>
          <a:lstStyle/>
          <a:p>
            <a:endParaRPr lang="en-IE"/>
          </a:p>
        </p:txBody>
      </p:sp>
      <p:sp>
        <p:nvSpPr>
          <p:cNvPr id="6" name="Shape 3"/>
          <p:cNvSpPr/>
          <p:nvPr/>
        </p:nvSpPr>
        <p:spPr>
          <a:xfrm>
            <a:off x="878800" y="2344222"/>
            <a:ext cx="510302" cy="510302"/>
          </a:xfrm>
          <a:prstGeom prst="roundRect">
            <a:avLst>
              <a:gd name="adj" fmla="val 18669"/>
            </a:avLst>
          </a:prstGeom>
          <a:solidFill>
            <a:srgbClr val="E1E1EA"/>
          </a:solidFill>
          <a:ln w="7620">
            <a:solidFill>
              <a:srgbClr val="C7C7D0"/>
            </a:solidFill>
            <a:prstDash val="solid"/>
          </a:ln>
        </p:spPr>
        <p:txBody>
          <a:bodyPr/>
          <a:lstStyle/>
          <a:p>
            <a:endParaRPr lang="en-IE"/>
          </a:p>
        </p:txBody>
      </p:sp>
      <p:sp>
        <p:nvSpPr>
          <p:cNvPr id="7" name="Text 4"/>
          <p:cNvSpPr/>
          <p:nvPr/>
        </p:nvSpPr>
        <p:spPr>
          <a:xfrm>
            <a:off x="1061085" y="2429232"/>
            <a:ext cx="145613" cy="340281"/>
          </a:xfrm>
          <a:prstGeom prst="rect">
            <a:avLst/>
          </a:prstGeom>
          <a:noFill/>
          <a:ln/>
        </p:spPr>
        <p:txBody>
          <a:bodyPr wrap="none" lIns="0" tIns="0" rIns="0" bIns="0" rtlCol="0" anchor="t"/>
          <a:lstStyle/>
          <a:p>
            <a:pPr marL="0" indent="0" algn="ctr">
              <a:lnSpc>
                <a:spcPts val="2650"/>
              </a:lnSpc>
              <a:buNone/>
            </a:pPr>
            <a:r>
              <a:rPr lang="en-US" sz="2650" dirty="0">
                <a:solidFill>
                  <a:srgbClr val="3C3939"/>
                </a:solidFill>
                <a:latin typeface="Raleway" pitchFamily="34" charset="0"/>
                <a:ea typeface="Raleway" pitchFamily="34" charset="-122"/>
                <a:cs typeface="Raleway" pitchFamily="34" charset="-120"/>
              </a:rPr>
              <a:t>1</a:t>
            </a:r>
            <a:endParaRPr lang="en-US" sz="2650" dirty="0"/>
          </a:p>
        </p:txBody>
      </p:sp>
      <p:sp>
        <p:nvSpPr>
          <p:cNvPr id="8" name="Text 5"/>
          <p:cNvSpPr/>
          <p:nvPr/>
        </p:nvSpPr>
        <p:spPr>
          <a:xfrm>
            <a:off x="2381488" y="231588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Azure</a:t>
            </a:r>
            <a:endParaRPr lang="en-US" sz="2200" dirty="0"/>
          </a:p>
        </p:txBody>
      </p:sp>
      <p:sp>
        <p:nvSpPr>
          <p:cNvPr id="9" name="Text 6"/>
          <p:cNvSpPr/>
          <p:nvPr/>
        </p:nvSpPr>
        <p:spPr>
          <a:xfrm>
            <a:off x="2381488" y="2806303"/>
            <a:ext cx="5968722"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Azure is Microsoft's cloud platform</a:t>
            </a:r>
          </a:p>
          <a:p>
            <a:pPr marL="0" indent="0" algn="l">
              <a:lnSpc>
                <a:spcPts val="2850"/>
              </a:lnSpc>
              <a:buNone/>
            </a:pPr>
            <a:endParaRPr lang="en-US" sz="1750" dirty="0"/>
          </a:p>
        </p:txBody>
      </p:sp>
      <p:sp>
        <p:nvSpPr>
          <p:cNvPr id="10" name="Shape 7"/>
          <p:cNvSpPr/>
          <p:nvPr/>
        </p:nvSpPr>
        <p:spPr>
          <a:xfrm>
            <a:off x="1358622" y="4480798"/>
            <a:ext cx="793790" cy="30480"/>
          </a:xfrm>
          <a:prstGeom prst="roundRect">
            <a:avLst>
              <a:gd name="adj" fmla="val 312558"/>
            </a:avLst>
          </a:prstGeom>
          <a:solidFill>
            <a:srgbClr val="C7C7D0"/>
          </a:solidFill>
          <a:ln/>
        </p:spPr>
        <p:txBody>
          <a:bodyPr/>
          <a:lstStyle/>
          <a:p>
            <a:endParaRPr lang="en-IE"/>
          </a:p>
        </p:txBody>
      </p:sp>
      <p:sp>
        <p:nvSpPr>
          <p:cNvPr id="11" name="Shape 8"/>
          <p:cNvSpPr/>
          <p:nvPr/>
        </p:nvSpPr>
        <p:spPr>
          <a:xfrm>
            <a:off x="878800" y="4240887"/>
            <a:ext cx="510302" cy="510302"/>
          </a:xfrm>
          <a:prstGeom prst="roundRect">
            <a:avLst>
              <a:gd name="adj" fmla="val 18669"/>
            </a:avLst>
          </a:prstGeom>
          <a:solidFill>
            <a:srgbClr val="E1E1EA"/>
          </a:solidFill>
          <a:ln w="7620">
            <a:solidFill>
              <a:srgbClr val="C7C7D0"/>
            </a:solidFill>
            <a:prstDash val="solid"/>
          </a:ln>
        </p:spPr>
        <p:txBody>
          <a:bodyPr/>
          <a:lstStyle/>
          <a:p>
            <a:endParaRPr lang="en-IE"/>
          </a:p>
        </p:txBody>
      </p:sp>
      <p:sp>
        <p:nvSpPr>
          <p:cNvPr id="12" name="Text 9"/>
          <p:cNvSpPr/>
          <p:nvPr/>
        </p:nvSpPr>
        <p:spPr>
          <a:xfrm>
            <a:off x="1045250" y="4325898"/>
            <a:ext cx="177284" cy="340281"/>
          </a:xfrm>
          <a:prstGeom prst="rect">
            <a:avLst/>
          </a:prstGeom>
          <a:noFill/>
          <a:ln/>
        </p:spPr>
        <p:txBody>
          <a:bodyPr wrap="none" lIns="0" tIns="0" rIns="0" bIns="0" rtlCol="0" anchor="t"/>
          <a:lstStyle/>
          <a:p>
            <a:pPr marL="0" indent="0" algn="ctr">
              <a:lnSpc>
                <a:spcPts val="2650"/>
              </a:lnSpc>
              <a:buNone/>
            </a:pPr>
            <a:r>
              <a:rPr lang="en-US" sz="2650" dirty="0">
                <a:solidFill>
                  <a:srgbClr val="3C3939"/>
                </a:solidFill>
                <a:latin typeface="Raleway" pitchFamily="34" charset="0"/>
                <a:ea typeface="Raleway" pitchFamily="34" charset="-122"/>
                <a:cs typeface="Raleway" pitchFamily="34" charset="-120"/>
              </a:rPr>
              <a:t>2</a:t>
            </a:r>
            <a:endParaRPr lang="en-US" sz="2650" dirty="0"/>
          </a:p>
        </p:txBody>
      </p:sp>
      <p:sp>
        <p:nvSpPr>
          <p:cNvPr id="13" name="Text 10"/>
          <p:cNvSpPr/>
          <p:nvPr/>
        </p:nvSpPr>
        <p:spPr>
          <a:xfrm>
            <a:off x="2381488" y="421255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Azure for Students</a:t>
            </a:r>
            <a:endParaRPr lang="en-US" sz="2200" dirty="0"/>
          </a:p>
        </p:txBody>
      </p:sp>
      <p:sp>
        <p:nvSpPr>
          <p:cNvPr id="14" name="Text 11"/>
          <p:cNvSpPr/>
          <p:nvPr/>
        </p:nvSpPr>
        <p:spPr>
          <a:xfrm>
            <a:off x="2381488" y="4702969"/>
            <a:ext cx="5968722"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Students get $100 credit and free IoT services. No credit card is needed.</a:t>
            </a:r>
            <a:endParaRPr lang="en-US" sz="1750" dirty="0"/>
          </a:p>
        </p:txBody>
      </p:sp>
      <p:sp>
        <p:nvSpPr>
          <p:cNvPr id="15" name="Shape 12"/>
          <p:cNvSpPr/>
          <p:nvPr/>
        </p:nvSpPr>
        <p:spPr>
          <a:xfrm>
            <a:off x="1358622" y="6377464"/>
            <a:ext cx="793790" cy="30480"/>
          </a:xfrm>
          <a:prstGeom prst="roundRect">
            <a:avLst>
              <a:gd name="adj" fmla="val 312558"/>
            </a:avLst>
          </a:prstGeom>
          <a:solidFill>
            <a:srgbClr val="C7C7D0"/>
          </a:solidFill>
          <a:ln/>
        </p:spPr>
        <p:txBody>
          <a:bodyPr/>
          <a:lstStyle/>
          <a:p>
            <a:endParaRPr lang="en-IE"/>
          </a:p>
        </p:txBody>
      </p:sp>
      <p:sp>
        <p:nvSpPr>
          <p:cNvPr id="16" name="Shape 13"/>
          <p:cNvSpPr/>
          <p:nvPr/>
        </p:nvSpPr>
        <p:spPr>
          <a:xfrm>
            <a:off x="878800" y="6137553"/>
            <a:ext cx="510302" cy="510302"/>
          </a:xfrm>
          <a:prstGeom prst="roundRect">
            <a:avLst>
              <a:gd name="adj" fmla="val 18669"/>
            </a:avLst>
          </a:prstGeom>
          <a:solidFill>
            <a:srgbClr val="E1E1EA"/>
          </a:solidFill>
          <a:ln w="7620">
            <a:solidFill>
              <a:srgbClr val="C7C7D0"/>
            </a:solidFill>
            <a:prstDash val="solid"/>
          </a:ln>
        </p:spPr>
        <p:txBody>
          <a:bodyPr/>
          <a:lstStyle/>
          <a:p>
            <a:endParaRPr lang="en-IE"/>
          </a:p>
        </p:txBody>
      </p:sp>
      <p:sp>
        <p:nvSpPr>
          <p:cNvPr id="17" name="Text 14"/>
          <p:cNvSpPr/>
          <p:nvPr/>
        </p:nvSpPr>
        <p:spPr>
          <a:xfrm>
            <a:off x="1043107" y="6222563"/>
            <a:ext cx="181689" cy="340281"/>
          </a:xfrm>
          <a:prstGeom prst="rect">
            <a:avLst/>
          </a:prstGeom>
          <a:noFill/>
          <a:ln/>
        </p:spPr>
        <p:txBody>
          <a:bodyPr wrap="none" lIns="0" tIns="0" rIns="0" bIns="0" rtlCol="0" anchor="t"/>
          <a:lstStyle/>
          <a:p>
            <a:pPr marL="0" indent="0" algn="ctr">
              <a:lnSpc>
                <a:spcPts val="2650"/>
              </a:lnSpc>
              <a:buNone/>
            </a:pPr>
            <a:r>
              <a:rPr lang="en-US" sz="2650" dirty="0">
                <a:solidFill>
                  <a:srgbClr val="3C3939"/>
                </a:solidFill>
                <a:latin typeface="Raleway" pitchFamily="34" charset="0"/>
                <a:ea typeface="Raleway" pitchFamily="34" charset="-122"/>
                <a:cs typeface="Raleway" pitchFamily="34" charset="-120"/>
              </a:rPr>
              <a:t>3</a:t>
            </a:r>
            <a:endParaRPr lang="en-US" sz="2650" dirty="0"/>
          </a:p>
        </p:txBody>
      </p:sp>
      <p:sp>
        <p:nvSpPr>
          <p:cNvPr id="18" name="Text 15"/>
          <p:cNvSpPr/>
          <p:nvPr/>
        </p:nvSpPr>
        <p:spPr>
          <a:xfrm>
            <a:off x="2381488" y="6109216"/>
            <a:ext cx="3120747"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Azure Free Subscription</a:t>
            </a:r>
            <a:endParaRPr lang="en-US" sz="2200" dirty="0"/>
          </a:p>
        </p:txBody>
      </p:sp>
      <p:sp>
        <p:nvSpPr>
          <p:cNvPr id="19" name="Text 16"/>
          <p:cNvSpPr/>
          <p:nvPr/>
        </p:nvSpPr>
        <p:spPr>
          <a:xfrm>
            <a:off x="2381488" y="6599634"/>
            <a:ext cx="5968722"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Free tiers of services. A credit card is required.</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731883"/>
            <a:ext cx="5670590" cy="708779"/>
          </a:xfrm>
          <a:prstGeom prst="rect">
            <a:avLst/>
          </a:prstGeom>
          <a:noFill/>
          <a:ln/>
        </p:spPr>
        <p:txBody>
          <a:bodyPr wrap="none" lIns="0" tIns="0" rIns="0" bIns="0" rtlCol="0" anchor="t"/>
          <a:lstStyle/>
          <a:p>
            <a:pPr marL="0" indent="0">
              <a:lnSpc>
                <a:spcPts val="5550"/>
              </a:lnSpc>
              <a:buNone/>
            </a:pPr>
            <a:r>
              <a:rPr lang="en-US" sz="4450" dirty="0">
                <a:solidFill>
                  <a:srgbClr val="1B1B27"/>
                </a:solidFill>
                <a:latin typeface="Raleway" pitchFamily="34" charset="0"/>
                <a:ea typeface="Raleway" pitchFamily="34" charset="-122"/>
                <a:cs typeface="Raleway" pitchFamily="34" charset="-120"/>
              </a:rPr>
              <a:t>Azure IoT Services</a:t>
            </a:r>
            <a:endParaRPr lang="en-US" sz="4450" dirty="0"/>
          </a:p>
        </p:txBody>
      </p:sp>
      <p:pic>
        <p:nvPicPr>
          <p:cNvPr id="4" name="Image 1" descr="preencoded.png"/>
          <p:cNvPicPr>
            <a:picLocks noChangeAspect="1"/>
          </p:cNvPicPr>
          <p:nvPr/>
        </p:nvPicPr>
        <p:blipFill>
          <a:blip r:embed="rId4"/>
          <a:stretch>
            <a:fillRect/>
          </a:stretch>
        </p:blipFill>
        <p:spPr>
          <a:xfrm>
            <a:off x="6280190" y="2780824"/>
            <a:ext cx="566976" cy="566976"/>
          </a:xfrm>
          <a:prstGeom prst="rect">
            <a:avLst/>
          </a:prstGeom>
        </p:spPr>
      </p:pic>
      <p:sp>
        <p:nvSpPr>
          <p:cNvPr id="5" name="Text 1"/>
          <p:cNvSpPr/>
          <p:nvPr/>
        </p:nvSpPr>
        <p:spPr>
          <a:xfrm>
            <a:off x="6280190" y="3574613"/>
            <a:ext cx="2291953"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Security</a:t>
            </a:r>
            <a:endParaRPr lang="en-US" sz="2200" dirty="0"/>
          </a:p>
        </p:txBody>
      </p:sp>
      <p:sp>
        <p:nvSpPr>
          <p:cNvPr id="6" name="Text 2"/>
          <p:cNvSpPr/>
          <p:nvPr/>
        </p:nvSpPr>
        <p:spPr>
          <a:xfrm>
            <a:off x="6280190" y="4065032"/>
            <a:ext cx="2291953"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Security is baked-in to prevent data breaches and rogue commands.</a:t>
            </a:r>
            <a:endParaRPr lang="en-US" sz="1750" dirty="0"/>
          </a:p>
        </p:txBody>
      </p:sp>
      <p:pic>
        <p:nvPicPr>
          <p:cNvPr id="7" name="Image 2" descr="preencoded.png"/>
          <p:cNvPicPr>
            <a:picLocks noChangeAspect="1"/>
          </p:cNvPicPr>
          <p:nvPr/>
        </p:nvPicPr>
        <p:blipFill>
          <a:blip r:embed="rId5"/>
          <a:stretch>
            <a:fillRect/>
          </a:stretch>
        </p:blipFill>
        <p:spPr>
          <a:xfrm>
            <a:off x="8912304" y="2780824"/>
            <a:ext cx="566976" cy="566976"/>
          </a:xfrm>
          <a:prstGeom prst="rect">
            <a:avLst/>
          </a:prstGeom>
        </p:spPr>
      </p:pic>
      <p:sp>
        <p:nvSpPr>
          <p:cNvPr id="8" name="Text 3"/>
          <p:cNvSpPr/>
          <p:nvPr/>
        </p:nvSpPr>
        <p:spPr>
          <a:xfrm>
            <a:off x="8912304" y="3574613"/>
            <a:ext cx="2292072"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Performance</a:t>
            </a:r>
            <a:endParaRPr lang="en-US" sz="2200" dirty="0"/>
          </a:p>
        </p:txBody>
      </p:sp>
      <p:sp>
        <p:nvSpPr>
          <p:cNvPr id="9" name="Text 4"/>
          <p:cNvSpPr/>
          <p:nvPr/>
        </p:nvSpPr>
        <p:spPr>
          <a:xfrm>
            <a:off x="8912304" y="4065032"/>
            <a:ext cx="2292072" cy="1451610"/>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High performance with the ability to handle millions of messages.</a:t>
            </a:r>
            <a:endParaRPr lang="en-US" sz="1750" dirty="0"/>
          </a:p>
        </p:txBody>
      </p:sp>
      <p:pic>
        <p:nvPicPr>
          <p:cNvPr id="10" name="Image 3" descr="preencoded.png"/>
          <p:cNvPicPr>
            <a:picLocks noChangeAspect="1"/>
          </p:cNvPicPr>
          <p:nvPr/>
        </p:nvPicPr>
        <p:blipFill>
          <a:blip r:embed="rId6"/>
          <a:stretch>
            <a:fillRect/>
          </a:stretch>
        </p:blipFill>
        <p:spPr>
          <a:xfrm>
            <a:off x="11544538" y="2780824"/>
            <a:ext cx="566976" cy="566976"/>
          </a:xfrm>
          <a:prstGeom prst="rect">
            <a:avLst/>
          </a:prstGeom>
        </p:spPr>
      </p:pic>
      <p:sp>
        <p:nvSpPr>
          <p:cNvPr id="11" name="Text 5"/>
          <p:cNvSpPr/>
          <p:nvPr/>
        </p:nvSpPr>
        <p:spPr>
          <a:xfrm>
            <a:off x="11544538" y="3574613"/>
            <a:ext cx="2291953"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Device SDK</a:t>
            </a:r>
            <a:endParaRPr lang="en-US" sz="2200" dirty="0"/>
          </a:p>
        </p:txBody>
      </p:sp>
      <p:sp>
        <p:nvSpPr>
          <p:cNvPr id="12" name="Text 6"/>
          <p:cNvSpPr/>
          <p:nvPr/>
        </p:nvSpPr>
        <p:spPr>
          <a:xfrm>
            <a:off x="11544538" y="4065032"/>
            <a:ext cx="2291953" cy="1451610"/>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Connect using a device SDK or communication protocol like MQTT.</a:t>
            </a:r>
            <a:endParaRPr lang="en-US" sz="1750" dirty="0"/>
          </a:p>
        </p:txBody>
      </p:sp>
      <p:sp>
        <p:nvSpPr>
          <p:cNvPr id="13" name="Text 7"/>
          <p:cNvSpPr/>
          <p:nvPr/>
        </p:nvSpPr>
        <p:spPr>
          <a:xfrm>
            <a:off x="6280190" y="5771793"/>
            <a:ext cx="7556421" cy="725805"/>
          </a:xfrm>
          <a:prstGeom prst="rect">
            <a:avLst/>
          </a:prstGeom>
          <a:noFill/>
          <a:ln/>
        </p:spPr>
        <p:txBody>
          <a:bodyPr wrap="square" lIns="0" tIns="0" rIns="0" bIns="0" rtlCol="0" anchor="t"/>
          <a:lstStyle/>
          <a:p>
            <a:pPr marL="0" indent="0">
              <a:lnSpc>
                <a:spcPts val="2850"/>
              </a:lnSpc>
              <a:buNone/>
            </a:pPr>
            <a:r>
              <a:rPr lang="en-US" sz="1750" dirty="0">
                <a:solidFill>
                  <a:srgbClr val="3C3939"/>
                </a:solidFill>
                <a:latin typeface="Roboto" pitchFamily="34" charset="0"/>
                <a:ea typeface="Roboto" pitchFamily="34" charset="-122"/>
                <a:cs typeface="Roboto" pitchFamily="34" charset="-120"/>
              </a:rPr>
              <a:t>Cloud IoT services solve reliability, security, performance, and discovery issues. Cloud providers offer free versions for development.</a:t>
            </a:r>
            <a:endParaRPr lang="en-US" sz="1750" dirty="0"/>
          </a:p>
        </p:txBody>
      </p:sp>
      <p:pic>
        <p:nvPicPr>
          <p:cNvPr id="1026" name="Picture 2">
            <a:extLst>
              <a:ext uri="{FF2B5EF4-FFF2-40B4-BE49-F238E27FC236}">
                <a16:creationId xmlns:a16="http://schemas.microsoft.com/office/drawing/2014/main" id="{12E87942-02BB-E57F-D1A9-25DEBBE132F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40381" y="6521152"/>
            <a:ext cx="7556421" cy="16440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22590"/>
            <a:ext cx="5670590" cy="708779"/>
          </a:xfrm>
          <a:prstGeom prst="rect">
            <a:avLst/>
          </a:prstGeom>
          <a:noFill/>
          <a:ln/>
        </p:spPr>
        <p:txBody>
          <a:bodyPr wrap="none" lIns="0" tIns="0" rIns="0" bIns="0" rtlCol="0" anchor="t"/>
          <a:lstStyle/>
          <a:p>
            <a:pPr marL="0" indent="0">
              <a:lnSpc>
                <a:spcPts val="5550"/>
              </a:lnSpc>
              <a:buNone/>
            </a:pPr>
            <a:r>
              <a:rPr lang="en-US" sz="4450" dirty="0">
                <a:solidFill>
                  <a:srgbClr val="1B1B27"/>
                </a:solidFill>
                <a:latin typeface="Raleway" pitchFamily="34" charset="0"/>
                <a:ea typeface="Raleway" pitchFamily="34" charset="-122"/>
                <a:cs typeface="Raleway" pitchFamily="34" charset="-120"/>
              </a:rPr>
              <a:t>What is Serverless?</a:t>
            </a:r>
            <a:endParaRPr lang="en-US" sz="4450" dirty="0"/>
          </a:p>
        </p:txBody>
      </p:sp>
      <p:pic>
        <p:nvPicPr>
          <p:cNvPr id="4" name="Image 1" descr="preencoded.png"/>
          <p:cNvPicPr>
            <a:picLocks noChangeAspect="1"/>
          </p:cNvPicPr>
          <p:nvPr/>
        </p:nvPicPr>
        <p:blipFill>
          <a:blip r:embed="rId4"/>
          <a:stretch>
            <a:fillRect/>
          </a:stretch>
        </p:blipFill>
        <p:spPr>
          <a:xfrm>
            <a:off x="793790" y="1771531"/>
            <a:ext cx="1134070" cy="1360884"/>
          </a:xfrm>
          <a:prstGeom prst="rect">
            <a:avLst/>
          </a:prstGeom>
        </p:spPr>
      </p:pic>
      <p:sp>
        <p:nvSpPr>
          <p:cNvPr id="5" name="Text 1"/>
          <p:cNvSpPr/>
          <p:nvPr/>
        </p:nvSpPr>
        <p:spPr>
          <a:xfrm>
            <a:off x="2268022" y="199834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Small Code Blocks</a:t>
            </a:r>
            <a:endParaRPr lang="en-US" sz="2200" dirty="0"/>
          </a:p>
        </p:txBody>
      </p:sp>
      <p:sp>
        <p:nvSpPr>
          <p:cNvPr id="6" name="Text 2"/>
          <p:cNvSpPr/>
          <p:nvPr/>
        </p:nvSpPr>
        <p:spPr>
          <a:xfrm>
            <a:off x="2268022" y="2488763"/>
            <a:ext cx="6082189"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Run small blocks of code in response to events.</a:t>
            </a:r>
            <a:endParaRPr lang="en-US" sz="1750" dirty="0"/>
          </a:p>
        </p:txBody>
      </p:sp>
      <p:pic>
        <p:nvPicPr>
          <p:cNvPr id="7" name="Image 2" descr="preencoded.png"/>
          <p:cNvPicPr>
            <a:picLocks noChangeAspect="1"/>
          </p:cNvPicPr>
          <p:nvPr/>
        </p:nvPicPr>
        <p:blipFill>
          <a:blip r:embed="rId5"/>
          <a:stretch>
            <a:fillRect/>
          </a:stretch>
        </p:blipFill>
        <p:spPr>
          <a:xfrm>
            <a:off x="793790" y="3132415"/>
            <a:ext cx="1134070" cy="1669852"/>
          </a:xfrm>
          <a:prstGeom prst="rect">
            <a:avLst/>
          </a:prstGeom>
        </p:spPr>
      </p:pic>
      <p:sp>
        <p:nvSpPr>
          <p:cNvPr id="8" name="Text 3"/>
          <p:cNvSpPr/>
          <p:nvPr/>
        </p:nvSpPr>
        <p:spPr>
          <a:xfrm>
            <a:off x="2268022" y="335922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Event-Driven</a:t>
            </a:r>
            <a:endParaRPr lang="en-US" sz="2200" dirty="0"/>
          </a:p>
        </p:txBody>
      </p:sp>
      <p:sp>
        <p:nvSpPr>
          <p:cNvPr id="9" name="Text 4"/>
          <p:cNvSpPr/>
          <p:nvPr/>
        </p:nvSpPr>
        <p:spPr>
          <a:xfrm>
            <a:off x="2268022" y="3849648"/>
            <a:ext cx="6082189"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Code runs when an event happens, triggered by data changes.</a:t>
            </a:r>
            <a:endParaRPr lang="en-US" sz="1750" dirty="0"/>
          </a:p>
        </p:txBody>
      </p:sp>
      <p:pic>
        <p:nvPicPr>
          <p:cNvPr id="10" name="Image 3" descr="preencoded.png"/>
          <p:cNvPicPr>
            <a:picLocks noChangeAspect="1"/>
          </p:cNvPicPr>
          <p:nvPr/>
        </p:nvPicPr>
        <p:blipFill>
          <a:blip r:embed="rId6"/>
          <a:stretch>
            <a:fillRect/>
          </a:stretch>
        </p:blipFill>
        <p:spPr>
          <a:xfrm>
            <a:off x="793790" y="4802267"/>
            <a:ext cx="1134070" cy="1360884"/>
          </a:xfrm>
          <a:prstGeom prst="rect">
            <a:avLst/>
          </a:prstGeom>
        </p:spPr>
      </p:pic>
      <p:sp>
        <p:nvSpPr>
          <p:cNvPr id="11" name="Text 5"/>
          <p:cNvSpPr/>
          <p:nvPr/>
        </p:nvSpPr>
        <p:spPr>
          <a:xfrm>
            <a:off x="2268022" y="502908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Scalable</a:t>
            </a:r>
            <a:endParaRPr lang="en-US" sz="2200" dirty="0"/>
          </a:p>
        </p:txBody>
      </p:sp>
      <p:sp>
        <p:nvSpPr>
          <p:cNvPr id="12" name="Text 6"/>
          <p:cNvSpPr/>
          <p:nvPr/>
        </p:nvSpPr>
        <p:spPr>
          <a:xfrm>
            <a:off x="2268022" y="5519499"/>
            <a:ext cx="6082189"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Cloud provider runs the function as needed.</a:t>
            </a:r>
            <a:endParaRPr lang="en-US" sz="1750" dirty="0"/>
          </a:p>
        </p:txBody>
      </p:sp>
      <p:sp>
        <p:nvSpPr>
          <p:cNvPr id="13" name="Text 7"/>
          <p:cNvSpPr/>
          <p:nvPr/>
        </p:nvSpPr>
        <p:spPr>
          <a:xfrm>
            <a:off x="793790" y="6418302"/>
            <a:ext cx="7556421" cy="1088708"/>
          </a:xfrm>
          <a:prstGeom prst="rect">
            <a:avLst/>
          </a:prstGeom>
          <a:noFill/>
          <a:ln/>
        </p:spPr>
        <p:txBody>
          <a:bodyPr wrap="square" lIns="0" tIns="0" rIns="0" bIns="0" rtlCol="0" anchor="t"/>
          <a:lstStyle/>
          <a:p>
            <a:pPr marL="0" indent="0">
              <a:lnSpc>
                <a:spcPts val="2850"/>
              </a:lnSpc>
              <a:buNone/>
            </a:pPr>
            <a:r>
              <a:rPr lang="en-US" sz="1750" dirty="0">
                <a:solidFill>
                  <a:srgbClr val="3C3939"/>
                </a:solidFill>
                <a:latin typeface="Roboto" pitchFamily="34" charset="0"/>
                <a:ea typeface="Roboto" pitchFamily="34" charset="-122"/>
                <a:cs typeface="Roboto" pitchFamily="34" charset="-120"/>
              </a:rPr>
              <a:t>Serverless computing creates small code blocks that run in the cloud in response to events. You pay for the time your code is running and the memory used.</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760571"/>
            <a:ext cx="8156019" cy="708779"/>
          </a:xfrm>
          <a:prstGeom prst="rect">
            <a:avLst/>
          </a:prstGeom>
          <a:noFill/>
          <a:ln/>
        </p:spPr>
        <p:txBody>
          <a:bodyPr wrap="none" lIns="0" tIns="0" rIns="0" bIns="0" rtlCol="0" anchor="t"/>
          <a:lstStyle/>
          <a:p>
            <a:pPr marL="0" indent="0">
              <a:lnSpc>
                <a:spcPts val="5550"/>
              </a:lnSpc>
              <a:buNone/>
            </a:pPr>
            <a:r>
              <a:rPr lang="en-US" sz="4450" dirty="0">
                <a:solidFill>
                  <a:srgbClr val="1B1B27"/>
                </a:solidFill>
                <a:latin typeface="Raleway" pitchFamily="34" charset="0"/>
                <a:ea typeface="Raleway" pitchFamily="34" charset="-122"/>
                <a:cs typeface="Raleway" pitchFamily="34" charset="-120"/>
              </a:rPr>
              <a:t>Create a Serverless Application</a:t>
            </a:r>
            <a:endParaRPr lang="en-US" sz="4450" dirty="0"/>
          </a:p>
        </p:txBody>
      </p:sp>
      <p:sp>
        <p:nvSpPr>
          <p:cNvPr id="3" name="Text 1"/>
          <p:cNvSpPr/>
          <p:nvPr/>
        </p:nvSpPr>
        <p:spPr>
          <a:xfrm>
            <a:off x="1743789" y="4028242"/>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3C3939"/>
                </a:solidFill>
                <a:latin typeface="Raleway" pitchFamily="34" charset="0"/>
                <a:ea typeface="Raleway" pitchFamily="34" charset="-122"/>
                <a:cs typeface="Raleway" pitchFamily="34" charset="-120"/>
              </a:rPr>
              <a:t>Azure Functions</a:t>
            </a:r>
            <a:endParaRPr lang="en-US" sz="2200" dirty="0"/>
          </a:p>
        </p:txBody>
      </p:sp>
      <p:pic>
        <p:nvPicPr>
          <p:cNvPr id="4" name="Image 0" descr="preencoded.png"/>
          <p:cNvPicPr>
            <a:picLocks noChangeAspect="1"/>
          </p:cNvPicPr>
          <p:nvPr/>
        </p:nvPicPr>
        <p:blipFill>
          <a:blip r:embed="rId3"/>
          <a:stretch>
            <a:fillRect/>
          </a:stretch>
        </p:blipFill>
        <p:spPr>
          <a:xfrm>
            <a:off x="5032653" y="1922978"/>
            <a:ext cx="4564975" cy="4564975"/>
          </a:xfrm>
          <a:prstGeom prst="rect">
            <a:avLst/>
          </a:prstGeom>
        </p:spPr>
      </p:pic>
      <p:sp>
        <p:nvSpPr>
          <p:cNvPr id="5" name="Text 2"/>
          <p:cNvSpPr/>
          <p:nvPr/>
        </p:nvSpPr>
        <p:spPr>
          <a:xfrm>
            <a:off x="5680353" y="3703915"/>
            <a:ext cx="121325" cy="453509"/>
          </a:xfrm>
          <a:prstGeom prst="rect">
            <a:avLst/>
          </a:prstGeom>
          <a:noFill/>
          <a:ln/>
        </p:spPr>
        <p:txBody>
          <a:bodyPr wrap="none" lIns="0" tIns="0" rIns="0" bIns="0" rtlCol="0" anchor="t"/>
          <a:lstStyle/>
          <a:p>
            <a:pPr marL="0" indent="0">
              <a:lnSpc>
                <a:spcPts val="3550"/>
              </a:lnSpc>
              <a:buNone/>
            </a:pPr>
            <a:r>
              <a:rPr lang="en-US" sz="2200" dirty="0">
                <a:solidFill>
                  <a:srgbClr val="3C3939"/>
                </a:solidFill>
                <a:latin typeface="Raleway" pitchFamily="34" charset="0"/>
                <a:ea typeface="Raleway" pitchFamily="34" charset="-122"/>
                <a:cs typeface="Raleway" pitchFamily="34" charset="-120"/>
              </a:rPr>
              <a:t>1</a:t>
            </a:r>
            <a:endParaRPr lang="en-US" sz="2200" dirty="0"/>
          </a:p>
        </p:txBody>
      </p:sp>
      <p:sp>
        <p:nvSpPr>
          <p:cNvPr id="6" name="Text 3"/>
          <p:cNvSpPr/>
          <p:nvPr/>
        </p:nvSpPr>
        <p:spPr>
          <a:xfrm>
            <a:off x="9937790" y="280201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Python</a:t>
            </a:r>
            <a:endParaRPr lang="en-US" sz="2200" dirty="0"/>
          </a:p>
        </p:txBody>
      </p:sp>
      <p:pic>
        <p:nvPicPr>
          <p:cNvPr id="7" name="Image 1" descr="preencoded.png"/>
          <p:cNvPicPr>
            <a:picLocks noChangeAspect="1"/>
          </p:cNvPicPr>
          <p:nvPr/>
        </p:nvPicPr>
        <p:blipFill>
          <a:blip r:embed="rId4"/>
          <a:stretch>
            <a:fillRect/>
          </a:stretch>
        </p:blipFill>
        <p:spPr>
          <a:xfrm>
            <a:off x="5032653" y="1922978"/>
            <a:ext cx="4564975" cy="4564975"/>
          </a:xfrm>
          <a:prstGeom prst="rect">
            <a:avLst/>
          </a:prstGeom>
        </p:spPr>
      </p:pic>
      <p:sp>
        <p:nvSpPr>
          <p:cNvPr id="8" name="Text 4"/>
          <p:cNvSpPr/>
          <p:nvPr/>
        </p:nvSpPr>
        <p:spPr>
          <a:xfrm>
            <a:off x="8266152" y="2752844"/>
            <a:ext cx="147637" cy="453509"/>
          </a:xfrm>
          <a:prstGeom prst="rect">
            <a:avLst/>
          </a:prstGeom>
          <a:noFill/>
          <a:ln/>
        </p:spPr>
        <p:txBody>
          <a:bodyPr wrap="none" lIns="0" tIns="0" rIns="0" bIns="0" rtlCol="0" anchor="t"/>
          <a:lstStyle/>
          <a:p>
            <a:pPr marL="0" indent="0">
              <a:lnSpc>
                <a:spcPts val="3550"/>
              </a:lnSpc>
              <a:buNone/>
            </a:pPr>
            <a:r>
              <a:rPr lang="en-US" sz="2200" dirty="0">
                <a:solidFill>
                  <a:srgbClr val="3C3939"/>
                </a:solidFill>
                <a:latin typeface="Raleway" pitchFamily="34" charset="0"/>
                <a:ea typeface="Raleway" pitchFamily="34" charset="-122"/>
                <a:cs typeface="Raleway" pitchFamily="34" charset="-120"/>
              </a:rPr>
              <a:t>2</a:t>
            </a:r>
            <a:endParaRPr lang="en-US" sz="2200" dirty="0"/>
          </a:p>
        </p:txBody>
      </p:sp>
      <p:sp>
        <p:nvSpPr>
          <p:cNvPr id="9" name="Text 5"/>
          <p:cNvSpPr/>
          <p:nvPr/>
        </p:nvSpPr>
        <p:spPr>
          <a:xfrm>
            <a:off x="9937790" y="525458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Triggers</a:t>
            </a:r>
            <a:endParaRPr lang="en-US" sz="2200" dirty="0"/>
          </a:p>
        </p:txBody>
      </p:sp>
      <p:pic>
        <p:nvPicPr>
          <p:cNvPr id="10" name="Image 2" descr="preencoded.png"/>
          <p:cNvPicPr>
            <a:picLocks noChangeAspect="1"/>
          </p:cNvPicPr>
          <p:nvPr/>
        </p:nvPicPr>
        <p:blipFill>
          <a:blip r:embed="rId5"/>
          <a:stretch>
            <a:fillRect/>
          </a:stretch>
        </p:blipFill>
        <p:spPr>
          <a:xfrm>
            <a:off x="5032653" y="1922978"/>
            <a:ext cx="4564975" cy="4564975"/>
          </a:xfrm>
          <a:prstGeom prst="rect">
            <a:avLst/>
          </a:prstGeom>
        </p:spPr>
      </p:pic>
      <p:sp>
        <p:nvSpPr>
          <p:cNvPr id="11" name="Text 6"/>
          <p:cNvSpPr/>
          <p:nvPr/>
        </p:nvSpPr>
        <p:spPr>
          <a:xfrm>
            <a:off x="7788473" y="5479018"/>
            <a:ext cx="151328" cy="453509"/>
          </a:xfrm>
          <a:prstGeom prst="rect">
            <a:avLst/>
          </a:prstGeom>
          <a:noFill/>
          <a:ln/>
        </p:spPr>
        <p:txBody>
          <a:bodyPr wrap="none" lIns="0" tIns="0" rIns="0" bIns="0" rtlCol="0" anchor="t"/>
          <a:lstStyle/>
          <a:p>
            <a:pPr marL="0" indent="0">
              <a:lnSpc>
                <a:spcPts val="3550"/>
              </a:lnSpc>
              <a:buNone/>
            </a:pPr>
            <a:r>
              <a:rPr lang="en-US" sz="2200" dirty="0">
                <a:solidFill>
                  <a:srgbClr val="3C3939"/>
                </a:solidFill>
                <a:latin typeface="Raleway" pitchFamily="34" charset="0"/>
                <a:ea typeface="Raleway" pitchFamily="34" charset="-122"/>
                <a:cs typeface="Raleway" pitchFamily="34" charset="-120"/>
              </a:rPr>
              <a:t>3</a:t>
            </a:r>
            <a:endParaRPr lang="en-US" sz="2200" dirty="0"/>
          </a:p>
        </p:txBody>
      </p:sp>
      <p:sp>
        <p:nvSpPr>
          <p:cNvPr id="12" name="Text 7"/>
          <p:cNvSpPr/>
          <p:nvPr/>
        </p:nvSpPr>
        <p:spPr>
          <a:xfrm>
            <a:off x="793790" y="6743105"/>
            <a:ext cx="13042821" cy="725805"/>
          </a:xfrm>
          <a:prstGeom prst="rect">
            <a:avLst/>
          </a:prstGeom>
          <a:noFill/>
          <a:ln/>
        </p:spPr>
        <p:txBody>
          <a:bodyPr wrap="square" lIns="0" tIns="0" rIns="0" bIns="0" rtlCol="0" anchor="t"/>
          <a:lstStyle/>
          <a:p>
            <a:pPr marL="0" indent="0">
              <a:lnSpc>
                <a:spcPts val="2850"/>
              </a:lnSpc>
              <a:buNone/>
            </a:pPr>
            <a:r>
              <a:rPr lang="en-US" sz="1750" dirty="0">
                <a:solidFill>
                  <a:srgbClr val="3C3939"/>
                </a:solidFill>
                <a:latin typeface="Roboto" pitchFamily="34" charset="0"/>
                <a:ea typeface="Roboto" pitchFamily="34" charset="-122"/>
                <a:cs typeface="Roboto" pitchFamily="34" charset="-120"/>
              </a:rPr>
              <a:t>Azure Functions is the serverless computing service from Microsoft. Write functions in Python, JavaScript, C#, or other languages.</a:t>
            </a: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899285"/>
            <a:ext cx="8252936" cy="708779"/>
          </a:xfrm>
          <a:prstGeom prst="rect">
            <a:avLst/>
          </a:prstGeom>
          <a:noFill/>
          <a:ln/>
        </p:spPr>
        <p:txBody>
          <a:bodyPr wrap="none" lIns="0" tIns="0" rIns="0" bIns="0" rtlCol="0" anchor="t"/>
          <a:lstStyle/>
          <a:p>
            <a:pPr marL="0" indent="0">
              <a:lnSpc>
                <a:spcPts val="5550"/>
              </a:lnSpc>
              <a:buNone/>
            </a:pPr>
            <a:r>
              <a:rPr lang="en-US" sz="4450" dirty="0">
                <a:solidFill>
                  <a:srgbClr val="1B1B27"/>
                </a:solidFill>
                <a:latin typeface="Raleway" pitchFamily="34" charset="0"/>
                <a:ea typeface="Raleway" pitchFamily="34" charset="-122"/>
                <a:cs typeface="Raleway" pitchFamily="34" charset="-120"/>
              </a:rPr>
              <a:t>Create an IoT Hub Event Trigger</a:t>
            </a:r>
            <a:endParaRPr lang="en-US" sz="4450" dirty="0"/>
          </a:p>
        </p:txBody>
      </p:sp>
      <p:sp>
        <p:nvSpPr>
          <p:cNvPr id="3" name="Shape 1"/>
          <p:cNvSpPr/>
          <p:nvPr/>
        </p:nvSpPr>
        <p:spPr>
          <a:xfrm>
            <a:off x="793790" y="3061692"/>
            <a:ext cx="2173724" cy="807958"/>
          </a:xfrm>
          <a:prstGeom prst="roundRect">
            <a:avLst>
              <a:gd name="adj" fmla="val 11791"/>
            </a:avLst>
          </a:prstGeom>
          <a:solidFill>
            <a:srgbClr val="E1E1EA"/>
          </a:solidFill>
          <a:ln w="7620">
            <a:solidFill>
              <a:srgbClr val="C7C7D0"/>
            </a:solidFill>
            <a:prstDash val="solid"/>
          </a:ln>
        </p:spPr>
        <p:txBody>
          <a:bodyPr/>
          <a:lstStyle/>
          <a:p>
            <a:endParaRPr lang="en-IE"/>
          </a:p>
        </p:txBody>
      </p:sp>
      <p:sp>
        <p:nvSpPr>
          <p:cNvPr id="4" name="Text 2"/>
          <p:cNvSpPr/>
          <p:nvPr/>
        </p:nvSpPr>
        <p:spPr>
          <a:xfrm>
            <a:off x="1028224" y="3238857"/>
            <a:ext cx="121325" cy="453509"/>
          </a:xfrm>
          <a:prstGeom prst="rect">
            <a:avLst/>
          </a:prstGeom>
          <a:noFill/>
          <a:ln/>
        </p:spPr>
        <p:txBody>
          <a:bodyPr wrap="none" lIns="0" tIns="0" rIns="0" bIns="0" rtlCol="0" anchor="t"/>
          <a:lstStyle/>
          <a:p>
            <a:pPr marL="0" indent="0" algn="ctr">
              <a:lnSpc>
                <a:spcPts val="3550"/>
              </a:lnSpc>
              <a:buNone/>
            </a:pPr>
            <a:r>
              <a:rPr lang="en-US" sz="2200" dirty="0">
                <a:solidFill>
                  <a:srgbClr val="3C3939"/>
                </a:solidFill>
                <a:latin typeface="Raleway" pitchFamily="34" charset="0"/>
                <a:ea typeface="Raleway" pitchFamily="34" charset="-122"/>
                <a:cs typeface="Raleway" pitchFamily="34" charset="-120"/>
              </a:rPr>
              <a:t>1</a:t>
            </a:r>
            <a:endParaRPr lang="en-US" sz="2200" dirty="0"/>
          </a:p>
        </p:txBody>
      </p:sp>
      <p:sp>
        <p:nvSpPr>
          <p:cNvPr id="5" name="Text 3"/>
          <p:cNvSpPr/>
          <p:nvPr/>
        </p:nvSpPr>
        <p:spPr>
          <a:xfrm>
            <a:off x="3194328" y="3288506"/>
            <a:ext cx="1878806"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Functions App</a:t>
            </a:r>
            <a:endParaRPr lang="en-US" sz="2200" dirty="0"/>
          </a:p>
        </p:txBody>
      </p:sp>
      <p:sp>
        <p:nvSpPr>
          <p:cNvPr id="6" name="Shape 4"/>
          <p:cNvSpPr/>
          <p:nvPr/>
        </p:nvSpPr>
        <p:spPr>
          <a:xfrm>
            <a:off x="3080861" y="3854410"/>
            <a:ext cx="10642402" cy="15240"/>
          </a:xfrm>
          <a:prstGeom prst="roundRect">
            <a:avLst>
              <a:gd name="adj" fmla="val 625116"/>
            </a:avLst>
          </a:prstGeom>
          <a:solidFill>
            <a:srgbClr val="C7C7D0"/>
          </a:solidFill>
          <a:ln/>
        </p:spPr>
        <p:txBody>
          <a:bodyPr/>
          <a:lstStyle/>
          <a:p>
            <a:endParaRPr lang="en-IE"/>
          </a:p>
        </p:txBody>
      </p:sp>
      <p:sp>
        <p:nvSpPr>
          <p:cNvPr id="7" name="Shape 5"/>
          <p:cNvSpPr/>
          <p:nvPr/>
        </p:nvSpPr>
        <p:spPr>
          <a:xfrm>
            <a:off x="793790" y="3982998"/>
            <a:ext cx="4347567" cy="807958"/>
          </a:xfrm>
          <a:prstGeom prst="roundRect">
            <a:avLst>
              <a:gd name="adj" fmla="val 11791"/>
            </a:avLst>
          </a:prstGeom>
          <a:solidFill>
            <a:srgbClr val="E1E1EA"/>
          </a:solidFill>
          <a:ln w="7620">
            <a:solidFill>
              <a:srgbClr val="C7C7D0"/>
            </a:solidFill>
            <a:prstDash val="solid"/>
          </a:ln>
        </p:spPr>
        <p:txBody>
          <a:bodyPr/>
          <a:lstStyle/>
          <a:p>
            <a:endParaRPr lang="en-IE"/>
          </a:p>
        </p:txBody>
      </p:sp>
      <p:sp>
        <p:nvSpPr>
          <p:cNvPr id="8" name="Text 6"/>
          <p:cNvSpPr/>
          <p:nvPr/>
        </p:nvSpPr>
        <p:spPr>
          <a:xfrm>
            <a:off x="1028224" y="4160163"/>
            <a:ext cx="147637" cy="453509"/>
          </a:xfrm>
          <a:prstGeom prst="rect">
            <a:avLst/>
          </a:prstGeom>
          <a:noFill/>
          <a:ln/>
        </p:spPr>
        <p:txBody>
          <a:bodyPr wrap="none" lIns="0" tIns="0" rIns="0" bIns="0" rtlCol="0" anchor="t"/>
          <a:lstStyle/>
          <a:p>
            <a:pPr marL="0" indent="0" algn="ctr">
              <a:lnSpc>
                <a:spcPts val="3550"/>
              </a:lnSpc>
              <a:buNone/>
            </a:pPr>
            <a:r>
              <a:rPr lang="en-US" sz="2200" dirty="0">
                <a:solidFill>
                  <a:srgbClr val="3C3939"/>
                </a:solidFill>
                <a:latin typeface="Raleway" pitchFamily="34" charset="0"/>
                <a:ea typeface="Raleway" pitchFamily="34" charset="-122"/>
                <a:cs typeface="Raleway" pitchFamily="34" charset="-120"/>
              </a:rPr>
              <a:t>2</a:t>
            </a:r>
            <a:endParaRPr lang="en-US" sz="2200" dirty="0"/>
          </a:p>
        </p:txBody>
      </p:sp>
      <p:sp>
        <p:nvSpPr>
          <p:cNvPr id="9" name="Text 7"/>
          <p:cNvSpPr/>
          <p:nvPr/>
        </p:nvSpPr>
        <p:spPr>
          <a:xfrm>
            <a:off x="5368171" y="4209812"/>
            <a:ext cx="1982748"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IoT Hub Trigger</a:t>
            </a:r>
            <a:endParaRPr lang="en-US" sz="2200" dirty="0"/>
          </a:p>
        </p:txBody>
      </p:sp>
      <p:sp>
        <p:nvSpPr>
          <p:cNvPr id="10" name="Shape 8"/>
          <p:cNvSpPr/>
          <p:nvPr/>
        </p:nvSpPr>
        <p:spPr>
          <a:xfrm>
            <a:off x="5254704" y="4775716"/>
            <a:ext cx="8468558" cy="15240"/>
          </a:xfrm>
          <a:prstGeom prst="roundRect">
            <a:avLst>
              <a:gd name="adj" fmla="val 625116"/>
            </a:avLst>
          </a:prstGeom>
          <a:solidFill>
            <a:srgbClr val="C7C7D0"/>
          </a:solidFill>
          <a:ln/>
        </p:spPr>
        <p:txBody>
          <a:bodyPr/>
          <a:lstStyle/>
          <a:p>
            <a:endParaRPr lang="en-IE"/>
          </a:p>
        </p:txBody>
      </p:sp>
      <p:sp>
        <p:nvSpPr>
          <p:cNvPr id="11" name="Shape 9"/>
          <p:cNvSpPr/>
          <p:nvPr/>
        </p:nvSpPr>
        <p:spPr>
          <a:xfrm>
            <a:off x="793790" y="4904303"/>
            <a:ext cx="6521410" cy="807958"/>
          </a:xfrm>
          <a:prstGeom prst="roundRect">
            <a:avLst>
              <a:gd name="adj" fmla="val 11791"/>
            </a:avLst>
          </a:prstGeom>
          <a:solidFill>
            <a:srgbClr val="E1E1EA"/>
          </a:solidFill>
          <a:ln w="7620">
            <a:solidFill>
              <a:srgbClr val="C7C7D0"/>
            </a:solidFill>
            <a:prstDash val="solid"/>
          </a:ln>
        </p:spPr>
        <p:txBody>
          <a:bodyPr/>
          <a:lstStyle/>
          <a:p>
            <a:endParaRPr lang="en-IE"/>
          </a:p>
        </p:txBody>
      </p:sp>
      <p:sp>
        <p:nvSpPr>
          <p:cNvPr id="12" name="Text 10"/>
          <p:cNvSpPr/>
          <p:nvPr/>
        </p:nvSpPr>
        <p:spPr>
          <a:xfrm>
            <a:off x="1028224" y="5081468"/>
            <a:ext cx="151328" cy="453509"/>
          </a:xfrm>
          <a:prstGeom prst="rect">
            <a:avLst/>
          </a:prstGeom>
          <a:noFill/>
          <a:ln/>
        </p:spPr>
        <p:txBody>
          <a:bodyPr wrap="none" lIns="0" tIns="0" rIns="0" bIns="0" rtlCol="0" anchor="t"/>
          <a:lstStyle/>
          <a:p>
            <a:pPr marL="0" indent="0" algn="ctr">
              <a:lnSpc>
                <a:spcPts val="3550"/>
              </a:lnSpc>
              <a:buNone/>
            </a:pPr>
            <a:r>
              <a:rPr lang="en-US" sz="2200" dirty="0">
                <a:solidFill>
                  <a:srgbClr val="3C3939"/>
                </a:solidFill>
                <a:latin typeface="Raleway" pitchFamily="34" charset="0"/>
                <a:ea typeface="Raleway" pitchFamily="34" charset="-122"/>
                <a:cs typeface="Raleway" pitchFamily="34" charset="-120"/>
              </a:rPr>
              <a:t>3</a:t>
            </a:r>
            <a:endParaRPr lang="en-US" sz="2200" dirty="0"/>
          </a:p>
        </p:txBody>
      </p:sp>
      <p:sp>
        <p:nvSpPr>
          <p:cNvPr id="13" name="Text 11"/>
          <p:cNvSpPr/>
          <p:nvPr/>
        </p:nvSpPr>
        <p:spPr>
          <a:xfrm>
            <a:off x="7542014" y="5131118"/>
            <a:ext cx="1362551"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Event Hub</a:t>
            </a:r>
            <a:endParaRPr lang="en-US" sz="2200" dirty="0"/>
          </a:p>
        </p:txBody>
      </p:sp>
      <p:sp>
        <p:nvSpPr>
          <p:cNvPr id="14" name="Text 12"/>
          <p:cNvSpPr/>
          <p:nvPr/>
        </p:nvSpPr>
        <p:spPr>
          <a:xfrm>
            <a:off x="793790" y="5967413"/>
            <a:ext cx="13042821" cy="362903"/>
          </a:xfrm>
          <a:prstGeom prst="rect">
            <a:avLst/>
          </a:prstGeom>
          <a:noFill/>
          <a:ln/>
        </p:spPr>
        <p:txBody>
          <a:bodyPr wrap="none" lIns="0" tIns="0" rIns="0" bIns="0" rtlCol="0" anchor="t"/>
          <a:lstStyle/>
          <a:p>
            <a:pPr marL="0" indent="0">
              <a:lnSpc>
                <a:spcPts val="2850"/>
              </a:lnSpc>
              <a:buNone/>
            </a:pPr>
            <a:r>
              <a:rPr lang="en-US" sz="1750" dirty="0">
                <a:solidFill>
                  <a:srgbClr val="3C3939"/>
                </a:solidFill>
                <a:latin typeface="Roboto" pitchFamily="34" charset="0"/>
                <a:ea typeface="Roboto" pitchFamily="34" charset="-122"/>
                <a:cs typeface="Roboto" pitchFamily="34" charset="-120"/>
              </a:rPr>
              <a:t>Add an IoT Hub trigger to respond to IoT Hub events. Connect to the event hub compatible endpoint.</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972800" y="0"/>
            <a:ext cx="3657600" cy="8229600"/>
          </a:xfrm>
          <a:prstGeom prst="rect">
            <a:avLst/>
          </a:prstGeom>
        </p:spPr>
      </p:pic>
      <p:sp>
        <p:nvSpPr>
          <p:cNvPr id="3" name="Text 0"/>
          <p:cNvSpPr/>
          <p:nvPr/>
        </p:nvSpPr>
        <p:spPr>
          <a:xfrm>
            <a:off x="793790" y="1482804"/>
            <a:ext cx="7831098" cy="708779"/>
          </a:xfrm>
          <a:prstGeom prst="rect">
            <a:avLst/>
          </a:prstGeom>
          <a:noFill/>
          <a:ln/>
        </p:spPr>
        <p:txBody>
          <a:bodyPr wrap="none" lIns="0" tIns="0" rIns="0" bIns="0" rtlCol="0" anchor="t"/>
          <a:lstStyle/>
          <a:p>
            <a:pPr marL="0" indent="0">
              <a:lnSpc>
                <a:spcPts val="5550"/>
              </a:lnSpc>
              <a:buNone/>
            </a:pPr>
            <a:r>
              <a:rPr lang="en-US" sz="4450" dirty="0">
                <a:solidFill>
                  <a:srgbClr val="1B1B27"/>
                </a:solidFill>
                <a:latin typeface="Raleway" pitchFamily="34" charset="0"/>
                <a:ea typeface="Raleway" pitchFamily="34" charset="-122"/>
                <a:cs typeface="Raleway" pitchFamily="34" charset="-120"/>
              </a:rPr>
              <a:t>Send Direct Method Requests</a:t>
            </a:r>
            <a:endParaRPr lang="en-US" sz="4450" dirty="0"/>
          </a:p>
        </p:txBody>
      </p:sp>
      <p:sp>
        <p:nvSpPr>
          <p:cNvPr id="4" name="Shape 1"/>
          <p:cNvSpPr/>
          <p:nvPr/>
        </p:nvSpPr>
        <p:spPr>
          <a:xfrm>
            <a:off x="793790" y="2531745"/>
            <a:ext cx="4579263" cy="1685092"/>
          </a:xfrm>
          <a:prstGeom prst="roundRect">
            <a:avLst>
              <a:gd name="adj" fmla="val 5654"/>
            </a:avLst>
          </a:prstGeom>
          <a:solidFill>
            <a:srgbClr val="E1E1EA"/>
          </a:solidFill>
          <a:ln w="7620">
            <a:solidFill>
              <a:srgbClr val="C7C7D0"/>
            </a:solidFill>
            <a:prstDash val="solid"/>
          </a:ln>
        </p:spPr>
        <p:txBody>
          <a:bodyPr/>
          <a:lstStyle/>
          <a:p>
            <a:endParaRPr lang="en-IE"/>
          </a:p>
        </p:txBody>
      </p:sp>
      <p:sp>
        <p:nvSpPr>
          <p:cNvPr id="5" name="Text 2"/>
          <p:cNvSpPr/>
          <p:nvPr/>
        </p:nvSpPr>
        <p:spPr>
          <a:xfrm>
            <a:off x="1028224" y="2766179"/>
            <a:ext cx="2835235" cy="354330"/>
          </a:xfrm>
          <a:prstGeom prst="rect">
            <a:avLst/>
          </a:prstGeom>
          <a:noFill/>
          <a:ln/>
        </p:spPr>
        <p:txBody>
          <a:bodyPr wrap="none" lIns="0" tIns="0" rIns="0" bIns="0" rtlCol="0" anchor="t"/>
          <a:lstStyle/>
          <a:p>
            <a:pPr marL="0" indent="0">
              <a:lnSpc>
                <a:spcPts val="2750"/>
              </a:lnSpc>
              <a:buNone/>
            </a:pPr>
            <a:r>
              <a:rPr lang="en-US" sz="2200" dirty="0">
                <a:solidFill>
                  <a:srgbClr val="3C3939"/>
                </a:solidFill>
                <a:latin typeface="Raleway" pitchFamily="34" charset="0"/>
                <a:ea typeface="Raleway" pitchFamily="34" charset="-122"/>
                <a:cs typeface="Raleway" pitchFamily="34" charset="-120"/>
              </a:rPr>
              <a:t>Registry Manager</a:t>
            </a:r>
            <a:endParaRPr lang="en-US" sz="2200" dirty="0"/>
          </a:p>
        </p:txBody>
      </p:sp>
      <p:sp>
        <p:nvSpPr>
          <p:cNvPr id="6" name="Text 3"/>
          <p:cNvSpPr/>
          <p:nvPr/>
        </p:nvSpPr>
        <p:spPr>
          <a:xfrm>
            <a:off x="1028224" y="3256598"/>
            <a:ext cx="4110395" cy="362903"/>
          </a:xfrm>
          <a:prstGeom prst="rect">
            <a:avLst/>
          </a:prstGeom>
          <a:noFill/>
          <a:ln/>
        </p:spPr>
        <p:txBody>
          <a:bodyPr wrap="none" lIns="0" tIns="0" rIns="0" bIns="0" rtlCol="0" anchor="t"/>
          <a:lstStyle/>
          <a:p>
            <a:pPr marL="0" indent="0">
              <a:lnSpc>
                <a:spcPts val="2850"/>
              </a:lnSpc>
              <a:buNone/>
            </a:pPr>
            <a:r>
              <a:rPr lang="en-US" sz="1750" dirty="0">
                <a:solidFill>
                  <a:srgbClr val="3C3939"/>
                </a:solidFill>
                <a:latin typeface="Roboto" pitchFamily="34" charset="0"/>
                <a:ea typeface="Roboto" pitchFamily="34" charset="-122"/>
                <a:cs typeface="Roboto" pitchFamily="34" charset="-120"/>
              </a:rPr>
              <a:t>Send commands to IoT devices.</a:t>
            </a:r>
            <a:endParaRPr lang="en-US" sz="1750" dirty="0"/>
          </a:p>
        </p:txBody>
      </p:sp>
      <p:sp>
        <p:nvSpPr>
          <p:cNvPr id="7" name="Shape 4"/>
          <p:cNvSpPr/>
          <p:nvPr/>
        </p:nvSpPr>
        <p:spPr>
          <a:xfrm>
            <a:off x="5599867" y="2531745"/>
            <a:ext cx="4579263" cy="1685092"/>
          </a:xfrm>
          <a:prstGeom prst="roundRect">
            <a:avLst>
              <a:gd name="adj" fmla="val 5654"/>
            </a:avLst>
          </a:prstGeom>
          <a:solidFill>
            <a:srgbClr val="E1E1EA"/>
          </a:solidFill>
          <a:ln w="7620">
            <a:solidFill>
              <a:srgbClr val="C7C7D0"/>
            </a:solidFill>
            <a:prstDash val="solid"/>
          </a:ln>
        </p:spPr>
        <p:txBody>
          <a:bodyPr/>
          <a:lstStyle/>
          <a:p>
            <a:endParaRPr lang="en-IE"/>
          </a:p>
        </p:txBody>
      </p:sp>
      <p:sp>
        <p:nvSpPr>
          <p:cNvPr id="8" name="Text 5"/>
          <p:cNvSpPr/>
          <p:nvPr/>
        </p:nvSpPr>
        <p:spPr>
          <a:xfrm>
            <a:off x="5834301" y="2766179"/>
            <a:ext cx="2835235" cy="354330"/>
          </a:xfrm>
          <a:prstGeom prst="rect">
            <a:avLst/>
          </a:prstGeom>
          <a:noFill/>
          <a:ln/>
        </p:spPr>
        <p:txBody>
          <a:bodyPr wrap="none" lIns="0" tIns="0" rIns="0" bIns="0" rtlCol="0" anchor="t"/>
          <a:lstStyle/>
          <a:p>
            <a:pPr marL="0" indent="0">
              <a:lnSpc>
                <a:spcPts val="2750"/>
              </a:lnSpc>
              <a:buNone/>
            </a:pPr>
            <a:r>
              <a:rPr lang="en-US" sz="2200" dirty="0">
                <a:solidFill>
                  <a:srgbClr val="3C3939"/>
                </a:solidFill>
                <a:latin typeface="Raleway" pitchFamily="34" charset="0"/>
                <a:ea typeface="Raleway" pitchFamily="34" charset="-122"/>
                <a:cs typeface="Raleway" pitchFamily="34" charset="-120"/>
              </a:rPr>
              <a:t>Cloud to Device</a:t>
            </a:r>
            <a:endParaRPr lang="en-US" sz="2200" dirty="0"/>
          </a:p>
        </p:txBody>
      </p:sp>
      <p:sp>
        <p:nvSpPr>
          <p:cNvPr id="9" name="Text 6"/>
          <p:cNvSpPr/>
          <p:nvPr/>
        </p:nvSpPr>
        <p:spPr>
          <a:xfrm>
            <a:off x="5834301" y="3256598"/>
            <a:ext cx="4110395" cy="725805"/>
          </a:xfrm>
          <a:prstGeom prst="rect">
            <a:avLst/>
          </a:prstGeom>
          <a:noFill/>
          <a:ln/>
        </p:spPr>
        <p:txBody>
          <a:bodyPr wrap="square" lIns="0" tIns="0" rIns="0" bIns="0" rtlCol="0" anchor="t"/>
          <a:lstStyle/>
          <a:p>
            <a:pPr marL="0" indent="0">
              <a:lnSpc>
                <a:spcPts val="2850"/>
              </a:lnSpc>
              <a:buNone/>
            </a:pPr>
            <a:r>
              <a:rPr lang="en-US" sz="1750" dirty="0">
                <a:solidFill>
                  <a:srgbClr val="3C3939"/>
                </a:solidFill>
                <a:latin typeface="Roboto" pitchFamily="34" charset="0"/>
                <a:ea typeface="Roboto" pitchFamily="34" charset="-122"/>
                <a:cs typeface="Roboto" pitchFamily="34" charset="-120"/>
              </a:rPr>
              <a:t>Communicate with devices via messages.</a:t>
            </a:r>
            <a:endParaRPr lang="en-US" sz="1750" dirty="0"/>
          </a:p>
        </p:txBody>
      </p:sp>
      <p:sp>
        <p:nvSpPr>
          <p:cNvPr id="10" name="Shape 7"/>
          <p:cNvSpPr/>
          <p:nvPr/>
        </p:nvSpPr>
        <p:spPr>
          <a:xfrm>
            <a:off x="793790" y="4443651"/>
            <a:ext cx="9385221" cy="1322189"/>
          </a:xfrm>
          <a:prstGeom prst="roundRect">
            <a:avLst>
              <a:gd name="adj" fmla="val 7205"/>
            </a:avLst>
          </a:prstGeom>
          <a:solidFill>
            <a:srgbClr val="E1E1EA"/>
          </a:solidFill>
          <a:ln w="7620">
            <a:solidFill>
              <a:srgbClr val="C7C7D0"/>
            </a:solidFill>
            <a:prstDash val="solid"/>
          </a:ln>
        </p:spPr>
        <p:txBody>
          <a:bodyPr/>
          <a:lstStyle/>
          <a:p>
            <a:endParaRPr lang="en-IE"/>
          </a:p>
        </p:txBody>
      </p:sp>
      <p:sp>
        <p:nvSpPr>
          <p:cNvPr id="11" name="Text 8"/>
          <p:cNvSpPr/>
          <p:nvPr/>
        </p:nvSpPr>
        <p:spPr>
          <a:xfrm>
            <a:off x="1028224" y="4678085"/>
            <a:ext cx="2835235" cy="354330"/>
          </a:xfrm>
          <a:prstGeom prst="rect">
            <a:avLst/>
          </a:prstGeom>
          <a:noFill/>
          <a:ln/>
        </p:spPr>
        <p:txBody>
          <a:bodyPr wrap="none" lIns="0" tIns="0" rIns="0" bIns="0" rtlCol="0" anchor="t"/>
          <a:lstStyle/>
          <a:p>
            <a:pPr marL="0" indent="0">
              <a:lnSpc>
                <a:spcPts val="2750"/>
              </a:lnSpc>
              <a:buNone/>
            </a:pPr>
            <a:r>
              <a:rPr lang="en-US" sz="2200" dirty="0">
                <a:solidFill>
                  <a:srgbClr val="3C3939"/>
                </a:solidFill>
                <a:latin typeface="Raleway" pitchFamily="34" charset="0"/>
                <a:ea typeface="Raleway" pitchFamily="34" charset="-122"/>
                <a:cs typeface="Raleway" pitchFamily="34" charset="-120"/>
              </a:rPr>
              <a:t>Connection String</a:t>
            </a:r>
            <a:endParaRPr lang="en-US" sz="2200" dirty="0"/>
          </a:p>
        </p:txBody>
      </p:sp>
      <p:sp>
        <p:nvSpPr>
          <p:cNvPr id="12" name="Text 9"/>
          <p:cNvSpPr/>
          <p:nvPr/>
        </p:nvSpPr>
        <p:spPr>
          <a:xfrm>
            <a:off x="1028224" y="5168503"/>
            <a:ext cx="8916353" cy="362903"/>
          </a:xfrm>
          <a:prstGeom prst="rect">
            <a:avLst/>
          </a:prstGeom>
          <a:noFill/>
          <a:ln/>
        </p:spPr>
        <p:txBody>
          <a:bodyPr wrap="none" lIns="0" tIns="0" rIns="0" bIns="0" rtlCol="0" anchor="t"/>
          <a:lstStyle/>
          <a:p>
            <a:pPr marL="0" indent="0">
              <a:lnSpc>
                <a:spcPts val="2850"/>
              </a:lnSpc>
              <a:buNone/>
            </a:pPr>
            <a:r>
              <a:rPr lang="en-US" sz="1750" dirty="0">
                <a:solidFill>
                  <a:srgbClr val="3C3939"/>
                </a:solidFill>
                <a:latin typeface="Roboto" pitchFamily="34" charset="0"/>
                <a:ea typeface="Roboto" pitchFamily="34" charset="-122"/>
                <a:cs typeface="Roboto" pitchFamily="34" charset="-120"/>
              </a:rPr>
              <a:t>Connect with the Registry Manager.</a:t>
            </a:r>
            <a:endParaRPr lang="en-US" sz="1750" dirty="0"/>
          </a:p>
        </p:txBody>
      </p:sp>
      <p:sp>
        <p:nvSpPr>
          <p:cNvPr id="13" name="Text 10"/>
          <p:cNvSpPr/>
          <p:nvPr/>
        </p:nvSpPr>
        <p:spPr>
          <a:xfrm>
            <a:off x="793790" y="6020991"/>
            <a:ext cx="9385221" cy="725805"/>
          </a:xfrm>
          <a:prstGeom prst="rect">
            <a:avLst/>
          </a:prstGeom>
          <a:noFill/>
          <a:ln/>
        </p:spPr>
        <p:txBody>
          <a:bodyPr wrap="square" lIns="0" tIns="0" rIns="0" bIns="0" rtlCol="0" anchor="t"/>
          <a:lstStyle/>
          <a:p>
            <a:pPr marL="0" indent="0">
              <a:lnSpc>
                <a:spcPts val="2850"/>
              </a:lnSpc>
              <a:buNone/>
            </a:pPr>
            <a:r>
              <a:rPr lang="en-US" sz="1750" dirty="0">
                <a:solidFill>
                  <a:srgbClr val="3C3939"/>
                </a:solidFill>
                <a:latin typeface="Roboto" pitchFamily="34" charset="0"/>
                <a:ea typeface="Roboto" pitchFamily="34" charset="-122"/>
                <a:cs typeface="Roboto" pitchFamily="34" charset="-120"/>
              </a:rPr>
              <a:t>Use the Registry Manager to send cloud to device messages. This allows commands to be sent to the IoT device.</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874</Words>
  <Application>Microsoft Office PowerPoint</Application>
  <PresentationFormat>Custom</PresentationFormat>
  <Paragraphs>133</Paragraphs>
  <Slides>15</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Raleway</vt:lpstr>
      <vt:lpstr>Roboto</vt:lpstr>
      <vt:lpstr>Calibri Light</vt:lpstr>
      <vt:lpstr>Office Theme</vt:lpstr>
      <vt:lpstr>IoT Platforms</vt:lpstr>
      <vt:lpstr>PowerPoint Presentation</vt:lpstr>
      <vt:lpstr>PowerPoint Presentation</vt:lpstr>
      <vt:lpstr>PowerPoint Presentation</vt:lpstr>
      <vt:lpstr>What are IoT Platform</vt:lpstr>
      <vt:lpstr>IoT Platform Characteristics</vt:lpstr>
      <vt:lpstr>IoT Platform – general architecture</vt:lpstr>
      <vt:lpstr>PowerPoint Presentation</vt:lpstr>
      <vt:lpstr>Which one?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Frank Walsh</cp:lastModifiedBy>
  <cp:revision>3</cp:revision>
  <dcterms:created xsi:type="dcterms:W3CDTF">2025-03-02T22:25:27Z</dcterms:created>
  <dcterms:modified xsi:type="dcterms:W3CDTF">2025-03-02T22:41:02Z</dcterms:modified>
</cp:coreProperties>
</file>