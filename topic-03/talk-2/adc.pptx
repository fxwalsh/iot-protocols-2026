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57" r:id="rId13"/>
    <p:sldId id="258" r:id="rId14"/>
    <p:sldId id="259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6F016-F993-4942-B51D-97ACBF0D9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5D67B-5384-43A9-AB6E-99EF2AD89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82F2D-E2AA-4EB6-A500-C4FD87C7B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B972-8EE8-4C1C-BDE0-762055F0CD34}" type="datetimeFigureOut">
              <a:rPr lang="en-IE" smtClean="0"/>
              <a:t>01/02/2024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693D-523A-46E6-98D8-2AF7A8289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CE84D-F360-4440-AD6A-1CF19C227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F2CA-98CD-47A9-809E-7EF6D11B18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3853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74564-928C-44FF-B9CB-ABF26F4D5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44310-CD02-489F-BD02-895737EAB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BCC09-DC9C-4B5C-9542-83860C2B7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B972-8EE8-4C1C-BDE0-762055F0CD34}" type="datetimeFigureOut">
              <a:rPr lang="en-IE" smtClean="0"/>
              <a:t>01/02/2024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A1412-BDC6-4AFE-95C9-E904071BF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D8CB4-A580-4C58-B252-AA7EA54BA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F2CA-98CD-47A9-809E-7EF6D11B18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7870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FB820-C00A-4378-BC29-2ACD35E5D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3CDA4-2FD5-4131-873A-2E7343FF5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13C9B-4FF1-42E3-BB6C-4F40C6262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B972-8EE8-4C1C-BDE0-762055F0CD34}" type="datetimeFigureOut">
              <a:rPr lang="en-IE" smtClean="0"/>
              <a:t>01/02/2024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84955-E9F4-4AED-819F-4934D33DF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924B9-57E1-4046-8C5B-EB90809E9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F2CA-98CD-47A9-809E-7EF6D11B18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57970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D6B73-C528-4A38-B1AA-728E082CD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3111-7F55-4B9C-8660-A2C01463B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D0D1E-4E45-435A-B0D2-046F91736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5FD5D-FD25-414C-8988-D95DCE78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B972-8EE8-4C1C-BDE0-762055F0CD34}" type="datetimeFigureOut">
              <a:rPr lang="en-IE" smtClean="0"/>
              <a:t>01/02/2024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9D17D-7579-4B6F-AAAA-A2F9E69FB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3744F-705C-4ACE-B6AA-BA6FFA7A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F2CA-98CD-47A9-809E-7EF6D11B18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19910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7DB61-DCE6-47D2-9C37-4934ACA22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DF460-85AA-4C28-BA48-744E02D67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A0BCF-1389-4FB4-9DDB-3F7845F99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F7C23D-27C2-4C84-BC32-577EFC1BC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B45-5264-498B-B6AE-50CAB7666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7F7505-6D9F-4150-8250-788038F24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B972-8EE8-4C1C-BDE0-762055F0CD34}" type="datetimeFigureOut">
              <a:rPr lang="en-IE" smtClean="0"/>
              <a:t>01/02/2024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36F7F4-95F6-4177-A5C2-F96016AD4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8FC1E-8EAF-4062-8C00-C632D6707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F2CA-98CD-47A9-809E-7EF6D11B18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54631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10240-6154-44C2-924D-2C6FA0E0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4690AC-270A-4944-AF30-601ABA3C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B972-8EE8-4C1C-BDE0-762055F0CD34}" type="datetimeFigureOut">
              <a:rPr lang="en-IE" smtClean="0"/>
              <a:t>01/02/2024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04971-4C3F-41B7-8907-6E3F3D3C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9B4C7F-A4EB-479F-A726-BD388830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F2CA-98CD-47A9-809E-7EF6D11B18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99582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B87FE4-F026-4ACE-81F1-EF7216577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B972-8EE8-4C1C-BDE0-762055F0CD34}" type="datetimeFigureOut">
              <a:rPr lang="en-IE" smtClean="0"/>
              <a:t>01/02/2024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B60FD-F40B-4F2E-87A1-AB8105122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BC044-2598-46A2-8D0A-C9B6063F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F2CA-98CD-47A9-809E-7EF6D11B18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44233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E3102-B0B0-4D19-BE0D-938DF8EE9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45B9C-FAC9-49D8-82E5-684BF1A51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14CE4-01FC-4D20-B4FF-7D178E652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5F64E-6EDE-40F6-9F83-0DA7AFFF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B972-8EE8-4C1C-BDE0-762055F0CD34}" type="datetimeFigureOut">
              <a:rPr lang="en-IE" smtClean="0"/>
              <a:t>01/02/2024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10040-2B91-4B29-B7B7-967531EB5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E76B8-B52C-456C-B8CF-FD5665F9F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F2CA-98CD-47A9-809E-7EF6D11B18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11510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9987-5428-4758-80B6-DB5667DC4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BA24FF-7F6B-41E5-89A3-2FA953AD93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35E49-468D-4498-BC64-5986D34FA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AFD4B-0020-40F6-8A5B-45414ACD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B972-8EE8-4C1C-BDE0-762055F0CD34}" type="datetimeFigureOut">
              <a:rPr lang="en-IE" smtClean="0"/>
              <a:t>01/02/2024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A0D81-1E19-4F54-B01C-83A06431B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C3DBB-8238-49B9-A165-755089F09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F2CA-98CD-47A9-809E-7EF6D11B18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42567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1837E-8084-4C91-9B55-1D5D20C5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0709E-7AFF-4920-8D35-2643CEED9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2BE57-4BAE-42C6-BF97-D4EB2FBDA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B972-8EE8-4C1C-BDE0-762055F0CD34}" type="datetimeFigureOut">
              <a:rPr lang="en-IE" smtClean="0"/>
              <a:t>01/02/2024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6361A-6833-49F8-A945-A10DF9AD3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23CE2-74B5-41D5-9671-BBEE09E0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F2CA-98CD-47A9-809E-7EF6D11B18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29827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79A1BB-A08F-43EF-8E53-F3919B3AD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3F780-A5CE-42C0-B4B7-87746FF37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93DF3-2169-4CE2-908B-36E4464E3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B972-8EE8-4C1C-BDE0-762055F0CD34}" type="datetimeFigureOut">
              <a:rPr lang="en-IE" smtClean="0"/>
              <a:t>01/02/2024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E378D-2466-4989-BB2D-CD27CA4E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BEC80-0A44-4ADF-A726-7C37ADC7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1F2CA-98CD-47A9-809E-7EF6D11B18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00660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67AC9D-730C-46E5-A58F-5E9D555D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95FD2-634E-463D-829D-B1FE9AA73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BB23D-6CB7-4C63-9164-90059987A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8B972-8EE8-4C1C-BDE0-762055F0CD34}" type="datetimeFigureOut">
              <a:rPr lang="en-IE" smtClean="0"/>
              <a:t>01/02/2024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E75B-3B3A-4C57-AD93-20BC08569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D8740-E3DA-4D70-85A2-5EE2F7CF9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1F2CA-98CD-47A9-809E-7EF6D11B18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57963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raspberrypi.stackexchange.com/questions/50015/mcp3008-installation-issues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-sa/3.0/" TargetMode="External"/><Relationship Id="rId5" Type="http://schemas.openxmlformats.org/officeDocument/2006/relationships/hyperlink" Target="https://www.flickr.com/photos/35434449@N08/27929886139" TargetMode="External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2AF226-93C0-4D74-9FEB-3BD58820D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r>
              <a:rPr lang="en-IE" sz="5200" dirty="0">
                <a:solidFill>
                  <a:schemeClr val="tx2"/>
                </a:solidFill>
              </a:rPr>
              <a:t>Analog to Digital Conversion(ADC)</a:t>
            </a:r>
            <a:br>
              <a:rPr lang="en-IE" sz="5200" dirty="0">
                <a:solidFill>
                  <a:schemeClr val="tx2"/>
                </a:solidFill>
              </a:rPr>
            </a:br>
            <a:r>
              <a:rPr lang="en-IE" sz="3600" i="1" dirty="0">
                <a:solidFill>
                  <a:schemeClr val="tx2"/>
                </a:solidFill>
              </a:rPr>
              <a:t>Recap and Types</a:t>
            </a:r>
            <a:endParaRPr lang="en-IE" sz="5200" i="1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98ACE-DCDE-4007-BCF4-59CDC510C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/>
          </a:bodyPr>
          <a:lstStyle/>
          <a:p>
            <a:r>
              <a:rPr lang="en-IE">
                <a:solidFill>
                  <a:schemeClr val="tx2"/>
                </a:solidFill>
              </a:rPr>
              <a:t>Frank Walsh</a:t>
            </a:r>
          </a:p>
        </p:txBody>
      </p:sp>
    </p:spTree>
    <p:extLst>
      <p:ext uri="{BB962C8B-B14F-4D97-AF65-F5344CB8AC3E}">
        <p14:creationId xmlns:p14="http://schemas.microsoft.com/office/powerpoint/2010/main" val="3943126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6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1DA02C-D0E2-4186-A9D5-D82A5F08A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564" y="601331"/>
            <a:ext cx="10905066" cy="550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31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08EC12-A402-4ADE-88BA-6F1166ADD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151" b="2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38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1823E3-F33D-4B4A-B7E1-3CE250A3FA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616" b="-1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18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A0DBA0-8DBE-4870-9D40-FBA5A4705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" b="2227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49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E503EB-F8D8-408C-B935-57A4555AF6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70" b="-1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16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83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A8CA66-39BC-4AA6-8F1A-B720B79CA7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675471"/>
            <a:ext cx="10905066" cy="550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28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F3E59B-90FE-4471-9DC0-40EFAE8C36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" b="2227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4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A98B4-7DD5-4445-8835-AB1F23550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210"/>
            <a:ext cx="10515600" cy="1325563"/>
          </a:xfrm>
        </p:spPr>
        <p:txBody>
          <a:bodyPr/>
          <a:lstStyle/>
          <a:p>
            <a:r>
              <a:rPr lang="en-IE" dirty="0"/>
              <a:t>Flash ADC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97419-0F73-415F-BA78-E7F7F979C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52503" cy="4351338"/>
          </a:xfrm>
        </p:spPr>
        <p:txBody>
          <a:bodyPr/>
          <a:lstStyle/>
          <a:p>
            <a:r>
              <a:rPr lang="en-GB" dirty="0"/>
              <a:t>Uses a linear voltage ladder with a comparator at each "rung" of the ladder to compare the input voltage to successive reference voltages.</a:t>
            </a:r>
          </a:p>
          <a:p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output of these comparators is generally fed into a digital encoder, which converts the inputs into a binary value </a:t>
            </a:r>
            <a:endParaRPr lang="en-GB" dirty="0"/>
          </a:p>
          <a:p>
            <a:endParaRPr lang="en-I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1981EF-3EB5-47D6-8B69-F08C6A344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546" y="2130560"/>
            <a:ext cx="333375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90C590-B73F-4CEA-B4C2-6A8245D9D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417" y="4339217"/>
            <a:ext cx="5885233" cy="25187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7FC783-5CC7-B13A-F92C-D51187ADB6CE}"/>
              </a:ext>
            </a:extLst>
          </p:cNvPr>
          <p:cNvSpPr txBox="1"/>
          <p:nvPr/>
        </p:nvSpPr>
        <p:spPr>
          <a:xfrm>
            <a:off x="4083170" y="816634"/>
            <a:ext cx="748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https://www.analog.com/en/technical-articles/understanding-flash-adcs.html</a:t>
            </a:r>
          </a:p>
        </p:txBody>
      </p:sp>
    </p:spTree>
    <p:extLst>
      <p:ext uri="{BB962C8B-B14F-4D97-AF65-F5344CB8AC3E}">
        <p14:creationId xmlns:p14="http://schemas.microsoft.com/office/powerpoint/2010/main" val="3504233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E9BA-611B-4B7F-BA00-C556F6DBE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Sigma-Delta ADC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961E1-3603-44F2-9895-F9EE7AC47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Typically there are two parts: </a:t>
            </a:r>
          </a:p>
          <a:p>
            <a:pPr lvl="1"/>
            <a:r>
              <a:rPr lang="en-GB" dirty="0"/>
              <a:t>the Σ- modulator </a:t>
            </a:r>
          </a:p>
          <a:p>
            <a:pPr lvl="1"/>
            <a:r>
              <a:rPr lang="en-GB" dirty="0"/>
              <a:t>digital signal processing block, usually a digital filter.</a:t>
            </a:r>
          </a:p>
          <a:p>
            <a:r>
              <a:rPr lang="en-GB" dirty="0"/>
              <a:t> More info here: https://www.analog.com/en/design-center/interactive-design-tools/sigma-delta-adc-tutorial.html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34D5E-6B36-42B6-8F99-1615E3026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400" y="2307525"/>
            <a:ext cx="2768742" cy="958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2C0A5B-AD9B-429A-92EF-BD7BB8BC2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562" y="4007440"/>
            <a:ext cx="4560897" cy="285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67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8D92-3AAE-48F0-BB8C-CEDEA0EBC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Successive Approximation ADC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4637D-DE51-452F-9501-6C6DBE826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206706" cy="2592597"/>
          </a:xfrm>
        </p:spPr>
        <p:txBody>
          <a:bodyPr>
            <a:normAutofit fontScale="85000" lnSpcReduction="20000"/>
          </a:bodyPr>
          <a:lstStyle/>
          <a:p>
            <a:r>
              <a:rPr lang="en-IE" dirty="0"/>
              <a:t>Sets most significant bit (e.g. 0b1000)</a:t>
            </a:r>
          </a:p>
          <a:p>
            <a:r>
              <a:rPr lang="en-IE" dirty="0"/>
              <a:t>Converts to </a:t>
            </a:r>
            <a:r>
              <a:rPr lang="en-IE" dirty="0" err="1"/>
              <a:t>analog</a:t>
            </a:r>
            <a:r>
              <a:rPr lang="en-IE" dirty="0"/>
              <a:t> using DAC</a:t>
            </a:r>
          </a:p>
          <a:p>
            <a:r>
              <a:rPr lang="en-IE" dirty="0"/>
              <a:t>Compares guess to input</a:t>
            </a:r>
          </a:p>
          <a:p>
            <a:r>
              <a:rPr lang="en-IE" dirty="0"/>
              <a:t>Sets bit</a:t>
            </a:r>
          </a:p>
          <a:p>
            <a:r>
              <a:rPr lang="en-IE" dirty="0"/>
              <a:t>Moves to next bit</a:t>
            </a:r>
          </a:p>
          <a:p>
            <a:r>
              <a:rPr lang="en-GB" dirty="0"/>
              <a:t>Operates by successively dividing the voltage range by half.</a:t>
            </a:r>
            <a:endParaRPr lang="en-I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D30ADC0-B365-425C-9CD4-0AD5E9C74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9" y="1825625"/>
            <a:ext cx="4471513" cy="3531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076CBE-1D97-4EDF-84FA-A3C32C0F2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440" y="4418222"/>
            <a:ext cx="3909244" cy="207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16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3A6A-C4CF-4C71-8342-892029B67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087A7-76F2-4CBF-9813-6261A914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D9F52-BC42-499A-8CB1-77147E78B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02" y="183893"/>
            <a:ext cx="11271614" cy="610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057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CB962CF-61A3-4EF9-94F6-7C59B0329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0D3705-AFE2-8F50-5086-D2F966A20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337"/>
            <a:ext cx="6797405" cy="1651404"/>
          </a:xfrm>
        </p:spPr>
        <p:txBody>
          <a:bodyPr>
            <a:normAutofit/>
          </a:bodyPr>
          <a:lstStyle/>
          <a:p>
            <a:r>
              <a:rPr lang="en-IE" sz="4000"/>
              <a:t>MCP3008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282E1-0631-ABAE-3644-04F4ECF4D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1330"/>
            <a:ext cx="6797405" cy="3719384"/>
          </a:xfrm>
        </p:spPr>
        <p:txBody>
          <a:bodyPr>
            <a:normAutofit/>
          </a:bodyPr>
          <a:lstStyle/>
          <a:p>
            <a:r>
              <a:rPr lang="en-GB" sz="2000"/>
              <a:t>Popular analog-to-digital converter (ADC) chip </a:t>
            </a:r>
          </a:p>
          <a:p>
            <a:r>
              <a:rPr lang="en-GB" sz="2000"/>
              <a:t>Uses Successive Approx for ADC conversion</a:t>
            </a:r>
          </a:p>
          <a:p>
            <a:r>
              <a:rPr lang="en-GB" sz="2000"/>
              <a:t>10 bit resolution</a:t>
            </a:r>
          </a:p>
          <a:p>
            <a:r>
              <a:rPr lang="en-GB" sz="2000"/>
              <a:t>8 channel input (connect 8 analog inputs)</a:t>
            </a:r>
          </a:p>
          <a:p>
            <a:r>
              <a:rPr lang="en-GB" sz="2000"/>
              <a:t>SPI (Serial Peripheral Interface) for communication with a microcontroller or processor.</a:t>
            </a:r>
          </a:p>
          <a:p>
            <a:endParaRPr lang="en-GB" sz="2000"/>
          </a:p>
          <a:p>
            <a:pPr lvl="1"/>
            <a:endParaRPr lang="en-IE" sz="2000"/>
          </a:p>
        </p:txBody>
      </p:sp>
      <p:pic>
        <p:nvPicPr>
          <p:cNvPr id="8" name="Picture 7" descr="A green circuit board with many wires&#10;&#10;Description automatically generated">
            <a:extLst>
              <a:ext uri="{FF2B5EF4-FFF2-40B4-BE49-F238E27FC236}">
                <a16:creationId xmlns:a16="http://schemas.microsoft.com/office/drawing/2014/main" id="{BFFB6C4C-65CA-331F-E2D4-CF1F0CFD2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41913" y="3401115"/>
            <a:ext cx="3995623" cy="3166530"/>
          </a:xfrm>
          <a:prstGeom prst="rect">
            <a:avLst/>
          </a:prstGeom>
        </p:spPr>
      </p:pic>
      <p:pic>
        <p:nvPicPr>
          <p:cNvPr id="5" name="Picture 4" descr="A close-up of a microchip&#10;&#10;Description automatically generated">
            <a:extLst>
              <a:ext uri="{FF2B5EF4-FFF2-40B4-BE49-F238E27FC236}">
                <a16:creationId xmlns:a16="http://schemas.microsoft.com/office/drawing/2014/main" id="{44AF350D-8CD8-93DE-124E-22F82C9898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841913" y="396858"/>
            <a:ext cx="3654454" cy="28139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00793C-F1F4-DFF3-CA43-01C7D89BC5BA}"/>
              </a:ext>
            </a:extLst>
          </p:cNvPr>
          <p:cNvSpPr txBox="1"/>
          <p:nvPr/>
        </p:nvSpPr>
        <p:spPr>
          <a:xfrm>
            <a:off x="8954486" y="6467618"/>
            <a:ext cx="244009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5" tooltip="https://www.flickr.com/photos/35434449@N08/2792988613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6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216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B1FB1A458AA4FB1520DBCEEEF84AB" ma:contentTypeVersion="12" ma:contentTypeDescription="Create a new document." ma:contentTypeScope="" ma:versionID="1e36a6e3acf469d288ca5924e281fce4">
  <xsd:schema xmlns:xsd="http://www.w3.org/2001/XMLSchema" xmlns:xs="http://www.w3.org/2001/XMLSchema" xmlns:p="http://schemas.microsoft.com/office/2006/metadata/properties" xmlns:ns3="2ce51dc8-c7fd-4e9f-aab7-66ee981bb74f" xmlns:ns4="4fa34961-db85-4b4a-bce8-6d4fac0faa91" targetNamespace="http://schemas.microsoft.com/office/2006/metadata/properties" ma:root="true" ma:fieldsID="6156cdd135d49b7aa70247738826da10" ns3:_="" ns4:_="">
    <xsd:import namespace="2ce51dc8-c7fd-4e9f-aab7-66ee981bb74f"/>
    <xsd:import namespace="4fa34961-db85-4b4a-bce8-6d4fac0faa9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e51dc8-c7fd-4e9f-aab7-66ee981bb74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a34961-db85-4b4a-bce8-6d4fac0faa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E772F6-251C-4E5C-A58E-6FDEFDA0D927}">
  <ds:schemaRefs>
    <ds:schemaRef ds:uri="http://purl.org/dc/dcmitype/"/>
    <ds:schemaRef ds:uri="http://schemas.microsoft.com/office/2006/documentManagement/types"/>
    <ds:schemaRef ds:uri="4fa34961-db85-4b4a-bce8-6d4fac0faa91"/>
    <ds:schemaRef ds:uri="http://www.w3.org/XML/1998/namespace"/>
    <ds:schemaRef ds:uri="http://purl.org/dc/terms/"/>
    <ds:schemaRef ds:uri="2ce51dc8-c7fd-4e9f-aab7-66ee981bb74f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4ED5764-CCEE-46A8-A047-075530028C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2C0D53-8DBA-4B1C-987D-634841E110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e51dc8-c7fd-4e9f-aab7-66ee981bb74f"/>
    <ds:schemaRef ds:uri="4fa34961-db85-4b4a-bce8-6d4fac0faa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209</Words>
  <Application>Microsoft Office PowerPoint</Application>
  <PresentationFormat>Widescreen</PresentationFormat>
  <Paragraphs>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Analog to Digital Conversion(ADC) Recap and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Flash ADC</vt:lpstr>
      <vt:lpstr>Sigma-Delta ADC</vt:lpstr>
      <vt:lpstr>Successive Approximation ADC</vt:lpstr>
      <vt:lpstr>PowerPoint Presentation</vt:lpstr>
      <vt:lpstr>MCP3008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 Walsh</dc:creator>
  <cp:lastModifiedBy>Frank X Walsh</cp:lastModifiedBy>
  <cp:revision>7</cp:revision>
  <dcterms:created xsi:type="dcterms:W3CDTF">2022-01-30T20:17:23Z</dcterms:created>
  <dcterms:modified xsi:type="dcterms:W3CDTF">2024-02-01T14:33:29Z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0x010100027B1FB1A458AA4FB1520DBCEEEF84AB</vt:lpwstr>
  </property>
</Properties>
</file>