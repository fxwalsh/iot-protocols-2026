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4" y="7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D229-CBD6-0271-AAE1-9C5BBC7E4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9E328-240F-006D-D2BD-1773FAA77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ED717-89A6-B46C-6144-9D0E39E2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35D39-0659-6BF4-0B8B-2A5166B2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F4C37-BC04-48AF-7EE6-E2026BCCF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235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4ECA-4A05-914F-15DE-BF8CC192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E319-7D28-FB1D-0D9D-A50BC3509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6A1F-86EF-B0AD-2DDF-6B4B2E7B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C5D4-2D67-2393-105D-78B875B9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69C65-47E0-0AC9-E58A-ED810215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671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8F2C-01CD-1D49-7B94-4554154B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68067-2681-49D0-1465-ADB50EB9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B4D8-FFE7-E3FE-F21E-95E58174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D7265-162E-D333-1CEA-1FD7784D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07D3D-CEAC-6FA9-8161-F6242A21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927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E4F2-76DF-7F9E-B923-7FE8900C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A4691-7DC7-F442-FA27-9B168D188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2A916-4A6E-ED61-EF25-A0D466FE9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ACDD0-511C-DB30-4A4C-B07F20C3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1B220-58FC-5BA5-C931-79E37E33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E43E6-A80E-8FA9-5031-24D17FC4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878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1A1D-A899-5CB3-8ED9-A05AB151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4195B-85E9-2406-03DC-1AC337C8F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A966F-450C-CCAA-C516-E4132840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92C1-D832-617D-3C8B-846B1B118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E674B-B032-1A93-1C52-F73DFF414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C7F94A-408C-15A1-083F-0D16449F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B067E-1F86-CE61-328F-C5378830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0D50C-D91B-ADD8-1B96-F3C024FA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871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70DD-036D-B860-D7DC-ADD1CF7B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C9BCBF-FB32-85C4-C5F3-A26881CA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DE939-8DCA-2C62-CA5D-0D2352E6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336E0-74AF-1FA7-6832-8A5A8AEB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17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65478-3706-D052-26A7-CF42653D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824B2-C004-DC65-6764-B97C6C8B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84FE-1A81-F623-C056-7BD71FFA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27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97D1-467A-E564-E51D-3C2B0078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AD736-692E-2E85-3DF1-7ABC29370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AC453-9D3F-117E-3B41-FFACD074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97AA4-03BF-743D-64EB-6DF028A0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9013-2DBF-0786-E0EC-5CD1D8C6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D1376-A4A1-52EA-A286-53096EC2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838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E1B4-5937-59DB-7D9D-604E6343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DD931-02DE-D6D6-2E73-C95478E22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F3CCE-D15E-F31B-C6C7-4CAC9800C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5A039-E849-1DF6-9C38-D3B045CC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BB544-A41A-4311-FD58-9488AA78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0A05E-7701-F8B5-2848-DB93AFBC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686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769A-5358-967A-6D75-BF2D0B5C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B93BB-298F-00FE-6952-ABCA083C9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DD189-3C1E-986D-F2E5-BBB3AF95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79FD-5120-8740-8401-98844A6C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C2961-2A1A-F975-DA71-B101F049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651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DD1A6-2F7E-DA0E-D7C2-0325D5A6A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D1E96-045F-822E-E6F5-22B10D102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8888-CA8F-505B-D973-8091532F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4992B-D50E-ACAD-DCC4-8B67B488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73FA0-2B24-CCFB-9F9B-0BFAE47E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0144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85D8F-51BF-5169-40D0-2533F9B3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A367E-E11D-D93A-962E-B318407A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47845-5778-BFE4-D3D1-50F1A8E2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383E1-DE3A-4868-9B8B-B124C01F685D}" type="datetimeFigureOut">
              <a:rPr lang="en-IE" smtClean="0"/>
              <a:t>30/03/2025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02A62-B56B-AD35-6376-1C9B3C45D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3CFC-DBCE-2783-28A9-96714B387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65AF3-D4BE-4C9D-8F24-1EE2BB8DAB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745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structured-vs-unstructured-dat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elin.ru/2018/01/azure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6F842-835E-2E49-1A0C-657D2F3445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IoT Data Storage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4ABE7-78EF-A9E3-D242-C9A79AA390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Using Azure</a:t>
            </a:r>
          </a:p>
        </p:txBody>
      </p:sp>
    </p:spTree>
    <p:extLst>
      <p:ext uri="{BB962C8B-B14F-4D97-AF65-F5344CB8AC3E}">
        <p14:creationId xmlns:p14="http://schemas.microsoft.com/office/powerpoint/2010/main" val="217726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0AAD-5F7D-EAC6-A377-911F5AF8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Structured vs. Unstructured Data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5670-8CEE-40F7-4008-5CE156FC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1" dirty="0"/>
              <a:t>Structured Data</a:t>
            </a:r>
          </a:p>
          <a:p>
            <a:pPr lvl="1"/>
            <a:r>
              <a:rPr lang="en-GB" dirty="0"/>
              <a:t>Well-defined, rigid structure</a:t>
            </a:r>
          </a:p>
          <a:p>
            <a:pPr lvl="1"/>
            <a:r>
              <a:rPr lang="en-GB" dirty="0"/>
              <a:t>Maps to tables with relationships</a:t>
            </a:r>
          </a:p>
          <a:p>
            <a:pPr lvl="1"/>
            <a:r>
              <a:rPr lang="en-GB" dirty="0"/>
              <a:t>Example: Person's details (name, DOB, address)</a:t>
            </a:r>
          </a:p>
          <a:p>
            <a:r>
              <a:rPr lang="en-IE" dirty="0"/>
              <a:t>Semi-Structured Data</a:t>
            </a:r>
          </a:p>
          <a:p>
            <a:pPr lvl="1"/>
            <a:r>
              <a:rPr lang="en-GB" dirty="0"/>
              <a:t>Flexible, but has some structure</a:t>
            </a:r>
          </a:p>
          <a:p>
            <a:pPr lvl="1"/>
            <a:r>
              <a:rPr lang="en-GB" dirty="0"/>
              <a:t>Maps to documents or key-value pairs</a:t>
            </a:r>
          </a:p>
          <a:p>
            <a:pPr lvl="1"/>
            <a:r>
              <a:rPr lang="en-GB" dirty="0"/>
              <a:t>Example: JSON object with person's details (name, DOB, address, optional fields)</a:t>
            </a:r>
          </a:p>
          <a:p>
            <a:r>
              <a:rPr lang="en-IE" b="1" dirty="0"/>
              <a:t>Unstructured Data</a:t>
            </a:r>
          </a:p>
          <a:p>
            <a:pPr lvl="1"/>
            <a:r>
              <a:rPr lang="en-IE" dirty="0"/>
              <a:t>No rigid structure</a:t>
            </a:r>
          </a:p>
          <a:p>
            <a:pPr lvl="1"/>
            <a:r>
              <a:rPr lang="en-IE" dirty="0"/>
              <a:t>Can change frequently</a:t>
            </a:r>
          </a:p>
          <a:p>
            <a:pPr lvl="1"/>
            <a:r>
              <a:rPr lang="en-GB" dirty="0"/>
              <a:t>Example: Documents, spreadsheets, IoT data</a:t>
            </a:r>
            <a:endParaRPr lang="en-IE" dirty="0"/>
          </a:p>
          <a:p>
            <a:r>
              <a:rPr lang="en-GB" b="1" dirty="0"/>
              <a:t>IoT data is typically unstructured data</a:t>
            </a:r>
            <a:r>
              <a:rPr lang="en-GB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6051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green rectangular boxes with text&#10;&#10;AI-generated content may be incorrect.">
            <a:extLst>
              <a:ext uri="{FF2B5EF4-FFF2-40B4-BE49-F238E27FC236}">
                <a16:creationId xmlns:a16="http://schemas.microsoft.com/office/drawing/2014/main" id="{B02EFDC3-86FA-7EFD-DD30-AFA579A3E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3467" y="1744410"/>
            <a:ext cx="10905066" cy="3369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8E067-5CB3-C3CF-9C72-74A492D0D862}"/>
              </a:ext>
            </a:extLst>
          </p:cNvPr>
          <p:cNvSpPr txBox="1"/>
          <p:nvPr/>
        </p:nvSpPr>
        <p:spPr>
          <a:xfrm>
            <a:off x="9116457" y="4913533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devopedia.org/structured-vs-unstructured-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3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BE4B-5C1D-080D-3FD8-6563057E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IoT Data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99B42-604F-63FA-33E4-2457C39A2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BBC553-918A-41E6-5BEA-D1192FB42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4968"/>
            <a:ext cx="9194975" cy="521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7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E30D-6D7C-8ADE-4291-F3ACB3B2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SQL vs NoSQL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860A-4689-2E0F-2AA3-2224AB2B4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F6CEA-7646-3FA3-CAA9-4F6A5233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59" y="1538558"/>
            <a:ext cx="7442865" cy="51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3C763-1E93-D625-926C-23C91FEE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Hot, Warm, and Cold Data Paths</a:t>
            </a:r>
            <a:endParaRPr lang="en-IE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D0E8-763D-831B-95AE-7A0E4DD0D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000"/>
              <a:t>Data that flows from an IoT device to the cloud is not always processed in real time.</a:t>
            </a:r>
          </a:p>
          <a:p>
            <a:r>
              <a:rPr lang="en-GB" sz="2000"/>
              <a:t>Some data needs real time processing, other data can be processed a short time later, and other data can be processed much later.</a:t>
            </a:r>
          </a:p>
          <a:p>
            <a:r>
              <a:rPr lang="en-GB" sz="2000"/>
              <a:t>The flow of data to different services that process the data at different times is referred to hot, warm and cold paths.</a:t>
            </a:r>
            <a:endParaRPr lang="en-IE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96169-4550-E5E2-D926-F13DAFB5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033878"/>
            <a:ext cx="5458968" cy="47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3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9828-D1C7-23CB-0F86-CF5C3B06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Azure Storage Account</a:t>
            </a:r>
            <a:br>
              <a:rPr lang="en-IE" b="1" dirty="0"/>
            </a:b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F278-74F7-9D86-DD8C-5F34FB67F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Azure provide a variety of storage solutions</a:t>
            </a:r>
          </a:p>
          <a:p>
            <a:r>
              <a:rPr lang="en-GB" dirty="0"/>
              <a:t>General purpose Storage accounts provide a unified platform for all Azure Storage services. </a:t>
            </a:r>
            <a:endParaRPr lang="en-IE" dirty="0"/>
          </a:p>
          <a:p>
            <a:r>
              <a:rPr lang="en-GB" b="1" dirty="0"/>
              <a:t>Blobs</a:t>
            </a:r>
            <a:r>
              <a:rPr lang="en-GB" dirty="0"/>
              <a:t> are ideal for storing unstructured data like text, images, and media files.</a:t>
            </a:r>
          </a:p>
          <a:p>
            <a:r>
              <a:rPr lang="en-GB" b="1" dirty="0"/>
              <a:t>Tables</a:t>
            </a:r>
            <a:r>
              <a:rPr lang="en-GB" dirty="0"/>
              <a:t> store structured/semi structured NoSQL data in the cloud, offering a key-attribute data store. </a:t>
            </a:r>
          </a:p>
          <a:p>
            <a:r>
              <a:rPr lang="en-IE" b="1" dirty="0"/>
              <a:t>Queues</a:t>
            </a:r>
            <a:r>
              <a:rPr lang="en-IE" dirty="0"/>
              <a:t> provide a reliable messaging solution for asynchronous communication between application components.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D6648-8CDE-5515-2916-0DE985C4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074" y="135255"/>
            <a:ext cx="13335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4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36BD1-6817-C2AF-F557-8353CB3B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400"/>
              <a:t>Blob Storage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CE97-269E-9C3A-8BDE-0BB6A3E16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E" sz="1900" b="1"/>
              <a:t>Binary Large Objects</a:t>
            </a:r>
          </a:p>
          <a:p>
            <a:pPr lvl="1"/>
            <a:r>
              <a:rPr lang="en-GB" sz="1900"/>
              <a:t>Store any unstructured data, from JSON to images</a:t>
            </a:r>
            <a:endParaRPr lang="en-IE" sz="1900" b="1"/>
          </a:p>
          <a:p>
            <a:r>
              <a:rPr lang="en-IE" sz="1900" b="1"/>
              <a:t>Organised in Containers</a:t>
            </a:r>
          </a:p>
          <a:p>
            <a:pPr lvl="1"/>
            <a:r>
              <a:rPr lang="en-GB" sz="1900"/>
              <a:t>Named “buckets” with folders and subfolders</a:t>
            </a:r>
          </a:p>
          <a:p>
            <a:r>
              <a:rPr lang="en-GB" sz="1900" b="1"/>
              <a:t>Scalable</a:t>
            </a:r>
          </a:p>
          <a:p>
            <a:pPr lvl="1"/>
            <a:r>
              <a:rPr lang="en-GB" sz="1900"/>
              <a:t>Useful for varying IoT data structures</a:t>
            </a:r>
          </a:p>
          <a:p>
            <a:pPr marL="457200" lvl="1" indent="0">
              <a:buNone/>
            </a:pPr>
            <a:endParaRPr lang="en-GB" sz="1900" b="1"/>
          </a:p>
          <a:p>
            <a:pPr marL="457200" lvl="1" indent="0">
              <a:buNone/>
            </a:pPr>
            <a:r>
              <a:rPr lang="en-GB" sz="1900" b="1"/>
              <a:t>	</a:t>
            </a:r>
          </a:p>
        </p:txBody>
      </p:sp>
      <p:pic>
        <p:nvPicPr>
          <p:cNvPr id="8" name="Picture 7" descr="A diagram of a server&#10;&#10;AI-generated content may be incorrect.">
            <a:extLst>
              <a:ext uri="{FF2B5EF4-FFF2-40B4-BE49-F238E27FC236}">
                <a16:creationId xmlns:a16="http://schemas.microsoft.com/office/drawing/2014/main" id="{21A4203F-EA8C-DB6B-EDD5-3550D3276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9048" y="1409182"/>
            <a:ext cx="5458968" cy="4039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BC578C-F68B-DEE1-BEF1-52F1ABBD4108}"/>
              </a:ext>
            </a:extLst>
          </p:cNvPr>
          <p:cNvSpPr txBox="1"/>
          <p:nvPr/>
        </p:nvSpPr>
        <p:spPr>
          <a:xfrm>
            <a:off x="9125940" y="5248763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blog.gelin.ru/2018/01/azur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60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5999-821D-8C10-3C5E-2A33A828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Other Options…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8157D-A526-B988-7B36-AF7CF52F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B3D2F-55BC-07E6-363A-1109BB1A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82" y="1345167"/>
            <a:ext cx="8264236" cy="53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8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IoT Data Storage</vt:lpstr>
      <vt:lpstr>Structured vs. Unstructured Data</vt:lpstr>
      <vt:lpstr>PowerPoint Presentation</vt:lpstr>
      <vt:lpstr>IoT Data Examples</vt:lpstr>
      <vt:lpstr>SQL vs NoSQL storage</vt:lpstr>
      <vt:lpstr>Hot, Warm, and Cold Data Paths</vt:lpstr>
      <vt:lpstr>Azure Storage Account </vt:lpstr>
      <vt:lpstr>Blob Storage</vt:lpstr>
      <vt:lpstr>Other Options…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1</cp:revision>
  <dcterms:created xsi:type="dcterms:W3CDTF">2025-03-30T20:05:33Z</dcterms:created>
  <dcterms:modified xsi:type="dcterms:W3CDTF">2025-03-30T21:59:06Z</dcterms:modified>
</cp:coreProperties>
</file>