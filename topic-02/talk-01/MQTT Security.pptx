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26" r:id="rId2"/>
    <p:sldId id="1136" r:id="rId3"/>
    <p:sldId id="257" r:id="rId4"/>
    <p:sldId id="258" r:id="rId5"/>
    <p:sldId id="259" r:id="rId6"/>
    <p:sldId id="261" r:id="rId7"/>
    <p:sldId id="263" r:id="rId8"/>
    <p:sldId id="264" r:id="rId9"/>
    <p:sldId id="265" r:id="rId10"/>
    <p:sldId id="1134" r:id="rId11"/>
    <p:sldId id="1135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992" autoAdjust="0"/>
    <p:restoredTop sz="94660"/>
  </p:normalViewPr>
  <p:slideViewPr>
    <p:cSldViewPr snapToGrid="0" showGuides="1">
      <p:cViewPr varScale="1">
        <p:scale>
          <a:sx n="101" d="100"/>
          <a:sy n="101" d="100"/>
        </p:scale>
        <p:origin x="96" y="18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982666-8E6A-D59A-D617-2DA3A6F9F0B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I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60EB67B-CC2B-8C30-E1D5-B271D0955C9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I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1C99B2-3002-C07E-11E4-B1B8181831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970863-458D-49A3-B7A8-59462DAD1516}" type="datetimeFigureOut">
              <a:rPr lang="en-IE" smtClean="0"/>
              <a:t>29/01/2025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A51220-26B2-1349-119A-DB3CDD3CA6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1895BC-9914-B468-8A5B-FC13B8DDD7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FF0C5A-F81F-4E34-9058-04E6CF5ECEAA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9161341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99070E-7F1C-3DC7-F819-B13BEEA613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19426E-FB57-726E-041E-928BB53DEA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A6E141-E2C7-243D-BFA2-1C758AF225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970863-458D-49A3-B7A8-59462DAD1516}" type="datetimeFigureOut">
              <a:rPr lang="en-IE" smtClean="0"/>
              <a:t>29/01/2025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63E478-D781-2465-E8E1-6C67EEFFB8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9A4358-FD48-2921-18B1-A7782B9573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FF0C5A-F81F-4E34-9058-04E6CF5ECEAA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6219140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9EC706-64B0-C8C6-A771-017E63A220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I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F557116-8E53-915D-3EF8-7FA29F1625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F131BB-9192-8603-9D05-1EDB4C147C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970863-458D-49A3-B7A8-59462DAD1516}" type="datetimeFigureOut">
              <a:rPr lang="en-IE" smtClean="0"/>
              <a:t>29/01/2025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5CB87B-BADC-015D-D934-0AEE98AC57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B56F70-B5BA-28A7-B176-E7886ADF04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FF0C5A-F81F-4E34-9058-04E6CF5ECEAA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1425289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8BA4C9-215C-D808-8661-A8291091C1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032D23-AFBB-814F-FC33-35F89BBE2BA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45EF25C-2CF0-0D34-F329-CB216B52F1F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5F84373-272D-4900-7262-DA577B2905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970863-458D-49A3-B7A8-59462DAD1516}" type="datetimeFigureOut">
              <a:rPr lang="en-IE" smtClean="0"/>
              <a:t>29/01/2025</a:t>
            </a:fld>
            <a:endParaRPr lang="en-I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55FC246-D117-650F-84BA-D3A356E87A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75A7B83-D83D-1BB2-9EAF-8C6A31F9C9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FF0C5A-F81F-4E34-9058-04E6CF5ECEAA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8759051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D4CB34-CE17-319C-7A2B-3DC10F0128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I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401D53E-64DA-EF97-9BB7-CF21B4DC8B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395F0DE-9A5B-8D9F-5D2A-FEFEE31B784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5A2B940-6DA0-7B81-B4FA-1661A5EEF43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E79C670-DBB0-2AA9-410C-70AB78FFEA0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47CD5BD-F967-67DE-7555-B2787412D4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970863-458D-49A3-B7A8-59462DAD1516}" type="datetimeFigureOut">
              <a:rPr lang="en-IE" smtClean="0"/>
              <a:t>29/01/2025</a:t>
            </a:fld>
            <a:endParaRPr lang="en-I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A376EBA-94DE-A33D-D703-92010B5774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60B427E-65DA-2D64-9B9C-F657214DE1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FF0C5A-F81F-4E34-9058-04E6CF5ECEAA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0679103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FB0199-6110-39C5-8F62-81FC79BBBC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8FA63F0-1231-9482-09B6-17BF545942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970863-458D-49A3-B7A8-59462DAD1516}" type="datetimeFigureOut">
              <a:rPr lang="en-IE" smtClean="0"/>
              <a:t>29/01/2025</a:t>
            </a:fld>
            <a:endParaRPr lang="en-I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1220D3E-84F8-7CB7-5CD2-AA7CA72F3A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2CDD089-A3B4-8C46-C8DD-13D22AFE44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FF0C5A-F81F-4E34-9058-04E6CF5ECEAA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6778767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229EDAA-0AE2-A756-7922-3DB09EB230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970863-458D-49A3-B7A8-59462DAD1516}" type="datetimeFigureOut">
              <a:rPr lang="en-IE" smtClean="0"/>
              <a:t>29/01/2025</a:t>
            </a:fld>
            <a:endParaRPr lang="en-I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6F8B4D7-38C5-BF1D-D131-50D285B7B3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586505-66A7-CCA1-299A-5127C61490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FF0C5A-F81F-4E34-9058-04E6CF5ECEAA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3728242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42243D-0168-6B03-BA3C-1FA9F3BB96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I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8150FE-E790-C41E-E6F1-96F2604E7D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E52804B-6A2D-192D-6A69-D3BDCA1ABFC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5EE532F-68E5-6977-9E7F-8E80D685CF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970863-458D-49A3-B7A8-59462DAD1516}" type="datetimeFigureOut">
              <a:rPr lang="en-IE" smtClean="0"/>
              <a:t>29/01/2025</a:t>
            </a:fld>
            <a:endParaRPr lang="en-I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F193895-F045-5972-9931-31A5AE391C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3EA8B89-2F8A-6373-C687-9B8A32D1F5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FF0C5A-F81F-4E34-9058-04E6CF5ECEAA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275233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F1BC80-DDEF-5C2F-C529-2120EE0A37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I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218F8FD-1812-3EA6-D23D-C6E5808F5B6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53AF1D0-3BF9-BD42-71E0-21E6DB2F66E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AFDE190-164C-9A0B-56D5-D4C4FC7736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970863-458D-49A3-B7A8-59462DAD1516}" type="datetimeFigureOut">
              <a:rPr lang="en-IE" smtClean="0"/>
              <a:t>29/01/2025</a:t>
            </a:fld>
            <a:endParaRPr lang="en-I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B403B30-C77F-DF0F-894E-02B54D7F61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49876D6-9B0D-D566-5EFC-7D05E34738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FF0C5A-F81F-4E34-9058-04E6CF5ECEAA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40427943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028340-F109-82E7-506A-B4AAE81D63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696AE93-AA7A-BA5B-86BF-1EC1936E583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66FE5B-1C78-6D7B-479E-100BCE3885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970863-458D-49A3-B7A8-59462DAD1516}" type="datetimeFigureOut">
              <a:rPr lang="en-IE" smtClean="0"/>
              <a:t>29/01/2025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83E8D4-6496-080E-9016-D79E906FC3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E8CB4D-D49C-3716-7D39-665C58610A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FF0C5A-F81F-4E34-9058-04E6CF5ECEAA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5353478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4FF1331-B77E-4AFC-7EC4-339301EAC61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I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F98ED26-8FCA-B57E-5D1D-6AA20B66BD1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0F2361-7D67-8363-EF4A-C8B3FFDC4D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970863-458D-49A3-B7A8-59462DAD1516}" type="datetimeFigureOut">
              <a:rPr lang="en-IE" smtClean="0"/>
              <a:t>29/01/2025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FB71B4-E21D-7D04-F931-0C023EFF5F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08E452-E9F1-1F09-CB9C-AF9BD0BE3F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FF0C5A-F81F-4E34-9058-04E6CF5ECEAA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6683519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600DD6B-791F-B584-B279-F4249305E9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I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C8D790-7DF8-157C-8149-2AF32C197E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F61280-0C99-9DF3-9563-569E774A643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4970863-458D-49A3-B7A8-59462DAD1516}" type="datetimeFigureOut">
              <a:rPr lang="en-IE" smtClean="0"/>
              <a:t>29/01/2025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B90876-F180-0AF4-875C-6D2E5264B3D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D08FDA-DBC7-26A2-7919-3D924A8AF53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0FF0C5A-F81F-4E34-9058-04E6CF5ECEAA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9916309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pixabay.com/en/cyber-security-encryption-security-2537786/" TargetMode="Externa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scirp.org/journal/paperinformation.aspx?paperid=104212" TargetMode="Externa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creativecommons.org/licenses/by/3.0/" TargetMode="Externa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swhosting.com/blog/en/transport-layer-security-tls-works/" TargetMode="Externa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://en.wikiversity.org/wiki/Internet_Protocol_Analysis/Network_Monitoring" TargetMode="Externa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hyperlink" Target="https://creativecommons.org/licenses/by-sa/3.0/" TargetMode="External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883FA1-FA13-4594-82E7-765635DC32F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E" dirty="0"/>
              <a:t>MQTT Security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CA52642-8E5A-4CD6-A133-1BC126D8E0C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E" dirty="0"/>
              <a:t>Frank Walsh</a:t>
            </a:r>
          </a:p>
        </p:txBody>
      </p:sp>
    </p:spTree>
    <p:extLst>
      <p:ext uri="{BB962C8B-B14F-4D97-AF65-F5344CB8AC3E}">
        <p14:creationId xmlns:p14="http://schemas.microsoft.com/office/powerpoint/2010/main" val="6645768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F85858-5DC6-6D7B-D4CA-46901607C2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532" y="643467"/>
            <a:ext cx="11210925" cy="744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2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Not good…..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FBD4A6F-85F0-F71D-007E-9FB4E2EF447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43467" y="1786733"/>
            <a:ext cx="10905066" cy="41711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19125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E138C9-0A99-466E-81F2-3C0BC93610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13788" y="365125"/>
            <a:ext cx="4840010" cy="1807305"/>
          </a:xfrm>
        </p:spPr>
        <p:txBody>
          <a:bodyPr>
            <a:normAutofit/>
          </a:bodyPr>
          <a:lstStyle/>
          <a:p>
            <a:r>
              <a:rPr lang="en-IE" dirty="0"/>
              <a:t>Security in IoT</a:t>
            </a:r>
          </a:p>
        </p:txBody>
      </p:sp>
      <p:pic>
        <p:nvPicPr>
          <p:cNvPr id="5" name="Picture 4" descr="Icon&#10;&#10;Description automatically generated">
            <a:extLst>
              <a:ext uri="{FF2B5EF4-FFF2-40B4-BE49-F238E27FC236}">
                <a16:creationId xmlns:a16="http://schemas.microsoft.com/office/drawing/2014/main" id="{5D0B92E5-4A70-49C8-8B1E-3C42AC9ED6C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rcRect t="2734"/>
          <a:stretch/>
        </p:blipFill>
        <p:spPr>
          <a:xfrm>
            <a:off x="20" y="10"/>
            <a:ext cx="6116549" cy="6857990"/>
          </a:xfrm>
          <a:custGeom>
            <a:avLst/>
            <a:gdLst/>
            <a:ahLst/>
            <a:cxnLst/>
            <a:rect l="l" t="t" r="r" b="b"/>
            <a:pathLst>
              <a:path w="6116569" h="6879321">
                <a:moveTo>
                  <a:pt x="0" y="0"/>
                </a:moveTo>
                <a:lnTo>
                  <a:pt x="2935851" y="0"/>
                </a:lnTo>
                <a:cubicBezTo>
                  <a:pt x="3035710" y="10660"/>
                  <a:pt x="3138421" y="17767"/>
                  <a:pt x="3238280" y="31980"/>
                </a:cubicBezTo>
                <a:cubicBezTo>
                  <a:pt x="3817462" y="106602"/>
                  <a:pt x="3127009" y="277163"/>
                  <a:pt x="3660541" y="550772"/>
                </a:cubicBezTo>
                <a:cubicBezTo>
                  <a:pt x="3706191" y="575645"/>
                  <a:pt x="3757546" y="579199"/>
                  <a:pt x="3808902" y="589860"/>
                </a:cubicBezTo>
                <a:cubicBezTo>
                  <a:pt x="4008620" y="625393"/>
                  <a:pt x="4211192" y="618286"/>
                  <a:pt x="4413762" y="625393"/>
                </a:cubicBezTo>
                <a:cubicBezTo>
                  <a:pt x="4465118" y="628946"/>
                  <a:pt x="4525033" y="625393"/>
                  <a:pt x="4567830" y="721333"/>
                </a:cubicBezTo>
                <a:cubicBezTo>
                  <a:pt x="4425175" y="724888"/>
                  <a:pt x="4305344" y="731994"/>
                  <a:pt x="4171247" y="792401"/>
                </a:cubicBezTo>
                <a:cubicBezTo>
                  <a:pt x="4239722" y="859916"/>
                  <a:pt x="4322462" y="795955"/>
                  <a:pt x="4376671" y="842148"/>
                </a:cubicBezTo>
                <a:cubicBezTo>
                  <a:pt x="4428027" y="888342"/>
                  <a:pt x="4470824" y="891896"/>
                  <a:pt x="4527887" y="813722"/>
                </a:cubicBezTo>
                <a:cubicBezTo>
                  <a:pt x="4556417" y="774634"/>
                  <a:pt x="4604920" y="778187"/>
                  <a:pt x="4633452" y="799508"/>
                </a:cubicBezTo>
                <a:cubicBezTo>
                  <a:pt x="4781813" y="913216"/>
                  <a:pt x="4778960" y="909662"/>
                  <a:pt x="4947293" y="870576"/>
                </a:cubicBezTo>
                <a:cubicBezTo>
                  <a:pt x="5055712" y="845701"/>
                  <a:pt x="5166983" y="806615"/>
                  <a:pt x="5263988" y="820828"/>
                </a:cubicBezTo>
                <a:cubicBezTo>
                  <a:pt x="5275401" y="867022"/>
                  <a:pt x="5263988" y="888342"/>
                  <a:pt x="5249723" y="895449"/>
                </a:cubicBezTo>
                <a:cubicBezTo>
                  <a:pt x="5021475" y="1005604"/>
                  <a:pt x="4975825" y="1122864"/>
                  <a:pt x="4744723" y="1197485"/>
                </a:cubicBezTo>
                <a:cubicBezTo>
                  <a:pt x="4724751" y="1268552"/>
                  <a:pt x="4807491" y="1275660"/>
                  <a:pt x="4767548" y="1346727"/>
                </a:cubicBezTo>
                <a:cubicBezTo>
                  <a:pt x="4693367" y="1407134"/>
                  <a:pt x="4610627" y="1346727"/>
                  <a:pt x="4539299" y="1421348"/>
                </a:cubicBezTo>
                <a:cubicBezTo>
                  <a:pt x="4550712" y="1471094"/>
                  <a:pt x="4610627" y="1432008"/>
                  <a:pt x="4607773" y="1485309"/>
                </a:cubicBezTo>
                <a:cubicBezTo>
                  <a:pt x="4604920" y="1517288"/>
                  <a:pt x="4593508" y="1527948"/>
                  <a:pt x="4579242" y="1535055"/>
                </a:cubicBezTo>
                <a:cubicBezTo>
                  <a:pt x="4776107" y="1538608"/>
                  <a:pt x="5383820" y="1574142"/>
                  <a:pt x="5278255" y="1609676"/>
                </a:cubicBezTo>
                <a:cubicBezTo>
                  <a:pt x="5418057" y="1698511"/>
                  <a:pt x="5623481" y="1609676"/>
                  <a:pt x="5771843" y="1630997"/>
                </a:cubicBezTo>
                <a:cubicBezTo>
                  <a:pt x="5925911" y="1652316"/>
                  <a:pt x="6171278" y="1719830"/>
                  <a:pt x="6105656" y="1748257"/>
                </a:cubicBezTo>
                <a:cubicBezTo>
                  <a:pt x="6031475" y="1780238"/>
                  <a:pt x="5766136" y="2146235"/>
                  <a:pt x="5691955" y="2167555"/>
                </a:cubicBezTo>
                <a:cubicBezTo>
                  <a:pt x="5606362" y="2188875"/>
                  <a:pt x="5589243" y="2217302"/>
                  <a:pt x="5475118" y="2348776"/>
                </a:cubicBezTo>
                <a:cubicBezTo>
                  <a:pt x="5398085" y="2437610"/>
                  <a:pt x="5709074" y="2238623"/>
                  <a:pt x="5826051" y="2291922"/>
                </a:cubicBezTo>
                <a:cubicBezTo>
                  <a:pt x="5868848" y="2309690"/>
                  <a:pt x="5552153" y="2554872"/>
                  <a:pt x="5552153" y="2597513"/>
                </a:cubicBezTo>
                <a:cubicBezTo>
                  <a:pt x="5549300" y="2640153"/>
                  <a:pt x="5577831" y="2647260"/>
                  <a:pt x="5603508" y="2647260"/>
                </a:cubicBezTo>
                <a:cubicBezTo>
                  <a:pt x="5660571" y="2647260"/>
                  <a:pt x="5640599" y="2686346"/>
                  <a:pt x="5700515" y="2679240"/>
                </a:cubicBezTo>
                <a:cubicBezTo>
                  <a:pt x="5523622" y="2800055"/>
                  <a:pt x="5418057" y="2778734"/>
                  <a:pt x="5246870" y="2888889"/>
                </a:cubicBezTo>
                <a:cubicBezTo>
                  <a:pt x="5164130" y="2942189"/>
                  <a:pt x="4921615" y="3119857"/>
                  <a:pt x="4836022" y="3169605"/>
                </a:cubicBezTo>
                <a:cubicBezTo>
                  <a:pt x="4801785" y="3187371"/>
                  <a:pt x="4758988" y="3173158"/>
                  <a:pt x="4736163" y="3233565"/>
                </a:cubicBezTo>
                <a:cubicBezTo>
                  <a:pt x="4770400" y="3279759"/>
                  <a:pt x="4816050" y="3254885"/>
                  <a:pt x="4853141" y="3233565"/>
                </a:cubicBezTo>
                <a:cubicBezTo>
                  <a:pt x="4944440" y="3176711"/>
                  <a:pt x="4935881" y="3190925"/>
                  <a:pt x="4944440" y="3226459"/>
                </a:cubicBezTo>
                <a:cubicBezTo>
                  <a:pt x="4972972" y="3350827"/>
                  <a:pt x="5044300" y="3308186"/>
                  <a:pt x="5109921" y="3283313"/>
                </a:cubicBezTo>
                <a:cubicBezTo>
                  <a:pt x="5303932" y="3208692"/>
                  <a:pt x="5500797" y="3215799"/>
                  <a:pt x="5694809" y="3141178"/>
                </a:cubicBezTo>
                <a:cubicBezTo>
                  <a:pt x="5714781" y="3134070"/>
                  <a:pt x="5612068" y="3283313"/>
                  <a:pt x="5566419" y="3301079"/>
                </a:cubicBezTo>
                <a:cubicBezTo>
                  <a:pt x="5515063" y="3322399"/>
                  <a:pt x="5452294" y="3311739"/>
                  <a:pt x="5415203" y="3397020"/>
                </a:cubicBezTo>
                <a:cubicBezTo>
                  <a:pt x="5477972" y="3414787"/>
                  <a:pt x="5552153" y="3372147"/>
                  <a:pt x="5612068" y="3432554"/>
                </a:cubicBezTo>
                <a:cubicBezTo>
                  <a:pt x="5469413" y="3528494"/>
                  <a:pt x="5329610" y="3535601"/>
                  <a:pt x="5206927" y="3599562"/>
                </a:cubicBezTo>
                <a:cubicBezTo>
                  <a:pt x="5192661" y="3706163"/>
                  <a:pt x="5272548" y="3663523"/>
                  <a:pt x="5301079" y="3723930"/>
                </a:cubicBezTo>
                <a:cubicBezTo>
                  <a:pt x="5072830" y="3844745"/>
                  <a:pt x="4564977" y="4232062"/>
                  <a:pt x="4507915" y="4306683"/>
                </a:cubicBezTo>
                <a:cubicBezTo>
                  <a:pt x="4390937" y="4463031"/>
                  <a:pt x="3900202" y="4562525"/>
                  <a:pt x="3982942" y="4587399"/>
                </a:cubicBezTo>
                <a:cubicBezTo>
                  <a:pt x="4051417" y="4608719"/>
                  <a:pt x="4119891" y="4587399"/>
                  <a:pt x="4185513" y="4541205"/>
                </a:cubicBezTo>
                <a:cubicBezTo>
                  <a:pt x="4291078" y="4466584"/>
                  <a:pt x="5010062" y="4523438"/>
                  <a:pt x="5212633" y="4455924"/>
                </a:cubicBezTo>
                <a:cubicBezTo>
                  <a:pt x="5241164" y="4445264"/>
                  <a:pt x="5283960" y="4409730"/>
                  <a:pt x="5312492" y="4473691"/>
                </a:cubicBezTo>
                <a:cubicBezTo>
                  <a:pt x="5098508" y="4704659"/>
                  <a:pt x="4833169" y="4654913"/>
                  <a:pt x="4596361" y="4818368"/>
                </a:cubicBezTo>
                <a:cubicBezTo>
                  <a:pt x="4684807" y="4917861"/>
                  <a:pt x="4776107" y="4907202"/>
                  <a:pt x="4873113" y="4885882"/>
                </a:cubicBezTo>
                <a:cubicBezTo>
                  <a:pt x="4895938" y="4878775"/>
                  <a:pt x="4930175" y="4871668"/>
                  <a:pt x="4935881" y="4914309"/>
                </a:cubicBezTo>
                <a:cubicBezTo>
                  <a:pt x="4941587" y="4967609"/>
                  <a:pt x="4898790" y="4978270"/>
                  <a:pt x="4873113" y="5003143"/>
                </a:cubicBezTo>
                <a:cubicBezTo>
                  <a:pt x="4833169" y="5038676"/>
                  <a:pt x="4773254" y="4999590"/>
                  <a:pt x="4721898" y="5095530"/>
                </a:cubicBezTo>
                <a:cubicBezTo>
                  <a:pt x="4873113" y="5067104"/>
                  <a:pt x="4998650" y="5020910"/>
                  <a:pt x="5132745" y="4949842"/>
                </a:cubicBezTo>
                <a:cubicBezTo>
                  <a:pt x="5121333" y="5006696"/>
                  <a:pt x="5081390" y="5035123"/>
                  <a:pt x="5101362" y="5081317"/>
                </a:cubicBezTo>
                <a:cubicBezTo>
                  <a:pt x="5118480" y="5116850"/>
                  <a:pt x="5164130" y="5131063"/>
                  <a:pt x="5138452" y="5198578"/>
                </a:cubicBezTo>
                <a:cubicBezTo>
                  <a:pt x="5067125" y="5273199"/>
                  <a:pt x="4967265" y="5258986"/>
                  <a:pt x="4904497" y="5362033"/>
                </a:cubicBezTo>
                <a:cubicBezTo>
                  <a:pt x="4818903" y="5507721"/>
                  <a:pt x="4684807" y="5564575"/>
                  <a:pt x="4579242" y="5674729"/>
                </a:cubicBezTo>
                <a:cubicBezTo>
                  <a:pt x="4545005" y="5713816"/>
                  <a:pt x="4313903" y="5841738"/>
                  <a:pt x="4253988" y="5884379"/>
                </a:cubicBezTo>
                <a:cubicBezTo>
                  <a:pt x="4168395" y="5944786"/>
                  <a:pt x="4071389" y="5966106"/>
                  <a:pt x="3985795" y="6069153"/>
                </a:cubicBezTo>
                <a:cubicBezTo>
                  <a:pt x="4065682" y="6086921"/>
                  <a:pt x="4134157" y="5990979"/>
                  <a:pt x="4231163" y="6030066"/>
                </a:cubicBezTo>
                <a:cubicBezTo>
                  <a:pt x="4074242" y="6133114"/>
                  <a:pt x="3931586" y="6182861"/>
                  <a:pt x="3814609" y="6317889"/>
                </a:cubicBezTo>
                <a:cubicBezTo>
                  <a:pt x="3800343" y="6335656"/>
                  <a:pt x="3771812" y="6332102"/>
                  <a:pt x="3751840" y="6339209"/>
                </a:cubicBezTo>
                <a:cubicBezTo>
                  <a:pt x="3529298" y="6406723"/>
                  <a:pt x="3309608" y="6467130"/>
                  <a:pt x="3089919" y="6563071"/>
                </a:cubicBezTo>
                <a:cubicBezTo>
                  <a:pt x="3041416" y="6584392"/>
                  <a:pt x="2955823" y="6595052"/>
                  <a:pt x="2961529" y="6662566"/>
                </a:cubicBezTo>
                <a:cubicBezTo>
                  <a:pt x="2972941" y="6765613"/>
                  <a:pt x="3055681" y="6687439"/>
                  <a:pt x="3107038" y="6673226"/>
                </a:cubicBezTo>
                <a:cubicBezTo>
                  <a:pt x="3269664" y="6634138"/>
                  <a:pt x="3432292" y="6570178"/>
                  <a:pt x="3594919" y="6591499"/>
                </a:cubicBezTo>
                <a:cubicBezTo>
                  <a:pt x="3483648" y="6637693"/>
                  <a:pt x="3372376" y="6680332"/>
                  <a:pt x="3261106" y="6726527"/>
                </a:cubicBezTo>
                <a:cubicBezTo>
                  <a:pt x="3386642" y="6705206"/>
                  <a:pt x="3495061" y="6786934"/>
                  <a:pt x="3620597" y="6740740"/>
                </a:cubicBezTo>
                <a:cubicBezTo>
                  <a:pt x="3660541" y="6726527"/>
                  <a:pt x="3700484" y="6765613"/>
                  <a:pt x="3703337" y="6826020"/>
                </a:cubicBezTo>
                <a:cubicBezTo>
                  <a:pt x="3706191" y="6847340"/>
                  <a:pt x="3700484" y="6865108"/>
                  <a:pt x="3689072" y="6879321"/>
                </a:cubicBezTo>
                <a:lnTo>
                  <a:pt x="0" y="6879321"/>
                </a:lnTo>
                <a:close/>
              </a:path>
            </a:pathLst>
          </a:cu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6F279A-C36D-47FA-864D-EFFEABE433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13788" y="2333297"/>
            <a:ext cx="4840010" cy="3843666"/>
          </a:xfrm>
        </p:spPr>
        <p:txBody>
          <a:bodyPr>
            <a:normAutofit/>
          </a:bodyPr>
          <a:lstStyle/>
          <a:p>
            <a:r>
              <a:rPr lang="en-GB" sz="1700" b="0" i="0" dirty="0">
                <a:effectLst/>
                <a:latin typeface="roboto"/>
              </a:rPr>
              <a:t>Internet of Things presents new security implementation challenges</a:t>
            </a:r>
          </a:p>
          <a:p>
            <a:pPr lvl="1"/>
            <a:r>
              <a:rPr lang="en-GB" sz="1700" b="0" i="0" dirty="0">
                <a:effectLst/>
                <a:latin typeface="roboto"/>
              </a:rPr>
              <a:t>IoT devices have limited computing power and memory capacity</a:t>
            </a:r>
            <a:endParaRPr lang="en-GB" sz="1700" dirty="0">
              <a:latin typeface="roboto"/>
            </a:endParaRPr>
          </a:p>
          <a:p>
            <a:pPr lvl="1"/>
            <a:r>
              <a:rPr lang="en-GB" sz="1700" dirty="0">
                <a:latin typeface="roboto"/>
              </a:rPr>
              <a:t>C</a:t>
            </a:r>
            <a:r>
              <a:rPr lang="en-GB" sz="1700" b="0" i="0" dirty="0">
                <a:effectLst/>
                <a:latin typeface="roboto"/>
              </a:rPr>
              <a:t>ryptographic algorithms may require more resources than constrained IoT devices possess</a:t>
            </a:r>
          </a:p>
          <a:p>
            <a:pPr lvl="1"/>
            <a:r>
              <a:rPr lang="en-GB" sz="1700" b="0" i="0" dirty="0">
                <a:effectLst/>
                <a:latin typeface="roboto"/>
              </a:rPr>
              <a:t>Critical security issues </a:t>
            </a:r>
            <a:r>
              <a:rPr lang="en-GB" sz="1700" dirty="0">
                <a:latin typeface="roboto"/>
              </a:rPr>
              <a:t>may</a:t>
            </a:r>
            <a:r>
              <a:rPr lang="en-GB" sz="1700" b="0" i="0" dirty="0">
                <a:effectLst/>
                <a:latin typeface="roboto"/>
              </a:rPr>
              <a:t> require updates to be rolled out to all devices simultaneously can be affected by unreliable networks on which many IoT devices</a:t>
            </a:r>
          </a:p>
          <a:p>
            <a:r>
              <a:rPr lang="en-GB" sz="1700" b="1" i="0" dirty="0">
                <a:effectLst/>
                <a:latin typeface="roboto"/>
              </a:rPr>
              <a:t>Security is a critical concern for developers of IoT applications.</a:t>
            </a:r>
          </a:p>
          <a:p>
            <a:pPr marL="0" indent="0">
              <a:buNone/>
            </a:pPr>
            <a:endParaRPr lang="en-IE" sz="1700" dirty="0"/>
          </a:p>
        </p:txBody>
      </p:sp>
    </p:spTree>
    <p:extLst>
      <p:ext uri="{BB962C8B-B14F-4D97-AF65-F5344CB8AC3E}">
        <p14:creationId xmlns:p14="http://schemas.microsoft.com/office/powerpoint/2010/main" val="27751028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2BD6D3-653B-46B0-AB7C-28A9CDA3FC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467" y="321734"/>
            <a:ext cx="10905066" cy="1135737"/>
          </a:xfrm>
        </p:spPr>
        <p:txBody>
          <a:bodyPr>
            <a:normAutofit/>
          </a:bodyPr>
          <a:lstStyle/>
          <a:p>
            <a:r>
              <a:rPr lang="en-IE" sz="3600"/>
              <a:t>Security in MQTT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079726-17A7-4041-8EE4-11FA84A916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3469" y="1782981"/>
            <a:ext cx="4008384" cy="4393982"/>
          </a:xfrm>
        </p:spPr>
        <p:txBody>
          <a:bodyPr>
            <a:normAutofit/>
          </a:bodyPr>
          <a:lstStyle/>
          <a:p>
            <a:r>
              <a:rPr lang="en-IE" sz="1400" dirty="0"/>
              <a:t>We can take a “layered” approach over the protocol stack</a:t>
            </a:r>
          </a:p>
          <a:p>
            <a:r>
              <a:rPr lang="en-GB" sz="1400" dirty="0"/>
              <a:t>MQTT specifies only a few security mechanisms</a:t>
            </a:r>
          </a:p>
          <a:p>
            <a:r>
              <a:rPr lang="en-GB" sz="1400" dirty="0"/>
              <a:t>MQTT uses other accepted security standards at the various levels: 	</a:t>
            </a:r>
          </a:p>
          <a:p>
            <a:pPr lvl="1"/>
            <a:r>
              <a:rPr lang="en-GB" sz="1400" dirty="0" err="1"/>
              <a:t>E.g.SSL</a:t>
            </a:r>
            <a:r>
              <a:rPr lang="en-GB" sz="1400" dirty="0"/>
              <a:t>/TLS for transport security. </a:t>
            </a:r>
            <a:endParaRPr lang="en-IE" sz="1400" dirty="0"/>
          </a:p>
          <a:p>
            <a:r>
              <a:rPr lang="en-IE" sz="1400" b="1" dirty="0"/>
              <a:t>Network Layer: </a:t>
            </a:r>
            <a:r>
              <a:rPr lang="en-IE" sz="1400" dirty="0"/>
              <a:t>Use</a:t>
            </a:r>
            <a:r>
              <a:rPr lang="en-GB" sz="1400" dirty="0"/>
              <a:t> a VPN for all communication between clients and brokers. Gateway-based applications, the gateway is connected to devices on the one hand and with the broker over VPN on the other side.</a:t>
            </a:r>
          </a:p>
          <a:p>
            <a:r>
              <a:rPr lang="en-GB" sz="1400" b="1" dirty="0"/>
              <a:t>Transport Layer: </a:t>
            </a:r>
            <a:r>
              <a:rPr lang="en-IE" sz="1400" b="1" dirty="0"/>
              <a:t> </a:t>
            </a:r>
            <a:r>
              <a:rPr lang="en-IE" sz="1400" dirty="0"/>
              <a:t>TLS/SSL</a:t>
            </a:r>
          </a:p>
          <a:p>
            <a:r>
              <a:rPr lang="en-IE" sz="1400" b="1" dirty="0"/>
              <a:t>Application Layer: </a:t>
            </a:r>
            <a:r>
              <a:rPr lang="en-IE" sz="1400" dirty="0"/>
              <a:t>Authorisation using username/password provided by the Protocol</a:t>
            </a:r>
          </a:p>
        </p:txBody>
      </p:sp>
      <p:pic>
        <p:nvPicPr>
          <p:cNvPr id="8" name="Picture 7" descr="Diagram&#10;&#10;Description automatically generated">
            <a:extLst>
              <a:ext uri="{FF2B5EF4-FFF2-40B4-BE49-F238E27FC236}">
                <a16:creationId xmlns:a16="http://schemas.microsoft.com/office/drawing/2014/main" id="{205953F5-4295-4402-B8A2-88ADD046C3D1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rcRect r="11641" b="1"/>
          <a:stretch/>
        </p:blipFill>
        <p:spPr>
          <a:xfrm>
            <a:off x="5295320" y="1823140"/>
            <a:ext cx="6253212" cy="4281573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6FE4F5CB-8BD2-416C-8314-23D181CD667B}"/>
              </a:ext>
            </a:extLst>
          </p:cNvPr>
          <p:cNvSpPr txBox="1"/>
          <p:nvPr/>
        </p:nvSpPr>
        <p:spPr>
          <a:xfrm>
            <a:off x="9361715" y="5904658"/>
            <a:ext cx="2186817" cy="200055"/>
          </a:xfrm>
          <a:prstGeom prst="rect">
            <a:avLst/>
          </a:prstGeom>
          <a:solidFill>
            <a:srgbClr val="000000"/>
          </a:solidFill>
        </p:spPr>
        <p:txBody>
          <a:bodyPr wrap="none" rtlCol="0">
            <a:spAutoFit/>
          </a:bodyPr>
          <a:lstStyle/>
          <a:p>
            <a:pPr algn="r">
              <a:spcAft>
                <a:spcPts val="600"/>
              </a:spcAft>
            </a:pPr>
            <a:r>
              <a:rPr lang="en-IE" sz="700">
                <a:solidFill>
                  <a:srgbClr val="FFFFFF"/>
                </a:solidFill>
                <a:hlinkClick r:id="rId3" tooltip="https://www.scirp.org/journal/paperinformation.aspx?paperid=10421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This Photo</a:t>
            </a:r>
            <a:r>
              <a:rPr lang="en-IE" sz="700">
                <a:solidFill>
                  <a:srgbClr val="FFFFFF"/>
                </a:solidFill>
              </a:rPr>
              <a:t> by Unknown Author is licensed under </a:t>
            </a:r>
            <a:r>
              <a:rPr lang="en-IE" sz="700">
                <a:solidFill>
                  <a:srgbClr val="FFFFFF"/>
                </a:solidFill>
                <a:hlinkClick r:id="rId4" tooltip="https://creativecommons.org/licenses/by/3.0/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CC BY</a:t>
            </a:r>
            <a:endParaRPr lang="en-IE" sz="70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186122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744A45-E66D-4495-9784-2F00489C17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MQTT Authentication</a:t>
            </a:r>
            <a:endParaRPr lang="en-I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BC7213-0E2A-48FC-A392-D60B6C6F08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GB" dirty="0"/>
              <a:t>The MQTT protocol provides username and password fields in the CONNECT message for authentication</a:t>
            </a:r>
          </a:p>
          <a:p>
            <a:pPr lvl="1"/>
            <a:r>
              <a:rPr lang="en-GB" dirty="0"/>
              <a:t>Username is an UTF-8 encoded string. </a:t>
            </a:r>
          </a:p>
          <a:p>
            <a:pPr lvl="1"/>
            <a:r>
              <a:rPr lang="en-GB" dirty="0"/>
              <a:t>Password is binary data with a maximum of 65535 bytes.</a:t>
            </a:r>
          </a:p>
          <a:p>
            <a:r>
              <a:rPr lang="en-GB" dirty="0"/>
              <a:t>The MQTT broker evaluates credentials  and returns one of the following return codes:</a:t>
            </a:r>
          </a:p>
          <a:p>
            <a:pPr lvl="1"/>
            <a:r>
              <a:rPr lang="en-GB" dirty="0"/>
              <a:t>0 – Connection Accepted</a:t>
            </a:r>
          </a:p>
          <a:p>
            <a:pPr lvl="1"/>
            <a:r>
              <a:rPr lang="en-GB" dirty="0"/>
              <a:t>4 – Connection Refused, bad username/password</a:t>
            </a:r>
          </a:p>
          <a:p>
            <a:pPr lvl="1"/>
            <a:r>
              <a:rPr lang="en-GB" dirty="0"/>
              <a:t>5 – Connection Refused, not authorised</a:t>
            </a:r>
          </a:p>
          <a:p>
            <a:r>
              <a:rPr lang="en-GB" dirty="0"/>
              <a:t>Username/password sent as plain text - </a:t>
            </a:r>
            <a:r>
              <a:rPr lang="en-GB" b="1" dirty="0"/>
              <a:t>Secure transmission of usernames and passwords requires transport encryption</a:t>
            </a:r>
            <a:endParaRPr lang="en-IE" b="1" dirty="0"/>
          </a:p>
        </p:txBody>
      </p:sp>
    </p:spTree>
    <p:extLst>
      <p:ext uri="{BB962C8B-B14F-4D97-AF65-F5344CB8AC3E}">
        <p14:creationId xmlns:p14="http://schemas.microsoft.com/office/powerpoint/2010/main" val="33904014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762E22-ADF7-4AC9-ACD3-9F9460B62C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76214"/>
            <a:ext cx="10515600" cy="1481188"/>
          </a:xfrm>
        </p:spPr>
        <p:txBody>
          <a:bodyPr>
            <a:normAutofit/>
          </a:bodyPr>
          <a:lstStyle/>
          <a:p>
            <a:pPr algn="ctr"/>
            <a:r>
              <a:rPr lang="en-GB" sz="4000" dirty="0"/>
              <a:t>Transport Layer Security (TLS)</a:t>
            </a:r>
            <a:endParaRPr lang="en-IE" sz="4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592307-CBB2-44B3-8ED9-E2497D41BA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47128"/>
            <a:ext cx="6430818" cy="4834658"/>
          </a:xfrm>
        </p:spPr>
        <p:txBody>
          <a:bodyPr>
            <a:normAutofit/>
          </a:bodyPr>
          <a:lstStyle/>
          <a:p>
            <a:r>
              <a:rPr lang="en-GB" sz="2000" dirty="0"/>
              <a:t>TLS provide a secure communication channel between a client and a server </a:t>
            </a:r>
            <a:r>
              <a:rPr lang="en-GB" sz="2000" b="1" dirty="0"/>
              <a:t>at Transport Layer.</a:t>
            </a:r>
          </a:p>
          <a:p>
            <a:r>
              <a:rPr lang="en-GB" sz="2000" dirty="0"/>
              <a:t>TLS is  a cryptographic protocol which use a handshake mechanism to negotiate various parameters to create a secure connection between the client and the server.</a:t>
            </a:r>
          </a:p>
          <a:p>
            <a:r>
              <a:rPr lang="en-GB" sz="2000" b="1" dirty="0"/>
              <a:t>Servers provide a certificate </a:t>
            </a:r>
            <a:r>
              <a:rPr lang="en-GB" sz="2000" dirty="0"/>
              <a:t>(typically issued by a trusted authority) that clients use to verify the identity of the server.</a:t>
            </a:r>
          </a:p>
          <a:p>
            <a:r>
              <a:rPr lang="en-GB" sz="2000" dirty="0"/>
              <a:t>While the additional CPU usage is typically negligible on the broker, </a:t>
            </a:r>
            <a:r>
              <a:rPr lang="en-GB" sz="2000" b="1" dirty="0"/>
              <a:t>small constrained devices are not designed for computation-intensive tasks</a:t>
            </a:r>
            <a:r>
              <a:rPr lang="en-GB" sz="2000" dirty="0"/>
              <a:t>.</a:t>
            </a:r>
          </a:p>
          <a:p>
            <a:r>
              <a:rPr lang="en-GB" sz="2000" dirty="0"/>
              <a:t>If TLS is not possible</a:t>
            </a:r>
            <a:r>
              <a:rPr lang="en-GB" sz="2000" b="1" dirty="0"/>
              <a:t>, payload encryption and at least hash or encrypt the password in the CONNECT message of your client.</a:t>
            </a:r>
            <a:endParaRPr lang="en-IE" sz="2000" b="1" dirty="0"/>
          </a:p>
        </p:txBody>
      </p:sp>
      <p:pic>
        <p:nvPicPr>
          <p:cNvPr id="5" name="Picture 4" descr="Logo, icon&#10;&#10;Description automatically generated">
            <a:extLst>
              <a:ext uri="{FF2B5EF4-FFF2-40B4-BE49-F238E27FC236}">
                <a16:creationId xmlns:a16="http://schemas.microsoft.com/office/drawing/2014/main" id="{89AF8231-1F3E-44B2-B0F1-4DA4545F6BAB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rcRect r="3929" b="4"/>
          <a:stretch/>
        </p:blipFill>
        <p:spPr>
          <a:xfrm>
            <a:off x="7198553" y="2475203"/>
            <a:ext cx="3730372" cy="25863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3298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D32782-E266-49EB-BE2A-31ECE1A414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467" y="321734"/>
            <a:ext cx="10905066" cy="1135737"/>
          </a:xfrm>
        </p:spPr>
        <p:txBody>
          <a:bodyPr>
            <a:normAutofit/>
          </a:bodyPr>
          <a:lstStyle/>
          <a:p>
            <a:r>
              <a:rPr lang="en-IE" sz="3600"/>
              <a:t>Application Level Encryption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89452D-63F7-44F1-AED0-B2E9C64227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3469" y="1782981"/>
            <a:ext cx="4008384" cy="4393982"/>
          </a:xfrm>
        </p:spPr>
        <p:txBody>
          <a:bodyPr>
            <a:normAutofit lnSpcReduction="10000"/>
          </a:bodyPr>
          <a:lstStyle/>
          <a:p>
            <a:r>
              <a:rPr lang="en-GB" sz="1900"/>
              <a:t>End to End encryption between publisher and subscriber</a:t>
            </a:r>
          </a:p>
          <a:p>
            <a:r>
              <a:rPr lang="en-GB" sz="1900"/>
              <a:t>Encrypt the payload without having to configure the MQTT broker</a:t>
            </a:r>
          </a:p>
          <a:p>
            <a:pPr lvl="1"/>
            <a:r>
              <a:rPr lang="en-GB" sz="1900"/>
              <a:t>Means publisher and subscriber applications have to “know” encryption/decryption method. Has to be coded</a:t>
            </a:r>
          </a:p>
          <a:p>
            <a:r>
              <a:rPr lang="en-GB" sz="1900"/>
              <a:t>Possible alternative for constrained devices that cannot support TLS</a:t>
            </a:r>
          </a:p>
          <a:p>
            <a:r>
              <a:rPr lang="en-GB" sz="1900"/>
              <a:t>Possible (less secure) alternative for using public brokers.</a:t>
            </a:r>
          </a:p>
          <a:p>
            <a:endParaRPr lang="en-IE" sz="1900"/>
          </a:p>
        </p:txBody>
      </p:sp>
      <p:pic>
        <p:nvPicPr>
          <p:cNvPr id="5" name="Picture 4" descr="Graphical user interface&#10;&#10;Description automatically generated with medium confidence">
            <a:extLst>
              <a:ext uri="{FF2B5EF4-FFF2-40B4-BE49-F238E27FC236}">
                <a16:creationId xmlns:a16="http://schemas.microsoft.com/office/drawing/2014/main" id="{42235E1A-6232-4569-81F2-322C53F64BD4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rcRect l="687" r="-2" b="-2"/>
          <a:stretch/>
        </p:blipFill>
        <p:spPr>
          <a:xfrm>
            <a:off x="6876324" y="1782982"/>
            <a:ext cx="3091200" cy="211655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5FCB750-F621-468D-90F9-87CE4A18D11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00958" y="4060406"/>
            <a:ext cx="6041935" cy="208446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878BD5C-6249-4DED-A363-FB4D7B878E7F}"/>
              </a:ext>
            </a:extLst>
          </p:cNvPr>
          <p:cNvSpPr txBox="1"/>
          <p:nvPr/>
        </p:nvSpPr>
        <p:spPr>
          <a:xfrm>
            <a:off x="7660482" y="3699485"/>
            <a:ext cx="2307042" cy="200055"/>
          </a:xfrm>
          <a:prstGeom prst="rect">
            <a:avLst/>
          </a:prstGeom>
          <a:solidFill>
            <a:srgbClr val="000000"/>
          </a:solidFill>
        </p:spPr>
        <p:txBody>
          <a:bodyPr wrap="none" rtlCol="0">
            <a:spAutoFit/>
          </a:bodyPr>
          <a:lstStyle/>
          <a:p>
            <a:pPr algn="r">
              <a:spcAft>
                <a:spcPts val="600"/>
              </a:spcAft>
            </a:pPr>
            <a:r>
              <a:rPr lang="en-IE" sz="700">
                <a:solidFill>
                  <a:srgbClr val="FFFFFF"/>
                </a:solidFill>
                <a:hlinkClick r:id="rId3" tooltip="http://en.wikiversity.org/wiki/Internet_Protocol_Analysis/Network_Monitoring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This Photo</a:t>
            </a:r>
            <a:r>
              <a:rPr lang="en-IE" sz="700">
                <a:solidFill>
                  <a:srgbClr val="FFFFFF"/>
                </a:solidFill>
              </a:rPr>
              <a:t> by Unknown Author is licensed under </a:t>
            </a:r>
            <a:r>
              <a:rPr lang="en-IE" sz="700">
                <a:solidFill>
                  <a:srgbClr val="FFFFFF"/>
                </a:solidFill>
                <a:hlinkClick r:id="rId5" tooltip="https://creativecommons.org/licenses/by-sa/3.0/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CC BY-SA</a:t>
            </a:r>
            <a:endParaRPr lang="en-IE" sz="700">
              <a:solidFill>
                <a:srgbClr val="FFFFFF"/>
              </a:solidFill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DC51CCA-0BF0-4BC7-A657-10B099FC026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88429" y="6265693"/>
            <a:ext cx="5200650" cy="447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75481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0ED936-698F-49C1-9BF8-0840B7C0FA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E" dirty="0"/>
              <a:t>Raspberry Pi: Creating MQTT Clients in Python: Publishing Client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5AFA98-788D-40B4-9688-C708D9DE2E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We’ll use </a:t>
            </a:r>
            <a:r>
              <a:rPr lang="en-GB" b="1" dirty="0" err="1"/>
              <a:t>Paho</a:t>
            </a:r>
            <a:r>
              <a:rPr lang="en-GB" dirty="0"/>
              <a:t> MQTT python client from Eclipse</a:t>
            </a:r>
          </a:p>
          <a:p>
            <a:r>
              <a:rPr lang="en-GB" dirty="0"/>
              <a:t>Import the </a:t>
            </a:r>
            <a:r>
              <a:rPr lang="en-GB" b="1" dirty="0"/>
              <a:t>client class </a:t>
            </a:r>
            <a:r>
              <a:rPr lang="en-GB" dirty="0"/>
              <a:t>to provide functions to publish messages and subscribe to topics on MQTT brokers</a:t>
            </a:r>
            <a:r>
              <a:rPr lang="en-IE" dirty="0"/>
              <a:t>.</a:t>
            </a:r>
          </a:p>
          <a:p>
            <a:r>
              <a:rPr lang="en-IE" dirty="0"/>
              <a:t>Create instance and connect to a broker: 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ACCF45C-496E-40D2-914D-EA143CF786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6649" y="3936637"/>
            <a:ext cx="6178551" cy="21535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85243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812EF5-CEC4-4362-86E8-F98204B68B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Raspberry Pi: Creating MQTT Clients in Python: Subscribing  Client Callback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F33260-393E-4429-8CD3-72E816CECE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When the client receives messages it generate the </a:t>
            </a:r>
            <a:r>
              <a:rPr lang="en-GB" dirty="0" err="1"/>
              <a:t>on_message</a:t>
            </a:r>
            <a:r>
              <a:rPr lang="en-GB" dirty="0"/>
              <a:t> </a:t>
            </a:r>
            <a:r>
              <a:rPr lang="en-GB" dirty="0" err="1"/>
              <a:t>callback</a:t>
            </a:r>
            <a:r>
              <a:rPr lang="en-GB" dirty="0"/>
              <a:t>.</a:t>
            </a:r>
            <a:endParaRPr lang="en-IE" dirty="0"/>
          </a:p>
          <a:p>
            <a:pPr marL="0" indent="0">
              <a:buNone/>
            </a:pPr>
            <a:endParaRPr lang="en-IE" dirty="0"/>
          </a:p>
          <a:p>
            <a:pPr marL="0" indent="0">
              <a:buNone/>
            </a:pPr>
            <a:endParaRPr lang="en-IE" dirty="0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2B85E00E-FD81-4102-ABCB-340C4992C6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53170"/>
            <a:ext cx="184731" cy="56354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23805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266DF78-B190-409F-8F33-AEDA5A79F7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0004" y="2930525"/>
            <a:ext cx="6381750" cy="3381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63196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4762B6-7B99-ADED-4AB8-121B255A26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Arduino: Creating MQTT Clients in a Sketch: Publishing Client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921BB4-5B47-4A20-7E10-21BFA77AFA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IE" b="0" dirty="0">
                <a:solidFill>
                  <a:srgbClr val="728E00"/>
                </a:solidFill>
                <a:effectLst/>
                <a:latin typeface="Consolas" panose="020B0609020204030204" pitchFamily="49" charset="0"/>
              </a:rPr>
              <a:t>#include</a:t>
            </a:r>
            <a:r>
              <a:rPr lang="en-IE" b="0" dirty="0">
                <a:solidFill>
                  <a:srgbClr val="4E5B61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E" b="0" dirty="0">
                <a:solidFill>
                  <a:srgbClr val="005C5F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IE" b="0" dirty="0" err="1">
                <a:solidFill>
                  <a:srgbClr val="005C5F"/>
                </a:solidFill>
                <a:effectLst/>
                <a:latin typeface="Consolas" panose="020B0609020204030204" pitchFamily="49" charset="0"/>
              </a:rPr>
              <a:t>PubSubClient.h</a:t>
            </a:r>
            <a:r>
              <a:rPr lang="en-IE" b="0" dirty="0">
                <a:solidFill>
                  <a:srgbClr val="005C5F"/>
                </a:solidFill>
                <a:effectLst/>
                <a:latin typeface="Consolas" panose="020B0609020204030204" pitchFamily="49" charset="0"/>
              </a:rPr>
              <a:t>&gt;</a:t>
            </a:r>
            <a:endParaRPr lang="en-IE" b="0" dirty="0">
              <a:solidFill>
                <a:srgbClr val="4E5B61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IE" dirty="0">
              <a:solidFill>
                <a:srgbClr val="4E5B61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E" b="0" dirty="0" err="1">
                <a:solidFill>
                  <a:srgbClr val="4E5B61"/>
                </a:solidFill>
                <a:effectLst/>
                <a:latin typeface="Consolas" panose="020B0609020204030204" pitchFamily="49" charset="0"/>
              </a:rPr>
              <a:t>WiFiClient</a:t>
            </a:r>
            <a:r>
              <a:rPr lang="en-IE" b="0" dirty="0">
                <a:solidFill>
                  <a:srgbClr val="4E5B61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E" b="0" dirty="0" err="1">
                <a:solidFill>
                  <a:srgbClr val="4E5B61"/>
                </a:solidFill>
                <a:effectLst/>
                <a:latin typeface="Consolas" panose="020B0609020204030204" pitchFamily="49" charset="0"/>
              </a:rPr>
              <a:t>wifiClient</a:t>
            </a:r>
            <a:r>
              <a:rPr lang="en-IE" b="0" dirty="0">
                <a:solidFill>
                  <a:srgbClr val="4E5B61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en-IE" b="0" dirty="0" err="1">
                <a:solidFill>
                  <a:srgbClr val="4E5B61"/>
                </a:solidFill>
                <a:effectLst/>
                <a:latin typeface="Consolas" panose="020B0609020204030204" pitchFamily="49" charset="0"/>
              </a:rPr>
              <a:t>PubSubClient</a:t>
            </a:r>
            <a:r>
              <a:rPr lang="en-IE" b="0" dirty="0">
                <a:solidFill>
                  <a:srgbClr val="4E5B61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E" b="0" dirty="0">
                <a:solidFill>
                  <a:srgbClr val="D35400"/>
                </a:solidFill>
                <a:effectLst/>
                <a:latin typeface="Consolas" panose="020B0609020204030204" pitchFamily="49" charset="0"/>
              </a:rPr>
              <a:t>client</a:t>
            </a:r>
            <a:r>
              <a:rPr lang="en-IE" b="0" dirty="0">
                <a:solidFill>
                  <a:srgbClr val="434F5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E" b="0" dirty="0" err="1">
                <a:solidFill>
                  <a:srgbClr val="4E5B61"/>
                </a:solidFill>
                <a:effectLst/>
                <a:latin typeface="Consolas" panose="020B0609020204030204" pitchFamily="49" charset="0"/>
              </a:rPr>
              <a:t>wifiClient</a:t>
            </a:r>
            <a:r>
              <a:rPr lang="en-IE" b="0" dirty="0">
                <a:solidFill>
                  <a:srgbClr val="434F54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IE" b="0" dirty="0">
                <a:solidFill>
                  <a:srgbClr val="4E5B61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endParaRPr lang="en-IE" dirty="0">
              <a:solidFill>
                <a:srgbClr val="4E5B61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E" b="0" dirty="0" err="1">
                <a:solidFill>
                  <a:srgbClr val="D35400"/>
                </a:solidFill>
                <a:effectLst/>
                <a:latin typeface="Consolas" panose="020B0609020204030204" pitchFamily="49" charset="0"/>
              </a:rPr>
              <a:t>client</a:t>
            </a:r>
            <a:r>
              <a:rPr lang="en-IE" b="0" dirty="0" err="1">
                <a:solidFill>
                  <a:srgbClr val="4E5B61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E" b="0" dirty="0" err="1">
                <a:solidFill>
                  <a:srgbClr val="D35400"/>
                </a:solidFill>
                <a:effectLst/>
                <a:latin typeface="Consolas" panose="020B0609020204030204" pitchFamily="49" charset="0"/>
              </a:rPr>
              <a:t>setServer</a:t>
            </a:r>
            <a:r>
              <a:rPr lang="en-IE" b="0" dirty="0">
                <a:solidFill>
                  <a:srgbClr val="434F5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E" b="0" dirty="0" err="1">
                <a:solidFill>
                  <a:srgbClr val="4E5B61"/>
                </a:solidFill>
                <a:effectLst/>
                <a:latin typeface="Consolas" panose="020B0609020204030204" pitchFamily="49" charset="0"/>
              </a:rPr>
              <a:t>mqttServer</a:t>
            </a:r>
            <a:r>
              <a:rPr lang="en-IE" b="0" dirty="0">
                <a:solidFill>
                  <a:srgbClr val="4E5B61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E" b="0" dirty="0" err="1">
                <a:solidFill>
                  <a:srgbClr val="4E5B61"/>
                </a:solidFill>
                <a:effectLst/>
                <a:latin typeface="Consolas" panose="020B0609020204030204" pitchFamily="49" charset="0"/>
              </a:rPr>
              <a:t>mqttPort</a:t>
            </a:r>
            <a:r>
              <a:rPr lang="en-IE" b="0" dirty="0">
                <a:solidFill>
                  <a:srgbClr val="434F54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IE" b="0" dirty="0">
                <a:solidFill>
                  <a:srgbClr val="4E5B61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endParaRPr lang="en-IE" b="0" dirty="0">
              <a:solidFill>
                <a:srgbClr val="4E5B61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E" b="0" dirty="0" err="1">
                <a:solidFill>
                  <a:srgbClr val="D35400"/>
                </a:solidFill>
                <a:effectLst/>
                <a:latin typeface="Consolas" panose="020B0609020204030204" pitchFamily="49" charset="0"/>
              </a:rPr>
              <a:t>client</a:t>
            </a:r>
            <a:r>
              <a:rPr lang="en-IE" b="0" dirty="0" err="1">
                <a:solidFill>
                  <a:srgbClr val="4E5B61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E" b="0" dirty="0" err="1">
                <a:solidFill>
                  <a:srgbClr val="D35400"/>
                </a:solidFill>
                <a:effectLst/>
                <a:latin typeface="Consolas" panose="020B0609020204030204" pitchFamily="49" charset="0"/>
              </a:rPr>
              <a:t>connect</a:t>
            </a:r>
            <a:r>
              <a:rPr lang="en-IE" b="0" dirty="0">
                <a:solidFill>
                  <a:srgbClr val="434F5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E" dirty="0" err="1">
                <a:solidFill>
                  <a:srgbClr val="005C5F"/>
                </a:solidFill>
                <a:latin typeface="Consolas" panose="020B0609020204030204" pitchFamily="49" charset="0"/>
              </a:rPr>
              <a:t>connectionId</a:t>
            </a:r>
            <a:r>
              <a:rPr lang="en-IE" b="0" dirty="0">
                <a:solidFill>
                  <a:srgbClr val="434F54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 marL="0" indent="0">
              <a:buNone/>
            </a:pPr>
            <a:endParaRPr lang="en-IE" dirty="0">
              <a:solidFill>
                <a:srgbClr val="434F54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GB" b="0" dirty="0" err="1">
                <a:solidFill>
                  <a:srgbClr val="D35400"/>
                </a:solidFill>
                <a:effectLst/>
                <a:latin typeface="Consolas" panose="020B0609020204030204" pitchFamily="49" charset="0"/>
              </a:rPr>
              <a:t>client</a:t>
            </a:r>
            <a:r>
              <a:rPr lang="en-GB" b="0" dirty="0" err="1">
                <a:solidFill>
                  <a:srgbClr val="4E5B61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GB" b="0" dirty="0" err="1">
                <a:solidFill>
                  <a:srgbClr val="D35400"/>
                </a:solidFill>
                <a:effectLst/>
                <a:latin typeface="Consolas" panose="020B0609020204030204" pitchFamily="49" charset="0"/>
              </a:rPr>
              <a:t>publish</a:t>
            </a:r>
            <a:r>
              <a:rPr lang="en-GB" b="0" dirty="0">
                <a:solidFill>
                  <a:srgbClr val="434F5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GB" b="0" dirty="0">
                <a:solidFill>
                  <a:srgbClr val="005C5F"/>
                </a:solidFill>
                <a:effectLst/>
                <a:latin typeface="Consolas" panose="020B0609020204030204" pitchFamily="49" charset="0"/>
              </a:rPr>
              <a:t>"/</a:t>
            </a:r>
            <a:r>
              <a:rPr lang="en-GB" b="0" dirty="0" err="1">
                <a:solidFill>
                  <a:srgbClr val="005C5F"/>
                </a:solidFill>
                <a:effectLst/>
                <a:latin typeface="Consolas" panose="020B0609020204030204" pitchFamily="49" charset="0"/>
              </a:rPr>
              <a:t>fxwalsh</a:t>
            </a:r>
            <a:r>
              <a:rPr lang="en-GB" b="0" dirty="0">
                <a:solidFill>
                  <a:srgbClr val="005C5F"/>
                </a:solidFill>
                <a:effectLst/>
                <a:latin typeface="Consolas" panose="020B0609020204030204" pitchFamily="49" charset="0"/>
              </a:rPr>
              <a:t>/temperature"</a:t>
            </a:r>
            <a:r>
              <a:rPr lang="en-GB" b="0" dirty="0">
                <a:solidFill>
                  <a:srgbClr val="4E5B61"/>
                </a:solidFill>
                <a:effectLst/>
                <a:latin typeface="Consolas" panose="020B0609020204030204" pitchFamily="49" charset="0"/>
              </a:rPr>
              <a:t>, message</a:t>
            </a:r>
            <a:r>
              <a:rPr lang="en-GB" b="0" dirty="0">
                <a:solidFill>
                  <a:srgbClr val="434F54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GB" b="0" dirty="0">
                <a:solidFill>
                  <a:srgbClr val="4E5B61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endParaRPr lang="en-IE" b="0" dirty="0">
              <a:solidFill>
                <a:srgbClr val="4E5B61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IE" b="0" dirty="0">
              <a:solidFill>
                <a:srgbClr val="4E5B61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IE" dirty="0"/>
          </a:p>
          <a:p>
            <a:pPr marL="0" indent="0">
              <a:buNone/>
            </a:pPr>
            <a:endParaRPr lang="en-IE" dirty="0"/>
          </a:p>
        </p:txBody>
      </p:sp>
      <p:sp>
        <p:nvSpPr>
          <p:cNvPr id="4" name="Callout: Bent Line with Border and Accent Bar 3">
            <a:extLst>
              <a:ext uri="{FF2B5EF4-FFF2-40B4-BE49-F238E27FC236}">
                <a16:creationId xmlns:a16="http://schemas.microsoft.com/office/drawing/2014/main" id="{17F3BDD7-B786-B8B6-4EA6-C332A4BE5C67}"/>
              </a:ext>
            </a:extLst>
          </p:cNvPr>
          <p:cNvSpPr/>
          <p:nvPr/>
        </p:nvSpPr>
        <p:spPr>
          <a:xfrm>
            <a:off x="8534399" y="1399170"/>
            <a:ext cx="3406987" cy="717973"/>
          </a:xfrm>
          <a:prstGeom prst="accentBorderCallout2">
            <a:avLst>
              <a:gd name="adj1" fmla="val 18750"/>
              <a:gd name="adj2" fmla="val -8333"/>
              <a:gd name="adj3" fmla="val 18750"/>
              <a:gd name="adj4" fmla="val -16667"/>
              <a:gd name="adj5" fmla="val 78538"/>
              <a:gd name="adj6" fmla="val -100092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dirty="0"/>
              <a:t>Uses </a:t>
            </a:r>
            <a:r>
              <a:rPr lang="en-IE" dirty="0" err="1"/>
              <a:t>PubSubCLient</a:t>
            </a:r>
            <a:r>
              <a:rPr lang="en-IE" dirty="0"/>
              <a:t> from Arduino Library</a:t>
            </a:r>
          </a:p>
        </p:txBody>
      </p:sp>
      <p:sp>
        <p:nvSpPr>
          <p:cNvPr id="5" name="Callout: Bent Line with Border and Accent Bar 4">
            <a:extLst>
              <a:ext uri="{FF2B5EF4-FFF2-40B4-BE49-F238E27FC236}">
                <a16:creationId xmlns:a16="http://schemas.microsoft.com/office/drawing/2014/main" id="{6D49ED8F-58C8-8CB8-E8D3-C953A4577F56}"/>
              </a:ext>
            </a:extLst>
          </p:cNvPr>
          <p:cNvSpPr/>
          <p:nvPr/>
        </p:nvSpPr>
        <p:spPr>
          <a:xfrm>
            <a:off x="8849359" y="2506610"/>
            <a:ext cx="3406987" cy="717973"/>
          </a:xfrm>
          <a:prstGeom prst="accentBorderCallout2">
            <a:avLst>
              <a:gd name="adj1" fmla="val 18750"/>
              <a:gd name="adj2" fmla="val -8333"/>
              <a:gd name="adj3" fmla="val 18750"/>
              <a:gd name="adj4" fmla="val -16667"/>
              <a:gd name="adj5" fmla="val 93632"/>
              <a:gd name="adj6" fmla="val -61523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dirty="0"/>
              <a:t>Construct MQTT client using </a:t>
            </a:r>
            <a:r>
              <a:rPr lang="en-IE" dirty="0" err="1"/>
              <a:t>wifiClient</a:t>
            </a:r>
            <a:endParaRPr lang="en-IE" dirty="0"/>
          </a:p>
        </p:txBody>
      </p:sp>
      <p:sp>
        <p:nvSpPr>
          <p:cNvPr id="6" name="Callout: Bent Line with Border and Accent Bar 5">
            <a:extLst>
              <a:ext uri="{FF2B5EF4-FFF2-40B4-BE49-F238E27FC236}">
                <a16:creationId xmlns:a16="http://schemas.microsoft.com/office/drawing/2014/main" id="{E1ED2000-B5C2-D874-DD26-5D0A574BCD47}"/>
              </a:ext>
            </a:extLst>
          </p:cNvPr>
          <p:cNvSpPr/>
          <p:nvPr/>
        </p:nvSpPr>
        <p:spPr>
          <a:xfrm>
            <a:off x="9035626" y="3429000"/>
            <a:ext cx="3081867" cy="939800"/>
          </a:xfrm>
          <a:prstGeom prst="accentBorderCallout2">
            <a:avLst>
              <a:gd name="adj1" fmla="val 18750"/>
              <a:gd name="adj2" fmla="val -8333"/>
              <a:gd name="adj3" fmla="val 18750"/>
              <a:gd name="adj4" fmla="val -16667"/>
              <a:gd name="adj5" fmla="val 55434"/>
              <a:gd name="adj6" fmla="val -4482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dirty="0"/>
              <a:t>Set MQTT Server and port</a:t>
            </a:r>
          </a:p>
        </p:txBody>
      </p:sp>
      <p:sp>
        <p:nvSpPr>
          <p:cNvPr id="7" name="Callout: Bent Line with Border and Accent Bar 6">
            <a:extLst>
              <a:ext uri="{FF2B5EF4-FFF2-40B4-BE49-F238E27FC236}">
                <a16:creationId xmlns:a16="http://schemas.microsoft.com/office/drawing/2014/main" id="{C0BBCE9C-7627-8438-5AB2-5092859BDE1D}"/>
              </a:ext>
            </a:extLst>
          </p:cNvPr>
          <p:cNvSpPr/>
          <p:nvPr/>
        </p:nvSpPr>
        <p:spPr>
          <a:xfrm>
            <a:off x="8328659" y="4573217"/>
            <a:ext cx="3406987" cy="717973"/>
          </a:xfrm>
          <a:prstGeom prst="accentBorderCallout2">
            <a:avLst>
              <a:gd name="adj1" fmla="val 18750"/>
              <a:gd name="adj2" fmla="val -8333"/>
              <a:gd name="adj3" fmla="val 18750"/>
              <a:gd name="adj4" fmla="val -16667"/>
              <a:gd name="adj5" fmla="val 34198"/>
              <a:gd name="adj6" fmla="val -6709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dirty="0"/>
              <a:t>Create Connection</a:t>
            </a:r>
          </a:p>
        </p:txBody>
      </p:sp>
      <p:sp>
        <p:nvSpPr>
          <p:cNvPr id="8" name="Callout: Bent Line with Border and Accent Bar 7">
            <a:extLst>
              <a:ext uri="{FF2B5EF4-FFF2-40B4-BE49-F238E27FC236}">
                <a16:creationId xmlns:a16="http://schemas.microsoft.com/office/drawing/2014/main" id="{DD26B709-D31F-BC69-C593-14AEFED398D5}"/>
              </a:ext>
            </a:extLst>
          </p:cNvPr>
          <p:cNvSpPr/>
          <p:nvPr/>
        </p:nvSpPr>
        <p:spPr>
          <a:xfrm>
            <a:off x="8785013" y="6022393"/>
            <a:ext cx="3406987" cy="717973"/>
          </a:xfrm>
          <a:prstGeom prst="accentBorderCallout2">
            <a:avLst>
              <a:gd name="adj1" fmla="val 18750"/>
              <a:gd name="adj2" fmla="val -8333"/>
              <a:gd name="adj3" fmla="val 18750"/>
              <a:gd name="adj4" fmla="val -16667"/>
              <a:gd name="adj5" fmla="val -27123"/>
              <a:gd name="adj6" fmla="val -69078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dirty="0"/>
              <a:t>Publish message to topic!</a:t>
            </a:r>
          </a:p>
        </p:txBody>
      </p:sp>
    </p:spTree>
    <p:extLst>
      <p:ext uri="{BB962C8B-B14F-4D97-AF65-F5344CB8AC3E}">
        <p14:creationId xmlns:p14="http://schemas.microsoft.com/office/powerpoint/2010/main" val="196016967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8A301F-B3E7-C6B3-6616-3641549444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 err="1"/>
              <a:t>Javascript</a:t>
            </a:r>
            <a:r>
              <a:rPr lang="en-IE" dirty="0"/>
              <a:t>/Node.js MQTT Client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141C2B-2A51-D156-A6F3-61EBA6FAE2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28315" y="1847544"/>
            <a:ext cx="6827152" cy="4351338"/>
          </a:xfrm>
          <a:solidFill>
            <a:schemeClr val="tx1"/>
          </a:solidFill>
        </p:spPr>
        <p:txBody>
          <a:bodyPr>
            <a:normAutofit fontScale="47500" lnSpcReduction="20000"/>
          </a:bodyPr>
          <a:lstStyle/>
          <a:p>
            <a:pPr marL="0" indent="0">
              <a:buNone/>
            </a:pPr>
            <a:r>
              <a:rPr lang="en-IE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IE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E" b="0" dirty="0" err="1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mqtt</a:t>
            </a:r>
            <a:r>
              <a:rPr lang="en-IE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E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E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E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require</a:t>
            </a:r>
            <a:r>
              <a:rPr lang="en-IE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E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IE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mqtt</a:t>
            </a:r>
            <a:r>
              <a:rPr lang="en-IE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IE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marL="0" indent="0">
              <a:buNone/>
            </a:pPr>
            <a:br>
              <a:rPr lang="en-IE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IE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IE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E" b="0" dirty="0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client</a:t>
            </a:r>
            <a:r>
              <a:rPr lang="en-IE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 </a:t>
            </a:r>
            <a:r>
              <a:rPr lang="en-IE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E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E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mqtt</a:t>
            </a:r>
            <a:r>
              <a:rPr lang="en-IE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E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connect</a:t>
            </a:r>
            <a:r>
              <a:rPr lang="en-IE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E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IE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mqtt</a:t>
            </a:r>
            <a:r>
              <a:rPr lang="en-IE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://broker.emqx.io'</a:t>
            </a:r>
            <a:r>
              <a:rPr lang="en-IE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marL="0" indent="0">
              <a:buNone/>
            </a:pPr>
            <a:r>
              <a:rPr lang="en-IE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IE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E" b="0" dirty="0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topic</a:t>
            </a:r>
            <a:r>
              <a:rPr lang="en-IE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E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E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E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'/</a:t>
            </a:r>
            <a:r>
              <a:rPr lang="en-IE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fxwalsh</a:t>
            </a:r>
            <a:r>
              <a:rPr lang="en-IE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/temperature'</a:t>
            </a:r>
            <a:r>
              <a:rPr lang="en-IE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br>
              <a:rPr lang="en-IE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IE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client</a:t>
            </a:r>
            <a:r>
              <a:rPr lang="en-IE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E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on</a:t>
            </a:r>
            <a:r>
              <a:rPr lang="en-IE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E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'connect'</a:t>
            </a:r>
            <a:r>
              <a:rPr lang="en-IE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E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IE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() {</a:t>
            </a:r>
          </a:p>
          <a:p>
            <a:pPr marL="0" indent="0">
              <a:buNone/>
            </a:pPr>
            <a:r>
              <a:rPr lang="en-IE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IE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client</a:t>
            </a:r>
            <a:r>
              <a:rPr lang="en-IE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E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subscribe</a:t>
            </a:r>
            <a:r>
              <a:rPr lang="en-IE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E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topic</a:t>
            </a:r>
            <a:r>
              <a:rPr lang="en-IE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E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IE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IE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err</a:t>
            </a:r>
            <a:r>
              <a:rPr lang="en-IE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 marL="0" indent="0">
              <a:buNone/>
            </a:pPr>
            <a:r>
              <a:rPr lang="en-IE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E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IE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IE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!</a:t>
            </a:r>
            <a:r>
              <a:rPr lang="en-IE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err</a:t>
            </a:r>
            <a:r>
              <a:rPr lang="en-IE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 marL="0" indent="0">
              <a:buNone/>
            </a:pPr>
            <a:r>
              <a:rPr lang="en-IE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IE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console</a:t>
            </a:r>
            <a:r>
              <a:rPr lang="en-IE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E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log</a:t>
            </a:r>
            <a:r>
              <a:rPr lang="en-IE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E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`Subscribed to </a:t>
            </a:r>
            <a:r>
              <a:rPr lang="en-IE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${</a:t>
            </a:r>
            <a:r>
              <a:rPr lang="en-IE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topic</a:t>
            </a:r>
            <a:r>
              <a:rPr lang="en-IE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IE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`</a:t>
            </a:r>
            <a:r>
              <a:rPr lang="en-IE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marL="0" indent="0">
              <a:buNone/>
            </a:pPr>
            <a:r>
              <a:rPr lang="en-IE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 marL="0" indent="0">
              <a:buNone/>
            </a:pPr>
            <a:r>
              <a:rPr lang="en-IE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});</a:t>
            </a:r>
          </a:p>
          <a:p>
            <a:pPr marL="0" indent="0">
              <a:buNone/>
            </a:pPr>
            <a:r>
              <a:rPr lang="en-IE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});</a:t>
            </a:r>
          </a:p>
          <a:p>
            <a:pPr marL="0" indent="0">
              <a:buNone/>
            </a:pPr>
            <a:br>
              <a:rPr lang="en-IE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IE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client</a:t>
            </a:r>
            <a:r>
              <a:rPr lang="en-IE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E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on</a:t>
            </a:r>
            <a:r>
              <a:rPr lang="en-IE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E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'message'</a:t>
            </a:r>
            <a:r>
              <a:rPr lang="en-IE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E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IE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IE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topic</a:t>
            </a:r>
            <a:r>
              <a:rPr lang="en-IE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E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message</a:t>
            </a:r>
            <a:r>
              <a:rPr lang="en-IE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 marL="0" indent="0">
              <a:buNone/>
            </a:pPr>
            <a:r>
              <a:rPr lang="en-IE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IE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message is a buffer</a:t>
            </a:r>
            <a:endParaRPr lang="en-IE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E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IE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console</a:t>
            </a:r>
            <a:r>
              <a:rPr lang="en-IE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E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log</a:t>
            </a:r>
            <a:r>
              <a:rPr lang="en-IE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E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message</a:t>
            </a:r>
            <a:r>
              <a:rPr lang="en-IE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E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toString</a:t>
            </a:r>
            <a:r>
              <a:rPr lang="en-IE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());</a:t>
            </a:r>
          </a:p>
          <a:p>
            <a:pPr marL="0" indent="0">
              <a:buNone/>
            </a:pPr>
            <a:r>
              <a:rPr lang="en-IE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});</a:t>
            </a:r>
          </a:p>
          <a:p>
            <a:pPr marL="0" indent="0">
              <a:buNone/>
            </a:pPr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12767319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710</Words>
  <Application>Microsoft Office PowerPoint</Application>
  <PresentationFormat>Widescreen</PresentationFormat>
  <Paragraphs>79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Aptos</vt:lpstr>
      <vt:lpstr>Aptos Display</vt:lpstr>
      <vt:lpstr>Arial</vt:lpstr>
      <vt:lpstr>Consolas</vt:lpstr>
      <vt:lpstr>roboto</vt:lpstr>
      <vt:lpstr>Office Theme</vt:lpstr>
      <vt:lpstr>MQTT Security</vt:lpstr>
      <vt:lpstr>Not good…..</vt:lpstr>
      <vt:lpstr>Security in IoT</vt:lpstr>
      <vt:lpstr>Security in MQTT</vt:lpstr>
      <vt:lpstr>MQTT Authentication</vt:lpstr>
      <vt:lpstr>Transport Layer Security (TLS)</vt:lpstr>
      <vt:lpstr>Application Level Encryption</vt:lpstr>
      <vt:lpstr>Raspberry Pi: Creating MQTT Clients in Python: Publishing Client</vt:lpstr>
      <vt:lpstr>Raspberry Pi: Creating MQTT Clients in Python: Subscribing  Client Callback</vt:lpstr>
      <vt:lpstr>Arduino: Creating MQTT Clients in a Sketch: Publishing Client</vt:lpstr>
      <vt:lpstr>Javascript/Node.js MQTT Client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Frank Walsh</dc:creator>
  <cp:lastModifiedBy>Frank Walsh</cp:lastModifiedBy>
  <cp:revision>1</cp:revision>
  <dcterms:created xsi:type="dcterms:W3CDTF">2025-01-29T11:20:53Z</dcterms:created>
  <dcterms:modified xsi:type="dcterms:W3CDTF">2025-01-29T11:21:24Z</dcterms:modified>
</cp:coreProperties>
</file>