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16" r:id="rId3"/>
    <p:sldId id="288" r:id="rId4"/>
    <p:sldId id="289" r:id="rId5"/>
    <p:sldId id="287" r:id="rId6"/>
    <p:sldId id="313" r:id="rId7"/>
    <p:sldId id="314" r:id="rId8"/>
    <p:sldId id="315" r:id="rId9"/>
    <p:sldId id="282" r:id="rId10"/>
    <p:sldId id="281" r:id="rId11"/>
    <p:sldId id="322" r:id="rId12"/>
    <p:sldId id="323" r:id="rId13"/>
    <p:sldId id="325" r:id="rId14"/>
    <p:sldId id="286" r:id="rId15"/>
    <p:sldId id="280" r:id="rId16"/>
    <p:sldId id="321" r:id="rId17"/>
    <p:sldId id="294" r:id="rId18"/>
    <p:sldId id="279" r:id="rId19"/>
    <p:sldId id="32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4F193-0B1A-45D5-B227-EC4FDC03B008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8DC8F-AF75-4556-8DF5-4C55FD00B9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227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A835-90E1-4574-9638-302D7C28B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4BD15-F57F-4F02-A6F9-888E6B61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09B44-8E0E-4274-A7F6-6C5232D7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40834-91BD-453D-94B8-60247D33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9E257-B9D8-4BD8-8876-AA94ACC4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073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3B14-AAA4-4A60-A3BD-0B93ECCD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CD71-85B7-45BC-91A6-50327E94C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6802-9F02-41EA-991E-CEF66741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DC9B3-2F63-4F39-AB62-74700945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C4D47-931D-46F8-81F5-80619AFB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33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2A44-D296-4DF7-8F28-4C602137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360BD-EC5C-41CF-80A7-C03FD715A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5EF77-BFD0-4BBE-91C2-67A9E7DD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DFC4-8D46-4AA1-9D43-DBF9FFC0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014A6-3960-40A2-A5CE-37CA7918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517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65AD-835B-41BD-8833-3F25B2E8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45C2-9C70-4FCF-85E0-8A8289CA7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0472-A53C-4D02-B38D-4771F1C2E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C6831-19F0-4296-8AEC-09D78082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D71F5-104A-4EE7-AA5C-0A22ECDF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0C473-B102-462A-AFC0-9C2E3F26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209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27E2-4A36-4DF2-85F1-1EB55802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94EA4-3FB1-4A6C-B216-A739519ED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25515-4E89-41D4-ACA3-F73D8A012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25B79-7521-4E08-B7CC-4B19068BD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51E10-8AE9-4B08-8337-D677C447F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F229E-09AE-4875-A403-AEA372BF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5E421-3B5A-4E8E-926C-E198F9C1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17B84-F061-417E-9A38-5AD91106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762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BA12-ACD9-41F1-9AF9-D79F4B82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0E397-4C8F-49BB-AC12-71278BD3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96F1-5FB1-41F0-B63A-14D4BF65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93B71-4F20-4420-8A56-F49CDE5E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995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BDD4A-B1C0-401C-8446-6EEC3C3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C3676-7CAD-4C8F-9668-5CC40B68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3C601-17EA-4C4C-B6C2-5272CE3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322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9FC0-3E75-4FD6-B7E3-8CA16F51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E53D7-1585-414D-AB6C-FA31A349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C2CAC-456D-469E-BFD1-4AA40C76C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E3FD0-07D9-4B57-9232-69ABF0E8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76679-9C84-4242-B4D2-0E183D26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F5323-7E26-4146-B56F-F0F37EFD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939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8BC3-3B90-4EC3-A46E-5EAD6635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4884A-7C27-4F72-86AC-3DCD1983E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71061-3629-427C-BB90-30B3431D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E92D5-EEC5-4BB3-9E26-4884243D0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61D1F-2220-47A3-86CC-1ADDF19A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1A670-7490-4168-B937-B14DC5BB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989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ACC4-3692-44BE-82E5-58DEFE14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24BBC-414C-4B12-87B9-A15775C32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8F25E-8900-4907-AE81-F4BE4E3C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61329-EC06-48B7-BD3D-C1A95BC3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964E2-6C4B-4A7E-B3FD-EA47900F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406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CFBD3-742A-42CE-8C6C-095E80757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5BC8C-4AC5-40D2-9EBC-4A1D354B6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2189-D81D-40CB-BB48-ECC1EAA6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5BD5-0F7A-4D4A-8C19-89540009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6FB5B-21A4-49D4-AE4B-2F1A9630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033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4E485-90C0-4F04-8ECA-AD1976CF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F6EEE-B537-4AC1-91AA-EDF2723E9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CE90-A04C-45BD-AF90-1358A49F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ABD58-09F1-4112-9FB1-2CAFF72B0B57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73C58-40BD-4962-B357-18F229F7B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B7A9-55A8-47E6-A8C1-87F2A148F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586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lipboard_(software)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7BF1-4590-451C-BE54-55D23340D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Indirect Messaging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4D910-0724-4255-8AF5-63326135A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Frank Walsh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9736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911A6C77-6109-4F77-975B-C375615A5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12">
            <a:extLst>
              <a:ext uri="{FF2B5EF4-FFF2-40B4-BE49-F238E27FC236}">
                <a16:creationId xmlns:a16="http://schemas.microsoft.com/office/drawing/2014/main" id="{CB343D17-9934-455E-B326-2F39206BA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25" name="Freeform 44">
              <a:extLst>
                <a:ext uri="{FF2B5EF4-FFF2-40B4-BE49-F238E27FC236}">
                  <a16:creationId xmlns:a16="http://schemas.microsoft.com/office/drawing/2014/main" id="{A8AA2B63-BFCD-40D0-B2D0-CB714D70E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5">
              <a:extLst>
                <a:ext uri="{FF2B5EF4-FFF2-40B4-BE49-F238E27FC236}">
                  <a16:creationId xmlns:a16="http://schemas.microsoft.com/office/drawing/2014/main" id="{80834EBB-06EA-4C69-AF7A-D5A4E69D8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2D314EC1-63E0-43B5-9CD5-F25593B2C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47">
              <a:extLst>
                <a:ext uri="{FF2B5EF4-FFF2-40B4-BE49-F238E27FC236}">
                  <a16:creationId xmlns:a16="http://schemas.microsoft.com/office/drawing/2014/main" id="{9577EB7D-16A7-4E05-9105-431E72966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1741C3-592F-47B5-93A0-66FC0BB97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47537A-2511-4EDD-93FB-08EA32E5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Agenda </a:t>
            </a:r>
            <a:endParaRPr lang="en-IE" sz="4000">
              <a:solidFill>
                <a:srgbClr val="FFFFFF"/>
              </a:solidFill>
            </a:endParaRP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9A55D45-293A-45C8-AB00-EC1227DA2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87" b="-5"/>
          <a:stretch/>
        </p:blipFill>
        <p:spPr>
          <a:xfrm>
            <a:off x="1424902" y="2492376"/>
            <a:ext cx="3209779" cy="35633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48025-F871-4E02-90D2-C69454D78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569" y="2494450"/>
            <a:ext cx="5471529" cy="3563159"/>
          </a:xfrm>
        </p:spPr>
        <p:txBody>
          <a:bodyPr>
            <a:normAutofit/>
          </a:bodyPr>
          <a:lstStyle/>
          <a:p>
            <a:r>
              <a:rPr lang="en-IE" sz="2400" dirty="0"/>
              <a:t>Indirect Messaging</a:t>
            </a:r>
          </a:p>
          <a:p>
            <a:pPr lvl="1"/>
            <a:r>
              <a:rPr lang="en-IE" dirty="0"/>
              <a:t>MQTT</a:t>
            </a:r>
          </a:p>
          <a:p>
            <a:pPr lvl="1"/>
            <a:r>
              <a:rPr lang="en-IE" dirty="0"/>
              <a:t>MQTT Security</a:t>
            </a:r>
          </a:p>
          <a:p>
            <a:r>
              <a:rPr lang="en-IE" sz="2400" dirty="0"/>
              <a:t>Lab: </a:t>
            </a:r>
          </a:p>
          <a:p>
            <a:pPr lvl="1"/>
            <a:r>
              <a:rPr lang="en-IE" sz="2000" dirty="0"/>
              <a:t>Publish/Subscribe Telemetry data to broker.</a:t>
            </a:r>
          </a:p>
          <a:p>
            <a:pPr lvl="1"/>
            <a:r>
              <a:rPr lang="en-IE" sz="2000" dirty="0"/>
              <a:t>Publish/Subscribe Commands to Broker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B5FBD-92F3-43B2-923C-5F45BCA2EDBE}"/>
              </a:ext>
            </a:extLst>
          </p:cNvPr>
          <p:cNvSpPr txBox="1"/>
          <p:nvPr/>
        </p:nvSpPr>
        <p:spPr>
          <a:xfrm>
            <a:off x="2327639" y="5855693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en.wikipedia.org/wiki/Clipboard_(softwar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13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411F-FC48-422F-A402-02B118FB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Indirect Messaging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48272-9074-4AA7-A423-AC2046402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Publish Subscribe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“Middleman”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8492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sz="2400" dirty="0"/>
              <a:t>Communication between processes using an intermediary</a:t>
            </a:r>
            <a:endParaRPr lang="en-US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/>
              <a:t>Sender </a:t>
            </a:r>
            <a:r>
              <a:rPr lang="en-US" dirty="0">
                <a:sym typeface="Wingdings" pitchFamily="2" charset="2"/>
              </a:rPr>
              <a:t> “</a:t>
            </a:r>
            <a:r>
              <a:rPr lang="en-US" dirty="0">
                <a:solidFill>
                  <a:srgbClr val="0070C0"/>
                </a:solidFill>
              </a:rPr>
              <a:t>The middle-man”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Receiver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No direct coupling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Up to now, only considered Direct Coupling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Introduces a degree of rigidity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Consider…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What happens if a device fails during communication in Direct Coupling?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cs typeface="Calibri"/>
              </a:rPr>
              <a:t>What if you'd like to add</a:t>
            </a:r>
            <a:endParaRPr lang="en-US" dirty="0"/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IE" dirty="0"/>
              <a:t>Two important properties of intermediary in communication</a:t>
            </a:r>
            <a:endParaRPr lang="en-IE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/>
              <a:t>Space uncoupling</a:t>
            </a:r>
            <a:r>
              <a:rPr lang="en-IE" i="1">
                <a:cs typeface="Calibri"/>
              </a:rPr>
              <a:t> (devices don't need to "know" about each other)</a:t>
            </a: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 dirty="0"/>
              <a:t>Time uncoupling</a:t>
            </a:r>
            <a:r>
              <a:rPr lang="en-IE" i="1" dirty="0">
                <a:cs typeface="Calibri"/>
              </a:rPr>
              <a:t> (devices don't need to be "available" at the same time)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endParaRPr lang="en-US" dirty="0">
              <a:cs typeface="Calibri"/>
            </a:endParaRPr>
          </a:p>
          <a:p>
            <a:endParaRPr lang="en-I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4545F6-4827-4A25-9DD8-CE7F42B22E71}"/>
              </a:ext>
            </a:extLst>
          </p:cNvPr>
          <p:cNvSpPr/>
          <p:nvPr/>
        </p:nvSpPr>
        <p:spPr>
          <a:xfrm>
            <a:off x="8623299" y="113937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FB5F3C-72A3-4545-B673-6095924DB902}"/>
              </a:ext>
            </a:extLst>
          </p:cNvPr>
          <p:cNvSpPr/>
          <p:nvPr/>
        </p:nvSpPr>
        <p:spPr>
          <a:xfrm>
            <a:off x="10691584" y="113936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80AFD9B1-0B80-4C9A-8AC4-C788422B5BB8}"/>
              </a:ext>
            </a:extLst>
          </p:cNvPr>
          <p:cNvSpPr/>
          <p:nvPr/>
        </p:nvSpPr>
        <p:spPr>
          <a:xfrm>
            <a:off x="9606353" y="1526612"/>
            <a:ext cx="1025652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0EF63E-FB16-417E-B40F-4DAF270D1EB4}"/>
              </a:ext>
            </a:extLst>
          </p:cNvPr>
          <p:cNvSpPr/>
          <p:nvPr/>
        </p:nvSpPr>
        <p:spPr>
          <a:xfrm>
            <a:off x="8006442" y="27450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85FA65-2633-428C-A74A-5B9E2A4EAFE3}"/>
              </a:ext>
            </a:extLst>
          </p:cNvPr>
          <p:cNvSpPr/>
          <p:nvPr/>
        </p:nvSpPr>
        <p:spPr>
          <a:xfrm>
            <a:off x="11045371" y="271779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18E82F95-A715-46E3-ACD0-337660751C99}"/>
              </a:ext>
            </a:extLst>
          </p:cNvPr>
          <p:cNvSpPr/>
          <p:nvPr/>
        </p:nvSpPr>
        <p:spPr>
          <a:xfrm>
            <a:off x="8944138" y="3132255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E1025-3B9F-4A72-B711-7D176BE9DB10}"/>
              </a:ext>
            </a:extLst>
          </p:cNvPr>
          <p:cNvSpPr/>
          <p:nvPr/>
        </p:nvSpPr>
        <p:spPr>
          <a:xfrm>
            <a:off x="9476014" y="2935514"/>
            <a:ext cx="1014186" cy="4789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cs typeface="Calibri"/>
              </a:rPr>
              <a:t>Intermediary</a:t>
            </a:r>
            <a:endParaRPr lang="en-US" sz="1600" dirty="0">
              <a:cs typeface="Calibri"/>
            </a:endParaRP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F325FA0-F60A-4B3A-B78C-1C4A28F29F61}"/>
              </a:ext>
            </a:extLst>
          </p:cNvPr>
          <p:cNvSpPr/>
          <p:nvPr/>
        </p:nvSpPr>
        <p:spPr>
          <a:xfrm>
            <a:off x="10522567" y="3105040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5F5013-4235-47F2-8B87-C2D7FC33DA8B}"/>
              </a:ext>
            </a:extLst>
          </p:cNvPr>
          <p:cNvSpPr txBox="1"/>
          <p:nvPr/>
        </p:nvSpPr>
        <p:spPr>
          <a:xfrm>
            <a:off x="8706756" y="796471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Direct Communication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994E9-7E7B-43B6-9BF8-D573694EB084}"/>
              </a:ext>
            </a:extLst>
          </p:cNvPr>
          <p:cNvSpPr txBox="1"/>
          <p:nvPr/>
        </p:nvSpPr>
        <p:spPr>
          <a:xfrm>
            <a:off x="8706755" y="2438399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Indirect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96889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MQTT">
            <a:extLst>
              <a:ext uri="{FF2B5EF4-FFF2-40B4-BE49-F238E27FC236}">
                <a16:creationId xmlns:a16="http://schemas.microsoft.com/office/drawing/2014/main" id="{FBB0F5CB-6430-4725-AECF-67952F3A8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2" r="16584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88442B-E82A-4B58-BEF1-B46F4F3E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MQTT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CF6B-E412-4F47-BDB8-3683BF445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sz="2000" dirty="0"/>
              <a:t>MQ Telemetry Transport (MQTT)</a:t>
            </a:r>
          </a:p>
          <a:p>
            <a:r>
              <a:rPr lang="en-IE" sz="2000" dirty="0"/>
              <a:t>Telemetry</a:t>
            </a:r>
          </a:p>
          <a:p>
            <a:pPr lvl="1"/>
            <a:r>
              <a:rPr lang="en-IE" sz="2000" dirty="0"/>
              <a:t>Remote measurements</a:t>
            </a:r>
          </a:p>
          <a:p>
            <a:r>
              <a:rPr lang="en-US" sz="2000" dirty="0"/>
              <a:t>C</a:t>
            </a:r>
            <a:r>
              <a:rPr lang="en-IE" sz="2000" err="1"/>
              <a:t>reated</a:t>
            </a:r>
            <a:r>
              <a:rPr lang="en-IE" sz="2000" dirty="0"/>
              <a:t> by IBM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from message queueing (MQ) architecture used by IBM for service oriented networks. </a:t>
            </a:r>
            <a:endParaRPr lang="en-IE" sz="2000" dirty="0">
              <a:cs typeface="Calibri"/>
            </a:endParaRPr>
          </a:p>
          <a:p>
            <a:pPr lvl="1"/>
            <a:r>
              <a:rPr lang="en-IE" sz="2000"/>
              <a:t>Telemetry data goes from devices to a server or </a:t>
            </a:r>
            <a:r>
              <a:rPr lang="en-IE" sz="2000" dirty="0"/>
              <a:t>broker.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Uses a </a:t>
            </a:r>
            <a:r>
              <a:rPr lang="en-IE" sz="2000" b="1" dirty="0"/>
              <a:t>publish/subscribe</a:t>
            </a:r>
            <a:r>
              <a:rPr lang="en-IE" sz="2000" dirty="0"/>
              <a:t> mechanism.</a:t>
            </a:r>
            <a:endParaRPr lang="en-IE" sz="2000" dirty="0">
              <a:cs typeface="Calibri"/>
            </a:endParaRPr>
          </a:p>
          <a:p>
            <a:r>
              <a:rPr lang="en-US" sz="2000" dirty="0"/>
              <a:t>Lightweight both in bandwidth and code footprint</a:t>
            </a:r>
            <a:endParaRPr lang="en-IE" sz="2000" dirty="0"/>
          </a:p>
          <a:p>
            <a:endParaRPr lang="en-IE" sz="2000" b="1" dirty="0"/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343720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MQTT">
            <a:extLst>
              <a:ext uri="{FF2B5EF4-FFF2-40B4-BE49-F238E27FC236}">
                <a16:creationId xmlns:a16="http://schemas.microsoft.com/office/drawing/2014/main" id="{57C523D5-F4B8-46D7-8FF1-65E6DA949C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" r="-2" b="-2"/>
          <a:stretch/>
        </p:blipFill>
        <p:spPr bwMode="auto">
          <a:xfrm>
            <a:off x="4636008" y="640082"/>
            <a:ext cx="6916329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3400D0-9859-4C30-A5FB-2EE02EF9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US" sz="4100"/>
              <a:t>MQTT – publish subscribe</a:t>
            </a:r>
            <a:endParaRPr lang="en-IE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0B847-6B22-4AF2-89CE-66DEA44E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3667037" cy="3785419"/>
          </a:xfrm>
        </p:spPr>
        <p:txBody>
          <a:bodyPr>
            <a:normAutofit/>
          </a:bodyPr>
          <a:lstStyle/>
          <a:p>
            <a:r>
              <a:rPr lang="en-IE" sz="1800" b="1" dirty="0"/>
              <a:t>Topics/Subscriptions:</a:t>
            </a:r>
            <a:r>
              <a:rPr lang="en-IE" sz="1800" dirty="0"/>
              <a:t> Messages are published to topics.</a:t>
            </a:r>
          </a:p>
          <a:p>
            <a:pPr lvl="1"/>
            <a:r>
              <a:rPr lang="en-IE" sz="1800" dirty="0"/>
              <a:t>Clients can subscribe to a topic or a set of related topics</a:t>
            </a:r>
          </a:p>
          <a:p>
            <a:r>
              <a:rPr lang="en-IE" sz="1800" b="1" dirty="0"/>
              <a:t>Publish/Subscribe</a:t>
            </a:r>
            <a:r>
              <a:rPr lang="en-IE" sz="1800" dirty="0"/>
              <a:t>: Clients can subscribe to topics or publish to topics.</a:t>
            </a:r>
          </a:p>
        </p:txBody>
      </p:sp>
    </p:spTree>
    <p:extLst>
      <p:ext uri="{BB962C8B-B14F-4D97-AF65-F5344CB8AC3E}">
        <p14:creationId xmlns:p14="http://schemas.microsoft.com/office/powerpoint/2010/main" val="1619397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publish subscribe">
            <a:extLst>
              <a:ext uri="{FF2B5EF4-FFF2-40B4-BE49-F238E27FC236}">
                <a16:creationId xmlns:a16="http://schemas.microsoft.com/office/drawing/2014/main" id="{0371F47C-74DF-4843-A93A-CDFEC01CE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4" y="1692266"/>
            <a:ext cx="4048434" cy="238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44F0C1-206B-4F5A-836C-65F43529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692" y="553999"/>
            <a:ext cx="6428964" cy="134497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Publish Subscribe</a:t>
            </a:r>
            <a:r>
              <a:rPr lang="en-US" sz="4000" dirty="0">
                <a:cs typeface="Calibri Light"/>
              </a:rPr>
              <a:t> Process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B98A-64A3-43A2-BB3A-20442B8BA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998" y="1690442"/>
            <a:ext cx="6932018" cy="46644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E" sz="2000" dirty="0"/>
              <a:t>A message is published once</a:t>
            </a:r>
            <a:r>
              <a:rPr lang="en-IE" sz="2000" dirty="0">
                <a:cs typeface="Calibri"/>
              </a:rPr>
              <a:t> by a publisher.</a:t>
            </a:r>
          </a:p>
          <a:p>
            <a:r>
              <a:rPr lang="en-IE" sz="2000" dirty="0"/>
              <a:t>Many things can receive the message. 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The messaging service, or “broker”, provides decoupling between the producer and consumer(s)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producer sends (publishes) a message (publication)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consumer subscribes (makes a subscription) for messages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message server / broker matches publications to subscriptions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no matches the message is discarded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one or more matches the message is delivered to each matching subscriber/consumer</a:t>
            </a:r>
            <a:endParaRPr lang="en-IE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634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12A1-B25F-4988-B69E-6CE5BC06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Publish-Subscribe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A0B6-D0E0-4B08-ADCC-AECA1DACF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568"/>
            <a:ext cx="10515600" cy="4566998"/>
          </a:xfrm>
        </p:spPr>
        <p:txBody>
          <a:bodyPr/>
          <a:lstStyle/>
          <a:p>
            <a:r>
              <a:rPr lang="en-IE" dirty="0"/>
              <a:t>A published messages may be </a:t>
            </a:r>
            <a:r>
              <a:rPr lang="en-IE" b="1" dirty="0"/>
              <a:t>retained</a:t>
            </a:r>
          </a:p>
          <a:p>
            <a:pPr lvl="1"/>
            <a:r>
              <a:rPr lang="en-IE" dirty="0"/>
              <a:t>A publisher can mark a message as “retained”</a:t>
            </a:r>
          </a:p>
          <a:p>
            <a:pPr lvl="1"/>
            <a:r>
              <a:rPr lang="en-IE" dirty="0"/>
              <a:t>The broker / server remembers the last known good message of a retained topic</a:t>
            </a:r>
          </a:p>
          <a:p>
            <a:pPr lvl="1"/>
            <a:r>
              <a:rPr lang="en-IE" dirty="0"/>
              <a:t>The broker / server gives the last known good message to new subscribers</a:t>
            </a:r>
          </a:p>
          <a:p>
            <a:r>
              <a:rPr lang="en-IE" dirty="0"/>
              <a:t>A Subscription can be </a:t>
            </a:r>
            <a:r>
              <a:rPr lang="en-IE" b="1" dirty="0"/>
              <a:t>durable or non-durable</a:t>
            </a:r>
          </a:p>
          <a:p>
            <a:pPr lvl="1"/>
            <a:r>
              <a:rPr lang="en-IE" dirty="0"/>
              <a:t>Durable: messages forwarded to subscriber immediately, if subscriber not connected, message is stored and forwarded when connected</a:t>
            </a:r>
          </a:p>
          <a:p>
            <a:pPr lvl="1"/>
            <a:r>
              <a:rPr lang="en-IE" dirty="0"/>
              <a:t>Non-Durable: subscription only active when subscriber is connected to the server / broker</a:t>
            </a:r>
          </a:p>
        </p:txBody>
      </p:sp>
    </p:spTree>
    <p:extLst>
      <p:ext uri="{BB962C8B-B14F-4D97-AF65-F5344CB8AC3E}">
        <p14:creationId xmlns:p14="http://schemas.microsoft.com/office/powerpoint/2010/main" val="3409765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33E3-6543-4001-A3C9-DA2FD5BD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E" dirty="0"/>
              <a:t>MQTT Characteristics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BF80-DBF3-4957-842A-25F285E67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85" y="1696229"/>
            <a:ext cx="627059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dirty="0"/>
              <a:t>MQTT protocol compresses to small number of bytes</a:t>
            </a:r>
          </a:p>
          <a:p>
            <a:pPr lvl="1"/>
            <a:r>
              <a:rPr lang="en-IE" dirty="0"/>
              <a:t>Smallest  packet size 2 bytes</a:t>
            </a:r>
          </a:p>
          <a:p>
            <a:pPr lvl="1"/>
            <a:r>
              <a:rPr lang="en-IE" dirty="0"/>
              <a:t>Supports always-connected and sometimes connected</a:t>
            </a:r>
          </a:p>
          <a:p>
            <a:pPr lvl="1"/>
            <a:r>
              <a:rPr lang="en-IE" dirty="0"/>
              <a:t>Provides Session awareness</a:t>
            </a:r>
          </a:p>
          <a:p>
            <a:pPr lvl="1"/>
            <a:r>
              <a:rPr lang="en-IE" dirty="0"/>
              <a:t>“Last will and testament” enable applications to know when a client goes offline abnormally</a:t>
            </a:r>
            <a:endParaRPr lang="en-IE" dirty="0">
              <a:cs typeface="Calibri"/>
            </a:endParaRPr>
          </a:p>
          <a:p>
            <a:pPr lvl="1"/>
            <a:r>
              <a:rPr lang="en-IE" dirty="0"/>
              <a:t>Typically utilises TCP-based networks.</a:t>
            </a:r>
            <a:endParaRPr lang="en-IE" dirty="0">
              <a:cs typeface="Calibri"/>
            </a:endParaRPr>
          </a:p>
        </p:txBody>
      </p:sp>
      <p:pic>
        <p:nvPicPr>
          <p:cNvPr id="8194" name="Picture 2" descr="Image result for MQTT packet size">
            <a:extLst>
              <a:ext uri="{FF2B5EF4-FFF2-40B4-BE49-F238E27FC236}">
                <a16:creationId xmlns:a16="http://schemas.microsoft.com/office/drawing/2014/main" id="{342F0404-C02F-4429-94E5-A94D67136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348" y="876719"/>
            <a:ext cx="4659989" cy="255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16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BC97-4503-4DAD-816E-97C34E77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MQTT Characteristics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4ECF7-A120-4E90-AD3A-877910361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5259" cy="4351338"/>
          </a:xfrm>
        </p:spPr>
        <p:txBody>
          <a:bodyPr/>
          <a:lstStyle/>
          <a:p>
            <a:r>
              <a:rPr lang="en-IE" dirty="0"/>
              <a:t>Three quality of service levels:</a:t>
            </a:r>
          </a:p>
          <a:p>
            <a:pPr lvl="1"/>
            <a:r>
              <a:rPr lang="en-IE" dirty="0"/>
              <a:t>0 = At most once (Best effort, No Ack),</a:t>
            </a:r>
          </a:p>
          <a:p>
            <a:pPr lvl="1"/>
            <a:r>
              <a:rPr lang="en-IE" dirty="0"/>
              <a:t>1 = At least once (</a:t>
            </a:r>
            <a:r>
              <a:rPr lang="en-IE" dirty="0" err="1"/>
              <a:t>Acked</a:t>
            </a:r>
            <a:r>
              <a:rPr lang="en-IE" dirty="0"/>
              <a:t>, retransmitted if ack not received),</a:t>
            </a:r>
          </a:p>
          <a:p>
            <a:pPr lvl="1"/>
            <a:r>
              <a:rPr lang="en-IE" dirty="0"/>
              <a:t>2 = Exactly once [Request to send (Publish), Clear-to-send</a:t>
            </a:r>
            <a:r>
              <a:rPr lang="fr-FR" dirty="0"/>
              <a:t>(</a:t>
            </a:r>
            <a:r>
              <a:rPr lang="fr-FR" dirty="0" err="1"/>
              <a:t>Pubrec</a:t>
            </a:r>
            <a:r>
              <a:rPr lang="fr-FR" dirty="0"/>
              <a:t>), message (</a:t>
            </a:r>
            <a:r>
              <a:rPr lang="fr-FR" dirty="0" err="1"/>
              <a:t>Pubrel</a:t>
            </a:r>
            <a:r>
              <a:rPr lang="fr-FR" dirty="0"/>
              <a:t>), </a:t>
            </a:r>
            <a:r>
              <a:rPr lang="fr-FR" dirty="0" err="1"/>
              <a:t>ack</a:t>
            </a:r>
            <a:r>
              <a:rPr lang="fr-FR" dirty="0"/>
              <a:t> (</a:t>
            </a:r>
            <a:r>
              <a:rPr lang="fr-FR" dirty="0" err="1"/>
              <a:t>Pubcomp</a:t>
            </a:r>
            <a:r>
              <a:rPr lang="fr-FR" dirty="0"/>
              <a:t>)]</a:t>
            </a:r>
          </a:p>
          <a:p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06377-3B66-4DC8-AF63-B154EAD12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459" y="2098675"/>
            <a:ext cx="46101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1CB442-BFF2-4C09-A2DC-52AB52AAB49C}"/>
              </a:ext>
            </a:extLst>
          </p:cNvPr>
          <p:cNvSpPr txBox="1"/>
          <p:nvPr/>
        </p:nvSpPr>
        <p:spPr>
          <a:xfrm>
            <a:off x="6565900" y="5300662"/>
            <a:ext cx="542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https://dzone.com/articles/internet-things-mqtt-quality</a:t>
            </a:r>
          </a:p>
        </p:txBody>
      </p:sp>
    </p:spTree>
    <p:extLst>
      <p:ext uri="{BB962C8B-B14F-4D97-AF65-F5344CB8AC3E}">
        <p14:creationId xmlns:p14="http://schemas.microsoft.com/office/powerpoint/2010/main" val="131523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555081-9559-4E0E-91F8-C7EE655C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 dirty="0">
                <a:solidFill>
                  <a:srgbClr val="FFFFFF"/>
                </a:solidFill>
              </a:rPr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63F4-3A19-4946-8D4D-D7B3EE099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2200" b="0" i="0">
                <a:effectLst/>
                <a:latin typeface="Arial" panose="020B0604020202020204" pitchFamily="34" charset="0"/>
              </a:rPr>
              <a:t>The MQTT protocol uses MQTT Control Packets using the Control Header.</a:t>
            </a:r>
          </a:p>
          <a:p>
            <a:r>
              <a:rPr lang="en-GB" sz="2200" b="0" i="0">
                <a:effectLst/>
                <a:latin typeface="Arial" panose="020B0604020202020204" pitchFamily="34" charset="0"/>
              </a:rPr>
              <a:t>Control Packet consists of three parts:</a:t>
            </a:r>
          </a:p>
          <a:p>
            <a:pPr lvl="1"/>
            <a:r>
              <a:rPr lang="en-GB" sz="2200" b="0" i="0">
                <a:effectLst/>
                <a:latin typeface="Arial" panose="020B0604020202020204" pitchFamily="34" charset="0"/>
              </a:rPr>
              <a:t> </a:t>
            </a:r>
            <a:r>
              <a:rPr lang="en-GB" sz="2200" b="0" i="1">
                <a:effectLst/>
                <a:latin typeface="Arial" panose="020B0604020202020204" pitchFamily="34" charset="0"/>
              </a:rPr>
              <a:t>fixed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(present in all packets), 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variable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Payload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  <a:endParaRPr lang="en-IE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94B1C-BDB4-42B8-9A4D-465324CBF2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5" r="18055" b="-2"/>
          <a:stretch/>
        </p:blipFill>
        <p:spPr>
          <a:xfrm>
            <a:off x="6098892" y="2492376"/>
            <a:ext cx="4802404" cy="3563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A6CCA9-4612-40EE-9121-84F63007E5F3}"/>
              </a:ext>
            </a:extLst>
          </p:cNvPr>
          <p:cNvSpPr txBox="1"/>
          <p:nvPr/>
        </p:nvSpPr>
        <p:spPr>
          <a:xfrm>
            <a:off x="149845" y="6404454"/>
            <a:ext cx="1210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https://docs.devicewise.com/Content/Products/IoT_Portal_API_Reference_Guide/MQTT_Interface/MQTT-Control-Packets.htm</a:t>
            </a:r>
          </a:p>
        </p:txBody>
      </p:sp>
    </p:spTree>
    <p:extLst>
      <p:ext uri="{BB962C8B-B14F-4D97-AF65-F5344CB8AC3E}">
        <p14:creationId xmlns:p14="http://schemas.microsoft.com/office/powerpoint/2010/main" val="1436555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9312-0C74-4ED4-A7B9-D2CA953D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7918-0ABA-43D7-AE86-4186B5458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MQTT Control Packet Types</a:t>
            </a:r>
            <a:br>
              <a:rPr lang="en-IE" dirty="0"/>
            </a:b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3B2DB1-7781-473D-933F-D707FF14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63" y="3111500"/>
            <a:ext cx="109061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3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69B4D0-270A-474D-AFC1-3B5D053C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MQTT Last Will and Testament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C927-225E-4097-9880-F8D42CE42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1700"/>
              <a:t>Notify other clients about an ungraceful disconnected client. </a:t>
            </a:r>
          </a:p>
          <a:p>
            <a:r>
              <a:rPr lang="en-GB" sz="1700"/>
              <a:t>Client can specify its last will message when it connects to a broker.</a:t>
            </a:r>
          </a:p>
          <a:p>
            <a:pPr lvl="1"/>
            <a:r>
              <a:rPr lang="en-GB" sz="1700"/>
              <a:t>normal MQTT message with a topic, retained message flag, QoS, and payload</a:t>
            </a:r>
          </a:p>
          <a:p>
            <a:pPr lvl="1"/>
            <a:r>
              <a:rPr lang="en-GB" sz="1700"/>
              <a:t>When an “ungraceful disconnect” occurs, the broker sends the last-will message to all subscribed clients of the last-will message topic.</a:t>
            </a:r>
          </a:p>
          <a:p>
            <a:endParaRPr lang="en-IE" sz="170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9ECA277-84B1-4416-B5B7-7D617B88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892" y="2893371"/>
            <a:ext cx="4802404" cy="27613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1975B4-3CCC-4500-8394-3F166D7536F9}"/>
              </a:ext>
            </a:extLst>
          </p:cNvPr>
          <p:cNvSpPr txBox="1"/>
          <p:nvPr/>
        </p:nvSpPr>
        <p:spPr>
          <a:xfrm>
            <a:off x="1926803" y="6057609"/>
            <a:ext cx="929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https://www.hivemq.com/blog/mqtt-essentials-part-9-last-will-and-testament/</a:t>
            </a:r>
          </a:p>
        </p:txBody>
      </p:sp>
    </p:spTree>
    <p:extLst>
      <p:ext uri="{BB962C8B-B14F-4D97-AF65-F5344CB8AC3E}">
        <p14:creationId xmlns:p14="http://schemas.microsoft.com/office/powerpoint/2010/main" val="233090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Image result for hivemq">
            <a:extLst>
              <a:ext uri="{FF2B5EF4-FFF2-40B4-BE49-F238E27FC236}">
                <a16:creationId xmlns:a16="http://schemas.microsoft.com/office/drawing/2014/main" id="{ADBCBA26-B4B9-450F-814F-457C22B17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87" y="4452055"/>
            <a:ext cx="1765864" cy="176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osquitto">
            <a:extLst>
              <a:ext uri="{FF2B5EF4-FFF2-40B4-BE49-F238E27FC236}">
                <a16:creationId xmlns:a16="http://schemas.microsoft.com/office/drawing/2014/main" id="{0FEFF5BB-3A55-477C-BB1F-B33EF7970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401" y="306909"/>
            <a:ext cx="1785027" cy="175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www.cloudmqtt.com/images/iot.png">
            <a:extLst>
              <a:ext uri="{FF2B5EF4-FFF2-40B4-BE49-F238E27FC236}">
                <a16:creationId xmlns:a16="http://schemas.microsoft.com/office/drawing/2014/main" id="{B3AC16E2-1E4A-4489-9176-06E908BE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545" y="2386895"/>
            <a:ext cx="3258743" cy="174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207FB7-6E4F-47A5-88EE-A677698E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713140" cy="1344975"/>
          </a:xfrm>
        </p:spPr>
        <p:txBody>
          <a:bodyPr>
            <a:normAutofit/>
          </a:bodyPr>
          <a:lstStyle/>
          <a:p>
            <a:r>
              <a:rPr lang="en-US" sz="4000"/>
              <a:t>MQTT is Open Source</a:t>
            </a:r>
            <a:endParaRPr lang="en-I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8107-B101-4E61-9184-82ADE241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4" y="2121762"/>
            <a:ext cx="6723145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Lots of implementations:</a:t>
            </a:r>
          </a:p>
          <a:p>
            <a:pPr lvl="2"/>
            <a:r>
              <a:rPr lang="en-IE" sz="2400" err="1"/>
              <a:t>Mosquitto</a:t>
            </a:r>
            <a:endParaRPr lang="en-IE" sz="2400"/>
          </a:p>
          <a:p>
            <a:pPr lvl="2"/>
            <a:r>
              <a:rPr lang="en-IE" sz="2400" dirty="0"/>
              <a:t>Micro broker</a:t>
            </a:r>
          </a:p>
          <a:p>
            <a:pPr lvl="2"/>
            <a:r>
              <a:rPr lang="en-IE" sz="2400" dirty="0"/>
              <a:t>Really small message broker (RSMB): C</a:t>
            </a:r>
          </a:p>
          <a:p>
            <a:pPr lvl="2"/>
            <a:r>
              <a:rPr lang="en-US" sz="2400"/>
              <a:t>Cloud broker services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1378384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7F88-2A19-4353-8CCE-E88B4358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/>
              <a:t>MQTT vs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D32-73AB-4DAD-AEDA-3609E639A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1107514" cy="4065986"/>
          </a:xfrm>
        </p:spPr>
        <p:txBody>
          <a:bodyPr anchor="t">
            <a:normAutofit/>
          </a:bodyPr>
          <a:lstStyle/>
          <a:p>
            <a:r>
              <a:rPr lang="en-IE" dirty="0"/>
              <a:t>Push delivery of messages / data / events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– low latency push delivery of messages from client to server and </a:t>
            </a:r>
            <a:r>
              <a:rPr lang="en-IE" sz="2800" b="1" dirty="0"/>
              <a:t>server to client. </a:t>
            </a:r>
            <a:r>
              <a:rPr lang="en-IE" sz="2800" dirty="0"/>
              <a:t>Helps bring an event oriented architecture to the web</a:t>
            </a:r>
            <a:endParaRPr lang="en-IE" sz="2800" dirty="0">
              <a:cs typeface="Calibri"/>
            </a:endParaRPr>
          </a:p>
          <a:p>
            <a:pPr lvl="1"/>
            <a:r>
              <a:rPr lang="en-IE" sz="2800" dirty="0"/>
              <a:t>HTTP – push from client to server but poll from server to client</a:t>
            </a:r>
            <a:endParaRPr lang="en-IE" sz="2800" dirty="0">
              <a:cs typeface="Calibri"/>
            </a:endParaRPr>
          </a:p>
          <a:p>
            <a:r>
              <a:rPr lang="en-IE" dirty="0"/>
              <a:t>Reliable delivery over fragile network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will deliver message to QOS even </a:t>
            </a:r>
            <a:r>
              <a:rPr lang="en-IE" sz="2800" b="1" dirty="0"/>
              <a:t>across connection breaks</a:t>
            </a:r>
            <a:endParaRPr lang="en-IE" sz="2800" b="1" dirty="0">
              <a:cs typeface="Calibri"/>
            </a:endParaRPr>
          </a:p>
          <a:p>
            <a:pPr lvl="1"/>
            <a:r>
              <a:rPr lang="en-IE" sz="2800" dirty="0"/>
              <a:t>Decoupling and publish subscribe – </a:t>
            </a:r>
            <a:r>
              <a:rPr lang="en-IE" sz="2800" b="1" dirty="0"/>
              <a:t>one to many delivery</a:t>
            </a:r>
            <a:endParaRPr lang="en-IE" sz="2800" dirty="0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AD3D3-C3E1-4217-AEC7-519ED9BC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8746" y="6356350"/>
            <a:ext cx="4181571" cy="365125"/>
          </a:xfrm>
          <a:effectLst/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E"/>
              <a:t>http://stephendnicholas.com/archives/1217</a:t>
            </a:r>
          </a:p>
        </p:txBody>
      </p:sp>
    </p:spTree>
    <p:extLst>
      <p:ext uri="{BB962C8B-B14F-4D97-AF65-F5344CB8AC3E}">
        <p14:creationId xmlns:p14="http://schemas.microsoft.com/office/powerpoint/2010/main" val="3058836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1B66-640A-4B9D-84BD-35940EE0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vs HTTP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2D3414-829A-42E4-8C5B-27B5B29F3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628" y="1690688"/>
            <a:ext cx="8049457" cy="371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25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53B44DC-038F-4413-9094-5B85FDA2B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91" y="1080114"/>
            <a:ext cx="10576969" cy="4100956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A4E2292-8C00-45E8-8886-07A8F1604469}"/>
              </a:ext>
            </a:extLst>
          </p:cNvPr>
          <p:cNvSpPr txBox="1"/>
          <p:nvPr/>
        </p:nvSpPr>
        <p:spPr>
          <a:xfrm>
            <a:off x="2343509" y="5515154"/>
            <a:ext cx="6383547" cy="646331"/>
          </a:xfrm>
          <a:prstGeom prst="rect">
            <a:avLst/>
          </a:prstGeom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22222"/>
                </a:solidFill>
                <a:latin typeface="arial"/>
                <a:cs typeface="arial"/>
              </a:rPr>
              <a:t>  *sending and receiving 1024 messages of 1 byte each.(source: 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https://www.ibm.com/developerworks</a:t>
            </a:r>
            <a:r>
              <a:rPr lang="en-US" dirty="0">
                <a:latin typeface="arial"/>
                <a:cs typeface="arial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964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CFFC5B-5A0B-416C-A5D9-179A11A2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4" y="3924388"/>
            <a:ext cx="10924863" cy="2870423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0A92C1-977B-44F3-901D-4332BA8A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 dirty="0"/>
              <a:t>Application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DB013-5EBD-4012-8A47-F2093756E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000457" cy="2125043"/>
          </a:xfrm>
        </p:spPr>
        <p:txBody>
          <a:bodyPr anchor="t">
            <a:normAutofit fontScale="92500" lnSpcReduction="20000"/>
          </a:bodyPr>
          <a:lstStyle/>
          <a:p>
            <a:r>
              <a:rPr lang="en-IE" sz="2600" dirty="0"/>
              <a:t>Home care monitoring solution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Home and patient instrumented with sensors.</a:t>
            </a:r>
            <a:endParaRPr lang="en-IE" sz="2600" dirty="0">
              <a:cs typeface="Calibri"/>
            </a:endParaRPr>
          </a:p>
          <a:p>
            <a:pPr lvl="2"/>
            <a:r>
              <a:rPr lang="en-IE" sz="2600" dirty="0"/>
              <a:t>E.g. door motion, blood pressure, pacemaker/defib.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Collected by monitoring service (broker) using MQTT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Subscribed by a health care service in the hospital</a:t>
            </a:r>
            <a:endParaRPr lang="en-IE" sz="2600" dirty="0">
              <a:cs typeface="Calibri"/>
            </a:endParaRPr>
          </a:p>
          <a:p>
            <a:pPr lvl="1"/>
            <a:r>
              <a:rPr lang="en-IE" dirty="0"/>
              <a:t>Alerts relations/health care profs. if anything is out-of-order</a:t>
            </a:r>
            <a:endParaRPr lang="en-IE" dirty="0">
              <a:cs typeface="Calibri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1A41AC1-C3CF-E278-80F0-23DF63988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570" y="828876"/>
            <a:ext cx="4554147" cy="10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669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D669-6352-4942-B289-4110E0C3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Code Example: Python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83FEBD-F60F-A219-7E9E-87E4174F3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746" y="2155795"/>
            <a:ext cx="5969307" cy="226706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7C50C9-4670-46B7-9C72-5EF844554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46" y="1414463"/>
            <a:ext cx="2171700" cy="276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286BC6-66CB-5775-581A-2BFF2FFC7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46" y="1777184"/>
            <a:ext cx="1797142" cy="2921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90CFE6-D2F6-0994-AACD-CB822D310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46" y="4509358"/>
            <a:ext cx="4972306" cy="139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22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</Words>
  <Application>Microsoft Office PowerPoint</Application>
  <PresentationFormat>Widescreen</PresentationFormat>
  <Paragraphs>113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</vt:lpstr>
      <vt:lpstr>Calibri</vt:lpstr>
      <vt:lpstr>Calibri Light</vt:lpstr>
      <vt:lpstr>Wingdings</vt:lpstr>
      <vt:lpstr>Office Theme</vt:lpstr>
      <vt:lpstr>Indirect Messaging</vt:lpstr>
      <vt:lpstr>Agenda </vt:lpstr>
      <vt:lpstr>Indirect Messaging</vt:lpstr>
      <vt:lpstr>Using the “Middleman”</vt:lpstr>
      <vt:lpstr>MQTT</vt:lpstr>
      <vt:lpstr>MQTT – publish subscribe</vt:lpstr>
      <vt:lpstr>Publish Subscribe Process</vt:lpstr>
      <vt:lpstr>Publish-Subscribe Characteristics</vt:lpstr>
      <vt:lpstr>MQTT Characteristics </vt:lpstr>
      <vt:lpstr>MQTT Characteristics</vt:lpstr>
      <vt:lpstr>MQTT Control Packets</vt:lpstr>
      <vt:lpstr>MQTT Control Packets</vt:lpstr>
      <vt:lpstr>MQTT Last Will and Testament</vt:lpstr>
      <vt:lpstr>MQTT is Open Source</vt:lpstr>
      <vt:lpstr>MQTT vs HTTP</vt:lpstr>
      <vt:lpstr>MQTT vs HTTP</vt:lpstr>
      <vt:lpstr>PowerPoint Presentation</vt:lpstr>
      <vt:lpstr>Application Example</vt:lpstr>
      <vt:lpstr>Code Example: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APIs and Indirect Messaging</dc:title>
  <dc:creator>Frank X Walsh</dc:creator>
  <cp:lastModifiedBy>Frank Walsh</cp:lastModifiedBy>
  <cp:revision>12</cp:revision>
  <dcterms:created xsi:type="dcterms:W3CDTF">2020-10-19T10:45:15Z</dcterms:created>
  <dcterms:modified xsi:type="dcterms:W3CDTF">2025-01-29T11:25:25Z</dcterms:modified>
</cp:coreProperties>
</file>