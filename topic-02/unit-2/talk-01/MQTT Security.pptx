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6" r:id="rId2"/>
    <p:sldId id="113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1134" r:id="rId11"/>
    <p:sldId id="11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8" y="5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2666-8E6A-D59A-D617-2DA3A6F9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EB67B-CC2B-8C30-E1D5-B271D0955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99B2-3002-C07E-11E4-B1B818183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51220-26B2-1349-119A-DB3CDD3C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895BC-9914-B468-8A5B-FC13B8DD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613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070E-7F1C-3DC7-F819-B13BEEA6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426E-FB57-726E-041E-928BB53DE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6E141-E2C7-243D-BFA2-1C758AF2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3E478-D781-2465-E8E1-6C67EEFF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4358-FD48-2921-18B1-A7782B95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191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C706-64B0-C8C6-A771-017E63A2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57116-8E53-915D-3EF8-7FA29F162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31BB-9192-8603-9D05-1EDB4C1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CB87B-BADC-015D-D934-0AEE98AC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56F70-B5BA-28A7-B176-E7886ADF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252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A4C9-215C-D808-8661-A8291091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32D23-AFBB-814F-FC33-35F89BBE2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EF25C-2CF0-0D34-F329-CB216B52F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84373-272D-4900-7262-DA577B290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FC246-D117-650F-84BA-D3A356E87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A7B83-D83D-1BB2-9EAF-8C6A31F9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7590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CB34-CE17-319C-7A2B-3DC10F01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1D53E-64DA-EF97-9BB7-CF21B4DC8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5F0DE-9A5B-8D9F-5D2A-FEFEE31B7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A2B940-6DA0-7B81-B4FA-1661A5EEF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9C670-DBB0-2AA9-410C-70AB78FFE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7CD5BD-F967-67DE-7555-B2787412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76EBA-94DE-A33D-D703-92010B577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B427E-65DA-2D64-9B9C-F657214D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791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B0199-6110-39C5-8F62-81FC79BB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A63F0-1231-9482-09B6-17BF5459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0D3E-84F8-7CB7-5CD2-AA7CA72F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DD089-A3B4-8C46-C8DD-13D22AFE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787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29EDAA-0AE2-A756-7922-3DB09EB2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8B4D7-38C5-BF1D-D131-50D285B7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86505-66A7-CCA1-299A-5127C6149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282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243D-0168-6B03-BA3C-1FA9F3BB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150FE-E790-C41E-E6F1-96F2604E7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2804B-6A2D-192D-6A69-D3BDCA1AB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E532F-68E5-6977-9E7F-8E80D685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93895-F045-5972-9931-31A5AE391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A8B89-2F8A-6373-C687-9B8A32D1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523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BC80-DDEF-5C2F-C529-2120EE0A3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18F8FD-1812-3EA6-D23D-C6E5808F5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AF1D0-3BF9-BD42-71E0-21E6DB2F6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DE190-164C-9A0B-56D5-D4C4FC77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03B30-C77F-DF0F-894E-02B54D7F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876D6-9B0D-D566-5EFC-7D05E347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279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8340-F109-82E7-506A-B4AAE81D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6AE93-AA7A-BA5B-86BF-1EC1936E5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FE5B-1C78-6D7B-479E-100BCE38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3E8D4-6496-080E-9016-D79E906F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8CB4D-D49C-3716-7D39-665C5861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3534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F1331-B77E-4AFC-7EC4-339301EAC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8ED26-8FCA-B57E-5D1D-6AA20B66B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F2361-7D67-8363-EF4A-C8B3FFDC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B71B4-E21D-7D04-F931-0C023EFF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8E452-E9F1-1F09-CB9C-AF9BD0BE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835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0DD6B-791F-B584-B279-F4249305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8D790-7DF8-157C-8149-2AF32C197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61280-0C99-9DF3-9563-569E774A6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70863-458D-49A3-B7A8-59462DAD1516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90876-F180-0AF4-875C-6D2E5264B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08FDA-DBC7-26A2-7919-3D924A8AF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9163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yber-security-encryption-security-2537786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p.org/journal/paperinformation.aspx?paperid=10421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whosting.com/blog/en/transport-layer-security-tls-work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versity.org/wiki/Internet_Protocol_Analysis/Network_Monitoring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3FA1-FA13-4594-82E7-765635DC3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MQTT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52642-8E5A-4CD6-A133-1BC126D8E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Frank Walsh</a:t>
            </a:r>
          </a:p>
        </p:txBody>
      </p:sp>
    </p:spTree>
    <p:extLst>
      <p:ext uri="{BB962C8B-B14F-4D97-AF65-F5344CB8AC3E}">
        <p14:creationId xmlns:p14="http://schemas.microsoft.com/office/powerpoint/2010/main" val="66457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5858-5DC6-6D7B-D4CA-46901607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Not good…..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D4A6F-85F0-F71D-007E-9FB4E2EF4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86733"/>
            <a:ext cx="10905066" cy="417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12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38C9-0A99-466E-81F2-3C0BC936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E" dirty="0"/>
              <a:t>Security in IoT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D0B92E5-4A70-49C8-8B1E-3C42AC9ED6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3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279A-C36D-47FA-864D-EFFEABE4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GB" sz="1700" b="0" i="0" dirty="0">
                <a:effectLst/>
                <a:latin typeface="roboto"/>
              </a:rPr>
              <a:t>Internet of Things presents new security implementation challenges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IoT devices have limited computing power and memory capacity</a:t>
            </a:r>
            <a:endParaRPr lang="en-GB" sz="1700" dirty="0">
              <a:latin typeface="roboto"/>
            </a:endParaRPr>
          </a:p>
          <a:p>
            <a:pPr lvl="1"/>
            <a:r>
              <a:rPr lang="en-GB" sz="1700" dirty="0">
                <a:latin typeface="roboto"/>
              </a:rPr>
              <a:t>C</a:t>
            </a:r>
            <a:r>
              <a:rPr lang="en-GB" sz="1700" b="0" i="0" dirty="0">
                <a:effectLst/>
                <a:latin typeface="roboto"/>
              </a:rPr>
              <a:t>ryptographic algorithms may require more resources than constrained IoT devices possess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Critical security issues </a:t>
            </a:r>
            <a:r>
              <a:rPr lang="en-GB" sz="1700" dirty="0">
                <a:latin typeface="roboto"/>
              </a:rPr>
              <a:t>may</a:t>
            </a:r>
            <a:r>
              <a:rPr lang="en-GB" sz="1700" b="0" i="0" dirty="0">
                <a:effectLst/>
                <a:latin typeface="roboto"/>
              </a:rPr>
              <a:t> require updates to be rolled out to all devices simultaneously can be affected by unreliable networks on which many IoT devices</a:t>
            </a:r>
          </a:p>
          <a:p>
            <a:r>
              <a:rPr lang="en-GB" sz="1700" b="1" i="0" dirty="0">
                <a:effectLst/>
                <a:latin typeface="roboto"/>
              </a:rPr>
              <a:t>Security is a critical concern for developers of IoT applications.</a:t>
            </a:r>
          </a:p>
          <a:p>
            <a:pPr marL="0" indent="0">
              <a:buNone/>
            </a:pPr>
            <a:endParaRPr lang="en-IE" sz="1700" dirty="0"/>
          </a:p>
        </p:txBody>
      </p:sp>
    </p:spTree>
    <p:extLst>
      <p:ext uri="{BB962C8B-B14F-4D97-AF65-F5344CB8AC3E}">
        <p14:creationId xmlns:p14="http://schemas.microsoft.com/office/powerpoint/2010/main" val="277510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D6D3-653B-46B0-AB7C-28A9CDA3F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E" sz="3600"/>
              <a:t>Security in MQTT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79726-17A7-4041-8EE4-11FA84A91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IE" sz="1400" dirty="0"/>
              <a:t>We can take a “layered” approach over the protocol stack</a:t>
            </a:r>
          </a:p>
          <a:p>
            <a:r>
              <a:rPr lang="en-GB" sz="1400" dirty="0"/>
              <a:t>MQTT specifies only a few security mechanisms</a:t>
            </a:r>
          </a:p>
          <a:p>
            <a:r>
              <a:rPr lang="en-GB" sz="1400" dirty="0"/>
              <a:t>MQTT uses other accepted security standards at the various levels: 	</a:t>
            </a:r>
          </a:p>
          <a:p>
            <a:pPr lvl="1"/>
            <a:r>
              <a:rPr lang="en-GB" sz="1400" dirty="0" err="1"/>
              <a:t>E.g.SSL</a:t>
            </a:r>
            <a:r>
              <a:rPr lang="en-GB" sz="1400" dirty="0"/>
              <a:t>/TLS for transport security. </a:t>
            </a:r>
            <a:endParaRPr lang="en-IE" sz="1400" dirty="0"/>
          </a:p>
          <a:p>
            <a:r>
              <a:rPr lang="en-IE" sz="1400" b="1" dirty="0"/>
              <a:t>Network Layer: </a:t>
            </a:r>
            <a:r>
              <a:rPr lang="en-IE" sz="1400" dirty="0"/>
              <a:t>Use</a:t>
            </a:r>
            <a:r>
              <a:rPr lang="en-GB" sz="1400" dirty="0"/>
              <a:t> a VPN for all communication between clients and brokers. Gateway-based applications, the gateway is connected to devices on the one hand and with the broker over VPN on the other side.</a:t>
            </a:r>
          </a:p>
          <a:p>
            <a:r>
              <a:rPr lang="en-GB" sz="1400" b="1" dirty="0"/>
              <a:t>Transport Layer: </a:t>
            </a:r>
            <a:r>
              <a:rPr lang="en-IE" sz="1400" b="1" dirty="0"/>
              <a:t> </a:t>
            </a:r>
            <a:r>
              <a:rPr lang="en-IE" sz="1400" dirty="0"/>
              <a:t>TLS/SSL</a:t>
            </a:r>
          </a:p>
          <a:p>
            <a:r>
              <a:rPr lang="en-IE" sz="1400" b="1" dirty="0"/>
              <a:t>Application Layer: </a:t>
            </a:r>
            <a:r>
              <a:rPr lang="en-IE" sz="1400" dirty="0"/>
              <a:t>Authorisation using username/password provided by the Protocol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205953F5-4295-4402-B8A2-88ADD046C3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1641" b="1"/>
          <a:stretch/>
        </p:blipFill>
        <p:spPr>
          <a:xfrm>
            <a:off x="5295320" y="1823140"/>
            <a:ext cx="6253212" cy="42815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E4F5CB-8BD2-416C-8314-23D181CD667B}"/>
              </a:ext>
            </a:extLst>
          </p:cNvPr>
          <p:cNvSpPr txBox="1"/>
          <p:nvPr/>
        </p:nvSpPr>
        <p:spPr>
          <a:xfrm>
            <a:off x="9361715" y="5904658"/>
            <a:ext cx="218681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scirp.org/journal/paperinformation.aspx?paperid=1042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612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4A45-E66D-4495-9784-2F00489C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MQTT Authentication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C7213-0E2A-48FC-A392-D60B6C6F0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MQTT protocol provides username and password fields in the CONNECT message for authentication</a:t>
            </a:r>
          </a:p>
          <a:p>
            <a:pPr lvl="1"/>
            <a:r>
              <a:rPr lang="en-GB" dirty="0"/>
              <a:t>Username is an UTF-8 encoded string. </a:t>
            </a:r>
          </a:p>
          <a:p>
            <a:pPr lvl="1"/>
            <a:r>
              <a:rPr lang="en-GB" dirty="0"/>
              <a:t>Password is binary data with a maximum of 65535 bytes.</a:t>
            </a:r>
          </a:p>
          <a:p>
            <a:r>
              <a:rPr lang="en-GB" dirty="0"/>
              <a:t>The MQTT broker evaluates credentials  and returns one of the following return codes:</a:t>
            </a:r>
          </a:p>
          <a:p>
            <a:pPr lvl="1"/>
            <a:r>
              <a:rPr lang="en-GB" dirty="0"/>
              <a:t>0 – Connection Accepted</a:t>
            </a:r>
          </a:p>
          <a:p>
            <a:pPr lvl="1"/>
            <a:r>
              <a:rPr lang="en-GB" dirty="0"/>
              <a:t>4 – Connection Refused, bad username/password</a:t>
            </a:r>
          </a:p>
          <a:p>
            <a:pPr lvl="1"/>
            <a:r>
              <a:rPr lang="en-GB" dirty="0"/>
              <a:t>5 – Connection Refused, not authorised</a:t>
            </a:r>
          </a:p>
          <a:p>
            <a:r>
              <a:rPr lang="en-GB" dirty="0"/>
              <a:t>Username/password sent as plain text - </a:t>
            </a:r>
            <a:r>
              <a:rPr lang="en-GB" b="1" dirty="0"/>
              <a:t>Secure transmission of usernames and passwords requires transport encryption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390401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2E22-ADF7-4AC9-ACD3-9F9460B6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4"/>
            <a:ext cx="10515600" cy="1481188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Transport Layer Security (TLS)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2307-CBB2-44B3-8ED9-E2497D41B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128"/>
            <a:ext cx="6430818" cy="4834658"/>
          </a:xfrm>
        </p:spPr>
        <p:txBody>
          <a:bodyPr>
            <a:normAutofit/>
          </a:bodyPr>
          <a:lstStyle/>
          <a:p>
            <a:r>
              <a:rPr lang="en-GB" sz="2000" dirty="0"/>
              <a:t>TLS provide a secure communication channel between a client and a server </a:t>
            </a:r>
            <a:r>
              <a:rPr lang="en-GB" sz="2000" b="1" dirty="0"/>
              <a:t>at Transport Layer.</a:t>
            </a:r>
          </a:p>
          <a:p>
            <a:r>
              <a:rPr lang="en-GB" sz="2000" dirty="0"/>
              <a:t>TLS is  a cryptographic protocol which use a handshake mechanism to negotiate various parameters to create a secure connection between the client and the server.</a:t>
            </a:r>
          </a:p>
          <a:p>
            <a:r>
              <a:rPr lang="en-GB" sz="2000" b="1" dirty="0"/>
              <a:t>Servers provide a certificate </a:t>
            </a:r>
            <a:r>
              <a:rPr lang="en-GB" sz="2000" dirty="0"/>
              <a:t>(typically issued by a trusted authority) that clients use to verify the identity of the server.</a:t>
            </a:r>
          </a:p>
          <a:p>
            <a:r>
              <a:rPr lang="en-GB" sz="2000" dirty="0"/>
              <a:t>While the additional CPU usage is typically negligible on the broker, </a:t>
            </a:r>
            <a:r>
              <a:rPr lang="en-GB" sz="2000" b="1" dirty="0"/>
              <a:t>small constrained devices are not designed for computation-intensive tasks</a:t>
            </a:r>
            <a:r>
              <a:rPr lang="en-GB" sz="2000" dirty="0"/>
              <a:t>.</a:t>
            </a:r>
          </a:p>
          <a:p>
            <a:r>
              <a:rPr lang="en-GB" sz="2000" dirty="0"/>
              <a:t>If TLS is not possible</a:t>
            </a:r>
            <a:r>
              <a:rPr lang="en-GB" sz="2000" b="1" dirty="0"/>
              <a:t>, payload encryption and at least hash or encrypt the password in the CONNECT message of your client.</a:t>
            </a:r>
            <a:endParaRPr lang="en-IE" sz="2000" b="1" dirty="0"/>
          </a:p>
        </p:txBody>
      </p:sp>
      <p:pic>
        <p:nvPicPr>
          <p:cNvPr id="5" name="Picture 4" descr="Logo, icon&#10;&#10;Description automatically generated">
            <a:extLst>
              <a:ext uri="{FF2B5EF4-FFF2-40B4-BE49-F238E27FC236}">
                <a16:creationId xmlns:a16="http://schemas.microsoft.com/office/drawing/2014/main" id="{89AF8231-1F3E-44B2-B0F1-4DA4545F6B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929" b="4"/>
          <a:stretch/>
        </p:blipFill>
        <p:spPr>
          <a:xfrm>
            <a:off x="7198553" y="2475203"/>
            <a:ext cx="3730372" cy="25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2782-E266-49EB-BE2A-31ECE1A41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E" sz="3600"/>
              <a:t>Application Level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452D-63F7-44F1-AED0-B2E9C6422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 lnSpcReduction="10000"/>
          </a:bodyPr>
          <a:lstStyle/>
          <a:p>
            <a:r>
              <a:rPr lang="en-GB" sz="1900"/>
              <a:t>End to End encryption between publisher and subscriber</a:t>
            </a:r>
          </a:p>
          <a:p>
            <a:r>
              <a:rPr lang="en-GB" sz="1900"/>
              <a:t>Encrypt the payload without having to configure the MQTT broker</a:t>
            </a:r>
          </a:p>
          <a:p>
            <a:pPr lvl="1"/>
            <a:r>
              <a:rPr lang="en-GB" sz="1900"/>
              <a:t>Means publisher and subscriber applications have to “know” encryption/decryption method. Has to be coded</a:t>
            </a:r>
          </a:p>
          <a:p>
            <a:r>
              <a:rPr lang="en-GB" sz="1900"/>
              <a:t>Possible alternative for constrained devices that cannot support TLS</a:t>
            </a:r>
          </a:p>
          <a:p>
            <a:r>
              <a:rPr lang="en-GB" sz="1900"/>
              <a:t>Possible (less secure) alternative for using public brokers.</a:t>
            </a:r>
          </a:p>
          <a:p>
            <a:endParaRPr lang="en-IE" sz="1900"/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42235E1A-6232-4569-81F2-322C53F64B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87" r="-2" b="-2"/>
          <a:stretch/>
        </p:blipFill>
        <p:spPr>
          <a:xfrm>
            <a:off x="6876324" y="1782982"/>
            <a:ext cx="3091200" cy="2116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FCB750-F621-468D-90F9-87CE4A18D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958" y="4060406"/>
            <a:ext cx="6041935" cy="20844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78BD5C-6249-4DED-A363-FB4D7B878E7F}"/>
              </a:ext>
            </a:extLst>
          </p:cNvPr>
          <p:cNvSpPr txBox="1"/>
          <p:nvPr/>
        </p:nvSpPr>
        <p:spPr>
          <a:xfrm>
            <a:off x="7660482" y="369948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en.wikiversity.org/wiki/Internet_Protocol_Analysis/Network_Monito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51CCA-0BF0-4BC7-A657-10B099FC0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429" y="6265693"/>
            <a:ext cx="52006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48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D936-698F-49C1-9BF8-0840B7C0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Raspberry Pi: Creating MQTT Clients in Python: Publishing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FA98-788D-40B4-9688-C708D9DE2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We’ll use </a:t>
            </a:r>
            <a:r>
              <a:rPr lang="en-GB" b="1" dirty="0" err="1"/>
              <a:t>Paho</a:t>
            </a:r>
            <a:r>
              <a:rPr lang="en-GB" dirty="0"/>
              <a:t> MQTT python client from Eclipse</a:t>
            </a:r>
          </a:p>
          <a:p>
            <a:r>
              <a:rPr lang="en-GB" dirty="0"/>
              <a:t>Import the </a:t>
            </a:r>
            <a:r>
              <a:rPr lang="en-GB" b="1" dirty="0"/>
              <a:t>client class </a:t>
            </a:r>
            <a:r>
              <a:rPr lang="en-GB" dirty="0"/>
              <a:t>to provide functions to publish messages and subscribe to topics on MQTT brokers</a:t>
            </a:r>
            <a:r>
              <a:rPr lang="en-IE" dirty="0"/>
              <a:t>.</a:t>
            </a:r>
          </a:p>
          <a:p>
            <a:r>
              <a:rPr lang="en-IE" dirty="0"/>
              <a:t>Create instance and connect to a broker: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CF45C-496E-40D2-914D-EA143CF7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49" y="3936637"/>
            <a:ext cx="6178551" cy="215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24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2EF5-CEC4-4362-86E8-F98204B6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Raspberry Pi: Creating MQTT Clients in Python: Subscribing  Client Callback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33260-393E-4429-8CD3-72E816CEC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When the client receives messages it generate the </a:t>
            </a:r>
            <a:r>
              <a:rPr lang="en-GB" dirty="0" err="1"/>
              <a:t>on_message</a:t>
            </a:r>
            <a:r>
              <a:rPr lang="en-GB" dirty="0"/>
              <a:t> </a:t>
            </a:r>
            <a:r>
              <a:rPr lang="en-GB" dirty="0" err="1"/>
              <a:t>callback</a:t>
            </a:r>
            <a:r>
              <a:rPr lang="en-GB" dirty="0"/>
              <a:t>.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85E00E-FD81-4102-ABCB-340C4992C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70"/>
            <a:ext cx="184731" cy="5635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66DF78-B190-409F-8F33-AEDA5A79F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04" y="2930525"/>
            <a:ext cx="6381750" cy="3381375"/>
          </a:xfrm>
          <a:prstGeom prst="rect">
            <a:avLst/>
          </a:prstGeom>
        </p:spPr>
      </p:pic>
      <p:pic>
        <p:nvPicPr>
          <p:cNvPr id="6" name="Picture 5" descr="A screen shot of a computer code">
            <a:extLst>
              <a:ext uri="{FF2B5EF4-FFF2-40B4-BE49-F238E27FC236}">
                <a16:creationId xmlns:a16="http://schemas.microsoft.com/office/drawing/2014/main" id="{DB333BC1-0888-3907-534C-9A7BB24BE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04" y="4345406"/>
            <a:ext cx="4935221" cy="145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19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62B6-7B99-ADED-4AB8-121B255A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Arduino: Creating MQTT Clients in a Sketch: Publishing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1BB4-5B47-4A20-7E10-21BFA77AF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E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E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PubSubClient.h</a:t>
            </a:r>
            <a:r>
              <a:rPr lang="en-IE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E" dirty="0">
              <a:solidFill>
                <a:srgbClr val="4E5B6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WiFiClient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wifiClient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PubSubClient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wifiClient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E" dirty="0">
              <a:solidFill>
                <a:srgbClr val="4E5B6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setServer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mqttServer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mqttPort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dirty="0" err="1">
                <a:solidFill>
                  <a:srgbClr val="005C5F"/>
                </a:solidFill>
                <a:latin typeface="Consolas" panose="020B0609020204030204" pitchFamily="49" charset="0"/>
              </a:rPr>
              <a:t>connectionId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E" dirty="0">
              <a:solidFill>
                <a:srgbClr val="434F5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GB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publish</a:t>
            </a:r>
            <a:r>
              <a:rPr lang="en-GB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GB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fxwalsh</a:t>
            </a:r>
            <a:r>
              <a:rPr lang="en-GB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/temperature"</a:t>
            </a:r>
            <a:r>
              <a:rPr lang="en-GB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message</a:t>
            </a:r>
            <a:r>
              <a:rPr lang="en-GB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Callout: Bent Line with Border and Accent Bar 3">
            <a:extLst>
              <a:ext uri="{FF2B5EF4-FFF2-40B4-BE49-F238E27FC236}">
                <a16:creationId xmlns:a16="http://schemas.microsoft.com/office/drawing/2014/main" id="{17F3BDD7-B786-B8B6-4EA6-C332A4BE5C67}"/>
              </a:ext>
            </a:extLst>
          </p:cNvPr>
          <p:cNvSpPr/>
          <p:nvPr/>
        </p:nvSpPr>
        <p:spPr>
          <a:xfrm>
            <a:off x="8534399" y="1399170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8538"/>
              <a:gd name="adj6" fmla="val -1000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Uses </a:t>
            </a:r>
            <a:r>
              <a:rPr lang="en-IE" dirty="0" err="1"/>
              <a:t>PubSubCLient</a:t>
            </a:r>
            <a:r>
              <a:rPr lang="en-IE" dirty="0"/>
              <a:t> from Arduino Library</a:t>
            </a:r>
          </a:p>
        </p:txBody>
      </p:sp>
      <p:sp>
        <p:nvSpPr>
          <p:cNvPr id="5" name="Callout: Bent Line with Border and Accent Bar 4">
            <a:extLst>
              <a:ext uri="{FF2B5EF4-FFF2-40B4-BE49-F238E27FC236}">
                <a16:creationId xmlns:a16="http://schemas.microsoft.com/office/drawing/2014/main" id="{6D49ED8F-58C8-8CB8-E8D3-C953A4577F56}"/>
              </a:ext>
            </a:extLst>
          </p:cNvPr>
          <p:cNvSpPr/>
          <p:nvPr/>
        </p:nvSpPr>
        <p:spPr>
          <a:xfrm>
            <a:off x="8849359" y="2506610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3632"/>
              <a:gd name="adj6" fmla="val -615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Construct MQTT client using </a:t>
            </a:r>
            <a:r>
              <a:rPr lang="en-IE" dirty="0" err="1"/>
              <a:t>wifiClient</a:t>
            </a:r>
            <a:endParaRPr lang="en-IE" dirty="0"/>
          </a:p>
        </p:txBody>
      </p:sp>
      <p:sp>
        <p:nvSpPr>
          <p:cNvPr id="6" name="Callout: Bent Line with Border and Accent Bar 5">
            <a:extLst>
              <a:ext uri="{FF2B5EF4-FFF2-40B4-BE49-F238E27FC236}">
                <a16:creationId xmlns:a16="http://schemas.microsoft.com/office/drawing/2014/main" id="{E1ED2000-B5C2-D874-DD26-5D0A574BCD47}"/>
              </a:ext>
            </a:extLst>
          </p:cNvPr>
          <p:cNvSpPr/>
          <p:nvPr/>
        </p:nvSpPr>
        <p:spPr>
          <a:xfrm>
            <a:off x="9035626" y="3429000"/>
            <a:ext cx="3081867" cy="93980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5434"/>
              <a:gd name="adj6" fmla="val -448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Set MQTT Server and port</a:t>
            </a:r>
          </a:p>
        </p:txBody>
      </p:sp>
      <p:sp>
        <p:nvSpPr>
          <p:cNvPr id="7" name="Callout: Bent Line with Border and Accent Bar 6">
            <a:extLst>
              <a:ext uri="{FF2B5EF4-FFF2-40B4-BE49-F238E27FC236}">
                <a16:creationId xmlns:a16="http://schemas.microsoft.com/office/drawing/2014/main" id="{C0BBCE9C-7627-8438-5AB2-5092859BDE1D}"/>
              </a:ext>
            </a:extLst>
          </p:cNvPr>
          <p:cNvSpPr/>
          <p:nvPr/>
        </p:nvSpPr>
        <p:spPr>
          <a:xfrm>
            <a:off x="8328659" y="4573217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4198"/>
              <a:gd name="adj6" fmla="val -670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Create Connection</a:t>
            </a:r>
          </a:p>
        </p:txBody>
      </p:sp>
      <p:sp>
        <p:nvSpPr>
          <p:cNvPr id="8" name="Callout: Bent Line with Border and Accent Bar 7">
            <a:extLst>
              <a:ext uri="{FF2B5EF4-FFF2-40B4-BE49-F238E27FC236}">
                <a16:creationId xmlns:a16="http://schemas.microsoft.com/office/drawing/2014/main" id="{DD26B709-D31F-BC69-C593-14AEFED398D5}"/>
              </a:ext>
            </a:extLst>
          </p:cNvPr>
          <p:cNvSpPr/>
          <p:nvPr/>
        </p:nvSpPr>
        <p:spPr>
          <a:xfrm>
            <a:off x="8785013" y="6022393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7123"/>
              <a:gd name="adj6" fmla="val -690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Publish message to topic!</a:t>
            </a:r>
          </a:p>
        </p:txBody>
      </p:sp>
    </p:spTree>
    <p:extLst>
      <p:ext uri="{BB962C8B-B14F-4D97-AF65-F5344CB8AC3E}">
        <p14:creationId xmlns:p14="http://schemas.microsoft.com/office/powerpoint/2010/main" val="196016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301F-B3E7-C6B3-6616-36415494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Javascript</a:t>
            </a:r>
            <a:r>
              <a:rPr lang="en-IE" dirty="0"/>
              <a:t>/Node.js MQTT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41C2B-2A51-D156-A6F3-61EBA6FAE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315" y="1847544"/>
            <a:ext cx="6827152" cy="4351338"/>
          </a:xfrm>
          <a:solidFill>
            <a:schemeClr val="tx1"/>
          </a:solidFill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://broker.emqx.io'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fxwalsh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/temperature'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'connect'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subscribe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E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`Subscribed to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b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'message'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message is a buffer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7673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roboto</vt:lpstr>
      <vt:lpstr>Office Theme</vt:lpstr>
      <vt:lpstr>MQTT Security</vt:lpstr>
      <vt:lpstr>Not good…..</vt:lpstr>
      <vt:lpstr>Security in IoT</vt:lpstr>
      <vt:lpstr>Security in MQTT</vt:lpstr>
      <vt:lpstr>MQTT Authentication</vt:lpstr>
      <vt:lpstr>Transport Layer Security (TLS)</vt:lpstr>
      <vt:lpstr>Application Level Encryption</vt:lpstr>
      <vt:lpstr>Raspberry Pi: Creating MQTT Clients in Python: Publishing Client</vt:lpstr>
      <vt:lpstr>Raspberry Pi: Creating MQTT Clients in Python: Subscribing  Client Callback</vt:lpstr>
      <vt:lpstr>Arduino: Creating MQTT Clients in a Sketch: Publishing Client</vt:lpstr>
      <vt:lpstr>Javascript/Node.js MQTT Client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Walsh</dc:creator>
  <cp:lastModifiedBy>Frank Walsh</cp:lastModifiedBy>
  <cp:revision>2</cp:revision>
  <dcterms:created xsi:type="dcterms:W3CDTF">2025-01-29T11:20:53Z</dcterms:created>
  <dcterms:modified xsi:type="dcterms:W3CDTF">2026-02-22T21:31:34Z</dcterms:modified>
</cp:coreProperties>
</file>