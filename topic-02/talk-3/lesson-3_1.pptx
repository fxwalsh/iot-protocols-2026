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82"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2" autoAdjust="0"/>
    <p:restoredTop sz="94660"/>
  </p:normalViewPr>
  <p:slideViewPr>
    <p:cSldViewPr>
      <p:cViewPr varScale="1">
        <p:scale>
          <a:sx n="64" d="100"/>
          <a:sy n="64" d="100"/>
        </p:scale>
        <p:origin x="40" y="8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ED5B79BB-EB44-4E02-82B2-4D78C7F09662}" type="datetimeFigureOut">
              <a:rPr lang="en-IE" smtClean="0"/>
              <a:t>27/01/2025</a:t>
            </a:fld>
            <a:endParaRPr lang="en-IE"/>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035DFB2E-212D-4735-A468-E4BDFB30ECB0}" type="slidenum">
              <a:rPr lang="en-IE" smtClean="0"/>
              <a:t>‹#›</a:t>
            </a:fld>
            <a:endParaRPr lang="en-IE"/>
          </a:p>
        </p:txBody>
      </p:sp>
    </p:spTree>
    <p:extLst>
      <p:ext uri="{BB962C8B-B14F-4D97-AF65-F5344CB8AC3E}">
        <p14:creationId xmlns:p14="http://schemas.microsoft.com/office/powerpoint/2010/main" val="3918865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It’s estimated the less than 10% of the data generated by IoT devices is fully utilized.</a:t>
            </a:r>
            <a:r>
              <a:rPr lang="en-GB" dirty="0"/>
              <a:t> </a:t>
            </a:r>
            <a:br>
              <a:rPr lang="en-GB" dirty="0"/>
            </a:br>
            <a:r>
              <a:rPr lang="en-GB" dirty="0"/>
              <a:t>Yes. Example: Temp monitoring. Video monitoring in guards:</a:t>
            </a:r>
            <a:br>
              <a:rPr lang="en-GB" dirty="0"/>
            </a:br>
            <a:br>
              <a:rPr lang="en-GB" dirty="0"/>
            </a:br>
            <a:r>
              <a:rPr lang="en-GB" dirty="0"/>
              <a:t>While IoT generates </a:t>
            </a:r>
            <a:r>
              <a:rPr lang="en-GB" b="1" dirty="0"/>
              <a:t>vast amounts of data</a:t>
            </a:r>
            <a:r>
              <a:rPr lang="en-GB" dirty="0"/>
              <a:t>, we currently utilize </a:t>
            </a:r>
            <a:r>
              <a:rPr lang="en-GB" b="1" dirty="0"/>
              <a:t>less than 10%</a:t>
            </a:r>
            <a:r>
              <a:rPr lang="en-GB" dirty="0"/>
              <a:t> effectively, with most of it processed for immediate actions and discarded. Advances in edge computing, AI, and data integration are expected to improve utilization rates, enabling us to unlock the full potential of IoT-generated data.</a:t>
            </a:r>
            <a:br>
              <a:rPr lang="en-GB" dirty="0"/>
            </a:br>
            <a:r>
              <a:rPr lang="en-GB" dirty="0"/>
              <a:t>Examples: Smart Cities – Traffic cameras</a:t>
            </a:r>
            <a:br>
              <a:rPr lang="en-GB" dirty="0"/>
            </a:br>
            <a:br>
              <a:rPr lang="en-GB" dirty="0"/>
            </a:br>
            <a:br>
              <a:rPr lang="en-GB" dirty="0"/>
            </a:br>
            <a:endParaRPr lang="en-IE" dirty="0"/>
          </a:p>
        </p:txBody>
      </p:sp>
      <p:sp>
        <p:nvSpPr>
          <p:cNvPr id="4" name="Slide Number Placeholder 3"/>
          <p:cNvSpPr>
            <a:spLocks noGrp="1"/>
          </p:cNvSpPr>
          <p:nvPr>
            <p:ph type="sldNum" sz="quarter" idx="5"/>
          </p:nvPr>
        </p:nvSpPr>
        <p:spPr/>
        <p:txBody>
          <a:bodyPr/>
          <a:lstStyle/>
          <a:p>
            <a:fld id="{C15924CE-877B-44A1-A7AC-FBCC551592E0}" type="slidenum">
              <a:rPr lang="en-IE" smtClean="0"/>
              <a:t>5</a:t>
            </a:fld>
            <a:endParaRPr lang="en-IE"/>
          </a:p>
        </p:txBody>
      </p:sp>
    </p:spTree>
    <p:extLst>
      <p:ext uri="{BB962C8B-B14F-4D97-AF65-F5344CB8AC3E}">
        <p14:creationId xmlns:p14="http://schemas.microsoft.com/office/powerpoint/2010/main" val="1929393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1FC6-B0D3-466F-954A-BE3669F21FC0}"/>
              </a:ext>
            </a:extLst>
          </p:cNvPr>
          <p:cNvSpPr>
            <a:spLocks noGrp="1"/>
          </p:cNvSpPr>
          <p:nvPr>
            <p:ph type="ctrTitle"/>
          </p:nvPr>
        </p:nvSpPr>
        <p:spPr>
          <a:xfrm>
            <a:off x="2513013" y="4265593"/>
            <a:ext cx="15078075" cy="1522596"/>
          </a:xfrm>
        </p:spPr>
        <p:txBody>
          <a:bodyPr anchor="b"/>
          <a:lstStyle>
            <a:lvl1pPr algn="ctr">
              <a:defRPr sz="9894"/>
            </a:lvl1pPr>
          </a:lstStyle>
          <a:p>
            <a:r>
              <a:rPr lang="en-US"/>
              <a:t>Click to edit Master title style</a:t>
            </a:r>
            <a:endParaRPr lang="en-IE"/>
          </a:p>
        </p:txBody>
      </p:sp>
      <p:sp>
        <p:nvSpPr>
          <p:cNvPr id="3" name="Subtitle 2">
            <a:extLst>
              <a:ext uri="{FF2B5EF4-FFF2-40B4-BE49-F238E27FC236}">
                <a16:creationId xmlns:a16="http://schemas.microsoft.com/office/drawing/2014/main" id="{8660183A-ECB4-4565-BC74-53865C4F9A28}"/>
              </a:ext>
            </a:extLst>
          </p:cNvPr>
          <p:cNvSpPr>
            <a:spLocks noGrp="1"/>
          </p:cNvSpPr>
          <p:nvPr>
            <p:ph type="subTitle" idx="1"/>
          </p:nvPr>
        </p:nvSpPr>
        <p:spPr>
          <a:xfrm>
            <a:off x="2513013" y="5940028"/>
            <a:ext cx="15078075" cy="609077"/>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D1878256-07B0-48C3-AAA0-0BCB29D31FD5}"/>
              </a:ext>
            </a:extLst>
          </p:cNvPr>
          <p:cNvSpPr>
            <a:spLocks noGrp="1"/>
          </p:cNvSpPr>
          <p:nvPr>
            <p:ph type="dt" sz="half" idx="10"/>
          </p:nvPr>
        </p:nvSpPr>
        <p:spPr>
          <a:xfrm>
            <a:off x="1005205" y="10517696"/>
            <a:ext cx="4623943" cy="276999"/>
          </a:xfrm>
        </p:spPr>
        <p:txBody>
          <a:bodyPr/>
          <a:lstStyle/>
          <a:p>
            <a:fld id="{1529DD9A-0AF4-476B-9B6C-4DB908A1FACF}" type="datetimeFigureOut">
              <a:rPr lang="en-IE" smtClean="0"/>
              <a:t>27/01/2025</a:t>
            </a:fld>
            <a:endParaRPr lang="en-IE"/>
          </a:p>
        </p:txBody>
      </p:sp>
      <p:sp>
        <p:nvSpPr>
          <p:cNvPr id="5" name="Footer Placeholder 4">
            <a:extLst>
              <a:ext uri="{FF2B5EF4-FFF2-40B4-BE49-F238E27FC236}">
                <a16:creationId xmlns:a16="http://schemas.microsoft.com/office/drawing/2014/main" id="{EFCA6449-4A9C-406C-9937-0DEFAEB4F1C0}"/>
              </a:ext>
            </a:extLst>
          </p:cNvPr>
          <p:cNvSpPr>
            <a:spLocks noGrp="1"/>
          </p:cNvSpPr>
          <p:nvPr>
            <p:ph type="ftr" sz="quarter" idx="11"/>
          </p:nvPr>
        </p:nvSpPr>
        <p:spPr>
          <a:xfrm>
            <a:off x="6835394" y="10517696"/>
            <a:ext cx="6433312" cy="276999"/>
          </a:xfrm>
        </p:spPr>
        <p:txBody>
          <a:bodyPr/>
          <a:lstStyle/>
          <a:p>
            <a:endParaRPr lang="en-IE"/>
          </a:p>
        </p:txBody>
      </p:sp>
      <p:sp>
        <p:nvSpPr>
          <p:cNvPr id="6" name="Slide Number Placeholder 5">
            <a:extLst>
              <a:ext uri="{FF2B5EF4-FFF2-40B4-BE49-F238E27FC236}">
                <a16:creationId xmlns:a16="http://schemas.microsoft.com/office/drawing/2014/main" id="{F2A543B2-562E-4C60-96BC-EF67D893799A}"/>
              </a:ext>
            </a:extLst>
          </p:cNvPr>
          <p:cNvSpPr>
            <a:spLocks noGrp="1"/>
          </p:cNvSpPr>
          <p:nvPr>
            <p:ph type="sldNum" sz="quarter" idx="12"/>
          </p:nvPr>
        </p:nvSpPr>
        <p:spPr>
          <a:xfrm>
            <a:off x="14474953" y="10517696"/>
            <a:ext cx="4623943" cy="276999"/>
          </a:xfrm>
        </p:spPr>
        <p:txBody>
          <a:bodyPr/>
          <a:lstStyle/>
          <a:p>
            <a:fld id="{555F45C9-37F5-4DD2-B7F5-9647A3823C23}" type="slidenum">
              <a:rPr lang="en-IE" smtClean="0"/>
              <a:t>‹#›</a:t>
            </a:fld>
            <a:endParaRPr lang="en-IE"/>
          </a:p>
        </p:txBody>
      </p:sp>
    </p:spTree>
    <p:extLst>
      <p:ext uri="{BB962C8B-B14F-4D97-AF65-F5344CB8AC3E}">
        <p14:creationId xmlns:p14="http://schemas.microsoft.com/office/powerpoint/2010/main" val="735719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05205" y="452374"/>
            <a:ext cx="18093690" cy="180949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ixabay.com/en/iot-internet-of-things-network-3337536/" TargetMode="External"/><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E8689-D000-4F9A-8FBC-6F373202110A}"/>
              </a:ext>
            </a:extLst>
          </p:cNvPr>
          <p:cNvSpPr>
            <a:spLocks noGrp="1"/>
          </p:cNvSpPr>
          <p:nvPr>
            <p:ph type="ctrTitle"/>
          </p:nvPr>
        </p:nvSpPr>
        <p:spPr>
          <a:xfrm>
            <a:off x="1836626" y="4882494"/>
            <a:ext cx="6655747" cy="3937053"/>
          </a:xfrm>
        </p:spPr>
        <p:txBody>
          <a:bodyPr anchor="t">
            <a:normAutofit/>
          </a:bodyPr>
          <a:lstStyle/>
          <a:p>
            <a:pPr algn="l"/>
            <a:r>
              <a:rPr lang="en-IE" sz="8905"/>
              <a:t>IoT Standards and Protocols</a:t>
            </a:r>
          </a:p>
        </p:txBody>
      </p:sp>
      <p:sp>
        <p:nvSpPr>
          <p:cNvPr id="3" name="Subtitle 2">
            <a:extLst>
              <a:ext uri="{FF2B5EF4-FFF2-40B4-BE49-F238E27FC236}">
                <a16:creationId xmlns:a16="http://schemas.microsoft.com/office/drawing/2014/main" id="{D87727DB-BD33-4964-93F3-82195CC47C9C}"/>
              </a:ext>
            </a:extLst>
          </p:cNvPr>
          <p:cNvSpPr>
            <a:spLocks noGrp="1"/>
          </p:cNvSpPr>
          <p:nvPr>
            <p:ph type="subTitle" idx="1"/>
          </p:nvPr>
        </p:nvSpPr>
        <p:spPr>
          <a:xfrm>
            <a:off x="1836625" y="1571916"/>
            <a:ext cx="6655745" cy="2819470"/>
          </a:xfrm>
        </p:spPr>
        <p:txBody>
          <a:bodyPr anchor="b">
            <a:normAutofit/>
          </a:bodyPr>
          <a:lstStyle/>
          <a:p>
            <a:pPr algn="l"/>
            <a:r>
              <a:rPr lang="en-IE" sz="3298" dirty="0"/>
              <a:t>Sensors and Actuators</a:t>
            </a:r>
          </a:p>
        </p:txBody>
      </p:sp>
      <p:pic>
        <p:nvPicPr>
          <p:cNvPr id="5" name="Picture 4" descr="A diagram of a cloud computing system&#10;&#10;Description automatically generated">
            <a:extLst>
              <a:ext uri="{FF2B5EF4-FFF2-40B4-BE49-F238E27FC236}">
                <a16:creationId xmlns:a16="http://schemas.microsoft.com/office/drawing/2014/main" id="{92AC8354-732D-10AD-A4DC-DB73828A457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765943" y="2456855"/>
            <a:ext cx="9128635" cy="6298757"/>
          </a:xfrm>
          <a:prstGeom prst="rect">
            <a:avLst/>
          </a:prstGeom>
        </p:spPr>
      </p:pic>
    </p:spTree>
    <p:extLst>
      <p:ext uri="{BB962C8B-B14F-4D97-AF65-F5344CB8AC3E}">
        <p14:creationId xmlns:p14="http://schemas.microsoft.com/office/powerpoint/2010/main" val="1518942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90468" y="286127"/>
            <a:ext cx="18028816" cy="106186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6582" y="768791"/>
            <a:ext cx="18672702" cy="100957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8525" y="1010123"/>
            <a:ext cx="18028816" cy="95728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73CA-0563-504A-F301-3020A3B3BE2D}"/>
              </a:ext>
            </a:extLst>
          </p:cNvPr>
          <p:cNvSpPr>
            <a:spLocks noGrp="1"/>
          </p:cNvSpPr>
          <p:nvPr>
            <p:ph type="title"/>
          </p:nvPr>
        </p:nvSpPr>
        <p:spPr>
          <a:xfrm>
            <a:off x="3578051" y="602474"/>
            <a:ext cx="15143892" cy="2123658"/>
          </a:xfrm>
        </p:spPr>
        <p:txBody>
          <a:bodyPr/>
          <a:lstStyle/>
          <a:p>
            <a:r>
              <a:rPr lang="en-IE" sz="13800" dirty="0"/>
              <a:t>QI </a:t>
            </a:r>
          </a:p>
        </p:txBody>
      </p:sp>
      <p:pic>
        <p:nvPicPr>
          <p:cNvPr id="7" name="Picture 6">
            <a:extLst>
              <a:ext uri="{FF2B5EF4-FFF2-40B4-BE49-F238E27FC236}">
                <a16:creationId xmlns:a16="http://schemas.microsoft.com/office/drawing/2014/main" id="{3A98F521-D177-8780-A1C7-F313ABCF1FA2}"/>
              </a:ext>
            </a:extLst>
          </p:cNvPr>
          <p:cNvPicPr>
            <a:picLocks noChangeAspect="1"/>
          </p:cNvPicPr>
          <p:nvPr/>
        </p:nvPicPr>
        <p:blipFill>
          <a:blip r:embed="rId3"/>
          <a:stretch>
            <a:fillRect/>
          </a:stretch>
        </p:blipFill>
        <p:spPr>
          <a:xfrm>
            <a:off x="1382158" y="537071"/>
            <a:ext cx="1780451" cy="2185798"/>
          </a:xfrm>
          <a:prstGeom prst="rect">
            <a:avLst/>
          </a:prstGeom>
        </p:spPr>
      </p:pic>
      <p:sp>
        <p:nvSpPr>
          <p:cNvPr id="8" name="Text Placeholder 7">
            <a:extLst>
              <a:ext uri="{FF2B5EF4-FFF2-40B4-BE49-F238E27FC236}">
                <a16:creationId xmlns:a16="http://schemas.microsoft.com/office/drawing/2014/main" id="{BA7905C7-B261-1E3F-1109-0D641D997068}"/>
              </a:ext>
            </a:extLst>
          </p:cNvPr>
          <p:cNvSpPr>
            <a:spLocks noGrp="1"/>
          </p:cNvSpPr>
          <p:nvPr>
            <p:ph type="body" idx="1"/>
          </p:nvPr>
        </p:nvSpPr>
        <p:spPr/>
        <p:txBody>
          <a:bodyPr/>
          <a:lstStyle/>
          <a:p>
            <a:endParaRPr lang="en-IE" dirty="0"/>
          </a:p>
        </p:txBody>
      </p:sp>
      <p:pic>
        <p:nvPicPr>
          <p:cNvPr id="9" name="object 2">
            <a:extLst>
              <a:ext uri="{FF2B5EF4-FFF2-40B4-BE49-F238E27FC236}">
                <a16:creationId xmlns:a16="http://schemas.microsoft.com/office/drawing/2014/main" id="{10DDEAAC-6D7F-2F1F-299A-F272E3F3E20A}"/>
              </a:ext>
            </a:extLst>
          </p:cNvPr>
          <p:cNvPicPr/>
          <p:nvPr/>
        </p:nvPicPr>
        <p:blipFill>
          <a:blip r:embed="rId4" cstate="print"/>
          <a:srcRect l="37276"/>
          <a:stretch/>
        </p:blipFill>
        <p:spPr>
          <a:xfrm>
            <a:off x="5735455" y="1158875"/>
            <a:ext cx="11409405" cy="9314059"/>
          </a:xfrm>
          <a:prstGeom prst="rect">
            <a:avLst/>
          </a:prstGeom>
        </p:spPr>
      </p:pic>
    </p:spTree>
    <p:extLst>
      <p:ext uri="{BB962C8B-B14F-4D97-AF65-F5344CB8AC3E}">
        <p14:creationId xmlns:p14="http://schemas.microsoft.com/office/powerpoint/2010/main" val="1219216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rcRect r="58300" b="75006"/>
          <a:stretch/>
        </p:blipFill>
        <p:spPr>
          <a:xfrm>
            <a:off x="485611" y="687596"/>
            <a:ext cx="7585239" cy="2528680"/>
          </a:xfrm>
          <a:prstGeom prst="rect">
            <a:avLst/>
          </a:prstGeom>
        </p:spPr>
      </p:pic>
      <p:pic>
        <p:nvPicPr>
          <p:cNvPr id="4" name="Picture 3">
            <a:extLst>
              <a:ext uri="{FF2B5EF4-FFF2-40B4-BE49-F238E27FC236}">
                <a16:creationId xmlns:a16="http://schemas.microsoft.com/office/drawing/2014/main" id="{61694AF1-59BD-3B23-0AA8-B6B6C2A177F3}"/>
              </a:ext>
            </a:extLst>
          </p:cNvPr>
          <p:cNvPicPr>
            <a:picLocks noChangeAspect="1"/>
          </p:cNvPicPr>
          <p:nvPr/>
        </p:nvPicPr>
        <p:blipFill>
          <a:blip r:embed="rId3"/>
          <a:stretch>
            <a:fillRect/>
          </a:stretch>
        </p:blipFill>
        <p:spPr>
          <a:xfrm>
            <a:off x="1108288" y="2606675"/>
            <a:ext cx="8413096" cy="4419600"/>
          </a:xfrm>
          <a:prstGeom prst="rect">
            <a:avLst/>
          </a:prstGeom>
        </p:spPr>
      </p:pic>
      <p:pic>
        <p:nvPicPr>
          <p:cNvPr id="6" name="Picture 5">
            <a:extLst>
              <a:ext uri="{FF2B5EF4-FFF2-40B4-BE49-F238E27FC236}">
                <a16:creationId xmlns:a16="http://schemas.microsoft.com/office/drawing/2014/main" id="{2038A7B5-1BE6-FEC9-965D-8587D9A95424}"/>
              </a:ext>
            </a:extLst>
          </p:cNvPr>
          <p:cNvPicPr>
            <a:picLocks noChangeAspect="1"/>
          </p:cNvPicPr>
          <p:nvPr/>
        </p:nvPicPr>
        <p:blipFill>
          <a:blip r:embed="rId4"/>
          <a:stretch>
            <a:fillRect/>
          </a:stretch>
        </p:blipFill>
        <p:spPr>
          <a:xfrm>
            <a:off x="5632450" y="7559675"/>
            <a:ext cx="13723055" cy="4788146"/>
          </a:xfrm>
          <a:prstGeom prst="rect">
            <a:avLst/>
          </a:prstGeom>
        </p:spPr>
      </p:pic>
      <p:sp>
        <p:nvSpPr>
          <p:cNvPr id="7" name="Arrow: Down 6">
            <a:extLst>
              <a:ext uri="{FF2B5EF4-FFF2-40B4-BE49-F238E27FC236}">
                <a16:creationId xmlns:a16="http://schemas.microsoft.com/office/drawing/2014/main" id="{ADC0A9AD-7450-2350-2C7F-0218A0331EED}"/>
              </a:ext>
            </a:extLst>
          </p:cNvPr>
          <p:cNvSpPr/>
          <p:nvPr/>
        </p:nvSpPr>
        <p:spPr>
          <a:xfrm rot="18711096">
            <a:off x="10280650" y="5654675"/>
            <a:ext cx="1219200" cy="18288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8525" y="929679"/>
            <a:ext cx="17384929" cy="95728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90468" y="848182"/>
            <a:ext cx="18189787" cy="93140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9497" y="607903"/>
            <a:ext cx="18189787" cy="96532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8525" y="1169357"/>
            <a:ext cx="18350759" cy="89928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6582" y="482493"/>
            <a:ext cx="18511730" cy="1027758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7554" y="1251455"/>
            <a:ext cx="18350759" cy="93315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7554" y="929679"/>
            <a:ext cx="18189787" cy="96532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12412" y="607903"/>
            <a:ext cx="17545901" cy="101359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6582" y="527008"/>
            <a:ext cx="18672702" cy="101169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4639" y="929679"/>
            <a:ext cx="18833674" cy="93315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9497" y="607903"/>
            <a:ext cx="17867844" cy="98141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8525" y="929679"/>
            <a:ext cx="17867844" cy="93315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90468" y="768791"/>
            <a:ext cx="17867844" cy="965327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4639" y="929679"/>
            <a:ext cx="18189787" cy="98141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14875" y="612797"/>
            <a:ext cx="17747785" cy="98000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6404" y="612797"/>
            <a:ext cx="18887551" cy="98000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03346" y="939467"/>
            <a:ext cx="17422137" cy="93100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2051" y="612797"/>
            <a:ext cx="18724727" cy="94734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111</Words>
  <Application>Microsoft Office PowerPoint</Application>
  <PresentationFormat>Custom</PresentationFormat>
  <Paragraphs>5</Paragraphs>
  <Slides>24</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Aptos</vt:lpstr>
      <vt:lpstr>Calibri</vt:lpstr>
      <vt:lpstr>Office Theme</vt:lpstr>
      <vt:lpstr>IoT Standards and Protocols</vt:lpstr>
      <vt:lpstr>PowerPoint Presentation</vt:lpstr>
      <vt:lpstr>PowerPoint Presentation</vt:lpstr>
      <vt:lpstr>PowerPoint Presentation</vt:lpstr>
      <vt:lpstr>QI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Frank Walsh</cp:lastModifiedBy>
  <cp:revision>1</cp:revision>
  <dcterms:created xsi:type="dcterms:W3CDTF">2025-01-27T06:17:55Z</dcterms:created>
  <dcterms:modified xsi:type="dcterms:W3CDTF">2025-01-27T07:42:14Z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2021-07-24T00:00:00Z</vt:filetime>
  </property>
  <property fmtid="{D5CDD505-2E9C-101B-9397-08002B2CF9AE}" pid="3" name="LastSaved">
    <vt:filetime>2025-01-27T00:00:00Z</vt:filetime>
  </property>
  <property fmtid="{D5CDD505-2E9C-101B-9397-08002B2CF9AE}" pid="4" name="Producer">
    <vt:lpwstr>macOS Version 11.4 (Build 20F71) Quartz PDFContext</vt:lpwstr>
  </property>
</Properties>
</file>