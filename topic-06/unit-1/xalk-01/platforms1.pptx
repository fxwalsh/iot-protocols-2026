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56" r:id="rId2"/>
    <p:sldId id="259" r:id="rId3"/>
    <p:sldId id="260" r:id="rId4"/>
    <p:sldId id="261" r:id="rId5"/>
    <p:sldId id="276" r:id="rId6"/>
    <p:sldId id="262" r:id="rId7"/>
    <p:sldId id="263" r:id="rId8"/>
    <p:sldId id="287" r:id="rId9"/>
    <p:sldId id="272" r:id="rId10"/>
    <p:sldId id="273" r:id="rId11"/>
    <p:sldId id="274" r:id="rId12"/>
    <p:sldId id="275" r:id="rId13"/>
    <p:sldId id="277" r:id="rId14"/>
    <p:sldId id="278" r:id="rId15"/>
    <p:sldId id="279" r:id="rId16"/>
    <p:sldId id="281" r:id="rId17"/>
    <p:sldId id="282" r:id="rId18"/>
    <p:sldId id="284" r:id="rId19"/>
    <p:sldId id="285" r:id="rId20"/>
    <p:sldId id="286" r:id="rId21"/>
    <p:sldId id="280" r:id="rId22"/>
    <p:sldId id="288" r:id="rId23"/>
    <p:sldId id="28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11" autoAdjust="0"/>
    <p:restoredTop sz="94660"/>
  </p:normalViewPr>
  <p:slideViewPr>
    <p:cSldViewPr snapToGrid="0">
      <p:cViewPr varScale="1">
        <p:scale>
          <a:sx n="99" d="100"/>
          <a:sy n="99" d="100"/>
        </p:scale>
        <p:origin x="90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6_2">
  <dgm:title val=""/>
  <dgm:desc val=""/>
  <dgm:catLst>
    <dgm:cat type="accent6" pri="16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4B74676-956D-4CD3-A2CE-1DEAFC840EE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DCEC639-0156-41D1-9E94-A10AB0506CE3}">
      <dgm:prSet phldrT="[Text]"/>
      <dgm:spPr/>
      <dgm:t>
        <a:bodyPr/>
        <a:lstStyle/>
        <a:p>
          <a:r>
            <a:rPr lang="en-US">
              <a:solidFill>
                <a:srgbClr val="000000"/>
              </a:solidFill>
              <a:cs typeface="Calibri Light"/>
            </a:rPr>
            <a:t>Create a new channel</a:t>
          </a:r>
        </a:p>
      </dgm:t>
    </dgm:pt>
    <dgm:pt modelId="{702FD6B2-D777-43F1-9FEE-10BF9D629B55}" type="parTrans" cxnId="{19C5D857-D576-48EE-92CA-D86D9A049A70}">
      <dgm:prSet/>
      <dgm:spPr/>
      <dgm:t>
        <a:bodyPr/>
        <a:lstStyle/>
        <a:p>
          <a:endParaRPr lang="en-US"/>
        </a:p>
      </dgm:t>
    </dgm:pt>
    <dgm:pt modelId="{B5FB015B-B74C-46C3-B0A2-498F279A6631}" type="sibTrans" cxnId="{19C5D857-D576-48EE-92CA-D86D9A049A70}">
      <dgm:prSet/>
      <dgm:spPr/>
      <dgm:t>
        <a:bodyPr/>
        <a:lstStyle/>
        <a:p>
          <a:endParaRPr lang="en-US"/>
        </a:p>
      </dgm:t>
    </dgm:pt>
    <dgm:pt modelId="{AB6476FB-21E3-4A95-A8EA-E273E68C196B}">
      <dgm:prSet phldrT="[Text]"/>
      <dgm:spPr/>
      <dgm:t>
        <a:bodyPr/>
        <a:lstStyle/>
        <a:p>
          <a:r>
            <a:rPr lang="en-US" dirty="0">
              <a:solidFill>
                <a:srgbClr val="000000"/>
              </a:solidFill>
              <a:cs typeface="Calibri Light"/>
            </a:rPr>
            <a:t>Test for certain conditions and perform actions</a:t>
          </a:r>
        </a:p>
      </dgm:t>
    </dgm:pt>
    <dgm:pt modelId="{69FCE964-BDAC-4DBE-85CD-5A74CEEDA311}" type="parTrans" cxnId="{AEDEE67A-D25D-4B11-AF29-97D7A7DD8D16}">
      <dgm:prSet/>
      <dgm:spPr/>
      <dgm:t>
        <a:bodyPr/>
        <a:lstStyle/>
        <a:p>
          <a:endParaRPr lang="en-IE"/>
        </a:p>
      </dgm:t>
    </dgm:pt>
    <dgm:pt modelId="{A9811301-F1B9-4379-97B2-697866470DA1}" type="sibTrans" cxnId="{AEDEE67A-D25D-4B11-AF29-97D7A7DD8D16}">
      <dgm:prSet/>
      <dgm:spPr/>
      <dgm:t>
        <a:bodyPr/>
        <a:lstStyle/>
        <a:p>
          <a:endParaRPr lang="en-IE"/>
        </a:p>
      </dgm:t>
    </dgm:pt>
    <dgm:pt modelId="{85DD4E1E-4E74-424D-A582-C6FDC19DA21E}">
      <dgm:prSet phldrT="[Text]"/>
      <dgm:spPr/>
      <dgm:t>
        <a:bodyPr/>
        <a:lstStyle/>
        <a:p>
          <a:r>
            <a:rPr lang="en-US">
              <a:solidFill>
                <a:srgbClr val="000000"/>
              </a:solidFill>
              <a:cs typeface="Calibri Light"/>
            </a:rPr>
            <a:t>Act on the data</a:t>
          </a:r>
        </a:p>
      </dgm:t>
    </dgm:pt>
    <dgm:pt modelId="{3A3081BC-09EE-4119-9C91-930824170E11}" type="parTrans" cxnId="{0A54686B-6AAA-48AC-BEA0-151E6F526C9C}">
      <dgm:prSet/>
      <dgm:spPr/>
      <dgm:t>
        <a:bodyPr/>
        <a:lstStyle/>
        <a:p>
          <a:endParaRPr lang="en-IE"/>
        </a:p>
      </dgm:t>
    </dgm:pt>
    <dgm:pt modelId="{90395C15-B4F3-4653-883C-D98D34E4C42C}" type="sibTrans" cxnId="{0A54686B-6AAA-48AC-BEA0-151E6F526C9C}">
      <dgm:prSet/>
      <dgm:spPr/>
      <dgm:t>
        <a:bodyPr/>
        <a:lstStyle/>
        <a:p>
          <a:endParaRPr lang="en-IE"/>
        </a:p>
      </dgm:t>
    </dgm:pt>
    <dgm:pt modelId="{2B8B757D-9336-4371-ADCC-BF80DD8A28EB}">
      <dgm:prSet phldrT="[Text]"/>
      <dgm:spPr/>
      <dgm:t>
        <a:bodyPr/>
        <a:lstStyle/>
        <a:p>
          <a:r>
            <a:rPr lang="en-US">
              <a:solidFill>
                <a:srgbClr val="000000"/>
              </a:solidFill>
              <a:cs typeface="Calibri Light"/>
            </a:rPr>
            <a:t>Run analytical algorithms/</a:t>
          </a:r>
          <a:r>
            <a:rPr lang="en-US" err="1">
              <a:solidFill>
                <a:srgbClr val="000000"/>
              </a:solidFill>
              <a:cs typeface="Calibri Light"/>
            </a:rPr>
            <a:t>visualise</a:t>
          </a:r>
          <a:r>
            <a:rPr lang="en-US">
              <a:solidFill>
                <a:srgbClr val="000000"/>
              </a:solidFill>
              <a:cs typeface="Calibri Light"/>
            </a:rPr>
            <a:t> your data</a:t>
          </a:r>
        </a:p>
      </dgm:t>
    </dgm:pt>
    <dgm:pt modelId="{2C4FC06B-C196-4C47-BBBD-37EA1C6A37D3}" type="parTrans" cxnId="{472C13A7-99CA-4FCF-A46C-1B78B973F729}">
      <dgm:prSet/>
      <dgm:spPr/>
      <dgm:t>
        <a:bodyPr/>
        <a:lstStyle/>
        <a:p>
          <a:endParaRPr lang="en-IE"/>
        </a:p>
      </dgm:t>
    </dgm:pt>
    <dgm:pt modelId="{9935AF4A-8E8A-42CF-9955-9655EF76D59A}" type="sibTrans" cxnId="{472C13A7-99CA-4FCF-A46C-1B78B973F729}">
      <dgm:prSet/>
      <dgm:spPr/>
      <dgm:t>
        <a:bodyPr/>
        <a:lstStyle/>
        <a:p>
          <a:endParaRPr lang="en-IE"/>
        </a:p>
      </dgm:t>
    </dgm:pt>
    <dgm:pt modelId="{46E2AD9E-4221-4DE6-AD9F-13C45EB8A80A}">
      <dgm:prSet phldrT="[Text]"/>
      <dgm:spPr/>
      <dgm:t>
        <a:bodyPr/>
        <a:lstStyle/>
        <a:p>
          <a:r>
            <a:rPr lang="en-US" err="1">
              <a:solidFill>
                <a:srgbClr val="000000"/>
              </a:solidFill>
              <a:cs typeface="Calibri Light"/>
            </a:rPr>
            <a:t>Analyse</a:t>
          </a:r>
          <a:r>
            <a:rPr lang="en-US">
              <a:solidFill>
                <a:srgbClr val="000000"/>
              </a:solidFill>
              <a:cs typeface="Calibri Light"/>
            </a:rPr>
            <a:t> the data</a:t>
          </a:r>
        </a:p>
      </dgm:t>
    </dgm:pt>
    <dgm:pt modelId="{3DA05906-2AD2-4E2B-AFAD-10AE967DB450}" type="parTrans" cxnId="{B86FB68B-F3D5-481A-8E6F-5B373C217494}">
      <dgm:prSet/>
      <dgm:spPr/>
      <dgm:t>
        <a:bodyPr/>
        <a:lstStyle/>
        <a:p>
          <a:endParaRPr lang="en-IE"/>
        </a:p>
      </dgm:t>
    </dgm:pt>
    <dgm:pt modelId="{824617BB-9CAB-4D3A-B41B-1D9483600B32}" type="sibTrans" cxnId="{B86FB68B-F3D5-481A-8E6F-5B373C217494}">
      <dgm:prSet/>
      <dgm:spPr/>
      <dgm:t>
        <a:bodyPr/>
        <a:lstStyle/>
        <a:p>
          <a:endParaRPr lang="en-IE"/>
        </a:p>
      </dgm:t>
    </dgm:pt>
    <dgm:pt modelId="{FAE51547-F187-42B5-8B30-E70425D493C9}">
      <dgm:prSet phldrT="[Text]"/>
      <dgm:spPr/>
      <dgm:t>
        <a:bodyPr/>
        <a:lstStyle/>
        <a:p>
          <a:r>
            <a:rPr lang="en-US" dirty="0">
              <a:solidFill>
                <a:srgbClr val="000000"/>
              </a:solidFill>
              <a:cs typeface="Calibri Light"/>
            </a:rPr>
            <a:t>Devices write data to channels</a:t>
          </a:r>
        </a:p>
      </dgm:t>
    </dgm:pt>
    <dgm:pt modelId="{FD9BFADE-F840-4A11-9C77-19F1A106BFEA}" type="parTrans" cxnId="{2980344E-A53D-4205-BD6D-76A2A131F54F}">
      <dgm:prSet/>
      <dgm:spPr/>
      <dgm:t>
        <a:bodyPr/>
        <a:lstStyle/>
        <a:p>
          <a:endParaRPr lang="en-IE"/>
        </a:p>
      </dgm:t>
    </dgm:pt>
    <dgm:pt modelId="{4536DA97-78CE-4AE0-A8BA-40FB57038083}" type="sibTrans" cxnId="{2980344E-A53D-4205-BD6D-76A2A131F54F}">
      <dgm:prSet/>
      <dgm:spPr/>
      <dgm:t>
        <a:bodyPr/>
        <a:lstStyle/>
        <a:p>
          <a:endParaRPr lang="en-IE"/>
        </a:p>
      </dgm:t>
    </dgm:pt>
    <dgm:pt modelId="{2B112B81-FE7C-4060-BE83-FF789D9B2146}">
      <dgm:prSet phldrT="[Text]"/>
      <dgm:spPr/>
      <dgm:t>
        <a:bodyPr/>
        <a:lstStyle/>
        <a:p>
          <a:r>
            <a:rPr lang="en-US">
              <a:solidFill>
                <a:srgbClr val="000000"/>
              </a:solidFill>
              <a:cs typeface="Calibri Light"/>
            </a:rPr>
            <a:t>Collect data in the channel</a:t>
          </a:r>
        </a:p>
      </dgm:t>
    </dgm:pt>
    <dgm:pt modelId="{BEDE8F0C-DC2A-4B29-9832-6CF804F571DC}" type="parTrans" cxnId="{EA804C0D-2494-4904-B729-9592A25170C8}">
      <dgm:prSet/>
      <dgm:spPr/>
      <dgm:t>
        <a:bodyPr/>
        <a:lstStyle/>
        <a:p>
          <a:endParaRPr lang="en-IE"/>
        </a:p>
      </dgm:t>
    </dgm:pt>
    <dgm:pt modelId="{16D885EE-718A-4B55-8511-B691340064BD}" type="sibTrans" cxnId="{EA804C0D-2494-4904-B729-9592A25170C8}">
      <dgm:prSet/>
      <dgm:spPr/>
      <dgm:t>
        <a:bodyPr/>
        <a:lstStyle/>
        <a:p>
          <a:endParaRPr lang="en-IE"/>
        </a:p>
      </dgm:t>
    </dgm:pt>
    <dgm:pt modelId="{13236A84-C06E-45C4-8164-A09C00F41FCD}">
      <dgm:prSet phldrT="[Text]"/>
      <dgm:spPr/>
      <dgm:t>
        <a:bodyPr/>
        <a:lstStyle/>
        <a:p>
          <a:r>
            <a:rPr lang="en-US">
              <a:solidFill>
                <a:srgbClr val="000000"/>
              </a:solidFill>
              <a:cs typeface="Calibri Light"/>
            </a:rPr>
            <a:t>Channels collect data</a:t>
          </a:r>
        </a:p>
      </dgm:t>
    </dgm:pt>
    <dgm:pt modelId="{8F1160EF-256D-47D7-BE43-4E214AD68491}" type="parTrans" cxnId="{FC5B1BDF-13D3-43FF-ABB6-71F338D1D51C}">
      <dgm:prSet/>
      <dgm:spPr/>
      <dgm:t>
        <a:bodyPr/>
        <a:lstStyle/>
        <a:p>
          <a:endParaRPr lang="en-IE"/>
        </a:p>
      </dgm:t>
    </dgm:pt>
    <dgm:pt modelId="{2E1CF1F4-EEAC-434E-AB1D-B5DA92E5489A}" type="sibTrans" cxnId="{FC5B1BDF-13D3-43FF-ABB6-71F338D1D51C}">
      <dgm:prSet/>
      <dgm:spPr/>
      <dgm:t>
        <a:bodyPr/>
        <a:lstStyle/>
        <a:p>
          <a:endParaRPr lang="en-IE"/>
        </a:p>
      </dgm:t>
    </dgm:pt>
    <dgm:pt modelId="{0E689B39-18E8-4E5F-9A14-27E46818F28F}" type="pres">
      <dgm:prSet presAssocID="{74B74676-956D-4CD3-A2CE-1DEAFC840EE5}" presName="linear" presStyleCnt="0">
        <dgm:presLayoutVars>
          <dgm:animLvl val="lvl"/>
          <dgm:resizeHandles val="exact"/>
        </dgm:presLayoutVars>
      </dgm:prSet>
      <dgm:spPr/>
    </dgm:pt>
    <dgm:pt modelId="{2EB9ED06-E800-408B-A057-55BCAC4E80DA}" type="pres">
      <dgm:prSet presAssocID="{8DCEC639-0156-41D1-9E94-A10AB0506CE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5A8FB84-4399-4ADD-9C41-148CD2F88334}" type="pres">
      <dgm:prSet presAssocID="{8DCEC639-0156-41D1-9E94-A10AB0506CE3}" presName="childText" presStyleLbl="revTx" presStyleIdx="0" presStyleCnt="4">
        <dgm:presLayoutVars>
          <dgm:bulletEnabled val="1"/>
        </dgm:presLayoutVars>
      </dgm:prSet>
      <dgm:spPr/>
    </dgm:pt>
    <dgm:pt modelId="{E5242DD5-EEBD-48A8-8691-157A0412A169}" type="pres">
      <dgm:prSet presAssocID="{2B112B81-FE7C-4060-BE83-FF789D9B214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0D7B967-F2DF-4C31-942F-386729447F1D}" type="pres">
      <dgm:prSet presAssocID="{2B112B81-FE7C-4060-BE83-FF789D9B2146}" presName="childText" presStyleLbl="revTx" presStyleIdx="1" presStyleCnt="4">
        <dgm:presLayoutVars>
          <dgm:bulletEnabled val="1"/>
        </dgm:presLayoutVars>
      </dgm:prSet>
      <dgm:spPr/>
    </dgm:pt>
    <dgm:pt modelId="{7808C7BD-9E65-4310-BAD7-7D6235676288}" type="pres">
      <dgm:prSet presAssocID="{46E2AD9E-4221-4DE6-AD9F-13C45EB8A80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ED0355B-AC55-4BB2-AED4-1CFF06038ABC}" type="pres">
      <dgm:prSet presAssocID="{46E2AD9E-4221-4DE6-AD9F-13C45EB8A80A}" presName="childText" presStyleLbl="revTx" presStyleIdx="2" presStyleCnt="4">
        <dgm:presLayoutVars>
          <dgm:bulletEnabled val="1"/>
        </dgm:presLayoutVars>
      </dgm:prSet>
      <dgm:spPr/>
    </dgm:pt>
    <dgm:pt modelId="{396B0043-9CD3-4845-8C47-C498CCF03DB9}" type="pres">
      <dgm:prSet presAssocID="{85DD4E1E-4E74-424D-A582-C6FDC19DA21E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5D401931-6047-4318-BA1A-03DE6DA68404}" type="pres">
      <dgm:prSet presAssocID="{85DD4E1E-4E74-424D-A582-C6FDC19DA21E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EA804C0D-2494-4904-B729-9592A25170C8}" srcId="{74B74676-956D-4CD3-A2CE-1DEAFC840EE5}" destId="{2B112B81-FE7C-4060-BE83-FF789D9B2146}" srcOrd="1" destOrd="0" parTransId="{BEDE8F0C-DC2A-4B29-9832-6CF804F571DC}" sibTransId="{16D885EE-718A-4B55-8511-B691340064BD}"/>
    <dgm:cxn modelId="{2DF64F1F-96AD-44B8-A919-6F228413E767}" type="presOf" srcId="{46E2AD9E-4221-4DE6-AD9F-13C45EB8A80A}" destId="{7808C7BD-9E65-4310-BAD7-7D6235676288}" srcOrd="0" destOrd="0" presId="urn:microsoft.com/office/officeart/2005/8/layout/vList2"/>
    <dgm:cxn modelId="{0B13CE2B-23EC-4FF2-B75B-2A78EADE1CD6}" type="presOf" srcId="{74B74676-956D-4CD3-A2CE-1DEAFC840EE5}" destId="{0E689B39-18E8-4E5F-9A14-27E46818F28F}" srcOrd="0" destOrd="0" presId="urn:microsoft.com/office/officeart/2005/8/layout/vList2"/>
    <dgm:cxn modelId="{0A54686B-6AAA-48AC-BEA0-151E6F526C9C}" srcId="{74B74676-956D-4CD3-A2CE-1DEAFC840EE5}" destId="{85DD4E1E-4E74-424D-A582-C6FDC19DA21E}" srcOrd="3" destOrd="0" parTransId="{3A3081BC-09EE-4119-9C91-930824170E11}" sibTransId="{90395C15-B4F3-4653-883C-D98D34E4C42C}"/>
    <dgm:cxn modelId="{2980344E-A53D-4205-BD6D-76A2A131F54F}" srcId="{2B112B81-FE7C-4060-BE83-FF789D9B2146}" destId="{FAE51547-F187-42B5-8B30-E70425D493C9}" srcOrd="0" destOrd="0" parTransId="{FD9BFADE-F840-4A11-9C77-19F1A106BFEA}" sibTransId="{4536DA97-78CE-4AE0-A8BA-40FB57038083}"/>
    <dgm:cxn modelId="{44593D50-DFFF-4546-9F56-6F3E592B43E8}" type="presOf" srcId="{8DCEC639-0156-41D1-9E94-A10AB0506CE3}" destId="{2EB9ED06-E800-408B-A057-55BCAC4E80DA}" srcOrd="0" destOrd="0" presId="urn:microsoft.com/office/officeart/2005/8/layout/vList2"/>
    <dgm:cxn modelId="{19C5D857-D576-48EE-92CA-D86D9A049A70}" srcId="{74B74676-956D-4CD3-A2CE-1DEAFC840EE5}" destId="{8DCEC639-0156-41D1-9E94-A10AB0506CE3}" srcOrd="0" destOrd="0" parTransId="{702FD6B2-D777-43F1-9FEE-10BF9D629B55}" sibTransId="{B5FB015B-B74C-46C3-B0A2-498F279A6631}"/>
    <dgm:cxn modelId="{AEDEE67A-D25D-4B11-AF29-97D7A7DD8D16}" srcId="{85DD4E1E-4E74-424D-A582-C6FDC19DA21E}" destId="{AB6476FB-21E3-4A95-A8EA-E273E68C196B}" srcOrd="0" destOrd="0" parTransId="{69FCE964-BDAC-4DBE-85CD-5A74CEEDA311}" sibTransId="{A9811301-F1B9-4379-97B2-697866470DA1}"/>
    <dgm:cxn modelId="{B29B3A84-BF7A-45DB-AD4E-017E938D5A4C}" type="presOf" srcId="{2B112B81-FE7C-4060-BE83-FF789D9B2146}" destId="{E5242DD5-EEBD-48A8-8691-157A0412A169}" srcOrd="0" destOrd="0" presId="urn:microsoft.com/office/officeart/2005/8/layout/vList2"/>
    <dgm:cxn modelId="{48CF9F8A-A64A-4E2A-BA65-64BE1FB3ABE8}" type="presOf" srcId="{85DD4E1E-4E74-424D-A582-C6FDC19DA21E}" destId="{396B0043-9CD3-4845-8C47-C498CCF03DB9}" srcOrd="0" destOrd="0" presId="urn:microsoft.com/office/officeart/2005/8/layout/vList2"/>
    <dgm:cxn modelId="{B86FB68B-F3D5-481A-8E6F-5B373C217494}" srcId="{74B74676-956D-4CD3-A2CE-1DEAFC840EE5}" destId="{46E2AD9E-4221-4DE6-AD9F-13C45EB8A80A}" srcOrd="2" destOrd="0" parTransId="{3DA05906-2AD2-4E2B-AFAD-10AE967DB450}" sibTransId="{824617BB-9CAB-4D3A-B41B-1D9483600B32}"/>
    <dgm:cxn modelId="{770639A5-33C9-45CA-8CFE-9314EC4D555E}" type="presOf" srcId="{AB6476FB-21E3-4A95-A8EA-E273E68C196B}" destId="{5D401931-6047-4318-BA1A-03DE6DA68404}" srcOrd="0" destOrd="0" presId="urn:microsoft.com/office/officeart/2005/8/layout/vList2"/>
    <dgm:cxn modelId="{472C13A7-99CA-4FCF-A46C-1B78B973F729}" srcId="{46E2AD9E-4221-4DE6-AD9F-13C45EB8A80A}" destId="{2B8B757D-9336-4371-ADCC-BF80DD8A28EB}" srcOrd="0" destOrd="0" parTransId="{2C4FC06B-C196-4C47-BBBD-37EA1C6A37D3}" sibTransId="{9935AF4A-8E8A-42CF-9955-9655EF76D59A}"/>
    <dgm:cxn modelId="{FE8242AB-7FE1-43B1-BB90-DE7E03EF4765}" type="presOf" srcId="{13236A84-C06E-45C4-8164-A09C00F41FCD}" destId="{D5A8FB84-4399-4ADD-9C41-148CD2F88334}" srcOrd="0" destOrd="0" presId="urn:microsoft.com/office/officeart/2005/8/layout/vList2"/>
    <dgm:cxn modelId="{49BEC0BA-829B-4062-A5B3-F99C8A07E545}" type="presOf" srcId="{FAE51547-F187-42B5-8B30-E70425D493C9}" destId="{70D7B967-F2DF-4C31-942F-386729447F1D}" srcOrd="0" destOrd="0" presId="urn:microsoft.com/office/officeart/2005/8/layout/vList2"/>
    <dgm:cxn modelId="{0A6B7BDD-ED1F-418D-B0C2-4AFADAE8C4B8}" type="presOf" srcId="{2B8B757D-9336-4371-ADCC-BF80DD8A28EB}" destId="{EED0355B-AC55-4BB2-AED4-1CFF06038ABC}" srcOrd="0" destOrd="0" presId="urn:microsoft.com/office/officeart/2005/8/layout/vList2"/>
    <dgm:cxn modelId="{FC5B1BDF-13D3-43FF-ABB6-71F338D1D51C}" srcId="{8DCEC639-0156-41D1-9E94-A10AB0506CE3}" destId="{13236A84-C06E-45C4-8164-A09C00F41FCD}" srcOrd="0" destOrd="0" parTransId="{8F1160EF-256D-47D7-BE43-4E214AD68491}" sibTransId="{2E1CF1F4-EEAC-434E-AB1D-B5DA92E5489A}"/>
    <dgm:cxn modelId="{3B301340-7BC3-43C5-8702-7D46E4E2ABF0}" type="presParOf" srcId="{0E689B39-18E8-4E5F-9A14-27E46818F28F}" destId="{2EB9ED06-E800-408B-A057-55BCAC4E80DA}" srcOrd="0" destOrd="0" presId="urn:microsoft.com/office/officeart/2005/8/layout/vList2"/>
    <dgm:cxn modelId="{65B19093-B5E8-48AC-B214-41351030F0AE}" type="presParOf" srcId="{0E689B39-18E8-4E5F-9A14-27E46818F28F}" destId="{D5A8FB84-4399-4ADD-9C41-148CD2F88334}" srcOrd="1" destOrd="0" presId="urn:microsoft.com/office/officeart/2005/8/layout/vList2"/>
    <dgm:cxn modelId="{6F7A6C72-C6AC-46E8-8D91-B436C8E4D0BD}" type="presParOf" srcId="{0E689B39-18E8-4E5F-9A14-27E46818F28F}" destId="{E5242DD5-EEBD-48A8-8691-157A0412A169}" srcOrd="2" destOrd="0" presId="urn:microsoft.com/office/officeart/2005/8/layout/vList2"/>
    <dgm:cxn modelId="{1079DB44-84CC-4F2C-B400-66962D95087F}" type="presParOf" srcId="{0E689B39-18E8-4E5F-9A14-27E46818F28F}" destId="{70D7B967-F2DF-4C31-942F-386729447F1D}" srcOrd="3" destOrd="0" presId="urn:microsoft.com/office/officeart/2005/8/layout/vList2"/>
    <dgm:cxn modelId="{D3AA58D6-5142-42AC-AB8C-2BFADE50678D}" type="presParOf" srcId="{0E689B39-18E8-4E5F-9A14-27E46818F28F}" destId="{7808C7BD-9E65-4310-BAD7-7D6235676288}" srcOrd="4" destOrd="0" presId="urn:microsoft.com/office/officeart/2005/8/layout/vList2"/>
    <dgm:cxn modelId="{674A9AA8-07BB-46B4-8709-97819B730FAA}" type="presParOf" srcId="{0E689B39-18E8-4E5F-9A14-27E46818F28F}" destId="{EED0355B-AC55-4BB2-AED4-1CFF06038ABC}" srcOrd="5" destOrd="0" presId="urn:microsoft.com/office/officeart/2005/8/layout/vList2"/>
    <dgm:cxn modelId="{CD04EE66-CEE8-4708-88D8-A5E8686A29C2}" type="presParOf" srcId="{0E689B39-18E8-4E5F-9A14-27E46818F28F}" destId="{396B0043-9CD3-4845-8C47-C498CCF03DB9}" srcOrd="6" destOrd="0" presId="urn:microsoft.com/office/officeart/2005/8/layout/vList2"/>
    <dgm:cxn modelId="{5A1FD16A-3873-4DC1-87D3-9D1532A7DF85}" type="presParOf" srcId="{0E689B39-18E8-4E5F-9A14-27E46818F28F}" destId="{5D401931-6047-4318-BA1A-03DE6DA68404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EC3427C-BB0C-4CBF-BD21-B1D921BD4517}" type="doc">
      <dgm:prSet loTypeId="urn:microsoft.com/office/officeart/2018/5/layout/IconCircleLabelList" loCatId="icon" qsTypeId="urn:microsoft.com/office/officeart/2005/8/quickstyle/simple4" qsCatId="simple" csTypeId="urn:microsoft.com/office/officeart/2018/5/colors/Iconchunking_neutralbg_accent6_2" csCatId="accent6" phldr="1"/>
      <dgm:spPr/>
      <dgm:t>
        <a:bodyPr/>
        <a:lstStyle/>
        <a:p>
          <a:endParaRPr lang="en-US"/>
        </a:p>
      </dgm:t>
    </dgm:pt>
    <dgm:pt modelId="{4817AE45-9867-4B80-8CC0-686BACACC02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Create a new channel to collect data from devices</a:t>
          </a:r>
        </a:p>
      </dgm:t>
    </dgm:pt>
    <dgm:pt modelId="{F3471827-DDF0-4603-A076-8AE175A8F2D3}" type="parTrans" cxnId="{FE837E75-D64A-4E10-B32B-23C323164CC1}">
      <dgm:prSet/>
      <dgm:spPr/>
      <dgm:t>
        <a:bodyPr/>
        <a:lstStyle/>
        <a:p>
          <a:endParaRPr lang="en-US"/>
        </a:p>
      </dgm:t>
    </dgm:pt>
    <dgm:pt modelId="{FD041D24-3A2A-459A-945B-1B56CBDAD4FA}" type="sibTrans" cxnId="{FE837E75-D64A-4E10-B32B-23C323164CC1}">
      <dgm:prSet/>
      <dgm:spPr/>
      <dgm:t>
        <a:bodyPr/>
        <a:lstStyle/>
        <a:p>
          <a:endParaRPr lang="en-US"/>
        </a:p>
      </dgm:t>
    </dgm:pt>
    <dgm:pt modelId="{47C54959-3B86-4FA9-94D1-D346A8BAC97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Define data fields for the channel(max 8)</a:t>
          </a:r>
        </a:p>
      </dgm:t>
    </dgm:pt>
    <dgm:pt modelId="{5BC5F1BF-1C42-4F42-893E-E4D5FDBC9DB6}" type="parTrans" cxnId="{23093626-E5A9-4AD5-92B9-503D6B56FE80}">
      <dgm:prSet/>
      <dgm:spPr/>
      <dgm:t>
        <a:bodyPr/>
        <a:lstStyle/>
        <a:p>
          <a:endParaRPr lang="en-US"/>
        </a:p>
      </dgm:t>
    </dgm:pt>
    <dgm:pt modelId="{A428FCBB-1747-4C6D-A252-0F415B184086}" type="sibTrans" cxnId="{23093626-E5A9-4AD5-92B9-503D6B56FE80}">
      <dgm:prSet/>
      <dgm:spPr/>
      <dgm:t>
        <a:bodyPr/>
        <a:lstStyle/>
        <a:p>
          <a:endParaRPr lang="en-US"/>
        </a:p>
      </dgm:t>
    </dgm:pt>
    <dgm:pt modelId="{A36A58F8-A2E1-4C2E-A052-7D72CF0CD4E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Can also input location(</a:t>
          </a:r>
          <a:r>
            <a:rPr lang="en-US" err="1"/>
            <a:t>lat</a:t>
          </a:r>
          <a:r>
            <a:rPr lang="en-US"/>
            <a:t>/long) of channel source)</a:t>
          </a:r>
        </a:p>
      </dgm:t>
    </dgm:pt>
    <dgm:pt modelId="{94C0C22F-9EAA-4CDF-B730-E672CCF01DC0}" type="parTrans" cxnId="{B0CD7E3E-0987-4D7E-8FF5-2AE49E945DEC}">
      <dgm:prSet/>
      <dgm:spPr/>
      <dgm:t>
        <a:bodyPr/>
        <a:lstStyle/>
        <a:p>
          <a:endParaRPr lang="en-US"/>
        </a:p>
      </dgm:t>
    </dgm:pt>
    <dgm:pt modelId="{1606CCAD-8D0D-4D07-A77A-1EAC24619093}" type="sibTrans" cxnId="{B0CD7E3E-0987-4D7E-8FF5-2AE49E945DEC}">
      <dgm:prSet/>
      <dgm:spPr/>
      <dgm:t>
        <a:bodyPr/>
        <a:lstStyle/>
        <a:p>
          <a:endParaRPr lang="en-US"/>
        </a:p>
      </dgm:t>
    </dgm:pt>
    <dgm:pt modelId="{3A466A6E-D2F8-412F-8E48-07C38A11F511}" type="pres">
      <dgm:prSet presAssocID="{5EC3427C-BB0C-4CBF-BD21-B1D921BD4517}" presName="root" presStyleCnt="0">
        <dgm:presLayoutVars>
          <dgm:dir/>
          <dgm:resizeHandles val="exact"/>
        </dgm:presLayoutVars>
      </dgm:prSet>
      <dgm:spPr/>
    </dgm:pt>
    <dgm:pt modelId="{33914B66-FB67-4F77-908E-CDD0026CCFE6}" type="pres">
      <dgm:prSet presAssocID="{4817AE45-9867-4B80-8CC0-686BACACC02F}" presName="compNode" presStyleCnt="0"/>
      <dgm:spPr/>
    </dgm:pt>
    <dgm:pt modelId="{81E4ADCD-5E35-4C23-8054-C11268C47566}" type="pres">
      <dgm:prSet presAssocID="{4817AE45-9867-4B80-8CC0-686BACACC02F}" presName="iconBgRect" presStyleLbl="bgShp" presStyleIdx="0" presStyleCnt="3"/>
      <dgm:spPr/>
    </dgm:pt>
    <dgm:pt modelId="{BE79B936-D0B3-4995-BA69-3244D714445B}" type="pres">
      <dgm:prSet presAssocID="{4817AE45-9867-4B80-8CC0-686BACACC02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7BD52D77-A670-45D9-8A5D-E94711E2BC6A}" type="pres">
      <dgm:prSet presAssocID="{4817AE45-9867-4B80-8CC0-686BACACC02F}" presName="spaceRect" presStyleCnt="0"/>
      <dgm:spPr/>
    </dgm:pt>
    <dgm:pt modelId="{FB3FFD95-940C-48C2-BD4B-A12BB3C186C6}" type="pres">
      <dgm:prSet presAssocID="{4817AE45-9867-4B80-8CC0-686BACACC02F}" presName="textRect" presStyleLbl="revTx" presStyleIdx="0" presStyleCnt="3">
        <dgm:presLayoutVars>
          <dgm:chMax val="1"/>
          <dgm:chPref val="1"/>
        </dgm:presLayoutVars>
      </dgm:prSet>
      <dgm:spPr/>
    </dgm:pt>
    <dgm:pt modelId="{283B1DD8-09C4-4276-B417-A3F02A63A5F4}" type="pres">
      <dgm:prSet presAssocID="{FD041D24-3A2A-459A-945B-1B56CBDAD4FA}" presName="sibTrans" presStyleCnt="0"/>
      <dgm:spPr/>
    </dgm:pt>
    <dgm:pt modelId="{18620578-1730-4DD9-99A2-9577230B29B5}" type="pres">
      <dgm:prSet presAssocID="{47C54959-3B86-4FA9-94D1-D346A8BAC971}" presName="compNode" presStyleCnt="0"/>
      <dgm:spPr/>
    </dgm:pt>
    <dgm:pt modelId="{A0002346-1991-4BD7-9CF4-1D4F8D0EA9FB}" type="pres">
      <dgm:prSet presAssocID="{47C54959-3B86-4FA9-94D1-D346A8BAC971}" presName="iconBgRect" presStyleLbl="bgShp" presStyleIdx="1" presStyleCnt="3"/>
      <dgm:spPr/>
    </dgm:pt>
    <dgm:pt modelId="{F2B728EA-5889-40E1-961D-C57ADFFCE435}" type="pres">
      <dgm:prSet presAssocID="{47C54959-3B86-4FA9-94D1-D346A8BAC97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D454127B-0489-4B9C-A4FC-5DD87B42970D}" type="pres">
      <dgm:prSet presAssocID="{47C54959-3B86-4FA9-94D1-D346A8BAC971}" presName="spaceRect" presStyleCnt="0"/>
      <dgm:spPr/>
    </dgm:pt>
    <dgm:pt modelId="{0CED06EA-D859-428D-AEAD-D139EA87F741}" type="pres">
      <dgm:prSet presAssocID="{47C54959-3B86-4FA9-94D1-D346A8BAC971}" presName="textRect" presStyleLbl="revTx" presStyleIdx="1" presStyleCnt="3">
        <dgm:presLayoutVars>
          <dgm:chMax val="1"/>
          <dgm:chPref val="1"/>
        </dgm:presLayoutVars>
      </dgm:prSet>
      <dgm:spPr/>
    </dgm:pt>
    <dgm:pt modelId="{E80EB1CD-A41E-40BF-B4D8-1A149ACAC4DD}" type="pres">
      <dgm:prSet presAssocID="{A428FCBB-1747-4C6D-A252-0F415B184086}" presName="sibTrans" presStyleCnt="0"/>
      <dgm:spPr/>
    </dgm:pt>
    <dgm:pt modelId="{398BC761-DDEA-4E47-AE58-478BB64A9250}" type="pres">
      <dgm:prSet presAssocID="{A36A58F8-A2E1-4C2E-A052-7D72CF0CD4E7}" presName="compNode" presStyleCnt="0"/>
      <dgm:spPr/>
    </dgm:pt>
    <dgm:pt modelId="{E09773D8-64D7-4A0A-8D09-91E13F12A246}" type="pres">
      <dgm:prSet presAssocID="{A36A58F8-A2E1-4C2E-A052-7D72CF0CD4E7}" presName="iconBgRect" presStyleLbl="bgShp" presStyleIdx="2" presStyleCnt="3"/>
      <dgm:spPr/>
    </dgm:pt>
    <dgm:pt modelId="{409DD374-902E-46D9-B73F-3A5F73382298}" type="pres">
      <dgm:prSet presAssocID="{A36A58F8-A2E1-4C2E-A052-7D72CF0CD4E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5BD0C823-3AC7-4CCB-BC61-FFBA419DC947}" type="pres">
      <dgm:prSet presAssocID="{A36A58F8-A2E1-4C2E-A052-7D72CF0CD4E7}" presName="spaceRect" presStyleCnt="0"/>
      <dgm:spPr/>
    </dgm:pt>
    <dgm:pt modelId="{FF5D1D63-8B8A-4E2D-81BE-6559074D8A90}" type="pres">
      <dgm:prSet presAssocID="{A36A58F8-A2E1-4C2E-A052-7D72CF0CD4E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49F0EC1A-9CDC-4302-9F2E-0362FE27C18E}" type="presOf" srcId="{4817AE45-9867-4B80-8CC0-686BACACC02F}" destId="{FB3FFD95-940C-48C2-BD4B-A12BB3C186C6}" srcOrd="0" destOrd="0" presId="urn:microsoft.com/office/officeart/2018/5/layout/IconCircleLabelList"/>
    <dgm:cxn modelId="{EE190A26-5E9E-4A28-9382-DFBA2CF5900F}" type="presOf" srcId="{A36A58F8-A2E1-4C2E-A052-7D72CF0CD4E7}" destId="{FF5D1D63-8B8A-4E2D-81BE-6559074D8A90}" srcOrd="0" destOrd="0" presId="urn:microsoft.com/office/officeart/2018/5/layout/IconCircleLabelList"/>
    <dgm:cxn modelId="{23093626-E5A9-4AD5-92B9-503D6B56FE80}" srcId="{5EC3427C-BB0C-4CBF-BD21-B1D921BD4517}" destId="{47C54959-3B86-4FA9-94D1-D346A8BAC971}" srcOrd="1" destOrd="0" parTransId="{5BC5F1BF-1C42-4F42-893E-E4D5FDBC9DB6}" sibTransId="{A428FCBB-1747-4C6D-A252-0F415B184086}"/>
    <dgm:cxn modelId="{B0CD7E3E-0987-4D7E-8FF5-2AE49E945DEC}" srcId="{5EC3427C-BB0C-4CBF-BD21-B1D921BD4517}" destId="{A36A58F8-A2E1-4C2E-A052-7D72CF0CD4E7}" srcOrd="2" destOrd="0" parTransId="{94C0C22F-9EAA-4CDF-B730-E672CCF01DC0}" sibTransId="{1606CCAD-8D0D-4D07-A77A-1EAC24619093}"/>
    <dgm:cxn modelId="{C44B086D-FCB3-401F-98A6-1069EDF00B85}" type="presOf" srcId="{47C54959-3B86-4FA9-94D1-D346A8BAC971}" destId="{0CED06EA-D859-428D-AEAD-D139EA87F741}" srcOrd="0" destOrd="0" presId="urn:microsoft.com/office/officeart/2018/5/layout/IconCircleLabelList"/>
    <dgm:cxn modelId="{FE837E75-D64A-4E10-B32B-23C323164CC1}" srcId="{5EC3427C-BB0C-4CBF-BD21-B1D921BD4517}" destId="{4817AE45-9867-4B80-8CC0-686BACACC02F}" srcOrd="0" destOrd="0" parTransId="{F3471827-DDF0-4603-A076-8AE175A8F2D3}" sibTransId="{FD041D24-3A2A-459A-945B-1B56CBDAD4FA}"/>
    <dgm:cxn modelId="{E9302D98-EC11-4D2A-AAC8-ADDB382E2A08}" type="presOf" srcId="{5EC3427C-BB0C-4CBF-BD21-B1D921BD4517}" destId="{3A466A6E-D2F8-412F-8E48-07C38A11F511}" srcOrd="0" destOrd="0" presId="urn:microsoft.com/office/officeart/2018/5/layout/IconCircleLabelList"/>
    <dgm:cxn modelId="{358600AD-BA2A-47A5-8992-7EBD70160D0F}" type="presParOf" srcId="{3A466A6E-D2F8-412F-8E48-07C38A11F511}" destId="{33914B66-FB67-4F77-908E-CDD0026CCFE6}" srcOrd="0" destOrd="0" presId="urn:microsoft.com/office/officeart/2018/5/layout/IconCircleLabelList"/>
    <dgm:cxn modelId="{1779B53B-EE84-4C99-969C-4D3E34AA71B4}" type="presParOf" srcId="{33914B66-FB67-4F77-908E-CDD0026CCFE6}" destId="{81E4ADCD-5E35-4C23-8054-C11268C47566}" srcOrd="0" destOrd="0" presId="urn:microsoft.com/office/officeart/2018/5/layout/IconCircleLabelList"/>
    <dgm:cxn modelId="{427D5D12-A3B0-4808-8840-1C891E8383BB}" type="presParOf" srcId="{33914B66-FB67-4F77-908E-CDD0026CCFE6}" destId="{BE79B936-D0B3-4995-BA69-3244D714445B}" srcOrd="1" destOrd="0" presId="urn:microsoft.com/office/officeart/2018/5/layout/IconCircleLabelList"/>
    <dgm:cxn modelId="{C009535B-C199-453D-9C30-E7BC1B77C181}" type="presParOf" srcId="{33914B66-FB67-4F77-908E-CDD0026CCFE6}" destId="{7BD52D77-A670-45D9-8A5D-E94711E2BC6A}" srcOrd="2" destOrd="0" presId="urn:microsoft.com/office/officeart/2018/5/layout/IconCircleLabelList"/>
    <dgm:cxn modelId="{DC38F4B9-15B3-43CC-8C76-E3392E203B63}" type="presParOf" srcId="{33914B66-FB67-4F77-908E-CDD0026CCFE6}" destId="{FB3FFD95-940C-48C2-BD4B-A12BB3C186C6}" srcOrd="3" destOrd="0" presId="urn:microsoft.com/office/officeart/2018/5/layout/IconCircleLabelList"/>
    <dgm:cxn modelId="{46E53365-F370-4502-97DC-83320518295D}" type="presParOf" srcId="{3A466A6E-D2F8-412F-8E48-07C38A11F511}" destId="{283B1DD8-09C4-4276-B417-A3F02A63A5F4}" srcOrd="1" destOrd="0" presId="urn:microsoft.com/office/officeart/2018/5/layout/IconCircleLabelList"/>
    <dgm:cxn modelId="{533F3C42-B063-46A8-A31E-C8A95946E563}" type="presParOf" srcId="{3A466A6E-D2F8-412F-8E48-07C38A11F511}" destId="{18620578-1730-4DD9-99A2-9577230B29B5}" srcOrd="2" destOrd="0" presId="urn:microsoft.com/office/officeart/2018/5/layout/IconCircleLabelList"/>
    <dgm:cxn modelId="{18EBF2AD-C679-4E45-BAAF-4068463D1E0E}" type="presParOf" srcId="{18620578-1730-4DD9-99A2-9577230B29B5}" destId="{A0002346-1991-4BD7-9CF4-1D4F8D0EA9FB}" srcOrd="0" destOrd="0" presId="urn:microsoft.com/office/officeart/2018/5/layout/IconCircleLabelList"/>
    <dgm:cxn modelId="{9830EFC4-0BEF-475A-977C-B57EB825A9FF}" type="presParOf" srcId="{18620578-1730-4DD9-99A2-9577230B29B5}" destId="{F2B728EA-5889-40E1-961D-C57ADFFCE435}" srcOrd="1" destOrd="0" presId="urn:microsoft.com/office/officeart/2018/5/layout/IconCircleLabelList"/>
    <dgm:cxn modelId="{E9BE27D6-1FEF-4C7C-860A-6132B7A306FC}" type="presParOf" srcId="{18620578-1730-4DD9-99A2-9577230B29B5}" destId="{D454127B-0489-4B9C-A4FC-5DD87B42970D}" srcOrd="2" destOrd="0" presId="urn:microsoft.com/office/officeart/2018/5/layout/IconCircleLabelList"/>
    <dgm:cxn modelId="{EA2B0427-58C8-4C69-B9A8-EDEE0EA5AD49}" type="presParOf" srcId="{18620578-1730-4DD9-99A2-9577230B29B5}" destId="{0CED06EA-D859-428D-AEAD-D139EA87F741}" srcOrd="3" destOrd="0" presId="urn:microsoft.com/office/officeart/2018/5/layout/IconCircleLabelList"/>
    <dgm:cxn modelId="{2E6AD81E-A581-4983-97E8-D6229ED7483B}" type="presParOf" srcId="{3A466A6E-D2F8-412F-8E48-07C38A11F511}" destId="{E80EB1CD-A41E-40BF-B4D8-1A149ACAC4DD}" srcOrd="3" destOrd="0" presId="urn:microsoft.com/office/officeart/2018/5/layout/IconCircleLabelList"/>
    <dgm:cxn modelId="{16D7C338-A810-4447-857B-0F6E736404CD}" type="presParOf" srcId="{3A466A6E-D2F8-412F-8E48-07C38A11F511}" destId="{398BC761-DDEA-4E47-AE58-478BB64A9250}" srcOrd="4" destOrd="0" presId="urn:microsoft.com/office/officeart/2018/5/layout/IconCircleLabelList"/>
    <dgm:cxn modelId="{9ED6C64D-221B-4C41-A388-4EE3616A9F2C}" type="presParOf" srcId="{398BC761-DDEA-4E47-AE58-478BB64A9250}" destId="{E09773D8-64D7-4A0A-8D09-91E13F12A246}" srcOrd="0" destOrd="0" presId="urn:microsoft.com/office/officeart/2018/5/layout/IconCircleLabelList"/>
    <dgm:cxn modelId="{4512298D-AD7A-4627-9501-26BB89C68CCF}" type="presParOf" srcId="{398BC761-DDEA-4E47-AE58-478BB64A9250}" destId="{409DD374-902E-46D9-B73F-3A5F73382298}" srcOrd="1" destOrd="0" presId="urn:microsoft.com/office/officeart/2018/5/layout/IconCircleLabelList"/>
    <dgm:cxn modelId="{12109865-A661-4D18-9729-C2EBD1F6E43A}" type="presParOf" srcId="{398BC761-DDEA-4E47-AE58-478BB64A9250}" destId="{5BD0C823-3AC7-4CCB-BC61-FFBA419DC947}" srcOrd="2" destOrd="0" presId="urn:microsoft.com/office/officeart/2018/5/layout/IconCircleLabelList"/>
    <dgm:cxn modelId="{27DDB401-5932-41A2-A563-32FA8DC7470A}" type="presParOf" srcId="{398BC761-DDEA-4E47-AE58-478BB64A9250}" destId="{FF5D1D63-8B8A-4E2D-81BE-6559074D8A9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B9ED06-E800-408B-A057-55BCAC4E80DA}">
      <dsp:nvSpPr>
        <dsp:cNvPr id="0" name=""/>
        <dsp:cNvSpPr/>
      </dsp:nvSpPr>
      <dsp:spPr>
        <a:xfrm>
          <a:off x="0" y="67328"/>
          <a:ext cx="10515600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>
              <a:solidFill>
                <a:srgbClr val="000000"/>
              </a:solidFill>
              <a:cs typeface="Calibri Light"/>
            </a:rPr>
            <a:t>Create a new channel</a:t>
          </a:r>
        </a:p>
      </dsp:txBody>
      <dsp:txXfrm>
        <a:off x="30442" y="97770"/>
        <a:ext cx="10454716" cy="562726"/>
      </dsp:txXfrm>
    </dsp:sp>
    <dsp:sp modelId="{D5A8FB84-4399-4ADD-9C41-148CD2F88334}">
      <dsp:nvSpPr>
        <dsp:cNvPr id="0" name=""/>
        <dsp:cNvSpPr/>
      </dsp:nvSpPr>
      <dsp:spPr>
        <a:xfrm>
          <a:off x="0" y="690938"/>
          <a:ext cx="10515600" cy="430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>
              <a:solidFill>
                <a:srgbClr val="000000"/>
              </a:solidFill>
              <a:cs typeface="Calibri Light"/>
            </a:rPr>
            <a:t>Channels collect data</a:t>
          </a:r>
        </a:p>
      </dsp:txBody>
      <dsp:txXfrm>
        <a:off x="0" y="690938"/>
        <a:ext cx="10515600" cy="430560"/>
      </dsp:txXfrm>
    </dsp:sp>
    <dsp:sp modelId="{E5242DD5-EEBD-48A8-8691-157A0412A169}">
      <dsp:nvSpPr>
        <dsp:cNvPr id="0" name=""/>
        <dsp:cNvSpPr/>
      </dsp:nvSpPr>
      <dsp:spPr>
        <a:xfrm>
          <a:off x="0" y="1121499"/>
          <a:ext cx="10515600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>
              <a:solidFill>
                <a:srgbClr val="000000"/>
              </a:solidFill>
              <a:cs typeface="Calibri Light"/>
            </a:rPr>
            <a:t>Collect data in the channel</a:t>
          </a:r>
        </a:p>
      </dsp:txBody>
      <dsp:txXfrm>
        <a:off x="30442" y="1151941"/>
        <a:ext cx="10454716" cy="562726"/>
      </dsp:txXfrm>
    </dsp:sp>
    <dsp:sp modelId="{70D7B967-F2DF-4C31-942F-386729447F1D}">
      <dsp:nvSpPr>
        <dsp:cNvPr id="0" name=""/>
        <dsp:cNvSpPr/>
      </dsp:nvSpPr>
      <dsp:spPr>
        <a:xfrm>
          <a:off x="0" y="1745109"/>
          <a:ext cx="10515600" cy="430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>
              <a:solidFill>
                <a:srgbClr val="000000"/>
              </a:solidFill>
              <a:cs typeface="Calibri Light"/>
            </a:rPr>
            <a:t>Devices write data to channels</a:t>
          </a:r>
        </a:p>
      </dsp:txBody>
      <dsp:txXfrm>
        <a:off x="0" y="1745109"/>
        <a:ext cx="10515600" cy="430560"/>
      </dsp:txXfrm>
    </dsp:sp>
    <dsp:sp modelId="{7808C7BD-9E65-4310-BAD7-7D6235676288}">
      <dsp:nvSpPr>
        <dsp:cNvPr id="0" name=""/>
        <dsp:cNvSpPr/>
      </dsp:nvSpPr>
      <dsp:spPr>
        <a:xfrm>
          <a:off x="0" y="2175669"/>
          <a:ext cx="10515600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err="1">
              <a:solidFill>
                <a:srgbClr val="000000"/>
              </a:solidFill>
              <a:cs typeface="Calibri Light"/>
            </a:rPr>
            <a:t>Analyse</a:t>
          </a:r>
          <a:r>
            <a:rPr lang="en-US" sz="2600" kern="1200">
              <a:solidFill>
                <a:srgbClr val="000000"/>
              </a:solidFill>
              <a:cs typeface="Calibri Light"/>
            </a:rPr>
            <a:t> the data</a:t>
          </a:r>
        </a:p>
      </dsp:txBody>
      <dsp:txXfrm>
        <a:off x="30442" y="2206111"/>
        <a:ext cx="10454716" cy="562726"/>
      </dsp:txXfrm>
    </dsp:sp>
    <dsp:sp modelId="{EED0355B-AC55-4BB2-AED4-1CFF06038ABC}">
      <dsp:nvSpPr>
        <dsp:cNvPr id="0" name=""/>
        <dsp:cNvSpPr/>
      </dsp:nvSpPr>
      <dsp:spPr>
        <a:xfrm>
          <a:off x="0" y="2799279"/>
          <a:ext cx="10515600" cy="430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>
              <a:solidFill>
                <a:srgbClr val="000000"/>
              </a:solidFill>
              <a:cs typeface="Calibri Light"/>
            </a:rPr>
            <a:t>Run analytical algorithms/</a:t>
          </a:r>
          <a:r>
            <a:rPr lang="en-US" sz="2000" kern="1200" err="1">
              <a:solidFill>
                <a:srgbClr val="000000"/>
              </a:solidFill>
              <a:cs typeface="Calibri Light"/>
            </a:rPr>
            <a:t>visualise</a:t>
          </a:r>
          <a:r>
            <a:rPr lang="en-US" sz="2000" kern="1200">
              <a:solidFill>
                <a:srgbClr val="000000"/>
              </a:solidFill>
              <a:cs typeface="Calibri Light"/>
            </a:rPr>
            <a:t> your data</a:t>
          </a:r>
        </a:p>
      </dsp:txBody>
      <dsp:txXfrm>
        <a:off x="0" y="2799279"/>
        <a:ext cx="10515600" cy="430560"/>
      </dsp:txXfrm>
    </dsp:sp>
    <dsp:sp modelId="{396B0043-9CD3-4845-8C47-C498CCF03DB9}">
      <dsp:nvSpPr>
        <dsp:cNvPr id="0" name=""/>
        <dsp:cNvSpPr/>
      </dsp:nvSpPr>
      <dsp:spPr>
        <a:xfrm>
          <a:off x="0" y="3229839"/>
          <a:ext cx="10515600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>
              <a:solidFill>
                <a:srgbClr val="000000"/>
              </a:solidFill>
              <a:cs typeface="Calibri Light"/>
            </a:rPr>
            <a:t>Act on the data</a:t>
          </a:r>
        </a:p>
      </dsp:txBody>
      <dsp:txXfrm>
        <a:off x="30442" y="3260281"/>
        <a:ext cx="10454716" cy="562726"/>
      </dsp:txXfrm>
    </dsp:sp>
    <dsp:sp modelId="{5D401931-6047-4318-BA1A-03DE6DA68404}">
      <dsp:nvSpPr>
        <dsp:cNvPr id="0" name=""/>
        <dsp:cNvSpPr/>
      </dsp:nvSpPr>
      <dsp:spPr>
        <a:xfrm>
          <a:off x="0" y="3853449"/>
          <a:ext cx="10515600" cy="430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>
              <a:solidFill>
                <a:srgbClr val="000000"/>
              </a:solidFill>
              <a:cs typeface="Calibri Light"/>
            </a:rPr>
            <a:t>Test for certain conditions and perform actions</a:t>
          </a:r>
        </a:p>
      </dsp:txBody>
      <dsp:txXfrm>
        <a:off x="0" y="3853449"/>
        <a:ext cx="10515600" cy="4305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E4ADCD-5E35-4C23-8054-C11268C47566}">
      <dsp:nvSpPr>
        <dsp:cNvPr id="0" name=""/>
        <dsp:cNvSpPr/>
      </dsp:nvSpPr>
      <dsp:spPr>
        <a:xfrm>
          <a:off x="369059" y="139272"/>
          <a:ext cx="1098000" cy="1098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E79B936-D0B3-4995-BA69-3244D714445B}">
      <dsp:nvSpPr>
        <dsp:cNvPr id="0" name=""/>
        <dsp:cNvSpPr/>
      </dsp:nvSpPr>
      <dsp:spPr>
        <a:xfrm>
          <a:off x="603059" y="37327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B3FFD95-940C-48C2-BD4B-A12BB3C186C6}">
      <dsp:nvSpPr>
        <dsp:cNvPr id="0" name=""/>
        <dsp:cNvSpPr/>
      </dsp:nvSpPr>
      <dsp:spPr>
        <a:xfrm>
          <a:off x="18059" y="1579273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Create a new channel to collect data from devices</a:t>
          </a:r>
        </a:p>
      </dsp:txBody>
      <dsp:txXfrm>
        <a:off x="18059" y="1579273"/>
        <a:ext cx="1800000" cy="720000"/>
      </dsp:txXfrm>
    </dsp:sp>
    <dsp:sp modelId="{A0002346-1991-4BD7-9CF4-1D4F8D0EA9FB}">
      <dsp:nvSpPr>
        <dsp:cNvPr id="0" name=""/>
        <dsp:cNvSpPr/>
      </dsp:nvSpPr>
      <dsp:spPr>
        <a:xfrm>
          <a:off x="2484059" y="139272"/>
          <a:ext cx="1098000" cy="1098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2B728EA-5889-40E1-961D-C57ADFFCE435}">
      <dsp:nvSpPr>
        <dsp:cNvPr id="0" name=""/>
        <dsp:cNvSpPr/>
      </dsp:nvSpPr>
      <dsp:spPr>
        <a:xfrm>
          <a:off x="2718059" y="37327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CED06EA-D859-428D-AEAD-D139EA87F741}">
      <dsp:nvSpPr>
        <dsp:cNvPr id="0" name=""/>
        <dsp:cNvSpPr/>
      </dsp:nvSpPr>
      <dsp:spPr>
        <a:xfrm>
          <a:off x="2133059" y="1579273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Define data fields for the channel(max 8)</a:t>
          </a:r>
        </a:p>
      </dsp:txBody>
      <dsp:txXfrm>
        <a:off x="2133059" y="1579273"/>
        <a:ext cx="1800000" cy="720000"/>
      </dsp:txXfrm>
    </dsp:sp>
    <dsp:sp modelId="{E09773D8-64D7-4A0A-8D09-91E13F12A246}">
      <dsp:nvSpPr>
        <dsp:cNvPr id="0" name=""/>
        <dsp:cNvSpPr/>
      </dsp:nvSpPr>
      <dsp:spPr>
        <a:xfrm>
          <a:off x="4599059" y="139272"/>
          <a:ext cx="1098000" cy="1098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409DD374-902E-46D9-B73F-3A5F73382298}">
      <dsp:nvSpPr>
        <dsp:cNvPr id="0" name=""/>
        <dsp:cNvSpPr/>
      </dsp:nvSpPr>
      <dsp:spPr>
        <a:xfrm>
          <a:off x="4833059" y="37327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F5D1D63-8B8A-4E2D-81BE-6559074D8A90}">
      <dsp:nvSpPr>
        <dsp:cNvPr id="0" name=""/>
        <dsp:cNvSpPr/>
      </dsp:nvSpPr>
      <dsp:spPr>
        <a:xfrm>
          <a:off x="4248059" y="1579273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Can also input location(</a:t>
          </a:r>
          <a:r>
            <a:rPr lang="en-US" sz="1500" kern="1200" err="1"/>
            <a:t>lat</a:t>
          </a:r>
          <a:r>
            <a:rPr lang="en-US" sz="1500" kern="1200"/>
            <a:t>/long) of channel source)</a:t>
          </a:r>
        </a:p>
      </dsp:txBody>
      <dsp:txXfrm>
        <a:off x="4248059" y="1579273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3CA026-0B95-4A00-933D-6AE5D99250E8}" type="datetimeFigureOut">
              <a:rPr lang="en-IE" smtClean="0"/>
              <a:t>17/11/2025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0B477B-5E5C-4F40-BC30-CC3DE636669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70083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hyperlink" Target="https://jpralves.net/post/2016/05/19/aws-iot-button.html" TargetMode="External"/><Relationship Id="rId7" Type="http://schemas.openxmlformats.org/officeDocument/2006/relationships/hyperlink" Target="https://medium.com/@indobotads/mengenal-thingspeak-sebagai-platform-iot-38012b74b8cc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hyperlink" Target="https://learn.umh.app/lesson/setting-up-azure-iot-hub/" TargetMode="External"/><Relationship Id="rId10" Type="http://schemas.openxmlformats.org/officeDocument/2006/relationships/hyperlink" Target="https://creativecommons.org/licenses/by-sa/3.0/" TargetMode="External"/><Relationship Id="rId4" Type="http://schemas.openxmlformats.org/officeDocument/2006/relationships/image" Target="../media/image2.png"/><Relationship Id="rId9" Type="http://schemas.openxmlformats.org/officeDocument/2006/relationships/hyperlink" Target="https://devopedia.org/iot-cloud-platforms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https://api.thingspeak.com/update?api_key=%3cWRITE-KEY%3e&amp;field1=12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IoT Platforms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Frank Walsh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FB042-AECB-49EA-AFA4-BA3007681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What are IoT platforms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C81755-BBA2-45C7-940B-B6B4DF1771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dirty="0">
                <a:cs typeface="Calibri"/>
              </a:rPr>
              <a:t>IoT applications combine sensors, devices, data, analytics and integrations in a seamless and unified way</a:t>
            </a:r>
          </a:p>
          <a:p>
            <a:pPr lvl="1"/>
            <a:r>
              <a:rPr lang="en-US" dirty="0">
                <a:cs typeface="Calibri"/>
              </a:rPr>
              <a:t>e.g. your project!</a:t>
            </a:r>
          </a:p>
          <a:p>
            <a:r>
              <a:rPr lang="en-US" dirty="0">
                <a:cs typeface="Calibri"/>
              </a:rPr>
              <a:t>IoT Platforms provide software tools and components to:</a:t>
            </a:r>
          </a:p>
          <a:p>
            <a:pPr lvl="1"/>
            <a:r>
              <a:rPr lang="en-US" dirty="0">
                <a:cs typeface="Calibri"/>
              </a:rPr>
              <a:t>connect sensors, devices, and data networks</a:t>
            </a:r>
          </a:p>
          <a:p>
            <a:pPr lvl="1"/>
            <a:r>
              <a:rPr lang="en-US" dirty="0" err="1">
                <a:cs typeface="Calibri"/>
              </a:rPr>
              <a:t>Analyse</a:t>
            </a:r>
            <a:r>
              <a:rPr lang="en-US" dirty="0">
                <a:cs typeface="Calibri"/>
              </a:rPr>
              <a:t> and store data</a:t>
            </a:r>
          </a:p>
          <a:p>
            <a:pPr lvl="1"/>
            <a:r>
              <a:rPr lang="en-US" dirty="0">
                <a:cs typeface="Calibri"/>
              </a:rPr>
              <a:t>Integrate with other apps</a:t>
            </a:r>
          </a:p>
          <a:p>
            <a:r>
              <a:rPr lang="en-US" dirty="0">
                <a:cs typeface="Calibri"/>
              </a:rPr>
              <a:t>So what? We know the tech for that now ( MQTT, Python...)</a:t>
            </a:r>
          </a:p>
          <a:p>
            <a:r>
              <a:rPr lang="en-US" dirty="0">
                <a:cs typeface="Calibri"/>
              </a:rPr>
              <a:t>Main selling point of an IoT platform is software that it</a:t>
            </a:r>
            <a:endParaRPr lang="en-US" sz="2600" dirty="0">
              <a:cs typeface="Calibri"/>
            </a:endParaRPr>
          </a:p>
          <a:p>
            <a:pPr lvl="1"/>
            <a:r>
              <a:rPr lang="en-US" dirty="0">
                <a:cs typeface="Calibri"/>
              </a:rPr>
              <a:t>accelerates the IoT development process </a:t>
            </a:r>
          </a:p>
          <a:p>
            <a:pPr lvl="1"/>
            <a:r>
              <a:rPr lang="en-US" dirty="0">
                <a:cs typeface="Calibri"/>
              </a:rPr>
              <a:t>Focuses on IoT: brings in best of breed features</a:t>
            </a:r>
          </a:p>
          <a:p>
            <a:pPr lvl="1"/>
            <a:r>
              <a:rPr lang="en-US" dirty="0">
                <a:cs typeface="Calibri"/>
              </a:rPr>
              <a:t>Provides initial scaffolding for IoT projects</a:t>
            </a:r>
          </a:p>
        </p:txBody>
      </p:sp>
    </p:spTree>
    <p:extLst>
      <p:ext uri="{BB962C8B-B14F-4D97-AF65-F5344CB8AC3E}">
        <p14:creationId xmlns:p14="http://schemas.microsoft.com/office/powerpoint/2010/main" val="3817156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B0FCB-6EE4-4E2F-B85E-51470E94B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00" y="978102"/>
            <a:ext cx="10588434" cy="1062644"/>
          </a:xfrm>
        </p:spPr>
        <p:txBody>
          <a:bodyPr anchor="b">
            <a:normAutofit/>
          </a:bodyPr>
          <a:lstStyle/>
          <a:p>
            <a:r>
              <a:rPr lang="en-US" dirty="0">
                <a:cs typeface="Calibri Light"/>
              </a:rPr>
              <a:t>What are IoT Platform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9B7FDC9-F0CE-43A7-9F2A-83DD09DC3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47624" y="2265037"/>
            <a:ext cx="10125012" cy="0"/>
          </a:xfrm>
          <a:prstGeom prst="line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FA19-6322-4317-BE0C-D79B540C5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3467" y="2438018"/>
            <a:ext cx="6282169" cy="321574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 dirty="0">
                <a:cs typeface="Calibri"/>
              </a:rPr>
              <a:t>Many(not all) are cloud-based platforms that require subscription</a:t>
            </a:r>
          </a:p>
          <a:p>
            <a:r>
              <a:rPr lang="en-US" sz="2000" dirty="0">
                <a:cs typeface="Calibri"/>
              </a:rPr>
              <a:t>Provide device/language agnostic set of Software Development kits</a:t>
            </a:r>
          </a:p>
          <a:p>
            <a:pPr lvl="1"/>
            <a:r>
              <a:rPr lang="en-US" sz="2000" dirty="0">
                <a:cs typeface="Calibri"/>
              </a:rPr>
              <a:t>Arduino/</a:t>
            </a:r>
            <a:r>
              <a:rPr lang="en-US" sz="2000" dirty="0" err="1">
                <a:cs typeface="Calibri"/>
              </a:rPr>
              <a:t>RPi</a:t>
            </a:r>
            <a:r>
              <a:rPr lang="en-US" sz="2000" dirty="0">
                <a:cs typeface="Calibri"/>
              </a:rPr>
              <a:t>/</a:t>
            </a:r>
            <a:r>
              <a:rPr lang="en-US" sz="2000" dirty="0" err="1">
                <a:cs typeface="Calibri"/>
              </a:rPr>
              <a:t>beagleboard</a:t>
            </a:r>
            <a:endParaRPr lang="en-US" sz="2000" dirty="0">
              <a:cs typeface="Calibri"/>
            </a:endParaRPr>
          </a:p>
          <a:p>
            <a:r>
              <a:rPr lang="en-US" sz="2000" dirty="0">
                <a:cs typeface="Calibri"/>
              </a:rPr>
              <a:t>IoT development is generally iterative:</a:t>
            </a:r>
          </a:p>
          <a:p>
            <a:pPr lvl="1"/>
            <a:r>
              <a:rPr lang="en-US" sz="2000" dirty="0">
                <a:cs typeface="Calibri"/>
              </a:rPr>
              <a:t>Starts with initial simple use case</a:t>
            </a:r>
          </a:p>
          <a:p>
            <a:pPr lvl="1"/>
            <a:r>
              <a:rPr lang="en-US" sz="2000" dirty="0">
                <a:cs typeface="Calibri"/>
              </a:rPr>
              <a:t>Once operational, data/insights result in new </a:t>
            </a:r>
            <a:r>
              <a:rPr lang="en-US" sz="2000" dirty="0" err="1">
                <a:cs typeface="Calibri"/>
              </a:rPr>
              <a:t>usecase</a:t>
            </a:r>
            <a:endParaRPr lang="en-US" sz="2000" dirty="0">
              <a:cs typeface="Calibri"/>
            </a:endParaRPr>
          </a:p>
          <a:p>
            <a:r>
              <a:rPr lang="en-US" sz="2000" dirty="0">
                <a:cs typeface="Calibri"/>
              </a:rPr>
              <a:t>IoT platforms should promote scalable, iterative development</a:t>
            </a:r>
          </a:p>
          <a:p>
            <a:pPr lvl="1"/>
            <a:r>
              <a:rPr lang="en-US" sz="2000" dirty="0">
                <a:cs typeface="Calibri"/>
              </a:rPr>
              <a:t>Allow for quick app development</a:t>
            </a:r>
          </a:p>
          <a:p>
            <a:pPr lvl="1"/>
            <a:r>
              <a:rPr lang="en-US" sz="2000" dirty="0">
                <a:cs typeface="Calibri"/>
              </a:rPr>
              <a:t>Ability to adapt/</a:t>
            </a:r>
            <a:r>
              <a:rPr lang="en-US" sz="2000" dirty="0" err="1">
                <a:cs typeface="Calibri"/>
              </a:rPr>
              <a:t>optimise</a:t>
            </a:r>
            <a:r>
              <a:rPr lang="en-US" sz="2000" dirty="0">
                <a:cs typeface="Calibri"/>
              </a:rPr>
              <a:t> apps quickly</a:t>
            </a:r>
          </a:p>
        </p:txBody>
      </p:sp>
      <p:pic>
        <p:nvPicPr>
          <p:cNvPr id="6" name="Picture 5" descr="A blue and white device with a white logo&#10;&#10;AI-generated content may be incorrect.">
            <a:extLst>
              <a:ext uri="{FF2B5EF4-FFF2-40B4-BE49-F238E27FC236}">
                <a16:creationId xmlns:a16="http://schemas.microsoft.com/office/drawing/2014/main" id="{E851A26B-2C96-DF97-622D-B4E6EF63BF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b="20668"/>
          <a:stretch>
            <a:fillRect/>
          </a:stretch>
        </p:blipFill>
        <p:spPr>
          <a:xfrm>
            <a:off x="794174" y="2524541"/>
            <a:ext cx="2540000" cy="1521351"/>
          </a:xfrm>
          <a:prstGeom prst="rect">
            <a:avLst/>
          </a:prstGeom>
        </p:spPr>
      </p:pic>
      <p:pic>
        <p:nvPicPr>
          <p:cNvPr id="10" name="Picture 9" descr="A blue logo with text&#10;&#10;AI-generated content may be incorrect.">
            <a:extLst>
              <a:ext uri="{FF2B5EF4-FFF2-40B4-BE49-F238E27FC236}">
                <a16:creationId xmlns:a16="http://schemas.microsoft.com/office/drawing/2014/main" id="{8259DE15-38DB-4E25-E5CF-BA07B57F098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r="26880"/>
          <a:stretch>
            <a:fillRect/>
          </a:stretch>
        </p:blipFill>
        <p:spPr>
          <a:xfrm>
            <a:off x="3161989" y="2498330"/>
            <a:ext cx="1544766" cy="1356030"/>
          </a:xfrm>
          <a:prstGeom prst="rect">
            <a:avLst/>
          </a:prstGeom>
        </p:spPr>
      </p:pic>
      <p:pic>
        <p:nvPicPr>
          <p:cNvPr id="12" name="Picture 11" descr="A blue and white logo&#10;&#10;AI-generated content may be incorrect.">
            <a:extLst>
              <a:ext uri="{FF2B5EF4-FFF2-40B4-BE49-F238E27FC236}">
                <a16:creationId xmlns:a16="http://schemas.microsoft.com/office/drawing/2014/main" id="{BF2E03AC-31CA-634A-8AF5-34B4457B22A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rcRect l="11248" t="29652" r="13088" b="45485"/>
          <a:stretch>
            <a:fillRect/>
          </a:stretch>
        </p:blipFill>
        <p:spPr>
          <a:xfrm>
            <a:off x="885523" y="4388055"/>
            <a:ext cx="3561348" cy="658255"/>
          </a:xfrm>
          <a:prstGeom prst="rect">
            <a:avLst/>
          </a:prstGeom>
        </p:spPr>
      </p:pic>
      <p:pic>
        <p:nvPicPr>
          <p:cNvPr id="14" name="Picture 13" descr="A cloud with words&#10;&#10;AI-generated content may be incorrect.">
            <a:extLst>
              <a:ext uri="{FF2B5EF4-FFF2-40B4-BE49-F238E27FC236}">
                <a16:creationId xmlns:a16="http://schemas.microsoft.com/office/drawing/2014/main" id="{AD604782-30AE-4D05-E87C-E06EC7673AB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717172" y="5149074"/>
            <a:ext cx="4062589" cy="154787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BBCA0F9-2A04-CFE8-EF86-AFFD8302D7AD}"/>
              </a:ext>
            </a:extLst>
          </p:cNvPr>
          <p:cNvSpPr txBox="1"/>
          <p:nvPr/>
        </p:nvSpPr>
        <p:spPr>
          <a:xfrm>
            <a:off x="794174" y="6799713"/>
            <a:ext cx="40625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900">
                <a:hlinkClick r:id="rId9" tooltip="https://devopedia.org/iot-cloud-platforms"/>
              </a:rPr>
              <a:t>This Photo</a:t>
            </a:r>
            <a:r>
              <a:rPr lang="en-IE" sz="900"/>
              <a:t> by Unknown Author is licensed under </a:t>
            </a:r>
            <a:r>
              <a:rPr lang="en-IE" sz="900">
                <a:hlinkClick r:id="rId10" tooltip="https://creativecommons.org/licenses/by-sa/3.0/"/>
              </a:rPr>
              <a:t>CC BY-SA</a:t>
            </a:r>
            <a:endParaRPr lang="en-IE" sz="900"/>
          </a:p>
        </p:txBody>
      </p:sp>
    </p:spTree>
    <p:extLst>
      <p:ext uri="{BB962C8B-B14F-4D97-AF65-F5344CB8AC3E}">
        <p14:creationId xmlns:p14="http://schemas.microsoft.com/office/powerpoint/2010/main" val="3901618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A5BB8-6362-4F77-8FA6-49F2CCB31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5127031" cy="1676603"/>
          </a:xfrm>
        </p:spPr>
        <p:txBody>
          <a:bodyPr>
            <a:normAutofit/>
          </a:bodyPr>
          <a:lstStyle/>
          <a:p>
            <a:r>
              <a:rPr lang="en-US" sz="4400">
                <a:cs typeface="Calibri Light"/>
              </a:rPr>
              <a:t>IoT Platform Characteristics</a:t>
            </a:r>
            <a:endParaRPr lang="en-US" sz="4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7234-CDB8-4D88-B0B4-D7F2EF09D6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438400"/>
            <a:ext cx="5127029" cy="378541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600" dirty="0">
                <a:cs typeface="Calibri"/>
              </a:rPr>
              <a:t>Manage many concurrent device connections</a:t>
            </a:r>
          </a:p>
          <a:p>
            <a:r>
              <a:rPr lang="en-US" sz="2600" dirty="0">
                <a:cs typeface="Calibri"/>
              </a:rPr>
              <a:t>Connectivity across several connection types</a:t>
            </a:r>
          </a:p>
          <a:p>
            <a:r>
              <a:rPr lang="en-US" sz="2600" dirty="0">
                <a:cs typeface="Calibri"/>
              </a:rPr>
              <a:t>"Off-the-peg" IoT protocol stack</a:t>
            </a:r>
          </a:p>
          <a:p>
            <a:r>
              <a:rPr lang="en-US" sz="2600" dirty="0">
                <a:cs typeface="Calibri"/>
              </a:rPr>
              <a:t>Manage/</a:t>
            </a:r>
            <a:r>
              <a:rPr lang="en-US" sz="2600" dirty="0" err="1">
                <a:cs typeface="Calibri"/>
              </a:rPr>
              <a:t>analyse</a:t>
            </a:r>
            <a:r>
              <a:rPr lang="en-US" sz="2600" dirty="0">
                <a:cs typeface="Calibri"/>
              </a:rPr>
              <a:t>/</a:t>
            </a:r>
            <a:r>
              <a:rPr lang="en-US" sz="2600" dirty="0" err="1">
                <a:cs typeface="Calibri"/>
              </a:rPr>
              <a:t>visualise</a:t>
            </a:r>
            <a:r>
              <a:rPr lang="en-US" sz="2600" dirty="0">
                <a:cs typeface="Calibri"/>
              </a:rPr>
              <a:t> data</a:t>
            </a:r>
          </a:p>
          <a:p>
            <a:r>
              <a:rPr lang="en-US" sz="2600" dirty="0">
                <a:cs typeface="Calibri"/>
              </a:rPr>
              <a:t>Integrations to other services/apps</a:t>
            </a:r>
          </a:p>
          <a:p>
            <a:r>
              <a:rPr lang="en-US" sz="2600" dirty="0">
                <a:cs typeface="Calibri"/>
              </a:rPr>
              <a:t>App Development</a:t>
            </a:r>
          </a:p>
          <a:p>
            <a:endParaRPr lang="en-US" sz="2600" b="1" dirty="0">
              <a:cs typeface="Calibri"/>
            </a:endParaRPr>
          </a:p>
          <a:p>
            <a:pPr marL="0" indent="0">
              <a:buNone/>
            </a:pPr>
            <a:endParaRPr lang="en-US" sz="2600" b="1" dirty="0">
              <a:cs typeface="Calibri"/>
            </a:endParaRPr>
          </a:p>
        </p:txBody>
      </p:sp>
      <p:pic>
        <p:nvPicPr>
          <p:cNvPr id="2052" name="Picture 4" descr="Image result for IoT characteristics&quot;">
            <a:extLst>
              <a:ext uri="{FF2B5EF4-FFF2-40B4-BE49-F238E27FC236}">
                <a16:creationId xmlns:a16="http://schemas.microsoft.com/office/drawing/2014/main" id="{36406980-05DE-42ED-B224-F98FCEFBBE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85" b="3"/>
          <a:stretch/>
        </p:blipFill>
        <p:spPr bwMode="auto">
          <a:xfrm>
            <a:off x="6090613" y="640082"/>
            <a:ext cx="5461724" cy="5577837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48339C-DDC5-4DB8-BE4B-1AB676541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Published in 2016 IEEE International Conference on Internet of Things (</a:t>
            </a:r>
            <a:r>
              <a:rPr lang="en-GB" dirty="0" err="1"/>
              <a:t>iThings</a:t>
            </a:r>
            <a:r>
              <a:rPr lang="en-GB" dirty="0"/>
              <a:t>) and IEEE Green Computing and Communications (</a:t>
            </a:r>
            <a:r>
              <a:rPr lang="en-GB" dirty="0" err="1"/>
              <a:t>GreenCom</a:t>
            </a:r>
            <a:r>
              <a:rPr lang="en-GB" dirty="0"/>
              <a:t>) and IEEE Cyber, Physical and Social Computing (</a:t>
            </a:r>
            <a:r>
              <a:rPr lang="en-GB" dirty="0" err="1"/>
              <a:t>CPSCom</a:t>
            </a:r>
            <a:r>
              <a:rPr lang="en-GB" dirty="0"/>
              <a:t>) and IEEE Smart Data (</a:t>
            </a:r>
            <a:r>
              <a:rPr lang="en-GB" dirty="0" err="1"/>
              <a:t>SmartData</a:t>
            </a:r>
            <a:r>
              <a:rPr lang="en-GB" dirty="0"/>
              <a:t>) 2016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812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09764-6C40-4B46-8AFC-CE5F4768D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IoT Platform – general architecture</a:t>
            </a:r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AF7D151-E824-4521-B615-A5D23E19BB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2924" y="4080782"/>
            <a:ext cx="930934" cy="626853"/>
          </a:xfrm>
          <a:prstGeom prst="rect">
            <a:avLst/>
          </a:prstGeom>
        </p:spPr>
      </p:pic>
      <p:pic>
        <p:nvPicPr>
          <p:cNvPr id="23" name="Picture 22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BEBFD79E-DFDF-40A6-98EC-740214419E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5470" y="1166071"/>
            <a:ext cx="3763823" cy="3835709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0EE99D0-BB02-4BBF-A50C-B4AF37BB6C50}"/>
              </a:ext>
            </a:extLst>
          </p:cNvPr>
          <p:cNvCxnSpPr/>
          <p:nvPr/>
        </p:nvCxnSpPr>
        <p:spPr>
          <a:xfrm flipV="1">
            <a:off x="1889789" y="4699458"/>
            <a:ext cx="746254" cy="58583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9E12BE0-BA30-4D6A-9423-6EC1EDAFB217}"/>
              </a:ext>
            </a:extLst>
          </p:cNvPr>
          <p:cNvCxnSpPr>
            <a:cxnSpLocks/>
          </p:cNvCxnSpPr>
          <p:nvPr/>
        </p:nvCxnSpPr>
        <p:spPr>
          <a:xfrm>
            <a:off x="1916828" y="4055005"/>
            <a:ext cx="834917" cy="37864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 descr="A close up of a device&#10;&#10;Description generated with very high confidence">
            <a:extLst>
              <a:ext uri="{FF2B5EF4-FFF2-40B4-BE49-F238E27FC236}">
                <a16:creationId xmlns:a16="http://schemas.microsoft.com/office/drawing/2014/main" id="{0FFEBD0F-0BB4-450D-A9C3-E777AEF02D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9586" y="3616946"/>
            <a:ext cx="791473" cy="800998"/>
          </a:xfrm>
          <a:prstGeom prst="rect">
            <a:avLst/>
          </a:prstGeom>
        </p:spPr>
      </p:pic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42CAB90-DDD2-4FAB-A739-160F3E804C23}"/>
              </a:ext>
            </a:extLst>
          </p:cNvPr>
          <p:cNvSpPr/>
          <p:nvPr/>
        </p:nvSpPr>
        <p:spPr>
          <a:xfrm>
            <a:off x="5000892" y="3140734"/>
            <a:ext cx="1599549" cy="77062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cs typeface="Calibri"/>
              </a:rPr>
              <a:t>IoT Platform</a:t>
            </a:r>
            <a:endParaRPr lang="en-US" dirty="0"/>
          </a:p>
        </p:txBody>
      </p:sp>
      <p:pic>
        <p:nvPicPr>
          <p:cNvPr id="28" name="Picture 27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8C3122C0-D3A4-47DE-933A-B013663798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2228" y="5056347"/>
            <a:ext cx="371475" cy="533400"/>
          </a:xfrm>
          <a:prstGeom prst="rect">
            <a:avLst/>
          </a:prstGeom>
        </p:spPr>
      </p:pic>
      <p:pic>
        <p:nvPicPr>
          <p:cNvPr id="29" name="Picture 28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1345D94E-3218-48DB-AAAF-1684E8809A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3879" y="4061638"/>
            <a:ext cx="1192307" cy="1192307"/>
          </a:xfrm>
          <a:prstGeom prst="rect">
            <a:avLst/>
          </a:prstGeom>
        </p:spPr>
      </p:pic>
      <p:pic>
        <p:nvPicPr>
          <p:cNvPr id="30" name="Picture 29" descr="A close up of a device&#10;&#10;Description generated with very high confidence">
            <a:extLst>
              <a:ext uri="{FF2B5EF4-FFF2-40B4-BE49-F238E27FC236}">
                <a16:creationId xmlns:a16="http://schemas.microsoft.com/office/drawing/2014/main" id="{2D2F3D72-4A47-4957-9D89-5E7278B186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9585" y="4877874"/>
            <a:ext cx="791473" cy="800998"/>
          </a:xfrm>
          <a:prstGeom prst="rect">
            <a:avLst/>
          </a:prstGeom>
        </p:spPr>
      </p:pic>
      <p:pic>
        <p:nvPicPr>
          <p:cNvPr id="31" name="Picture 30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F874CEB5-B548-4D3A-AFDA-A5FECAD13F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5155" y="5056347"/>
            <a:ext cx="371475" cy="533400"/>
          </a:xfrm>
          <a:prstGeom prst="rect">
            <a:avLst/>
          </a:prstGeom>
        </p:spPr>
      </p:pic>
      <p:sp>
        <p:nvSpPr>
          <p:cNvPr id="32" name="Arrow: Left-Up 31">
            <a:extLst>
              <a:ext uri="{FF2B5EF4-FFF2-40B4-BE49-F238E27FC236}">
                <a16:creationId xmlns:a16="http://schemas.microsoft.com/office/drawing/2014/main" id="{C8B31B24-B1F5-47D8-ACA1-572BB5DB65BE}"/>
              </a:ext>
            </a:extLst>
          </p:cNvPr>
          <p:cNvSpPr/>
          <p:nvPr/>
        </p:nvSpPr>
        <p:spPr>
          <a:xfrm rot="16200000">
            <a:off x="7883973" y="3144243"/>
            <a:ext cx="832250" cy="932033"/>
          </a:xfrm>
          <a:prstGeom prst="lef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3" name="Arrow: Left-Up 32">
            <a:extLst>
              <a:ext uri="{FF2B5EF4-FFF2-40B4-BE49-F238E27FC236}">
                <a16:creationId xmlns:a16="http://schemas.microsoft.com/office/drawing/2014/main" id="{82136ADD-4FCB-4023-A29C-04C68A507A4F}"/>
              </a:ext>
            </a:extLst>
          </p:cNvPr>
          <p:cNvSpPr/>
          <p:nvPr/>
        </p:nvSpPr>
        <p:spPr>
          <a:xfrm rot="10740000">
            <a:off x="2945127" y="3202171"/>
            <a:ext cx="986462" cy="913891"/>
          </a:xfrm>
          <a:prstGeom prst="lef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4" name="Arrow: Left-Right 33">
            <a:extLst>
              <a:ext uri="{FF2B5EF4-FFF2-40B4-BE49-F238E27FC236}">
                <a16:creationId xmlns:a16="http://schemas.microsoft.com/office/drawing/2014/main" id="{9612F9B9-A298-45AE-AB7C-C5B5A746D3D5}"/>
              </a:ext>
            </a:extLst>
          </p:cNvPr>
          <p:cNvSpPr/>
          <p:nvPr/>
        </p:nvSpPr>
        <p:spPr>
          <a:xfrm>
            <a:off x="3659775" y="4873799"/>
            <a:ext cx="4191580" cy="393918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  <a:cs typeface="Calibri"/>
              </a:rPr>
              <a:t>Deploy algorithms to devices </a:t>
            </a:r>
          </a:p>
        </p:txBody>
      </p:sp>
      <p:pic>
        <p:nvPicPr>
          <p:cNvPr id="35" name="Picture 34" descr="A picture containing object&#10;&#10;Description generated with high confidence">
            <a:extLst>
              <a:ext uri="{FF2B5EF4-FFF2-40B4-BE49-F238E27FC236}">
                <a16:creationId xmlns:a16="http://schemas.microsoft.com/office/drawing/2014/main" id="{CC632604-D9CB-4AE6-8F4F-BFCFA9255C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01966" y="4016657"/>
            <a:ext cx="1318987" cy="1309916"/>
          </a:xfrm>
          <a:prstGeom prst="rect">
            <a:avLst/>
          </a:prstGeom>
        </p:spPr>
      </p:pic>
      <p:pic>
        <p:nvPicPr>
          <p:cNvPr id="36" name="Picture 35" descr="A close up of a building&#10;&#10;Description generated with high confidence">
            <a:extLst>
              <a:ext uri="{FF2B5EF4-FFF2-40B4-BE49-F238E27FC236}">
                <a16:creationId xmlns:a16="http://schemas.microsoft.com/office/drawing/2014/main" id="{4CA58FCF-9522-4051-8A23-DACA428A4D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93750" y="4443014"/>
            <a:ext cx="393701" cy="348345"/>
          </a:xfrm>
          <a:prstGeom prst="rect">
            <a:avLst/>
          </a:prstGeom>
        </p:spPr>
      </p:pic>
      <p:sp>
        <p:nvSpPr>
          <p:cNvPr id="37" name="TextBox 16">
            <a:extLst>
              <a:ext uri="{FF2B5EF4-FFF2-40B4-BE49-F238E27FC236}">
                <a16:creationId xmlns:a16="http://schemas.microsoft.com/office/drawing/2014/main" id="{EAD558FA-6D14-4CEA-8025-A65C8C0F2F66}"/>
              </a:ext>
            </a:extLst>
          </p:cNvPr>
          <p:cNvSpPr txBox="1"/>
          <p:nvPr/>
        </p:nvSpPr>
        <p:spPr>
          <a:xfrm>
            <a:off x="7849250" y="2637798"/>
            <a:ext cx="2743200" cy="646331"/>
          </a:xfrm>
          <a:prstGeom prst="rect">
            <a:avLst/>
          </a:prstGeom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Configure analytics/</a:t>
            </a:r>
            <a:r>
              <a:rPr lang="en-US" dirty="0">
                <a:cs typeface="Calibri"/>
              </a:rPr>
              <a:t>visuals/apps</a:t>
            </a:r>
          </a:p>
        </p:txBody>
      </p:sp>
      <p:sp>
        <p:nvSpPr>
          <p:cNvPr id="38" name="TextBox 17">
            <a:extLst>
              <a:ext uri="{FF2B5EF4-FFF2-40B4-BE49-F238E27FC236}">
                <a16:creationId xmlns:a16="http://schemas.microsoft.com/office/drawing/2014/main" id="{F7BB4A75-F27F-495F-98A4-01B0AEC687A5}"/>
              </a:ext>
            </a:extLst>
          </p:cNvPr>
          <p:cNvSpPr txBox="1"/>
          <p:nvPr/>
        </p:nvSpPr>
        <p:spPr>
          <a:xfrm>
            <a:off x="1961893" y="2964369"/>
            <a:ext cx="2743200" cy="369332"/>
          </a:xfrm>
          <a:prstGeom prst="rect">
            <a:avLst/>
          </a:prstGeom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cs typeface="Calibri"/>
              </a:rPr>
              <a:t>Data/commands </a:t>
            </a:r>
            <a:endParaRPr lang="en-US" dirty="0"/>
          </a:p>
        </p:txBody>
      </p:sp>
      <p:pic>
        <p:nvPicPr>
          <p:cNvPr id="39" name="Picture 38" descr="A picture containing clipart&#10;&#10;Description generated with high confidence">
            <a:extLst>
              <a:ext uri="{FF2B5EF4-FFF2-40B4-BE49-F238E27FC236}">
                <a16:creationId xmlns:a16="http://schemas.microsoft.com/office/drawing/2014/main" id="{CC8E4F28-1549-4698-9ED7-1986CADE12E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27859" y="2275623"/>
            <a:ext cx="809626" cy="809626"/>
          </a:xfrm>
          <a:prstGeom prst="rect">
            <a:avLst/>
          </a:prstGeom>
        </p:spPr>
      </p:pic>
      <p:pic>
        <p:nvPicPr>
          <p:cNvPr id="40" name="Picture 39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B413A8BD-E9AC-4F69-B1F3-A86915DDED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8341" y="3460460"/>
            <a:ext cx="371475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952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32" grpId="0" animBg="1"/>
      <p:bldP spid="33" grpId="0" animBg="1"/>
      <p:bldP spid="34" grpId="0" animBg="1"/>
      <p:bldP spid="37" grpId="0"/>
      <p:bldP spid="3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4EFE4-1B57-4043-BC35-52A109D59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IoT Platform Advantages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C960C-7028-4D69-B0C2-D69C9B06C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>
                <a:cs typeface="Calibri"/>
              </a:rPr>
              <a:t>Use software component that has been pre-built and pre-tested. This increases the reliability of your application and reduces development effort.</a:t>
            </a:r>
          </a:p>
          <a:p>
            <a:r>
              <a:rPr lang="en-US" dirty="0">
                <a:cs typeface="Calibri"/>
              </a:rPr>
              <a:t>IoT frameworks constantly evolve, providing new features, integrations etc.</a:t>
            </a:r>
          </a:p>
          <a:p>
            <a:r>
              <a:rPr lang="en-US" dirty="0">
                <a:cs typeface="Calibri"/>
              </a:rPr>
              <a:t>Encourages better "design pattern" for your IoT app.</a:t>
            </a:r>
          </a:p>
          <a:p>
            <a:r>
              <a:rPr lang="en-US" dirty="0">
                <a:cs typeface="Calibri"/>
              </a:rPr>
              <a:t>Predefined APIs and docs</a:t>
            </a:r>
          </a:p>
          <a:p>
            <a:pPr lvl="1"/>
            <a:r>
              <a:rPr lang="en-US" dirty="0">
                <a:cs typeface="Calibri"/>
              </a:rPr>
              <a:t>Great for collaboration </a:t>
            </a:r>
            <a:endParaRPr lang="en-US" dirty="0"/>
          </a:p>
          <a:p>
            <a:r>
              <a:rPr lang="en-US" dirty="0">
                <a:cs typeface="Calibri"/>
              </a:rPr>
              <a:t>"Baked-in" standards and features:</a:t>
            </a:r>
          </a:p>
          <a:p>
            <a:pPr lvl="1"/>
            <a:r>
              <a:rPr lang="en-US" dirty="0">
                <a:cs typeface="Calibri"/>
              </a:rPr>
              <a:t>Security, authentication, scalability... </a:t>
            </a:r>
          </a:p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2678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92D4E-000A-4835-9BA0-C2A2BB207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6586491" cy="1676603"/>
          </a:xfrm>
        </p:spPr>
        <p:txBody>
          <a:bodyPr>
            <a:normAutofit/>
          </a:bodyPr>
          <a:lstStyle/>
          <a:p>
            <a:r>
              <a:rPr lang="en-US" sz="4400">
                <a:cs typeface="Calibri Light"/>
              </a:rPr>
              <a:t>Which one?</a:t>
            </a:r>
            <a:endParaRPr lang="en-US" sz="4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7A76F-9C76-4568-95B8-2B2CC8019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438400"/>
            <a:ext cx="6586489" cy="378541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300">
                <a:cs typeface="Calibri"/>
              </a:rPr>
              <a:t>Connectivity</a:t>
            </a:r>
          </a:p>
          <a:p>
            <a:pPr lvl="1"/>
            <a:r>
              <a:rPr lang="en-US" sz="1300">
                <a:cs typeface="Calibri"/>
              </a:rPr>
              <a:t>Does the platform provide suitable capability and integrations (WiFi/Cellular/LPWan-Sigfox)</a:t>
            </a:r>
          </a:p>
          <a:p>
            <a:r>
              <a:rPr lang="en-US" sz="1300">
                <a:cs typeface="Calibri"/>
              </a:rPr>
              <a:t>Maturity</a:t>
            </a:r>
          </a:p>
          <a:p>
            <a:pPr lvl="1"/>
            <a:r>
              <a:rPr lang="en-US" sz="1300">
                <a:cs typeface="Calibri"/>
              </a:rPr>
              <a:t>In business for long? Critical mass in developer community?</a:t>
            </a:r>
          </a:p>
          <a:p>
            <a:r>
              <a:rPr lang="en-US" sz="1300">
                <a:cs typeface="Calibri"/>
              </a:rPr>
              <a:t>Free</a:t>
            </a:r>
          </a:p>
          <a:p>
            <a:pPr lvl="1"/>
            <a:r>
              <a:rPr lang="en-US" sz="1300">
                <a:cs typeface="Calibri"/>
              </a:rPr>
              <a:t>Is there a free tier (handy for evaluation)?</a:t>
            </a:r>
          </a:p>
          <a:p>
            <a:r>
              <a:rPr lang="en-US" sz="1300">
                <a:cs typeface="Calibri"/>
              </a:rPr>
              <a:t>Service type</a:t>
            </a:r>
          </a:p>
          <a:p>
            <a:pPr lvl="1"/>
            <a:r>
              <a:rPr lang="en-US" sz="1300">
                <a:cs typeface="Calibri"/>
              </a:rPr>
              <a:t>Platforms try to distinguish themselves – what specialisms/USP does it have? </a:t>
            </a:r>
          </a:p>
          <a:p>
            <a:r>
              <a:rPr lang="en-US" sz="1300">
                <a:cs typeface="Calibri"/>
              </a:rPr>
              <a:t>Security</a:t>
            </a:r>
          </a:p>
          <a:p>
            <a:pPr lvl="1"/>
            <a:r>
              <a:rPr lang="en-US" sz="1300">
                <a:cs typeface="Calibri"/>
              </a:rPr>
              <a:t>What security model do they use? Is there security issues reported in past?</a:t>
            </a:r>
          </a:p>
          <a:p>
            <a:r>
              <a:rPr lang="en-US" sz="1300">
                <a:cs typeface="Calibri"/>
              </a:rPr>
              <a:t>Geographic area</a:t>
            </a:r>
          </a:p>
          <a:p>
            <a:pPr lvl="1"/>
            <a:r>
              <a:rPr lang="en-US" sz="1300">
                <a:cs typeface="Calibri"/>
              </a:rPr>
              <a:t>Does it operate well at your location (can you select edges/data centres)</a:t>
            </a:r>
          </a:p>
        </p:txBody>
      </p:sp>
      <p:pic>
        <p:nvPicPr>
          <p:cNvPr id="1026" name="Picture 2" descr="Image result for which one&quot;">
            <a:extLst>
              <a:ext uri="{FF2B5EF4-FFF2-40B4-BE49-F238E27FC236}">
                <a16:creationId xmlns:a16="http://schemas.microsoft.com/office/drawing/2014/main" id="{8F067301-A892-4D93-A514-53FBD8B6F2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24" r="21838" b="3"/>
          <a:stretch/>
        </p:blipFill>
        <p:spPr bwMode="auto">
          <a:xfrm>
            <a:off x="7556409" y="640082"/>
            <a:ext cx="3995928" cy="5577837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7779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7316481C-0A49-4796-812B-0D64F063B7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99AFBA-DCA1-460E-A586-F26CE5BE0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6684" y="1152144"/>
            <a:ext cx="3888999" cy="307239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600" dirty="0"/>
              <a:t>Examples: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A5271697-90F1-4A23-8EF2-0179F2EAF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"/>
            <a:ext cx="606972" cy="323398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0924561D-756D-410B-973A-E68C2552C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88720" y="73152"/>
            <a:ext cx="1178966" cy="232963"/>
            <a:chOff x="7763256" y="73152"/>
            <a:chExt cx="1178966" cy="232963"/>
          </a:xfrm>
        </p:grpSpPr>
        <p:sp>
          <p:nvSpPr>
            <p:cNvPr id="78" name="Rectangle 64">
              <a:extLst>
                <a:ext uri="{FF2B5EF4-FFF2-40B4-BE49-F238E27FC236}">
                  <a16:creationId xmlns:a16="http://schemas.microsoft.com/office/drawing/2014/main" id="{77AF0971-0074-4E4E-9318-C1990C6FF2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63077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66">
              <a:extLst>
                <a:ext uri="{FF2B5EF4-FFF2-40B4-BE49-F238E27FC236}">
                  <a16:creationId xmlns:a16="http://schemas.microsoft.com/office/drawing/2014/main" id="{0849707A-24B1-45E4-8493-5DC15C578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63077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64">
              <a:extLst>
                <a:ext uri="{FF2B5EF4-FFF2-40B4-BE49-F238E27FC236}">
                  <a16:creationId xmlns:a16="http://schemas.microsoft.com/office/drawing/2014/main" id="{E0FFD705-F03C-46B0-ABB9-3C24E09312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38122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66">
              <a:extLst>
                <a:ext uri="{FF2B5EF4-FFF2-40B4-BE49-F238E27FC236}">
                  <a16:creationId xmlns:a16="http://schemas.microsoft.com/office/drawing/2014/main" id="{520B12C0-88D0-4F6F-9F29-38E4D1D610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38122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64">
              <a:extLst>
                <a:ext uri="{FF2B5EF4-FFF2-40B4-BE49-F238E27FC236}">
                  <a16:creationId xmlns:a16="http://schemas.microsoft.com/office/drawing/2014/main" id="{DEDD5A45-3641-4FE7-8375-EECF2DC9D0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13167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66">
              <a:extLst>
                <a:ext uri="{FF2B5EF4-FFF2-40B4-BE49-F238E27FC236}">
                  <a16:creationId xmlns:a16="http://schemas.microsoft.com/office/drawing/2014/main" id="{89BF55CA-60FC-479D-A85E-48626FC135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13167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64">
              <a:extLst>
                <a:ext uri="{FF2B5EF4-FFF2-40B4-BE49-F238E27FC236}">
                  <a16:creationId xmlns:a16="http://schemas.microsoft.com/office/drawing/2014/main" id="{5AFBE5BF-E87A-408F-BBBD-44C3D04C04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88211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66">
              <a:extLst>
                <a:ext uri="{FF2B5EF4-FFF2-40B4-BE49-F238E27FC236}">
                  <a16:creationId xmlns:a16="http://schemas.microsoft.com/office/drawing/2014/main" id="{1C27CF92-D148-45C8-88B6-F450B63DF1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88211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64">
              <a:extLst>
                <a:ext uri="{FF2B5EF4-FFF2-40B4-BE49-F238E27FC236}">
                  <a16:creationId xmlns:a16="http://schemas.microsoft.com/office/drawing/2014/main" id="{51CA2232-D147-480C-B1EE-665EE6ACC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3256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66">
              <a:extLst>
                <a:ext uri="{FF2B5EF4-FFF2-40B4-BE49-F238E27FC236}">
                  <a16:creationId xmlns:a16="http://schemas.microsoft.com/office/drawing/2014/main" id="{7E67D92D-1CA9-43CE-8150-DF504F2BF0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3256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64">
              <a:extLst>
                <a:ext uri="{FF2B5EF4-FFF2-40B4-BE49-F238E27FC236}">
                  <a16:creationId xmlns:a16="http://schemas.microsoft.com/office/drawing/2014/main" id="{7B273169-B674-4C50-A14D-A943B99792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87854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66">
              <a:extLst>
                <a:ext uri="{FF2B5EF4-FFF2-40B4-BE49-F238E27FC236}">
                  <a16:creationId xmlns:a16="http://schemas.microsoft.com/office/drawing/2014/main" id="{DF6183FA-653E-4533-9A0B-D249EC0B15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87854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64">
              <a:extLst>
                <a:ext uri="{FF2B5EF4-FFF2-40B4-BE49-F238E27FC236}">
                  <a16:creationId xmlns:a16="http://schemas.microsoft.com/office/drawing/2014/main" id="{A82EFE58-AAB0-4925-A176-6FF36BF878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2899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66">
              <a:extLst>
                <a:ext uri="{FF2B5EF4-FFF2-40B4-BE49-F238E27FC236}">
                  <a16:creationId xmlns:a16="http://schemas.microsoft.com/office/drawing/2014/main" id="{3122AE75-4DBB-4E14-B0CA-DD1EAD89CE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2899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64">
              <a:extLst>
                <a:ext uri="{FF2B5EF4-FFF2-40B4-BE49-F238E27FC236}">
                  <a16:creationId xmlns:a16="http://schemas.microsoft.com/office/drawing/2014/main" id="{4ED7E672-90FC-4E8C-9C43-3AAE391C6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37944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66">
              <a:extLst>
                <a:ext uri="{FF2B5EF4-FFF2-40B4-BE49-F238E27FC236}">
                  <a16:creationId xmlns:a16="http://schemas.microsoft.com/office/drawing/2014/main" id="{A5C0019E-5136-4C5E-A223-1E1717FD47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37944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64">
              <a:extLst>
                <a:ext uri="{FF2B5EF4-FFF2-40B4-BE49-F238E27FC236}">
                  <a16:creationId xmlns:a16="http://schemas.microsoft.com/office/drawing/2014/main" id="{29705F60-CFE6-47C5-96E5-05E7731FC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512988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66">
              <a:extLst>
                <a:ext uri="{FF2B5EF4-FFF2-40B4-BE49-F238E27FC236}">
                  <a16:creationId xmlns:a16="http://schemas.microsoft.com/office/drawing/2014/main" id="{090E047C-18BC-4180-8D10-9F18F517BA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512988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64">
              <a:extLst>
                <a:ext uri="{FF2B5EF4-FFF2-40B4-BE49-F238E27FC236}">
                  <a16:creationId xmlns:a16="http://schemas.microsoft.com/office/drawing/2014/main" id="{A153194A-C8B1-46DB-9C6B-9847B06FAE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8033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66">
              <a:extLst>
                <a:ext uri="{FF2B5EF4-FFF2-40B4-BE49-F238E27FC236}">
                  <a16:creationId xmlns:a16="http://schemas.microsoft.com/office/drawing/2014/main" id="{5C0235EA-4E98-43EA-9AAE-2BD893DEA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8033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26" name="Picture 2" descr="ThingSpeak - Home Assistant">
            <a:extLst>
              <a:ext uri="{FF2B5EF4-FFF2-40B4-BE49-F238E27FC236}">
                <a16:creationId xmlns:a16="http://schemas.microsoft.com/office/drawing/2014/main" id="{7AD24915-725B-49DC-BB40-21FFDF6D0D9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09008" y="1194892"/>
            <a:ext cx="6428067" cy="1092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9" name="Rectangle 98">
            <a:extLst>
              <a:ext uri="{FF2B5EF4-FFF2-40B4-BE49-F238E27FC236}">
                <a16:creationId xmlns:a16="http://schemas.microsoft.com/office/drawing/2014/main" id="{D9F5512A-48E1-4C07-B75E-3CCC517B6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3233650"/>
            <a:ext cx="606972" cy="36243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Blynk">
            <a:extLst>
              <a:ext uri="{FF2B5EF4-FFF2-40B4-BE49-F238E27FC236}">
                <a16:creationId xmlns:a16="http://schemas.microsoft.com/office/drawing/2014/main" id="{86E14BD6-218E-4412-BD0B-B3CB132AF3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09008" y="3817252"/>
            <a:ext cx="6428068" cy="2457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77417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1B92C-808C-42AC-9EF1-DD3FF7AB72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>
                <a:cs typeface="Calibri Light"/>
              </a:rPr>
              <a:t>Thingspeak</a:t>
            </a:r>
            <a:endParaRPr lang="en-US" dirty="0" err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E47537-01C5-4FEE-AA7D-00C533EF67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9110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581C23-AAEC-4AFE-BF85-D28F0CA99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>
                <a:cs typeface="Calibri Light"/>
              </a:rPr>
              <a:t>Thingspeak</a:t>
            </a:r>
            <a:endParaRPr lang="en-US" sz="5400"/>
          </a:p>
        </p:txBody>
      </p:sp>
      <p:sp>
        <p:nvSpPr>
          <p:cNvPr id="15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F0A95-3F1D-497D-9636-13E02DEFE1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200" dirty="0">
                <a:cs typeface="Calibri"/>
              </a:rPr>
              <a:t> </a:t>
            </a:r>
            <a:r>
              <a:rPr lang="en-US" sz="2200" b="1" dirty="0" err="1">
                <a:cs typeface="Calibri"/>
              </a:rPr>
              <a:t>ThingSpeak</a:t>
            </a:r>
            <a:r>
              <a:rPr lang="en-US" sz="2200" dirty="0">
                <a:cs typeface="Calibri"/>
              </a:rPr>
              <a:t> is a cloud-based IoT platform to store and retrieve data from devices.</a:t>
            </a:r>
            <a:endParaRPr lang="en-US" sz="2200" dirty="0"/>
          </a:p>
          <a:p>
            <a:pPr lvl="1"/>
            <a:r>
              <a:rPr lang="en-US" sz="2200" dirty="0">
                <a:cs typeface="Calibri"/>
              </a:rPr>
              <a:t>Uses HTTP protocol/Restful APIs</a:t>
            </a:r>
          </a:p>
          <a:p>
            <a:pPr lvl="1"/>
            <a:r>
              <a:rPr lang="en-US" sz="2200" dirty="0">
                <a:cs typeface="Calibri"/>
              </a:rPr>
              <a:t>MQTT</a:t>
            </a:r>
          </a:p>
          <a:p>
            <a:r>
              <a:rPr lang="en-US" sz="2200" dirty="0">
                <a:cs typeface="Calibri"/>
              </a:rPr>
              <a:t>"Collect and </a:t>
            </a:r>
            <a:r>
              <a:rPr lang="en-US" sz="2200" dirty="0" err="1">
                <a:cs typeface="Calibri"/>
              </a:rPr>
              <a:t>analyse</a:t>
            </a:r>
            <a:r>
              <a:rPr lang="en-US" sz="2200" dirty="0">
                <a:cs typeface="Calibri"/>
              </a:rPr>
              <a:t> data quickly and easily"</a:t>
            </a:r>
          </a:p>
          <a:p>
            <a:endParaRPr lang="en-US" sz="2200" dirty="0"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837A8B-E314-461F-B634-B109448CD58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781" r="16757" b="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2842484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A picture containing screenshot&#10;&#10;Description generated with very high confidence">
            <a:extLst>
              <a:ext uri="{FF2B5EF4-FFF2-40B4-BE49-F238E27FC236}">
                <a16:creationId xmlns:a16="http://schemas.microsoft.com/office/drawing/2014/main" id="{FD95A123-83E5-4FA7-A727-B780ACE80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663" y="1895775"/>
            <a:ext cx="6955765" cy="40584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76B4F2E-6231-457E-B1FE-9539EB1E2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 err="1">
                <a:cs typeface="Calibri Light"/>
              </a:rPr>
              <a:t>Thingspeak</a:t>
            </a:r>
            <a:r>
              <a:rPr lang="en-US" dirty="0">
                <a:cs typeface="Calibri Light"/>
              </a:rPr>
              <a:t> 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FA3C2-1834-47B6-9302-EBA828EDE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370" y="2098795"/>
            <a:ext cx="5684810" cy="433696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>
                <a:cs typeface="Calibri"/>
              </a:rPr>
              <a:t>Account-based</a:t>
            </a:r>
          </a:p>
          <a:p>
            <a:pPr lvl="1"/>
            <a:r>
              <a:rPr lang="en-US" dirty="0">
                <a:cs typeface="Calibri"/>
              </a:rPr>
              <a:t>Can create free account online</a:t>
            </a:r>
          </a:p>
          <a:p>
            <a:r>
              <a:rPr lang="en-US" dirty="0">
                <a:cs typeface="Calibri"/>
              </a:rPr>
              <a:t>Brought to you by the people who made </a:t>
            </a:r>
            <a:r>
              <a:rPr lang="en-US" dirty="0" err="1">
                <a:cs typeface="Calibri"/>
              </a:rPr>
              <a:t>Matlab</a:t>
            </a:r>
            <a:r>
              <a:rPr lang="en-US" dirty="0">
                <a:cs typeface="Calibri"/>
              </a:rPr>
              <a:t>/Simulink</a:t>
            </a:r>
          </a:p>
          <a:p>
            <a:pPr lvl="1"/>
            <a:r>
              <a:rPr lang="en-US" dirty="0">
                <a:cs typeface="Calibri"/>
              </a:rPr>
              <a:t>Uses </a:t>
            </a:r>
            <a:r>
              <a:rPr lang="en-US" dirty="0" err="1">
                <a:cs typeface="Calibri"/>
              </a:rPr>
              <a:t>Matlab</a:t>
            </a:r>
            <a:r>
              <a:rPr lang="en-US" dirty="0">
                <a:cs typeface="Calibri"/>
              </a:rPr>
              <a:t> features/</a:t>
            </a:r>
            <a:r>
              <a:rPr lang="en-US" dirty="0" err="1">
                <a:cs typeface="Calibri"/>
              </a:rPr>
              <a:t>toolboxs</a:t>
            </a:r>
          </a:p>
          <a:p>
            <a:r>
              <a:rPr lang="en-US" dirty="0">
                <a:cs typeface="Calibri"/>
              </a:rPr>
              <a:t>SDKs/</a:t>
            </a:r>
            <a:r>
              <a:rPr lang="en-US" dirty="0" err="1">
                <a:cs typeface="Calibri"/>
              </a:rPr>
              <a:t>librarys</a:t>
            </a:r>
            <a:r>
              <a:rPr lang="en-US" dirty="0">
                <a:cs typeface="Calibri"/>
              </a:rPr>
              <a:t> for popular languages/devices</a:t>
            </a:r>
          </a:p>
          <a:p>
            <a:r>
              <a:rPr lang="en-US" dirty="0">
                <a:cs typeface="Calibri"/>
              </a:rPr>
              <a:t>Restful API means should work with any device</a:t>
            </a:r>
          </a:p>
          <a:p>
            <a:r>
              <a:rPr lang="en-US" dirty="0">
                <a:cs typeface="Calibri"/>
              </a:rPr>
              <a:t>MQTT is also supported</a:t>
            </a:r>
          </a:p>
          <a:p>
            <a:pPr marL="0" indent="0">
              <a:buNone/>
            </a:pP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238801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0BA35-EF4A-4981-8A38-5EA451175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cs typeface="Calibri Light"/>
              </a:rPr>
              <a:t>Thingspeak</a:t>
            </a:r>
            <a:r>
              <a:rPr lang="en-US" dirty="0">
                <a:cs typeface="Calibri Light"/>
              </a:rPr>
              <a:t> – basic use</a:t>
            </a:r>
            <a:endParaRPr lang="en-US" dirty="0"/>
          </a:p>
        </p:txBody>
      </p:sp>
      <p:graphicFrame>
        <p:nvGraphicFramePr>
          <p:cNvPr id="11" name="Diagram 11">
            <a:extLst>
              <a:ext uri="{FF2B5EF4-FFF2-40B4-BE49-F238E27FC236}">
                <a16:creationId xmlns:a16="http://schemas.microsoft.com/office/drawing/2014/main" id="{827AB241-85F8-4500-90BD-E7E029844B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608211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231535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BFC0A-058C-459A-B4FB-6A26A3D6A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566" y="164605"/>
            <a:ext cx="9122584" cy="1325563"/>
          </a:xfrm>
        </p:spPr>
        <p:txBody>
          <a:bodyPr>
            <a:normAutofit/>
          </a:bodyPr>
          <a:lstStyle/>
          <a:p>
            <a:r>
              <a:rPr lang="en-US" dirty="0" err="1">
                <a:cs typeface="Calibri Light"/>
              </a:rPr>
              <a:t>ThingSpeak</a:t>
            </a:r>
            <a:r>
              <a:rPr lang="en-US" dirty="0">
                <a:cs typeface="Calibri Light"/>
              </a:rPr>
              <a:t> – Create new channel</a:t>
            </a:r>
            <a:endParaRPr lang="en-US" dirty="0"/>
          </a:p>
        </p:txBody>
      </p:sp>
      <p:pic>
        <p:nvPicPr>
          <p:cNvPr id="4" name="Picture 4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15359B13-469B-464F-819B-673A85DBEA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925" y="1791739"/>
            <a:ext cx="6338055" cy="4275311"/>
          </a:xfrm>
          <a:prstGeom prst="rect">
            <a:avLst/>
          </a:prstGeom>
        </p:spPr>
      </p:pic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56B88DA4-DED9-4B3B-81F0-CEBC3F4B91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2987414"/>
              </p:ext>
            </p:extLst>
          </p:nvPr>
        </p:nvGraphicFramePr>
        <p:xfrm>
          <a:off x="709170" y="1622281"/>
          <a:ext cx="6066118" cy="24385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754354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9A19A-76AD-4414-A8C1-88FE59476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181" y="5691"/>
            <a:ext cx="10515600" cy="1325563"/>
          </a:xfrm>
        </p:spPr>
        <p:txBody>
          <a:bodyPr/>
          <a:lstStyle/>
          <a:p>
            <a:r>
              <a:rPr lang="en-US" dirty="0" err="1">
                <a:cs typeface="Calibri Light"/>
              </a:rPr>
              <a:t>Thingspeak</a:t>
            </a:r>
            <a:r>
              <a:rPr lang="en-US" dirty="0">
                <a:cs typeface="Calibri Light"/>
              </a:rPr>
              <a:t>  - New channel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38CF9-A001-42BB-B4A3-2A28239462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294" y="1164266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Once saved you can access channel page:</a:t>
            </a:r>
            <a:endParaRPr lang="en-US" dirty="0" err="1"/>
          </a:p>
        </p:txBody>
      </p:sp>
      <p:pic>
        <p:nvPicPr>
          <p:cNvPr id="4" name="Picture 4" descr="A screenshot of a social media post&#10;&#10;Description generated with very high confidence">
            <a:extLst>
              <a:ext uri="{FF2B5EF4-FFF2-40B4-BE49-F238E27FC236}">
                <a16:creationId xmlns:a16="http://schemas.microsoft.com/office/drawing/2014/main" id="{1CD4AB69-D2A4-4695-A5A6-DE693D671A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646" y="1696739"/>
            <a:ext cx="9500558" cy="6138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8165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4A261-4F7F-4C60-B2ED-A9697614C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cs typeface="Calibri Light"/>
              </a:rPr>
              <a:t>Thingspeak</a:t>
            </a:r>
            <a:r>
              <a:rPr lang="en-US" dirty="0">
                <a:cs typeface="Calibri Light"/>
              </a:rPr>
              <a:t>  - Add data to channel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DAFDC-5741-419E-ACC4-03AE682474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842" y="1825625"/>
            <a:ext cx="12787222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Programmatically, many ways!</a:t>
            </a:r>
          </a:p>
          <a:p>
            <a:pPr lvl="1"/>
            <a:r>
              <a:rPr lang="en-US" dirty="0">
                <a:cs typeface="Calibri"/>
              </a:rPr>
              <a:t>Construct HTTP GET request and include field values in query string</a:t>
            </a:r>
          </a:p>
          <a:p>
            <a:pPr lvl="1"/>
            <a:r>
              <a:rPr lang="en-US" dirty="0">
                <a:cs typeface="Calibri"/>
              </a:rPr>
              <a:t>MQTT (see in Lab)</a:t>
            </a:r>
          </a:p>
          <a:p>
            <a:pPr marL="457200" lvl="1" indent="0">
              <a:buNone/>
            </a:pPr>
            <a:endParaRPr lang="en-US" dirty="0">
              <a:cs typeface="Calibri"/>
            </a:endParaRPr>
          </a:p>
          <a:p>
            <a:pPr lvl="1">
              <a:buNone/>
            </a:pPr>
            <a:endParaRPr lang="en-US" sz="2800" dirty="0">
              <a:cs typeface="Calibri"/>
            </a:endParaRPr>
          </a:p>
          <a:p>
            <a:pPr marL="457200" lvl="1" indent="0">
              <a:buNone/>
            </a:pPr>
            <a:r>
              <a:rPr lang="en-US" sz="2800" dirty="0">
                <a:cs typeface="Calibri"/>
              </a:rPr>
              <a:t>GET </a:t>
            </a:r>
            <a:r>
              <a:rPr lang="en-US" sz="2800" dirty="0">
                <a:cs typeface="Calibri"/>
                <a:hlinkClick r:id="rId2"/>
              </a:rPr>
              <a:t>https://api.thingspeak.com/update?api_key=&lt;WRITE-KEY&gt;&amp;field1=12</a:t>
            </a:r>
            <a:endParaRPr lang="en-US" sz="2800" dirty="0">
              <a:cs typeface="Calibri"/>
            </a:endParaRPr>
          </a:p>
          <a:p>
            <a:pPr marL="457200" lvl="1" indent="0">
              <a:buNone/>
            </a:pPr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Using HTTP GET request, can test from a browser:</a:t>
            </a:r>
          </a:p>
          <a:p>
            <a:pPr marL="0" indent="0">
              <a:buNone/>
            </a:pPr>
            <a:endParaRPr lang="en-US" dirty="0">
              <a:cs typeface="Calibri"/>
            </a:endParaRPr>
          </a:p>
          <a:p>
            <a:pPr marL="0" indent="0">
              <a:buNone/>
            </a:pPr>
            <a:endParaRPr lang="en-US" dirty="0">
              <a:cs typeface="Calibri"/>
            </a:endParaRPr>
          </a:p>
        </p:txBody>
      </p:sp>
      <p:pic>
        <p:nvPicPr>
          <p:cNvPr id="6" name="Picture 6" descr="A screenshot of a cell phone&#10;&#10;Description generated with high confidence">
            <a:extLst>
              <a:ext uri="{FF2B5EF4-FFF2-40B4-BE49-F238E27FC236}">
                <a16:creationId xmlns:a16="http://schemas.microsoft.com/office/drawing/2014/main" id="{D080558C-AFE2-4A20-B57C-AE841ACE5A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939" y="5367912"/>
            <a:ext cx="14561387" cy="16181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589E00C-46AB-4893-999C-DD27FDBD8D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2956" y="1357831"/>
            <a:ext cx="5124450" cy="231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2812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CDB6E-19EC-4281-890E-EE3CAA95F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Think Speak – Analyse data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DF725-1B9B-4E8A-9F82-9F0BB89010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3059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cs typeface="Calibri"/>
              </a:rPr>
              <a:t>Thingspeak will visualise each field by default in channel view</a:t>
            </a:r>
            <a:endParaRPr lang="en-US"/>
          </a:p>
        </p:txBody>
      </p:sp>
      <p:pic>
        <p:nvPicPr>
          <p:cNvPr id="4" name="Picture 4" descr="A screenshot of a social media post&#10;&#10;Description generated with very high confidence">
            <a:extLst>
              <a:ext uri="{FF2B5EF4-FFF2-40B4-BE49-F238E27FC236}">
                <a16:creationId xmlns:a16="http://schemas.microsoft.com/office/drawing/2014/main" id="{448883B6-4FEB-43EF-9F19-D8DD57424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154" y="1929804"/>
            <a:ext cx="6783237" cy="4809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9639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700D8-E8FC-4D82-93DC-4A495F74F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Thingspeak  - Apps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EB4E6-9269-4119-8EEA-C113ECAAF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cs typeface="Calibri"/>
              </a:rPr>
              <a:t>The Apps tab provides various mechanism to transform, analyse,visualise and act on data.</a:t>
            </a:r>
            <a:endParaRPr lang="en-US"/>
          </a:p>
        </p:txBody>
      </p:sp>
      <p:pic>
        <p:nvPicPr>
          <p:cNvPr id="4" name="Picture 4" descr="A screenshot of a social media post&#10;&#10;Description generated with very high confidence">
            <a:extLst>
              <a:ext uri="{FF2B5EF4-FFF2-40B4-BE49-F238E27FC236}">
                <a16:creationId xmlns:a16="http://schemas.microsoft.com/office/drawing/2014/main" id="{F18340B7-646F-454C-931A-0223ACFAC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513" y="2609246"/>
            <a:ext cx="5992483" cy="4356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2604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86ECB-7F25-4687-A92A-F6BCC5584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cs typeface="Calibri Light"/>
              </a:rPr>
              <a:t>ThingSpeak Example: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29BFB-E9B4-4013-834E-19E9DE1A6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Can write </a:t>
            </a:r>
            <a:r>
              <a:rPr lang="en-US" dirty="0" err="1">
                <a:cs typeface="Calibri"/>
              </a:rPr>
              <a:t>Matlab</a:t>
            </a:r>
            <a:r>
              <a:rPr lang="en-US" dirty="0">
                <a:cs typeface="Calibri"/>
              </a:rPr>
              <a:t> Code to </a:t>
            </a:r>
            <a:r>
              <a:rPr lang="en-US" dirty="0" err="1">
                <a:cs typeface="Calibri"/>
              </a:rPr>
              <a:t>analyse</a:t>
            </a:r>
            <a:r>
              <a:rPr lang="en-US" dirty="0">
                <a:cs typeface="Calibri"/>
              </a:rPr>
              <a:t> and transform data</a:t>
            </a:r>
          </a:p>
          <a:p>
            <a:r>
              <a:rPr lang="en-US" dirty="0">
                <a:cs typeface="Calibri"/>
              </a:rPr>
              <a:t>Possible uses:</a:t>
            </a:r>
          </a:p>
          <a:p>
            <a:pPr lvl="1"/>
            <a:r>
              <a:rPr lang="en-US" dirty="0">
                <a:cs typeface="Calibri"/>
              </a:rPr>
              <a:t>Clean data (remove outliers)</a:t>
            </a:r>
          </a:p>
          <a:p>
            <a:pPr lvl="1"/>
            <a:r>
              <a:rPr lang="en-US" dirty="0">
                <a:cs typeface="Calibri"/>
              </a:rPr>
              <a:t>Statistical analysis</a:t>
            </a:r>
          </a:p>
          <a:p>
            <a:pPr lvl="1"/>
            <a:r>
              <a:rPr lang="en-US" dirty="0" err="1">
                <a:cs typeface="Calibri"/>
              </a:rPr>
              <a:t>Transfomations</a:t>
            </a:r>
            <a:endParaRPr lang="en-US" dirty="0">
              <a:cs typeface="Calibri"/>
            </a:endParaRPr>
          </a:p>
          <a:p>
            <a:pPr lvl="1"/>
            <a:r>
              <a:rPr lang="en-US" dirty="0">
                <a:cs typeface="Calibri"/>
              </a:rPr>
              <a:t>Data Fusion</a:t>
            </a:r>
          </a:p>
          <a:p>
            <a:r>
              <a:rPr lang="en-US" dirty="0">
                <a:cs typeface="Calibri"/>
              </a:rPr>
              <a:t>Generally write results to second channel for further analysis/</a:t>
            </a:r>
            <a:r>
              <a:rPr lang="en-US" dirty="0" err="1">
                <a:cs typeface="Calibri"/>
              </a:rPr>
              <a:t>visualisation</a:t>
            </a:r>
            <a:r>
              <a:rPr lang="en-US" dirty="0">
                <a:cs typeface="Calibri"/>
              </a:rPr>
              <a:t>. </a:t>
            </a:r>
          </a:p>
        </p:txBody>
      </p:sp>
    </p:spTree>
    <p:extLst>
      <p:ext uri="{BB962C8B-B14F-4D97-AF65-F5344CB8AC3E}">
        <p14:creationId xmlns:p14="http://schemas.microsoft.com/office/powerpoint/2010/main" val="35910210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A97D5-F4E5-49BB-BDB8-4DA887BFD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Thinkspeak: Convert Celcius to Fahrenheit</a:t>
            </a:r>
            <a:endParaRPr lang="en-US"/>
          </a:p>
        </p:txBody>
      </p:sp>
      <p:pic>
        <p:nvPicPr>
          <p:cNvPr id="4" name="Picture 4" descr="A screenshot of a cell phone&#10;&#10;Description generated with high confidence">
            <a:extLst>
              <a:ext uri="{FF2B5EF4-FFF2-40B4-BE49-F238E27FC236}">
                <a16:creationId xmlns:a16="http://schemas.microsoft.com/office/drawing/2014/main" id="{4D1DDFF3-8A39-41DB-A2D5-2BAE828000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8195" y="1292452"/>
            <a:ext cx="7839637" cy="5271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248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997CB-72C9-40BB-8F35-C513EDD61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Other Platforms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9AFA0-2B31-44B0-8CEE-9179C42EE6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cs typeface="Calibri"/>
              </a:rPr>
              <a:t>Ubidots</a:t>
            </a:r>
          </a:p>
          <a:p>
            <a:r>
              <a:rPr lang="en-US" dirty="0">
                <a:cs typeface="Calibri"/>
              </a:rPr>
              <a:t>Amazon Web Services</a:t>
            </a:r>
          </a:p>
          <a:p>
            <a:r>
              <a:rPr lang="en-US" dirty="0">
                <a:cs typeface="Calibri"/>
              </a:rPr>
              <a:t>Microsoft Azure</a:t>
            </a:r>
          </a:p>
          <a:p>
            <a:r>
              <a:rPr lang="en-US" dirty="0" err="1">
                <a:cs typeface="Calibri"/>
              </a:rPr>
              <a:t>Evothings</a:t>
            </a:r>
          </a:p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663055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8A344-EC48-4764-9019-3C836BE7A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2" y="1204109"/>
            <a:ext cx="10023398" cy="857894"/>
          </a:xfrm>
        </p:spPr>
        <p:txBody>
          <a:bodyPr>
            <a:normAutofit/>
          </a:bodyPr>
          <a:lstStyle/>
          <a:p>
            <a:r>
              <a:rPr lang="en-US" sz="4000" dirty="0" err="1">
                <a:cs typeface="Calibri Light"/>
              </a:rPr>
              <a:t>Thingspeak</a:t>
            </a:r>
            <a:r>
              <a:rPr lang="en-US" sz="4000" dirty="0">
                <a:cs typeface="Calibri Light"/>
              </a:rPr>
              <a:t> – Add data with HTTP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6DFED-92CF-426B-97B2-AC1AF4BB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6932" y="2399115"/>
            <a:ext cx="2779954" cy="282001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600" dirty="0">
                <a:cs typeface="Calibri"/>
              </a:rPr>
              <a:t>Make HTTP request from Python:</a:t>
            </a:r>
          </a:p>
          <a:p>
            <a:pPr marL="0" indent="0">
              <a:buNone/>
            </a:pPr>
            <a:endParaRPr lang="en-US" sz="1600" dirty="0">
              <a:cs typeface="Calibri"/>
            </a:endParaRPr>
          </a:p>
          <a:p>
            <a:pPr marL="0" indent="0">
              <a:buNone/>
            </a:pPr>
            <a:endParaRPr lang="en-US" sz="1600" dirty="0">
              <a:cs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031B2C4-9748-550B-5B8A-D14AC7EF12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148" y="3110081"/>
            <a:ext cx="7110817" cy="3674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3069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8B05B-5B9B-47A2-A41D-490381341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351" y="433545"/>
            <a:ext cx="11139854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dirty="0" err="1"/>
              <a:t>Thingspeak</a:t>
            </a:r>
            <a:r>
              <a:rPr lang="en-US" sz="5400" dirty="0"/>
              <a:t> – Add data with MQTT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89FCA6-024E-4482-A530-1550020B0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6083" y="2002010"/>
            <a:ext cx="5455917" cy="35736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91E722-2F0C-094A-BB7D-394AEBF6C7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722" y="1444531"/>
            <a:ext cx="4438728" cy="5347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916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169EF-8C40-4010-AA11-7CCE2BDAB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Which to use: HTTP or MQTT API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CE1EB-8B00-4440-958E-9732197F6D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HTTP (REST) API</a:t>
            </a:r>
          </a:p>
          <a:p>
            <a:pPr lvl="1"/>
            <a:r>
              <a:rPr lang="en-GB" dirty="0"/>
              <a:t>You need to retrieve any historical data, such as data within a defined time range.</a:t>
            </a:r>
          </a:p>
          <a:p>
            <a:pPr lvl="1"/>
            <a:r>
              <a:rPr lang="en-GB" dirty="0"/>
              <a:t>You want to Create Channel, Read Settings, Clear Channel, Delete Channel, or Create Chart.</a:t>
            </a:r>
          </a:p>
          <a:p>
            <a:pPr lvl="1"/>
            <a:r>
              <a:rPr lang="en-GB" dirty="0"/>
              <a:t>You need a response!</a:t>
            </a:r>
          </a:p>
          <a:p>
            <a:r>
              <a:rPr lang="en-GB" dirty="0"/>
              <a:t>MQTT</a:t>
            </a:r>
          </a:p>
          <a:p>
            <a:pPr lvl="1"/>
            <a:r>
              <a:rPr lang="en-GB" dirty="0"/>
              <a:t>Your device is power-constrained, and you want lower battery consumption to send data to </a:t>
            </a:r>
            <a:r>
              <a:rPr lang="en-GB" dirty="0" err="1"/>
              <a:t>ThingSpeak</a:t>
            </a:r>
            <a:r>
              <a:rPr lang="en-GB" dirty="0"/>
              <a:t>. Also, an MQTT PUBLISH operation is typically faster in this scenario.</a:t>
            </a:r>
          </a:p>
          <a:p>
            <a:pPr lvl="1"/>
            <a:r>
              <a:rPr lang="en-GB" dirty="0"/>
              <a:t>Your device connectivity is intermittent, and you have limited bandwidth usage.</a:t>
            </a:r>
          </a:p>
          <a:p>
            <a:pPr lvl="1"/>
            <a:r>
              <a:rPr lang="en-GB" dirty="0"/>
              <a:t>You want immediate updates of data posted to a channel.</a:t>
            </a:r>
          </a:p>
          <a:p>
            <a:pPr lvl="1"/>
            <a:r>
              <a:rPr lang="en-GB" dirty="0"/>
              <a:t>You want messages pushed to you instead of needing to poll the server for new messages.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088560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901</Words>
  <Application>Microsoft Office PowerPoint</Application>
  <PresentationFormat>Widescreen</PresentationFormat>
  <Paragraphs>129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office theme</vt:lpstr>
      <vt:lpstr>IoT Platforms</vt:lpstr>
      <vt:lpstr>What are IoT platforms</vt:lpstr>
      <vt:lpstr>What are IoT Platform</vt:lpstr>
      <vt:lpstr>IoT Platform Characteristics</vt:lpstr>
      <vt:lpstr>IoT Platform – general architecture</vt:lpstr>
      <vt:lpstr>IoT Platform Advantages</vt:lpstr>
      <vt:lpstr>Which one?</vt:lpstr>
      <vt:lpstr>Examples:</vt:lpstr>
      <vt:lpstr>Thingspeak</vt:lpstr>
      <vt:lpstr>Thingspeak</vt:lpstr>
      <vt:lpstr>Thingspeak Overview</vt:lpstr>
      <vt:lpstr>Thingspeak – basic use</vt:lpstr>
      <vt:lpstr>ThingSpeak – Create new channel</vt:lpstr>
      <vt:lpstr>Thingspeak  - New channel</vt:lpstr>
      <vt:lpstr>Thingspeak  - Add data to channel</vt:lpstr>
      <vt:lpstr>Think Speak – Analyse data</vt:lpstr>
      <vt:lpstr>Thingspeak  - Apps</vt:lpstr>
      <vt:lpstr>ThingSpeak Example: Analysis</vt:lpstr>
      <vt:lpstr>Thinkspeak: Convert Celcius to Fahrenheit</vt:lpstr>
      <vt:lpstr>Other Platforms</vt:lpstr>
      <vt:lpstr>Thingspeak – Add data with HTTP</vt:lpstr>
      <vt:lpstr>Thingspeak – Add data with MQTT</vt:lpstr>
      <vt:lpstr>Which to use: HTTP or MQTT API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 Platforms</dc:title>
  <dc:creator>Frank X Walsh</dc:creator>
  <cp:lastModifiedBy>Frank X Walsh</cp:lastModifiedBy>
  <cp:revision>17</cp:revision>
  <dcterms:created xsi:type="dcterms:W3CDTF">2019-10-30T11:31:28Z</dcterms:created>
  <dcterms:modified xsi:type="dcterms:W3CDTF">2025-11-17T09:44:19Z</dcterms:modified>
</cp:coreProperties>
</file>