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1" r:id="rId6"/>
    <p:sldId id="262" r:id="rId7"/>
    <p:sldId id="265" r:id="rId8"/>
    <p:sldId id="269" r:id="rId9"/>
    <p:sldId id="283" r:id="rId10"/>
    <p:sldId id="260" r:id="rId11"/>
    <p:sldId id="263" r:id="rId12"/>
    <p:sldId id="264" r:id="rId13"/>
    <p:sldId id="266" r:id="rId14"/>
    <p:sldId id="268" r:id="rId15"/>
    <p:sldId id="267" r:id="rId16"/>
    <p:sldId id="270" r:id="rId17"/>
    <p:sldId id="271" r:id="rId18"/>
    <p:sldId id="273" r:id="rId19"/>
    <p:sldId id="274" r:id="rId20"/>
    <p:sldId id="272"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65943" autoAdjust="0"/>
  </p:normalViewPr>
  <p:slideViewPr>
    <p:cSldViewPr snapToGrid="0">
      <p:cViewPr varScale="1">
        <p:scale>
          <a:sx n="86" d="100"/>
          <a:sy n="86" d="100"/>
        </p:scale>
        <p:origin x="103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3:02:09.638"/>
    </inkml:context>
    <inkml:brush xml:id="br0">
      <inkml:brushProperty name="width" value="0.05" units="cm"/>
      <inkml:brushProperty name="height" value="0.05" units="cm"/>
      <inkml:brushProperty name="color" value="#E71224"/>
    </inkml:brush>
  </inkml:definitions>
  <inkml:trace contextRef="#ctx0" brushRef="#br0">14 1 3224 0 0,'-14'0'288'0'0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5:11:15.022"/>
    </inkml:context>
    <inkml:brush xml:id="br0">
      <inkml:brushProperty name="width" value="0.05" units="cm"/>
      <inkml:brushProperty name="height" value="0.05" units="cm"/>
      <inkml:brushProperty name="color" value="#E71224"/>
    </inkml:brush>
  </inkml:definitions>
  <inkml:trace contextRef="#ctx0" brushRef="#br0">551 94 4808 0 0,'-1'-4'4589'0'0,"0"4"-4504"0"0,10-5-409 0 0,-8 4 771 0 0,2 0 722 0 0,0 0-582 0 0,8-2 73 0 0,-8 2 743 0 0,0-1-705 0 0,8-5 98 0 0,15-9 4117 0 0,-24 15-4233 0 0,10-23 1928 0 0,-16 16-2418 0 0,3 7-159 0 0,1 0-1 0 0,-1 0 1 0 0,1 0-1 0 0,-1 0 1 0 0,1 0-1 0 0,-1 0 1 0 0,1 0-1 0 0,-1 0 1 0 0,0 0 0 0 0,0 0-1 0 0,0 0 1 0 0,1 0-1 0 0,-1 1 1 0 0,0-1-1 0 0,0 0 1 0 0,0 1-1 0 0,0-1 1 0 0,0 1-1 0 0,0-1 1 0 0,0 1 0 0 0,-1-1-1 0 0,1 1 1 0 0,0 0-1 0 0,0-1 1 0 0,0 1-1 0 0,0 0 1 0 0,0 0-1 0 0,-1 0 1 0 0,1 0-1 0 0,0 0 1 0 0,0 0 0 0 0,0 0-1 0 0,0 0 1 0 0,-1 1-1 0 0,1-1 1 0 0,-2 1-1 0 0,-4 1 53 0 0,1 0 0 0 0,-1 0-1 0 0,1 1 1 0 0,-1 0 0 0 0,1 0-1 0 0,0 1 1 0 0,0-1 0 0 0,-6 6-1 0 0,-45 40 224 0 0,41-34-252 0 0,-28 25-6 0 0,3 3 0 0 0,2 1 0 0 0,1 2 0 0 0,3 1 0 0 0,2 2 0 0 0,2 1 0 0 0,-48 107 0 0 0,14 4 20 0 0,54-125-37 0 0,1 0 0 0 0,-9 62-1 0 0,19-96-29 0 0,-5 28 2 0 0,2 0 0 0 0,1 0 0 0 0,1 0 0 0 0,6 53 0 0 0,0-40-3 0 0,-4-31 0 0 0,0 0 0 0 0,1 0 0 0 0,0 0 0 0 0,1 0 0 0 0,7 17 0 0 0,-9-26 0 0 0,5 12-4 0 0,2 0 1 0 0,-1 0-1 0 0,2 0 0 0 0,14 18 1 0 0,-20-29-1 0 0,1-1 0 0 0,0 1 1 0 0,-1-1-1 0 0,1 1 0 0 0,1-1 1 0 0,-1 0-1 0 0,0-1 0 0 0,1 1 1 0 0,-1-1-1 0 0,1 0 0 0 0,0 0 1 0 0,0 0-1 0 0,0-1 0 0 0,0 1 1 0 0,0-1-1 0 0,0-1 1 0 0,0 1-1 0 0,9 0 0 0 0,-1-2 0 0 0,1 0 0 0 0,-1 0 0 0 0,0-1-1 0 0,0-1 1 0 0,0 0 0 0 0,23-9 0 0 0,-27 9-9 0 0,-1-1 0 0 0,0 0 0 0 0,0-1 0 0 0,-1 0 0 0 0,1 0 1 0 0,-1 0-1 0 0,0-1 0 0 0,-1 0 0 0 0,1-1 0 0 0,-1 1 0 0 0,6-10 0 0 0,-1 0 4 0 0,1 0 120 0 0,-1-1 1 0 0,-1 1-1 0 0,8-21 1 0 0,-15 31-83 0 0,-1 0 0 0 0,0-1 1 0 0,0 1-1 0 0,-1 0 1 0 0,0-1-1 0 0,0 0 0 0 0,0 1 1 0 0,-1-1-1 0 0,0 0 1 0 0,-1 1-1 0 0,1-1 0 0 0,-1 1 1 0 0,-2-9-1 0 0,2 10-29 0 0,0 0 0 0 0,-1 0 0 0 0,1 0 0 0 0,-1 0 0 0 0,0 1 0 0 0,-1-1 0 0 0,1 1 0 0 0,-1-1 0 0 0,0 1 0 0 0,0 0 0 0 0,0 0 0 0 0,-6-6 0 0 0,2 4 36 0 0,0-1 1 0 0,-1 1-1 0 0,0 0 0 0 0,-1 1 0 0 0,-12-6 1 0 0,0-1 212 0 0,16 9-210 0 0,0 0 0 0 0,0 0 0 0 0,0 1 0 0 0,0 0 0 0 0,-1 0 0 0 0,-8-2 0 0 0,0 2-208 0 0,10 2 108 0 0,-1-1 0 0 0,1 0 0 0 0,-1 0 0 0 0,1 0 0 0 0,0 0 0 0 0,0 0 0 0 0,-1-1 0 0 0,-4-3 0 0 0,-1 0 5 0 0,8 4-20 0 0,3 3 14 0 0,8 12 49 0 0,-2-14 15 0 0,-5 0-3 0 0,24 6-4 0 0,0 1 50 0 0,46 5 1 0 0,57-1 467 0 0,-122-11-484 0 0,0 0 0 0 0,0-1 0 0 0,0 1 0 0 0,0-1 0 0 0,9-3 0 0 0,18-1 38 0 0,-22 3-51 0 0,-1 0 0 0 0,23-8 0 0 0,9-2-8 0 0,-23 7-384 0 0,-1-1-1 0 0,34-15 1 0 0,-21 7-1775 0 0,-8 3 463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5:11:15.747"/>
    </inkml:context>
    <inkml:brush xml:id="br0">
      <inkml:brushProperty name="width" value="0.05" units="cm"/>
      <inkml:brushProperty name="height" value="0.05" units="cm"/>
      <inkml:brushProperty name="color" value="#E71224"/>
    </inkml:brush>
  </inkml:definitions>
  <inkml:trace contextRef="#ctx0" brushRef="#br0">137 1 4608 0 0,'0'0'9625'0'0,"-5"8"-7604"0"0,3-1-1675 0 0,0 0 0 0 0,0 0 1 0 0,0 1-1 0 0,1-1 0 0 0,0 14 0 0 0,-1 0 18 0 0,-4 54 558 0 0,-6 39-64 0 0,7-73-579 0 0,-1 48 0 0 0,-2 23 147 0 0,-8 37 433 0 0,-16 91 189 0 0,10-104-679 0 0,20-122-317 0 0,-2 35 48 0 0,4-47-128 0 0,-6-41-1809 0 0,7-16-899 0 0,4 24 561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5:11:16.133"/>
    </inkml:context>
    <inkml:brush xml:id="br0">
      <inkml:brushProperty name="width" value="0.05" units="cm"/>
      <inkml:brushProperty name="height" value="0.05" units="cm"/>
      <inkml:brushProperty name="color" value="#E71224"/>
    </inkml:brush>
  </inkml:definitions>
  <inkml:trace contextRef="#ctx0" brushRef="#br0">47 390 4144 0 0,'2'-6'99'0'0,"0"-1"0"0"0,-1 1 0 0 0,1-1 0 0 0,0-11-1 0 0,1-6 1400 0 0,-1 4 628 0 0,0 0-1 0 0,-2-29 1 0 0,-1 27-690 0 0,4-34 0 0 0,-1 42-1214 0 0,0 0 0 0 0,0 0 0 0 0,2 1 0 0 0,0-1 0 0 0,0 1 0 0 0,1 0 0 0 0,1 0 0 0 0,9-16 0 0 0,-15 28-187 0 0,1 0-1 0 0,0 0 0 0 0,-1 0 0 0 0,1 0 1 0 0,0 0-1 0 0,0 0 0 0 0,0 0 0 0 0,0 0 0 0 0,0 0 1 0 0,0 0-1 0 0,0 0 0 0 0,0 1 0 0 0,0-1 0 0 0,0 0 1 0 0,0 1-1 0 0,1-1 0 0 0,-1 1 0 0 0,0-1 0 0 0,0 1 1 0 0,1 0-1 0 0,-1-1 0 0 0,0 1 0 0 0,0 0 0 0 0,1 0 1 0 0,-1 0-1 0 0,0 0 0 0 0,1 0 0 0 0,-1 0 0 0 0,0 0 1 0 0,1 1-1 0 0,-1-1 0 0 0,0 0 0 0 0,0 1 0 0 0,1-1 1 0 0,-1 1-1 0 0,0-1 0 0 0,0 1 0 0 0,0 0 1 0 0,1-1-1 0 0,-1 1 0 0 0,0 0 0 0 0,0 0 0 0 0,0 0 1 0 0,1 1-1 0 0,3 3 26 0 0,0 1 0 0 0,0-1-1 0 0,-1 1 1 0 0,0 0 0 0 0,0 1 0 0 0,6 12 0 0 0,13 38 948 0 0,-2 2 1 0 0,22 107-1 0 0,-38-135-696 0 0,-1-1 0 0 0,0 59 0 0 0,-5-60-14 0 0,-2 1 0 0 0,0 0-1 0 0,-2-1 1 0 0,-1 0 0 0 0,-1 0-1 0 0,-2 0 1 0 0,-17 39 0 0 0,21-58-219 0 0,-1-1 0 0 0,0 1 0 0 0,0-1 0 0 0,-1-1 0 0 0,0 1 0 0 0,-13 11 0 0 0,14-15-63 0 0,1 0 0 0 0,-1-1 0 0 0,0 1 0 0 0,-1-1 0 0 0,1 0 0 0 0,-1-1 0 0 0,0 1 0 0 0,0-1 0 0 0,0-1 0 0 0,-8 3 0 0 0,10-5-70 0 0,-1-1-1 0 0,0 1 1 0 0,1-1 0 0 0,-1 0 0 0 0,0-1 0 0 0,1 1-1 0 0,-1-1 1 0 0,1 0 0 0 0,0-1 0 0 0,0 1-1 0 0,-6-5 1 0 0,8 4-263 0 0,0-1 0 0 0,1 1 1 0 0,-1-1-1 0 0,1 0 0 0 0,0 0 0 0 0,0 0 0 0 0,0-1 0 0 0,-1-5 0 0 0,-4-19-1379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5:11:16.476"/>
    </inkml:context>
    <inkml:brush xml:id="br0">
      <inkml:brushProperty name="width" value="0.05" units="cm"/>
      <inkml:brushProperty name="height" value="0.05" units="cm"/>
      <inkml:brushProperty name="color" value="#E71224"/>
    </inkml:brush>
  </inkml:definitions>
  <inkml:trace contextRef="#ctx0" brushRef="#br0">76 0 3680 0 0,'0'0'167'0'0,"1"3"-7"0"0,1 2 867 0 0,0 0 0 0 0,-1 0 0 0 0,0 0 1 0 0,0 1-1 0 0,0-1 0 0 0,-1 0 0 0 0,0 1 1 0 0,0 6-1 0 0,-8 49 2982 0 0,2-19-2384 0 0,-5 163 2443 0 0,4-77-2859 0 0,-5 64-69 0 0,4-107-813 0 0,-18 243 253 0 0,24-276-554 0 0,-2 38 1 0 0,3-82-222 0 0,1 0-1 0 0,1 0 0 0 0,0 0 1 0 0,2 13-1 0 0,2 15-1244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5:11:16.961"/>
    </inkml:context>
    <inkml:brush xml:id="br0">
      <inkml:brushProperty name="width" value="0.05" units="cm"/>
      <inkml:brushProperty name="height" value="0.05" units="cm"/>
      <inkml:brushProperty name="color" value="#E71224"/>
    </inkml:brush>
  </inkml:definitions>
  <inkml:trace contextRef="#ctx0" brushRef="#br0">60 1430 10136 0 0,'0'0'1286'0'0,"1"-2"-190"0"0,0-2-616 0 0,-1 0 0 0 0,1 1 0 0 0,-1-1 0 0 0,1 0 1 0 0,-1 0-1 0 0,-1 0 0 0 0,1 1 0 0 0,-2-8 0 0 0,1-10 812 0 0,6-236 3959 0 0,1 3-4812 0 0,-6 251-434 0 0,5-348 1064 0 0,-1 286-1067 0 0,17-96 0 0 0,-15 131-1 0 0,2 1 0 0 0,0 0-1 0 0,2 1 1 0 0,1 0 0 0 0,24-43-1 0 0,-30 64-8 0 0,0-1 0 0 0,0 1-1 0 0,10-11 1 0 0,-14 16 5 0 0,1 1 0 0 0,0-1 0 0 0,0 0 0 0 0,0 1 0 0 0,0-1 0 0 0,0 1 1 0 0,1-1-1 0 0,-1 1 0 0 0,0 0 0 0 0,1 0 0 0 0,-1 0 0 0 0,1 0 0 0 0,-1 1 0 0 0,1-1 0 0 0,-1 1 0 0 0,3-1 1 0 0,-4 1-1 0 0,0 0 1 0 0,0 0 0 0 0,-1 0 0 0 0,1 0-1 0 0,0 0 1 0 0,-1 0 0 0 0,1 0 0 0 0,0 1-1 0 0,-1-1 1 0 0,1 0 0 0 0,0 0 0 0 0,-1 1-1 0 0,1-1 1 0 0,0 0 0 0 0,-1 1 0 0 0,1-1-1 0 0,-1 0 1 0 0,2 2 0 0 0,4 5-12 0 0,0 0 1 0 0,0 1 0 0 0,0-1-1 0 0,-1 2 1 0 0,6 12-1 0 0,22 51-62 0 0,-30-64 68 0 0,20 48 4 0 0,-2 1 1 0 0,-3 1 0 0 0,15 91-1 0 0,-22-85 9 0 0,1 13 35 0 0,4 86 1 0 0,-13-98 25 0 0,0 2 293 0 0,-9 126 0 0 0,3-173-196 0 0,0 0 1 0 0,-1 0-1 0 0,-1 0 0 0 0,-1-1 1 0 0,0 0-1 0 0,-2 0 0 0 0,0-1 1 0 0,-1 0-1 0 0,-1 0 0 0 0,-20 27 1 0 0,23-36-63 0 0,0 0 1 0 0,-1-1 0 0 0,0 1-1 0 0,-1-1 1 0 0,0-1-1 0 0,0 0 1 0 0,-14 8-1 0 0,18-12-76 0 0,-1 0 0 0 0,0-1-1 0 0,0 0 1 0 0,0 0 0 0 0,0 0 0 0 0,-1-1-1 0 0,1 0 1 0 0,0 0 0 0 0,-1-1 0 0 0,1 0-1 0 0,-1 0 1 0 0,1 0 0 0 0,0-1-1 0 0,-1 0 1 0 0,-6-2 0 0 0,0 0-231 0 0,1-1 0 0 0,-1 0-1 0 0,1-1 1 0 0,0 0 0 0 0,0-1 0 0 0,1 0 0 0 0,-1-1 0 0 0,1-1 0 0 0,1 1 0 0 0,0-2-1 0 0,0 1 1 0 0,0-2 0 0 0,1 1 0 0 0,-10-14 0 0 0,1-4-1513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5:11:17.531"/>
    </inkml:context>
    <inkml:brush xml:id="br0">
      <inkml:brushProperty name="width" value="0.05" units="cm"/>
      <inkml:brushProperty name="height" value="0.05" units="cm"/>
      <inkml:brushProperty name="color" value="#E71224"/>
    </inkml:brush>
  </inkml:definitions>
  <inkml:trace contextRef="#ctx0" brushRef="#br0">66 1 4608 0 0,'0'0'864'0'0,"-6"13"6772"0"0,-5 59-1754 0 0,4 117-1855 0 0,1 85-1523 0 0,-8-29-1278 0 0,3-98-768 0 0,7-91-411 0 0,-2 55-696 0 0,6-61-2499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5:11:18.127"/>
    </inkml:context>
    <inkml:brush xml:id="br0">
      <inkml:brushProperty name="width" value="0.05" units="cm"/>
      <inkml:brushProperty name="height" value="0.05" units="cm"/>
      <inkml:brushProperty name="color" value="#E71224"/>
    </inkml:brush>
  </inkml:definitions>
  <inkml:trace contextRef="#ctx0" brushRef="#br0">427 305 8288 0 0,'4'-18'563'0'0,"-4"16"-533"0"0,1 0-1 0 0,-1 1 1 0 0,1-1-1 0 0,-1 0 1 0 0,0 0-1 0 0,0 0 1 0 0,0 0-1 0 0,0 1 1 0 0,0-1-1 0 0,0-3 1 0 0,-1 0 684 0 0,0 1 1 0 0,0 0-1 0 0,0-1 0 0 0,-1 1 1 0 0,1 0-1 0 0,-1 0 1 0 0,0 0-1 0 0,0 0 0 0 0,-4-5 1 0 0,4 8-317 0 0,0-1 1 0 0,0 0 0 0 0,0 1-1 0 0,0-1 1 0 0,0 1 0 0 0,0 0-1 0 0,0 0 1 0 0,0 0 0 0 0,-1 0-1 0 0,1 0 1 0 0,0 0-1 0 0,-1 0 1 0 0,1 1 0 0 0,-1-1-1 0 0,1 1 1 0 0,-1 0 0 0 0,1 0-1 0 0,-5 0 1 0 0,-3 1-145 0 0,0 0 0 0 0,0 0-1 0 0,0 1 1 0 0,0 1 0 0 0,1 0 0 0 0,-1 0 0 0 0,1 1-1 0 0,-14 7 1 0 0,-6 4-4 0 0,-33 26 0 0 0,48-31-238 0 0,0 0 1 0 0,1 1-1 0 0,0 0 1 0 0,1 1 0 0 0,1 1-1 0 0,0 0 1 0 0,0 0-1 0 0,1 1 1 0 0,1 0-1 0 0,0 1 1 0 0,1 0-1 0 0,1 0 1 0 0,0 1 0 0 0,1 0-1 0 0,1 0 1 0 0,-3 18-1 0 0,5-24-20 0 0,2 0-1 0 0,0 0 0 0 0,0 1 1 0 0,0-1-1 0 0,1 0 0 0 0,1 0 1 0 0,0 0-1 0 0,0 1 0 0 0,1-1 1 0 0,1 0-1 0 0,-1 0 0 0 0,1-1 1 0 0,1 1-1 0 0,0-1 0 0 0,0 1 1 0 0,1-1-1 0 0,9 13 0 0 0,-3-10-80 0 0,0 0 0 0 0,0 0 0 0 0,1-2 0 0 0,26 19 0 0 0,-26-21 30 0 0,-1 0 1 0 0,0 1-1 0 0,-1 0 0 0 0,0 0 1 0 0,-1 1-1 0 0,1 1 0 0 0,11 17 1 0 0,49 94 764 0 0,-65-111-702 0 0,0 0-1 0 0,-1 0 1 0 0,0 0 0 0 0,-1 1-1 0 0,0-1 1 0 0,2 17-1 0 0,-2 2 17 0 0,0 39-1 0 0,-3-26 12 0 0,-3-1 1 0 0,-1 0-1 0 0,-2-1 0 0 0,-20 72 0 0 0,22-93 45 0 0,4-18-60 0 0,0 0 0 0 0,0 0 0 0 0,0 1 0 0 0,0-1 0 0 0,-1 0 0 0 0,1 0 0 0 0,-1 0 0 0 0,1 0 1 0 0,-1 0-1 0 0,0 0 0 0 0,0-1 0 0 0,0 1 0 0 0,0 0 0 0 0,0 0 0 0 0,0 0 0 0 0,0-1 0 0 0,-3 3 0 0 0,3-4 10 0 0,0 0-1 0 0,0 0 0 0 0,-1-1 0 0 0,1 1 0 0 0,0 0 0 0 0,0-1 0 0 0,-1 1 0 0 0,1-1 1 0 0,0 1-1 0 0,0-1 0 0 0,0 0 0 0 0,0 1 0 0 0,0-1 0 0 0,0 0 0 0 0,0 0 0 0 0,-1-2 1 0 0,-3 0 62 0 0,0-2-48 0 0,0 1-1 0 0,1 0 0 0 0,0-1 0 0 0,0 0 0 0 0,0 0 0 0 0,0 0 0 0 0,1 0 0 0 0,0-1 0 0 0,0 1 0 0 0,0-1 0 0 0,1 0 0 0 0,-1 1 0 0 0,0-8 1 0 0,-4-13 58 0 0,-7-45 0 0 0,9 25-52 0 0,1-1 0 0 0,4-55-1 0 0,16-92 65 0 0,29-96 239 0 0,-37 240-306 0 0,2 1 0 0 0,3 1-1 0 0,2 0 1 0 0,1 1-1 0 0,3 0 1 0 0,2 2-1 0 0,2 0 1 0 0,1 1-1 0 0,3 2 1 0 0,1 0 0 0 0,54-58-1 0 0,-80 98-66 0 0,36-39 95 0 0,-34 38-209 0 0,-1 1 0 0 0,1-1 1 0 0,-1 1-1 0 0,1-1 0 0 0,0 1 1 0 0,0 0-1 0 0,0 0 0 0 0,0 1 1 0 0,0-1-1 0 0,6-1 0 0 0,2 3-674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5:11:24.213"/>
    </inkml:context>
    <inkml:brush xml:id="br0">
      <inkml:brushProperty name="width" value="0.05" units="cm"/>
      <inkml:brushProperty name="height" value="0.05" units="cm"/>
      <inkml:brushProperty name="color" value="#E71224"/>
    </inkml:brush>
  </inkml:definitions>
  <inkml:trace contextRef="#ctx0" brushRef="#br0">0 736 1376 0 0,'0'0'10600'0'0,"1"2"-10547"0"0,34 48 222 0 0,-32-46-208 0 0,0 0 0 0 0,1 0 0 0 0,-1 0 0 0 0,1-1 0 0 0,0 1 0 0 0,0-1 0 0 0,9 5 0 0 0,7 7 321 0 0,4 5 42 0 0,34 21 0 0 0,-26-18-304 0 0,-26-18-114 0 0,8 13 32 0 0,-12-16-43 0 0,-1 0 0 0 0,1 0 0 0 0,-1 1 0 0 0,1-1 0 0 0,0 0-1 0 0,0 0 1 0 0,0-1 0 0 0,0 1 0 0 0,0 0 0 0 0,3 1 0 0 0,28 17 25 0 0,-24-14 43 0 0,0-1 1 0 0,1 0-1 0 0,13 6 1 0 0,31 15 184 0 0,-41-18-186 0 0,0-2 1 0 0,0 0-1 0 0,21 7 1 0 0,-24-10-19 0 0,1 1 0 0 0,-1 1 0 0 0,18 10 0 0 0,14 5 199 0 0,17 7 22 0 0,-46-21-248 0 0,0 0 1 0 0,16 10-1 0 0,18 9 83 0 0,-9-9 40 0 0,-12-4-123 0 0,28 8 0 0 0,24 12 105 0 0,-52-24-48 0 0,-1 1-1 0 0,39 19 1 0 0,-54-25-56 0 0,-1 1 0 0 0,1-2 0 0 0,0 1 0 0 0,16 1 0 0 0,8 2 11 0 0,57 7 95 0 0,-16-4-33 0 0,-36-4-33 0 0,-27-4-37 0 0,0 1 0 0 0,-1 0 1 0 0,1 0-1 0 0,14 6 0 0 0,-8-2 33 0 0,0 0-1 0 0,1-2 1 0 0,0 0 0 0 0,0-1 0 0 0,29 0 0 0 0,13 3 135 0 0,-48-5-121 0 0,-1-1-1 0 0,20-1 1 0 0,19 1 57 0 0,-26 1-73 0 0,0-1-1 0 0,27-3 0 0 0,17-1-37 0 0,173-10-103 0 0,-91 1 156 0 0,-80 5 70 0 0,0-3 0 0 0,90-26 0 0 0,-51 10-52 0 0,57-11-14 0 0,-119 28-50 0 0,72-26-1 0 0,-66 23-9 0 0,-39 11-5 0 0,0-1 1 0 0,18-7-1 0 0,84-26 91 0 0,-25 9-44 0 0,22-9-40 0 0,91-33 26 0 0,68-20 83 0 0,-193 67-128 0 0,-54 16 0 0 0,41-14 0 0 0,32-12 0 0 0,-67 21 0 0 0,53-25 0 0 0,19-7 0 0 0,-71 33-56 0 0,0-1 0 0 0,-1-2-1 0 0,37-21 1 0 0,-46 23 171 0 0,0 0 0 0 0,28-9 0 0 0,29-13 333 0 0,27-8-672 0 0,-1 3 72 0 0,-59 12 172 0 0,-36 18-11 0 0,2 1 0 0 0,-1 0 0 0 0,1 1 0 0 0,22-7-1 0 0,-30 11-8 0 0,0 0 0 0 0,1 0 0 0 0,-1-1 0 0 0,-1 1 0 0 0,1-1 0 0 0,0 0 0 0 0,-1-1 0 0 0,8-5 0 0 0,-7 4 0 0 0,0 1 0 0 0,0 0 0 0 0,1 0 0 0 0,-1 1 0 0 0,7-4 0 0 0,-5 4 7 0 0,0-1-1 0 0,-1 0 0 0 0,0 0 1 0 0,0 0-1 0 0,6-7 0 0 0,22-13 20 0 0,42-29 374 0 0,-9 12-424 0 0,26-13-140 0 0,-43 24 368 0 0,-48 29-204 0 0,1 0 0 0 0,-1 0 0 0 0,0-1 0 0 0,0 1 0 0 0,0-1 0 0 0,0 1 0 0 0,0-1 0 0 0,0 0 0 0 0,0 0 0 0 0,-1 0 0 0 0,1 0 0 0 0,1-2 0 0 0,4-6 0 0 0,2 4 0 0 0,0 0 0 0 0,0 0 0 0 0,0 1 0 0 0,1 0 0 0 0,0 1 0 0 0,17-6 0 0 0,-17 4 0 0 0,-2 0 0 0 0,26-5 0 0 0,-3 2 0 0 0,-4 3 0 0 0,-17 2 0 0 0,4-2 0 0 0,-5 0 0 0 0,3-2 0 0 0,3 2 0 0 0,-1 0 0 0 0,-5 2-12 0 0,-7 3-53 0 0,0-1-27 0 0,13-10 34 0 0,-14 12 58 0 0,0 0-1 0 0,1 0 0 0 0,-1-1 0 0 0,0 1 0 0 0,0 0 0 0 0,0-1 0 0 0,1 1 0 0 0,-1-1 1 0 0,0 1-1 0 0,0-1 0 0 0,0 1 0 0 0,0-1 0 0 0,0 0 0 0 0,2-1 0 0 0,-1 0-257 0 0,0 1 0 0 0,0 0 0 0 0,0 0-1 0 0,1-1 1 0 0,-1 1 0 0 0,1 1 0 0 0,-1-1-1 0 0,1 0 1 0 0,-1 1 0 0 0,1-1 0 0 0,-1 1 0 0 0,1 0-1 0 0,-1 0 1 0 0,1 0 0 0 0,0 0 0 0 0,-1 0-1 0 0,1 0 1 0 0,2 1 0 0 0,0 0-1363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5:11:25.122"/>
    </inkml:context>
    <inkml:brush xml:id="br0">
      <inkml:brushProperty name="width" value="0.05" units="cm"/>
      <inkml:brushProperty name="height" value="0.05" units="cm"/>
      <inkml:brushProperty name="color" value="#E71224"/>
    </inkml:brush>
  </inkml:definitions>
  <inkml:trace contextRef="#ctx0" brushRef="#br0">504 5 1376 0 0,'-13'3'10335'0'0,"-7"-5"-7244"0"0,-7 0-3007 0 0,-17 5 538 0 0,32-2-496 0 0,1-1 0 0 0,0 1-1 0 0,0 1 1 0 0,0 0 0 0 0,-18 6-1 0 0,-160 58 314 0 0,143-51-377 0 0,24-8-20 0 0,-35 16 0 0 0,57-23-42 0 0,0 0 0 0 0,0 0 0 0 0,0 0 0 0 0,0 0-1 0 0,0 0 1 0 0,0 0 0 0 0,0 0 0 0 0,0 0 0 0 0,0 0 0 0 0,0 0-1 0 0,0 0 1 0 0,0 0 0 0 0,0 0 0 0 0,0 0 0 0 0,0 0-1 0 0,0 0 1 0 0,0 0 0 0 0,0 0 0 0 0,0 0 0 0 0,0 0-1 0 0,0 0 1 0 0,0 0 0 0 0,0 1 0 0 0,0-1 0 0 0,0 0-1 0 0,0 0 1 0 0,0 0 0 0 0,0 0 0 0 0,0 0 0 0 0,0 0-1 0 0,0 0 1 0 0,0 0 0 0 0,0 0 0 0 0,0 0 0 0 0,10-1-17 0 0,17-4-26 0 0,-23 5 35 0 0,65-16-53 0 0,-1-3 1 0 0,121-51-1 0 0,-173 65 58 0 0,0 0 0 0 0,0 1-1 0 0,32-3 1 0 0,-31 6-50 0 0,-16 1 53 0 0,0 0 0 0 0,-1 0 0 0 0,1 0-1 0 0,0 0 1 0 0,-1 0 0 0 0,1 0 0 0 0,-1 0 0 0 0,1 0 0 0 0,0 0 0 0 0,-1 0 0 0 0,1 1 0 0 0,0-1 0 0 0,-1 0 0 0 0,1 0-1 0 0,-1 1 1 0 0,1-1 0 0 0,-1 0 0 0 0,1 0 0 0 0,0 1 0 0 0,-1-1 0 0 0,1 1 0 0 0,-1-1 0 0 0,0 1 0 0 0,1-1-1 0 0,-1 0 1 0 0,1 1 0 0 0,-1 0 0 0 0,0-1 0 0 0,1 1 0 0 0,-1-1 0 0 0,0 1 0 0 0,0-1 0 0 0,1 1 0 0 0,-1 0 0 0 0,0-1-1 0 0,0 1 1 0 0,0-1 0 0 0,0 1 0 0 0,0 0 0 0 0,0-1 0 0 0,0 1 0 0 0,0 0 0 0 0,0-1 0 0 0,0 1 0 0 0,0-1 0 0 0,0 1-1 0 0,0 0 1 0 0,0-1 0 0 0,-1 1 0 0 0,1 0 0 0 0,0-1 0 0 0,0 1 0 0 0,-1-1 0 0 0,1 1 0 0 0,0-1 0 0 0,-1 1-1 0 0,0 0 1 0 0,1 0 4 0 0,-3 9 36 0 0,0 0-1 0 0,0-1 1 0 0,0 1-1 0 0,-1-1 1 0 0,-1 0-1 0 0,-7 12 1 0 0,-38 46 455 0 0,2-2 103 0 0,37-48-476 0 0,0 0 0 0 0,2 0 1 0 0,0 1-1 0 0,1 1 0 0 0,1-1 1 0 0,0 1-1 0 0,-4 25 0 0 0,3-10 82 0 0,6-21-189 0 0,-2 10-72 0 0,3-19 15 0 0,0 0 0 0 0,1 1-1 0 0,-1-1 1 0 0,1 0 0 0 0,0 8 0 0 0,0-11-350 0 0,0 1-1 0 0,0-1 1 0 0,1 1 0 0 0,-1-1 0 0 0,1 0 0 0 0,-1 1 0 0 0,1-1 0 0 0,0 1 0 0 0,-1-1 0 0 0,1 0-1 0 0,0 0 1 0 0,2 2 0 0 0,12 12-5490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5:11:27.037"/>
    </inkml:context>
    <inkml:brush xml:id="br0">
      <inkml:brushProperty name="width" value="0.05" units="cm"/>
      <inkml:brushProperty name="height" value="0.05" units="cm"/>
      <inkml:brushProperty name="color" value="#E71224"/>
    </inkml:brush>
  </inkml:definitions>
  <inkml:trace contextRef="#ctx0" brushRef="#br0">7317 383 2304 0 0,'0'3'167'0'0,"-1"0"-92"0"0,1 0 1 0 0,-1 1 0 0 0,0-1 0 0 0,0 0 0 0 0,0 0 0 0 0,0 0 0 0 0,-1 0 0 0 0,1 0 0 0 0,-1 0-1 0 0,-2 3 1 0 0,-24 32 2219 0 0,22-30-1871 0 0,-36 29 2102 0 0,37-33-2349 0 0,-1 1 0 0 0,0-1 1 0 0,0 0-1 0 0,0 0 0 0 0,0 0 0 0 0,-11 4 0 0 0,-19 11 353 0 0,-74 50 302 0 0,42-27-187 0 0,26-16-341 0 0,-1-2-1 0 0,-1-1 1 0 0,-69 24 0 0 0,-47 17 539 0 0,71-27-773 0 0,39-17 68 0 0,0-2-1 0 0,-1-2 1 0 0,-90 15 0 0 0,2-3 248 0 0,55-10-86 0 0,54-12-160 0 0,-30 7 236 0 0,-82 5 0 0 0,-17 2-67 0 0,32-2-51 0 0,-108-5-135 0 0,0 0-28 0 0,175-10-53 0 0,0-2 0 0 0,0-3 0 0 0,-63-10 0 0 0,5 1 138 0 0,-40-6 146 0 0,-9-1 1418 0 0,78 11-1636 0 0,-110-15-807 0 0,-220-52 0 0 0,280 37 784 0 0,-90-20 108 0 0,36 6-183 0 0,138 34-10 0 0,-65-11 0 0 0,38 9 0 0 0,-146-41 3 0 0,-121-29 58 0 0,164 31-61 0 0,75 21 0 0 0,-49-12 0 0 0,-44-14 12 0 0,56 17 46 0 0,81 24-25 0 0,-73-15 0 0 0,113 30-33 0 0,1-1 0 0 0,-40-17 0 0 0,-3-2 0 0 0,14 11 0 0 0,-61-9 0 0 0,50 12 0 0 0,51 9 0 0 0,-1-1 0 0 0,-22-10 0 0 0,24 9 0 0 0,1 1 0 0 0,-24-7 0 0 0,-91-24 0 0 0,90 24 0 0 0,-1 1 0 0 0,-66-10 0 0 0,25 2 0 0 0,44 11 0 0 0,27 5 0 0 0,1 1 0 0 0,0 1 0 0 0,-1-1 0 0 0,-8 0 0 0 0,-33-2 0 0 0,45 3 0 0 0,-16-1 0 0 0,10 4-12 0 0,6-1-36 0 0,-4-1 24 0 0,5 0-177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5:11:28.130"/>
    </inkml:context>
    <inkml:brush xml:id="br0">
      <inkml:brushProperty name="width" value="0.05" units="cm"/>
      <inkml:brushProperty name="height" value="0.05" units="cm"/>
      <inkml:brushProperty name="color" value="#E71224"/>
    </inkml:brush>
  </inkml:definitions>
  <inkml:trace contextRef="#ctx0" brushRef="#br0">56 233 2760 0 0,'0'0'125'0'0,"-8"5"22"0"0,-5 1-530 0 0,11-6 822 0 0,0 1-1 0 0,1-1 1 0 0,-1 1-1 0 0,0-1 1 0 0,0 0-1 0 0,1 0 1 0 0,-1 1-1 0 0,0-1 1 0 0,0 0-1 0 0,1-1 1 0 0,-1 1-1 0 0,0 0 1 0 0,1 0-1 0 0,-1-1 1 0 0,0 1-1 0 0,-2-2 1 0 0,2 1 238 0 0,4-9-122 0 0,6-1-311 0 0,0 1 1 0 0,1 0-1 0 0,0 0 0 0 0,1 1 1 0 0,10-8-1 0 0,-7 5-30 0 0,26-19 732 0 0,73-43 0 0 0,-99 66-834 0 0,-1 1 62 0 0,0 1 0 0 0,0 0 0 0 0,1 1 0 0 0,23-6 0 0 0,-24 8-131 0 0,2 2-47 0 0,-11 1 176 0 0,-26 28-15 0 0,18-21-144 0 0,0-1-1 0 0,-1 1 1 0 0,-9 8 0 0 0,-25 21-2 0 0,31-28-11 0 0,1 1 0 0 0,0-1 0 0 0,-9 13 0 0 0,-7 8-1 0 0,-6 18 2 0 0,25-42-1 0 0,1 1 0 0 0,-1 0 0 0 0,1 1 0 0 0,0-1 0 0 0,1 1 0 0 0,0 0 0 0 0,0 0 0 0 0,0 0 0 0 0,1 0 0 0 0,0 0 0 0 0,1 0 0 0 0,-2 12 0 0 0,2 3 1 0 0,0-17 9 0 0,1 1 0 0 0,-1-1-1 0 0,1 1 1 0 0,1-1-1 0 0,-1 0 1 0 0,1 1 0 0 0,2 10-1 0 0,8 14 125 0 0,-8-21-72 0 0,0 0 0 0 0,1 0 0 0 0,0-1 0 0 0,0 1 0 0 0,8 10-1 0 0,-12-18-93 0 0,8 10 253 0 0,1 0 0 0 0,0-1 0 0 0,13 13 0 0 0,-18-20-360 0 0,0 0 1 0 0,0 0-1 0 0,0-1 0 0 0,1 1 1 0 0,-1-1-1 0 0,9 3 1 0 0,18 0-3753 0 0,-14-5-1643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17T15:11:39.501"/>
    </inkml:context>
    <inkml:brush xml:id="br0">
      <inkml:brushProperty name="width" value="0.05" units="cm"/>
      <inkml:brushProperty name="height" value="0.05" units="cm"/>
      <inkml:brushProperty name="color" value="#E71224"/>
    </inkml:brush>
  </inkml:definitions>
  <inkml:trace contextRef="#ctx0" brushRef="#br0">232 748 920 0 0,'0'0'2633'0'0,"-19"-4"-939"0"0,7 1-819 0 0,-1 1 1 0 0,1 1 0 0 0,-14 0 0 0 0,7-19-364 0 0,11 12-402 0 0,1 1-1 0 0,0-1 0 0 0,1 0 0 0 0,0 0 0 0 0,0 0 0 0 0,1-1 0 0 0,-7-14 1 0 0,-14-22 386 0 0,21 36-283 0 0,0 0 1 0 0,1-1 0 0 0,-6-19 0 0 0,-2-4 160 0 0,10 26-356 0 0,-1 0 1 0 0,1 0-1 0 0,1-1 1 0 0,-1 1-1 0 0,1-1 1 0 0,1 0-1 0 0,-1-10 1 0 0,8-55 245 0 0,-1 23-220 0 0,-2 26-29 0 0,1 1 1 0 0,0 0-1 0 0,2-1 0 0 0,10-23 1 0 0,-13 37-18 0 0,2-5 8 0 0,0 1 0 0 0,1 0 1 0 0,0 1-1 0 0,12-17 1 0 0,-14 23-4 0 0,0 1 0 0 0,0 0 0 0 0,1 0 0 0 0,0 0 1 0 0,0 0-1 0 0,0 1 0 0 0,1 0 0 0 0,-1 0 0 0 0,15-6 1 0 0,-14 9 0 0 0,0 0 0 0 0,1 0 1 0 0,-1 1-1 0 0,1 0 1 0 0,-1 0-1 0 0,1 1 0 0 0,0 0 1 0 0,-1 0-1 0 0,1 1 1 0 0,-1 0-1 0 0,1 1 0 0 0,-1-1 1 0 0,10 4-1 0 0,-2-1-1 0 0,-5-1-1 0 0,-1 0 1 0 0,1 1 0 0 0,-1 0-1 0 0,0 0 1 0 0,0 1 0 0 0,15 11-1 0 0,-7-3 10 0 0,-1 0-1 0 0,20 22 1 0 0,-15-10 68 0 0,29 42 1 0 0,-37-48-71 0 0,0-2-10 0 0,-8-10 0 0 0,1 1 0 0 0,-1-1 0 0 0,-1 1 0 0 0,0-1 0 0 0,0 1 0 0 0,0 1 0 0 0,3 10 0 0 0,-3-3 3 0 0,2 5 25 0 0,4 28 0 0 0,-9-44-23 0 0,0 1 1 0 0,-1-1-1 0 0,0 1 0 0 0,0 0 0 0 0,0-1 1 0 0,-1 1-1 0 0,0 0 0 0 0,0-1 0 0 0,-1 1 1 0 0,-1 5-1 0 0,-16 37 174 0 0,15-34-92 0 0,-1 0 0 0 0,0-1 0 0 0,-1 0 0 0 0,-1 0 0 0 0,0 0 0 0 0,0-1 0 0 0,-18 21 0 0 0,3-13 93 0 0,0 0 1 0 0,-27 17 0 0 0,4-4 61 0 0,34-23-214 0 0,-1-1 0 0 0,-1-1 0 0 0,0 0 1 0 0,0-1-1 0 0,0-1 0 0 0,-1 0 0 0 0,0 0 1 0 0,0-1-1 0 0,-21 4 0 0 0,29-9-151 0 0,-7 2 185 0 0,-1-1 0 0 0,-16-1 0 0 0,24 0-878 0 0,0-1-1 0 0,0 0 0 0 0,0-1 0 0 0,-8-2 0 0 0,-4-6-3812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0ED5A0-5633-45BE-A86E-B697A94EA313}" type="datetimeFigureOut">
              <a:rPr lang="en-IE" smtClean="0"/>
              <a:t>09/11/2022</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46ADC4-7272-4738-B78D-8EDA1D308FEF}" type="slidenum">
              <a:rPr lang="en-IE" smtClean="0"/>
              <a:t>‹#›</a:t>
            </a:fld>
            <a:endParaRPr lang="en-IE"/>
          </a:p>
        </p:txBody>
      </p:sp>
    </p:spTree>
    <p:extLst>
      <p:ext uri="{BB962C8B-B14F-4D97-AF65-F5344CB8AC3E}">
        <p14:creationId xmlns:p14="http://schemas.microsoft.com/office/powerpoint/2010/main" val="277035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346ADC4-7272-4738-B78D-8EDA1D308FEF}" type="slidenum">
              <a:rPr lang="en-IE" smtClean="0"/>
              <a:t>2</a:t>
            </a:fld>
            <a:endParaRPr lang="en-IE"/>
          </a:p>
        </p:txBody>
      </p:sp>
    </p:spTree>
    <p:extLst>
      <p:ext uri="{BB962C8B-B14F-4D97-AF65-F5344CB8AC3E}">
        <p14:creationId xmlns:p14="http://schemas.microsoft.com/office/powerpoint/2010/main" val="1086662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 very functional about it – mousetrap that texts you when it’s been activated. Control my brewing from work. </a:t>
            </a:r>
            <a:br>
              <a:rPr lang="en-GB" dirty="0"/>
            </a:br>
            <a:r>
              <a:rPr lang="en-GB" dirty="0" err="1"/>
              <a:t>Emencly</a:t>
            </a:r>
            <a:r>
              <a:rPr lang="en-GB" dirty="0"/>
              <a:t> </a:t>
            </a:r>
            <a:r>
              <a:rPr lang="en-GB" dirty="0" err="1"/>
              <a:t>imprssic</a:t>
            </a:r>
            <a:r>
              <a:rPr lang="en-GB" dirty="0"/>
              <a:t> when fused with art and creativity</a:t>
            </a:r>
          </a:p>
          <a:p>
            <a:endParaRPr lang="en-GB" dirty="0"/>
          </a:p>
          <a:p>
            <a:endParaRPr lang="en-GB" dirty="0"/>
          </a:p>
          <a:p>
            <a:r>
              <a:rPr lang="en-GB" dirty="0"/>
              <a:t>Up to now – </a:t>
            </a:r>
            <a:r>
              <a:rPr lang="en-GB" dirty="0" err="1"/>
              <a:t>celectrical</a:t>
            </a:r>
            <a:r>
              <a:rPr lang="en-GB" dirty="0"/>
              <a:t> </a:t>
            </a:r>
            <a:r>
              <a:rPr lang="en-GB" dirty="0" err="1"/>
              <a:t>omponents</a:t>
            </a:r>
            <a:r>
              <a:rPr lang="en-GB" dirty="0"/>
              <a:t> contained in devices. Now out in the open</a:t>
            </a:r>
          </a:p>
          <a:p>
            <a:r>
              <a:rPr lang="en-GB" dirty="0"/>
              <a:t>Need to know something about Electricity</a:t>
            </a:r>
            <a:endParaRPr lang="en-IE" dirty="0"/>
          </a:p>
        </p:txBody>
      </p:sp>
      <p:sp>
        <p:nvSpPr>
          <p:cNvPr id="4" name="Slide Number Placeholder 3"/>
          <p:cNvSpPr>
            <a:spLocks noGrp="1"/>
          </p:cNvSpPr>
          <p:nvPr>
            <p:ph type="sldNum" sz="quarter" idx="5"/>
          </p:nvPr>
        </p:nvSpPr>
        <p:spPr/>
        <p:txBody>
          <a:bodyPr/>
          <a:lstStyle/>
          <a:p>
            <a:fld id="{5346ADC4-7272-4738-B78D-8EDA1D308FEF}" type="slidenum">
              <a:rPr lang="en-IE" smtClean="0"/>
              <a:t>4</a:t>
            </a:fld>
            <a:endParaRPr lang="en-IE"/>
          </a:p>
        </p:txBody>
      </p:sp>
    </p:spTree>
    <p:extLst>
      <p:ext uri="{BB962C8B-B14F-4D97-AF65-F5344CB8AC3E}">
        <p14:creationId xmlns:p14="http://schemas.microsoft.com/office/powerpoint/2010/main" val="1028733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A1A1A"/>
                </a:solidFill>
                <a:effectLst/>
                <a:latin typeface="Merriweather"/>
              </a:rPr>
              <a:t>Imagine an avalanche of snow on a mountain. The height of the mountain is analogous to the voltage; the higher the mountain, the more potential energy the falling material has.  The amount of snow and rocks in the avalanche is analogous to the current.  And the steepness of the mountain is analogous to the resistance: the steeper the mountain, the less it will resist the flow of the snow and rocks. We’ll define this a bit more formally below.</a:t>
            </a:r>
            <a:endParaRPr lang="en-IE" dirty="0"/>
          </a:p>
        </p:txBody>
      </p:sp>
      <p:sp>
        <p:nvSpPr>
          <p:cNvPr id="4" name="Slide Number Placeholder 3"/>
          <p:cNvSpPr>
            <a:spLocks noGrp="1"/>
          </p:cNvSpPr>
          <p:nvPr>
            <p:ph type="sldNum" sz="quarter" idx="5"/>
          </p:nvPr>
        </p:nvSpPr>
        <p:spPr/>
        <p:txBody>
          <a:bodyPr/>
          <a:lstStyle/>
          <a:p>
            <a:fld id="{5346ADC4-7272-4738-B78D-8EDA1D308FEF}" type="slidenum">
              <a:rPr lang="en-IE" smtClean="0"/>
              <a:t>5</a:t>
            </a:fld>
            <a:endParaRPr lang="en-IE"/>
          </a:p>
        </p:txBody>
      </p:sp>
    </p:spTree>
    <p:extLst>
      <p:ext uri="{BB962C8B-B14F-4D97-AF65-F5344CB8AC3E}">
        <p14:creationId xmlns:p14="http://schemas.microsoft.com/office/powerpoint/2010/main" val="352993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Helvetica Neue"/>
              </a:rPr>
              <a:t>The reason we want to build circuits is to make electricity do useful things for us. The way we do that is by putting things in the circuit that use the current flow to light up, make noise, run programs, etc.</a:t>
            </a:r>
          </a:p>
          <a:p>
            <a:pPr algn="l"/>
            <a:r>
              <a:rPr lang="en-GB" b="0" i="0" dirty="0">
                <a:solidFill>
                  <a:srgbClr val="333333"/>
                </a:solidFill>
                <a:effectLst/>
                <a:latin typeface="Helvetica Neue"/>
              </a:rPr>
              <a:t>These things are called </a:t>
            </a:r>
            <a:r>
              <a:rPr lang="en-GB" b="1" i="0" dirty="0">
                <a:solidFill>
                  <a:srgbClr val="333333"/>
                </a:solidFill>
                <a:effectLst/>
                <a:latin typeface="Helvetica Neue"/>
              </a:rPr>
              <a:t>loads</a:t>
            </a:r>
            <a:r>
              <a:rPr lang="en-GB" b="0" i="0" dirty="0">
                <a:solidFill>
                  <a:srgbClr val="333333"/>
                </a:solidFill>
                <a:effectLst/>
                <a:latin typeface="Helvetica Neue"/>
              </a:rPr>
              <a:t>, The same way you could be loaded down with too much weight, it’s possible to load down a power supply too much, which will slow down the current flow. But unlike you, it’s also possible to load down a circuit too little - this may let too much current flow (imagine running too fast if you weren’t carrying any weight), which can burn out your parts or even the power supply.</a:t>
            </a:r>
          </a:p>
          <a:p>
            <a:pPr algn="l"/>
            <a:endParaRPr lang="en-GB" b="0" i="0" dirty="0">
              <a:solidFill>
                <a:srgbClr val="333333"/>
              </a:solidFill>
              <a:effectLst/>
              <a:latin typeface="Helvetica Neue"/>
            </a:endParaRPr>
          </a:p>
          <a:p>
            <a:pPr algn="l"/>
            <a:endParaRPr lang="en-GB" b="0" i="0" dirty="0">
              <a:solidFill>
                <a:srgbClr val="333333"/>
              </a:solidFill>
              <a:effectLst/>
              <a:latin typeface="Helvetica Neue"/>
            </a:endParaRPr>
          </a:p>
          <a:p>
            <a:endParaRPr lang="en-IE" dirty="0"/>
          </a:p>
        </p:txBody>
      </p:sp>
      <p:sp>
        <p:nvSpPr>
          <p:cNvPr id="4" name="Slide Number Placeholder 3"/>
          <p:cNvSpPr>
            <a:spLocks noGrp="1"/>
          </p:cNvSpPr>
          <p:nvPr>
            <p:ph type="sldNum" sz="quarter" idx="5"/>
          </p:nvPr>
        </p:nvSpPr>
        <p:spPr/>
        <p:txBody>
          <a:bodyPr/>
          <a:lstStyle/>
          <a:p>
            <a:fld id="{5346ADC4-7272-4738-B78D-8EDA1D308FEF}" type="slidenum">
              <a:rPr lang="en-IE" smtClean="0"/>
              <a:t>7</a:t>
            </a:fld>
            <a:endParaRPr lang="en-IE"/>
          </a:p>
        </p:txBody>
      </p:sp>
    </p:spTree>
    <p:extLst>
      <p:ext uri="{BB962C8B-B14F-4D97-AF65-F5344CB8AC3E}">
        <p14:creationId xmlns:p14="http://schemas.microsoft.com/office/powerpoint/2010/main" val="4181378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333333"/>
                </a:solidFill>
                <a:effectLst/>
                <a:latin typeface="Helvetica Neue"/>
              </a:rPr>
              <a:t>Short Circuit:  </a:t>
            </a:r>
            <a:r>
              <a:rPr lang="en-GB" b="0" i="0" dirty="0">
                <a:solidFill>
                  <a:srgbClr val="333333"/>
                </a:solidFill>
                <a:effectLst/>
                <a:latin typeface="Helvetica Neue"/>
              </a:rPr>
              <a:t>if you DON'T put anything in to restrict the current flow, there won't be anything to slow down the current, and it will try to be infinite! Can cause our wire to burn up, damage the power supply, drain your battery, or other exciting thing.</a:t>
            </a:r>
          </a:p>
          <a:p>
            <a:r>
              <a:rPr lang="en-GB" b="1" i="0" dirty="0">
                <a:solidFill>
                  <a:srgbClr val="333333"/>
                </a:solidFill>
                <a:effectLst/>
                <a:latin typeface="Helvetica Neue"/>
              </a:rPr>
              <a:t>Too much current: </a:t>
            </a:r>
            <a:r>
              <a:rPr lang="en-GB" b="0" i="0" dirty="0">
                <a:solidFill>
                  <a:srgbClr val="333333"/>
                </a:solidFill>
                <a:effectLst/>
                <a:latin typeface="Helvetica Neue"/>
              </a:rPr>
              <a:t>A closely related problem is accidentally letting too much current flow through part of your circuit, causing a part to burn up. This isn't quite a short circuit, but it's close. This most often happens when you use the incorrect </a:t>
            </a:r>
            <a:r>
              <a:rPr lang="en-GB" b="1" i="0" dirty="0">
                <a:solidFill>
                  <a:srgbClr val="333333"/>
                </a:solidFill>
                <a:effectLst/>
                <a:latin typeface="Helvetica Neue"/>
              </a:rPr>
              <a:t>resistor</a:t>
            </a:r>
            <a:r>
              <a:rPr lang="en-GB" b="0" i="0" dirty="0">
                <a:solidFill>
                  <a:srgbClr val="333333"/>
                </a:solidFill>
                <a:effectLst/>
                <a:latin typeface="Helvetica Neue"/>
              </a:rPr>
              <a:t> value, which lets too much current flow through another component such as an LED.</a:t>
            </a:r>
          </a:p>
          <a:p>
            <a:endParaRPr lang="en-GB" b="0" i="0" dirty="0">
              <a:solidFill>
                <a:srgbClr val="333333"/>
              </a:solidFill>
              <a:effectLst/>
              <a:latin typeface="Helvetica Neue"/>
            </a:endParaRPr>
          </a:p>
          <a:p>
            <a:r>
              <a:rPr lang="en-GB" b="1" i="0" dirty="0">
                <a:solidFill>
                  <a:srgbClr val="333333"/>
                </a:solidFill>
                <a:effectLst/>
                <a:latin typeface="Helvetica Neue"/>
              </a:rPr>
              <a:t>Open Circuit</a:t>
            </a:r>
            <a:r>
              <a:rPr lang="en-GB" b="0" i="0" dirty="0">
                <a:solidFill>
                  <a:srgbClr val="333333"/>
                </a:solidFill>
                <a:effectLst/>
                <a:latin typeface="Helvetica Neue"/>
              </a:rPr>
              <a:t>: The opposite of a short circuit is an </a:t>
            </a:r>
            <a:r>
              <a:rPr lang="en-GB" b="1" i="0" dirty="0">
                <a:solidFill>
                  <a:srgbClr val="333333"/>
                </a:solidFill>
                <a:effectLst/>
                <a:latin typeface="Helvetica Neue"/>
              </a:rPr>
              <a:t>open circuit</a:t>
            </a:r>
            <a:r>
              <a:rPr lang="en-GB" b="0" i="0" dirty="0">
                <a:solidFill>
                  <a:srgbClr val="333333"/>
                </a:solidFill>
                <a:effectLst/>
                <a:latin typeface="Helvetica Neue"/>
              </a:rPr>
              <a:t>. This is a circuit where the loop isn't fully connected (and therefore this isn't really a circuit at all). </a:t>
            </a:r>
            <a:r>
              <a:rPr lang="en-GB" b="1" i="0" dirty="0">
                <a:solidFill>
                  <a:srgbClr val="333333"/>
                </a:solidFill>
                <a:effectLst/>
                <a:latin typeface="Helvetica Neue"/>
              </a:rPr>
              <a:t>If your circuit doesn't work, the most likely cause is an open circuit.</a:t>
            </a:r>
            <a:r>
              <a:rPr lang="en-GB" b="0" i="0" dirty="0">
                <a:solidFill>
                  <a:srgbClr val="333333"/>
                </a:solidFill>
                <a:effectLst/>
                <a:latin typeface="Helvetica Neue"/>
              </a:rPr>
              <a:t> This is usually due to a broken connection or a loose wire. (Short circuits can steal all the power from the rest of your circuit, so be sure to look for those as well.)</a:t>
            </a:r>
            <a:endParaRPr lang="en-IE" dirty="0"/>
          </a:p>
        </p:txBody>
      </p:sp>
      <p:sp>
        <p:nvSpPr>
          <p:cNvPr id="4" name="Slide Number Placeholder 3"/>
          <p:cNvSpPr>
            <a:spLocks noGrp="1"/>
          </p:cNvSpPr>
          <p:nvPr>
            <p:ph type="sldNum" sz="quarter" idx="5"/>
          </p:nvPr>
        </p:nvSpPr>
        <p:spPr/>
        <p:txBody>
          <a:bodyPr/>
          <a:lstStyle/>
          <a:p>
            <a:fld id="{5346ADC4-7272-4738-B78D-8EDA1D308FEF}" type="slidenum">
              <a:rPr lang="en-IE" smtClean="0"/>
              <a:t>8</a:t>
            </a:fld>
            <a:endParaRPr lang="en-IE"/>
          </a:p>
        </p:txBody>
      </p:sp>
    </p:spTree>
    <p:extLst>
      <p:ext uri="{BB962C8B-B14F-4D97-AF65-F5344CB8AC3E}">
        <p14:creationId xmlns:p14="http://schemas.microsoft.com/office/powerpoint/2010/main" val="866937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5346ADC4-7272-4738-B78D-8EDA1D308FEF}" type="slidenum">
              <a:rPr lang="en-IE" smtClean="0"/>
              <a:t>9</a:t>
            </a:fld>
            <a:endParaRPr lang="en-IE"/>
          </a:p>
        </p:txBody>
      </p:sp>
    </p:spTree>
    <p:extLst>
      <p:ext uri="{BB962C8B-B14F-4D97-AF65-F5344CB8AC3E}">
        <p14:creationId xmlns:p14="http://schemas.microsoft.com/office/powerpoint/2010/main" val="177995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b="1" dirty="0"/>
              <a:t>Terminal Strips: </a:t>
            </a:r>
            <a:r>
              <a:rPr lang="en-IE" dirty="0"/>
              <a:t>Y</a:t>
            </a:r>
            <a:r>
              <a:rPr lang="en-GB" b="0" i="0" dirty="0" err="1">
                <a:solidFill>
                  <a:srgbClr val="333333"/>
                </a:solidFill>
                <a:effectLst/>
                <a:latin typeface="Helvetica Neue"/>
              </a:rPr>
              <a:t>ou</a:t>
            </a:r>
            <a:r>
              <a:rPr lang="en-GB" b="0" i="0" dirty="0">
                <a:solidFill>
                  <a:srgbClr val="333333"/>
                </a:solidFill>
                <a:effectLst/>
                <a:latin typeface="Helvetica Neue"/>
              </a:rPr>
              <a:t> can see lots of parallel rows of metal strips on the bottom of the breadboard. If you insert a component into hole, it’ll be connected to anything else placed in that row( a bit like a socket. This is because the metal rows are conductive and allow current to flow from any point in that strip. </a:t>
            </a:r>
          </a:p>
          <a:p>
            <a:endParaRPr lang="en-GB" b="0" i="0" dirty="0">
              <a:solidFill>
                <a:srgbClr val="333333"/>
              </a:solidFill>
              <a:effectLst/>
              <a:latin typeface="Helvetica Neue"/>
            </a:endParaRPr>
          </a:p>
          <a:p>
            <a:r>
              <a:rPr lang="en-GB" b="0" i="0" dirty="0">
                <a:solidFill>
                  <a:srgbClr val="333333"/>
                </a:solidFill>
                <a:effectLst/>
                <a:latin typeface="Helvetica Neue"/>
              </a:rPr>
              <a:t>Each row is separated by a ravine in the middle of the breadboard. This ravine isolates both sides of a given row from one another, and they are not electrically connected. Each side of a given row is disconnected from the other, leaving you with five spots for components on either side.</a:t>
            </a:r>
          </a:p>
          <a:p>
            <a:endParaRPr lang="en-GB" b="0" i="0" dirty="0">
              <a:solidFill>
                <a:srgbClr val="333333"/>
              </a:solidFill>
              <a:effectLst/>
              <a:latin typeface="Helvetica Neue"/>
            </a:endParaRPr>
          </a:p>
          <a:p>
            <a:r>
              <a:rPr lang="en-GB" b="1" i="0" dirty="0">
                <a:solidFill>
                  <a:srgbClr val="333333"/>
                </a:solidFill>
                <a:effectLst/>
                <a:latin typeface="Helvetica Neue"/>
              </a:rPr>
              <a:t>POWER RAILS:  </a:t>
            </a:r>
            <a:r>
              <a:rPr lang="en-GB" b="0" i="0" dirty="0">
                <a:solidFill>
                  <a:srgbClr val="333333"/>
                </a:solidFill>
                <a:effectLst/>
                <a:latin typeface="Helvetica Neue"/>
              </a:rPr>
              <a:t>breadboards usually have what are called power rails that run along the sides. The metal strips that are identical to the ones in the middle , except they run the fill length of the board. When building a circuit, you tend to need power in lots of different places. The power rails give you lots of easy access to power wherever you need it in your circuit. Usually they will be </a:t>
            </a:r>
            <a:r>
              <a:rPr lang="en-GB" b="0" i="0" dirty="0" err="1">
                <a:solidFill>
                  <a:srgbClr val="333333"/>
                </a:solidFill>
                <a:effectLst/>
                <a:latin typeface="Helvetica Neue"/>
              </a:rPr>
              <a:t>labeled</a:t>
            </a:r>
            <a:r>
              <a:rPr lang="en-GB" b="0" i="0" dirty="0">
                <a:solidFill>
                  <a:srgbClr val="333333"/>
                </a:solidFill>
                <a:effectLst/>
                <a:latin typeface="Helvetica Neue"/>
              </a:rPr>
              <a:t> with a ‘+’ and a ‘-’ and have a </a:t>
            </a:r>
            <a:r>
              <a:rPr lang="en-GB" b="0" i="0" dirty="0">
                <a:solidFill>
                  <a:srgbClr val="FFFFFF"/>
                </a:solidFill>
                <a:effectLst/>
                <a:latin typeface="Helvetica Neue"/>
              </a:rPr>
              <a:t>red</a:t>
            </a:r>
            <a:r>
              <a:rPr lang="en-GB" b="0" i="0" dirty="0">
                <a:solidFill>
                  <a:srgbClr val="333333"/>
                </a:solidFill>
                <a:effectLst/>
                <a:latin typeface="Helvetica Neue"/>
              </a:rPr>
              <a:t> and </a:t>
            </a:r>
            <a:r>
              <a:rPr lang="en-GB" b="0" i="0" dirty="0">
                <a:solidFill>
                  <a:srgbClr val="FFFFFF"/>
                </a:solidFill>
                <a:effectLst/>
                <a:latin typeface="Helvetica Neue"/>
              </a:rPr>
              <a:t>blue</a:t>
            </a:r>
            <a:r>
              <a:rPr lang="en-GB" b="0" i="0" dirty="0">
                <a:solidFill>
                  <a:srgbClr val="333333"/>
                </a:solidFill>
                <a:effectLst/>
                <a:latin typeface="Helvetica Neue"/>
              </a:rPr>
              <a:t> or </a:t>
            </a:r>
            <a:r>
              <a:rPr lang="en-GB" b="0" i="0" dirty="0">
                <a:solidFill>
                  <a:srgbClr val="FFFFFF"/>
                </a:solidFill>
                <a:effectLst/>
                <a:latin typeface="Helvetica Neue"/>
              </a:rPr>
              <a:t>black</a:t>
            </a:r>
            <a:r>
              <a:rPr lang="en-GB" b="0" i="0" dirty="0">
                <a:solidFill>
                  <a:srgbClr val="333333"/>
                </a:solidFill>
                <a:effectLst/>
                <a:latin typeface="Helvetica Neue"/>
              </a:rPr>
              <a:t> stripe, to indicate the positive and negative side.</a:t>
            </a:r>
          </a:p>
          <a:p>
            <a:endParaRPr lang="en-GB" b="0" i="0" dirty="0">
              <a:solidFill>
                <a:srgbClr val="333333"/>
              </a:solidFill>
              <a:effectLst/>
              <a:latin typeface="Helvetica Neue"/>
            </a:endParaRPr>
          </a:p>
          <a:p>
            <a:r>
              <a:rPr lang="en-GB" b="0" i="0" dirty="0">
                <a:solidFill>
                  <a:srgbClr val="333333"/>
                </a:solidFill>
                <a:effectLst/>
                <a:latin typeface="Helvetica Neue"/>
              </a:rPr>
              <a:t>Your breadboard will have </a:t>
            </a:r>
            <a:r>
              <a:rPr lang="en-GB" b="1" i="0" dirty="0">
                <a:solidFill>
                  <a:srgbClr val="333333"/>
                </a:solidFill>
                <a:effectLst/>
                <a:latin typeface="Helvetica Neue"/>
              </a:rPr>
              <a:t>numbers</a:t>
            </a:r>
            <a:r>
              <a:rPr lang="en-GB" b="0" i="0" dirty="0">
                <a:solidFill>
                  <a:srgbClr val="333333"/>
                </a:solidFill>
                <a:effectLst/>
                <a:latin typeface="Helvetica Neue"/>
              </a:rPr>
              <a:t> and </a:t>
            </a:r>
            <a:r>
              <a:rPr lang="en-GB" b="1" i="0" dirty="0">
                <a:solidFill>
                  <a:srgbClr val="333333"/>
                </a:solidFill>
                <a:effectLst/>
                <a:latin typeface="Helvetica Neue"/>
              </a:rPr>
              <a:t>letters</a:t>
            </a:r>
            <a:r>
              <a:rPr lang="en-GB" b="0" i="0" dirty="0">
                <a:solidFill>
                  <a:srgbClr val="333333"/>
                </a:solidFill>
                <a:effectLst/>
                <a:latin typeface="Helvetica Neue"/>
              </a:rPr>
              <a:t> marked on various rows and columns. Circuits can get complicated so this helps guide you when building your circuit</a:t>
            </a:r>
          </a:p>
          <a:p>
            <a:endParaRPr lang="en-GB" b="0" i="0" dirty="0">
              <a:solidFill>
                <a:srgbClr val="333333"/>
              </a:solidFill>
              <a:effectLst/>
              <a:latin typeface="Helvetica Neue"/>
            </a:endParaRPr>
          </a:p>
          <a:p>
            <a:endParaRPr lang="en-GB" b="0" i="0" dirty="0">
              <a:solidFill>
                <a:srgbClr val="333333"/>
              </a:solidFill>
              <a:effectLst/>
              <a:latin typeface="Helvetica Neue"/>
            </a:endParaRPr>
          </a:p>
          <a:p>
            <a:endParaRPr lang="en-IE" dirty="0"/>
          </a:p>
        </p:txBody>
      </p:sp>
      <p:sp>
        <p:nvSpPr>
          <p:cNvPr id="4" name="Slide Number Placeholder 3"/>
          <p:cNvSpPr>
            <a:spLocks noGrp="1"/>
          </p:cNvSpPr>
          <p:nvPr>
            <p:ph type="sldNum" sz="quarter" idx="5"/>
          </p:nvPr>
        </p:nvSpPr>
        <p:spPr/>
        <p:txBody>
          <a:bodyPr/>
          <a:lstStyle/>
          <a:p>
            <a:fld id="{5346ADC4-7272-4738-B78D-8EDA1D308FEF}" type="slidenum">
              <a:rPr lang="en-IE" smtClean="0"/>
              <a:t>10</a:t>
            </a:fld>
            <a:endParaRPr lang="en-IE"/>
          </a:p>
        </p:txBody>
      </p:sp>
    </p:spTree>
    <p:extLst>
      <p:ext uri="{BB962C8B-B14F-4D97-AF65-F5344CB8AC3E}">
        <p14:creationId xmlns:p14="http://schemas.microsoft.com/office/powerpoint/2010/main" val="2358107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A1A1A"/>
                </a:solidFill>
                <a:effectLst/>
                <a:latin typeface="Merriweather"/>
              </a:rPr>
              <a:t>permit the flow of electricity in one direction, and block it in the other direction. Because of this, they can only be placed in a circuit in one direction. </a:t>
            </a:r>
            <a:r>
              <a:rPr lang="en-GB" b="1" i="0" dirty="0">
                <a:solidFill>
                  <a:srgbClr val="1A1A1A"/>
                </a:solidFill>
                <a:effectLst/>
                <a:latin typeface="Merriweather"/>
              </a:rPr>
              <a:t>Light-Emitting Diodes</a:t>
            </a:r>
            <a:r>
              <a:rPr lang="en-GB" b="0" i="0" dirty="0">
                <a:solidFill>
                  <a:srgbClr val="1A1A1A"/>
                </a:solidFill>
                <a:effectLst/>
                <a:latin typeface="Merriweather"/>
              </a:rPr>
              <a:t> (LED’s) are special types of diodes which emit light when current flows through them</a:t>
            </a:r>
            <a:endParaRPr lang="en-IE" dirty="0"/>
          </a:p>
        </p:txBody>
      </p:sp>
      <p:sp>
        <p:nvSpPr>
          <p:cNvPr id="4" name="Slide Number Placeholder 3"/>
          <p:cNvSpPr>
            <a:spLocks noGrp="1"/>
          </p:cNvSpPr>
          <p:nvPr>
            <p:ph type="sldNum" sz="quarter" idx="5"/>
          </p:nvPr>
        </p:nvSpPr>
        <p:spPr/>
        <p:txBody>
          <a:bodyPr/>
          <a:lstStyle/>
          <a:p>
            <a:fld id="{5346ADC4-7272-4738-B78D-8EDA1D308FEF}" type="slidenum">
              <a:rPr lang="en-IE" smtClean="0"/>
              <a:t>11</a:t>
            </a:fld>
            <a:endParaRPr lang="en-IE"/>
          </a:p>
        </p:txBody>
      </p:sp>
    </p:spTree>
    <p:extLst>
      <p:ext uri="{BB962C8B-B14F-4D97-AF65-F5344CB8AC3E}">
        <p14:creationId xmlns:p14="http://schemas.microsoft.com/office/powerpoint/2010/main" val="3043496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A1A1A"/>
                </a:solidFill>
                <a:effectLst/>
                <a:latin typeface="Merriweather"/>
              </a:rPr>
              <a:t>resist, but do not totally block, the flow of electricity. They are used to control the flow of current. Current can move either way through a resistor, so it doesn’t matter which way they’re connected in a circuit.</a:t>
            </a:r>
            <a:endParaRPr lang="en-IE" dirty="0"/>
          </a:p>
        </p:txBody>
      </p:sp>
      <p:sp>
        <p:nvSpPr>
          <p:cNvPr id="4" name="Slide Number Placeholder 3"/>
          <p:cNvSpPr>
            <a:spLocks noGrp="1"/>
          </p:cNvSpPr>
          <p:nvPr>
            <p:ph type="sldNum" sz="quarter" idx="5"/>
          </p:nvPr>
        </p:nvSpPr>
        <p:spPr/>
        <p:txBody>
          <a:bodyPr/>
          <a:lstStyle/>
          <a:p>
            <a:fld id="{5346ADC4-7272-4738-B78D-8EDA1D308FEF}" type="slidenum">
              <a:rPr lang="en-IE" smtClean="0"/>
              <a:t>12</a:t>
            </a:fld>
            <a:endParaRPr lang="en-IE"/>
          </a:p>
        </p:txBody>
      </p:sp>
    </p:spTree>
    <p:extLst>
      <p:ext uri="{BB962C8B-B14F-4D97-AF65-F5344CB8AC3E}">
        <p14:creationId xmlns:p14="http://schemas.microsoft.com/office/powerpoint/2010/main" val="1964220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346ADC4-7272-4738-B78D-8EDA1D308FEF}" type="slidenum">
              <a:rPr lang="en-IE" smtClean="0"/>
              <a:t>17</a:t>
            </a:fld>
            <a:endParaRPr lang="en-IE"/>
          </a:p>
        </p:txBody>
      </p:sp>
    </p:spTree>
    <p:extLst>
      <p:ext uri="{BB962C8B-B14F-4D97-AF65-F5344CB8AC3E}">
        <p14:creationId xmlns:p14="http://schemas.microsoft.com/office/powerpoint/2010/main" val="3039678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4AF96-58C7-4ACA-995D-3B895D7517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3F511B0B-3767-4079-B6FA-A4983A02F2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F6980199-C9D3-4B38-8BB3-8FF6E81D603E}"/>
              </a:ext>
            </a:extLst>
          </p:cNvPr>
          <p:cNvSpPr>
            <a:spLocks noGrp="1"/>
          </p:cNvSpPr>
          <p:nvPr>
            <p:ph type="dt" sz="half" idx="10"/>
          </p:nvPr>
        </p:nvSpPr>
        <p:spPr/>
        <p:txBody>
          <a:bodyPr/>
          <a:lstStyle/>
          <a:p>
            <a:fld id="{8981E671-A24B-4219-83A0-F7E354B9FD85}" type="datetimeFigureOut">
              <a:rPr lang="en-IE" smtClean="0"/>
              <a:t>09/11/2022</a:t>
            </a:fld>
            <a:endParaRPr lang="en-IE"/>
          </a:p>
        </p:txBody>
      </p:sp>
      <p:sp>
        <p:nvSpPr>
          <p:cNvPr id="5" name="Footer Placeholder 4">
            <a:extLst>
              <a:ext uri="{FF2B5EF4-FFF2-40B4-BE49-F238E27FC236}">
                <a16:creationId xmlns:a16="http://schemas.microsoft.com/office/drawing/2014/main" id="{037B525C-751C-4948-A92F-BEBCAB4F8FDA}"/>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1464A30C-76E2-4AB1-B1A8-4F7242930B0F}"/>
              </a:ext>
            </a:extLst>
          </p:cNvPr>
          <p:cNvSpPr>
            <a:spLocks noGrp="1"/>
          </p:cNvSpPr>
          <p:nvPr>
            <p:ph type="sldNum" sz="quarter" idx="12"/>
          </p:nvPr>
        </p:nvSpPr>
        <p:spPr/>
        <p:txBody>
          <a:bodyPr/>
          <a:lstStyle/>
          <a:p>
            <a:fld id="{A57A4033-74EE-4860-9ABD-E537236FD2D9}" type="slidenum">
              <a:rPr lang="en-IE" smtClean="0"/>
              <a:t>‹#›</a:t>
            </a:fld>
            <a:endParaRPr lang="en-IE"/>
          </a:p>
        </p:txBody>
      </p:sp>
    </p:spTree>
    <p:extLst>
      <p:ext uri="{BB962C8B-B14F-4D97-AF65-F5344CB8AC3E}">
        <p14:creationId xmlns:p14="http://schemas.microsoft.com/office/powerpoint/2010/main" val="2891979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B593E-DB81-4BF1-8908-F762AF0A1399}"/>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302C58BE-EE93-48E6-B13C-8D9D9C9C8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CD8F8EA-BF8A-42F5-90F4-F2357C471D1D}"/>
              </a:ext>
            </a:extLst>
          </p:cNvPr>
          <p:cNvSpPr>
            <a:spLocks noGrp="1"/>
          </p:cNvSpPr>
          <p:nvPr>
            <p:ph type="dt" sz="half" idx="10"/>
          </p:nvPr>
        </p:nvSpPr>
        <p:spPr/>
        <p:txBody>
          <a:bodyPr/>
          <a:lstStyle/>
          <a:p>
            <a:fld id="{8981E671-A24B-4219-83A0-F7E354B9FD85}" type="datetimeFigureOut">
              <a:rPr lang="en-IE" smtClean="0"/>
              <a:t>09/11/2022</a:t>
            </a:fld>
            <a:endParaRPr lang="en-IE"/>
          </a:p>
        </p:txBody>
      </p:sp>
      <p:sp>
        <p:nvSpPr>
          <p:cNvPr id="5" name="Footer Placeholder 4">
            <a:extLst>
              <a:ext uri="{FF2B5EF4-FFF2-40B4-BE49-F238E27FC236}">
                <a16:creationId xmlns:a16="http://schemas.microsoft.com/office/drawing/2014/main" id="{6B03E6DA-2728-4569-AAC4-A67ACF5C79B0}"/>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EE426DB-3B71-4E17-B4FB-A0C0A5E963E6}"/>
              </a:ext>
            </a:extLst>
          </p:cNvPr>
          <p:cNvSpPr>
            <a:spLocks noGrp="1"/>
          </p:cNvSpPr>
          <p:nvPr>
            <p:ph type="sldNum" sz="quarter" idx="12"/>
          </p:nvPr>
        </p:nvSpPr>
        <p:spPr/>
        <p:txBody>
          <a:bodyPr/>
          <a:lstStyle/>
          <a:p>
            <a:fld id="{A57A4033-74EE-4860-9ABD-E537236FD2D9}" type="slidenum">
              <a:rPr lang="en-IE" smtClean="0"/>
              <a:t>‹#›</a:t>
            </a:fld>
            <a:endParaRPr lang="en-IE"/>
          </a:p>
        </p:txBody>
      </p:sp>
    </p:spTree>
    <p:extLst>
      <p:ext uri="{BB962C8B-B14F-4D97-AF65-F5344CB8AC3E}">
        <p14:creationId xmlns:p14="http://schemas.microsoft.com/office/powerpoint/2010/main" val="2853162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EFC3E-E53B-4305-9FE1-51A11765B1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F359C2C5-6E1A-40BE-818D-35EFB49A8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F059EF-0144-4C3B-9E65-8C6539EF0A15}"/>
              </a:ext>
            </a:extLst>
          </p:cNvPr>
          <p:cNvSpPr>
            <a:spLocks noGrp="1"/>
          </p:cNvSpPr>
          <p:nvPr>
            <p:ph type="dt" sz="half" idx="10"/>
          </p:nvPr>
        </p:nvSpPr>
        <p:spPr/>
        <p:txBody>
          <a:bodyPr/>
          <a:lstStyle/>
          <a:p>
            <a:fld id="{8981E671-A24B-4219-83A0-F7E354B9FD85}" type="datetimeFigureOut">
              <a:rPr lang="en-IE" smtClean="0"/>
              <a:t>09/11/2022</a:t>
            </a:fld>
            <a:endParaRPr lang="en-IE"/>
          </a:p>
        </p:txBody>
      </p:sp>
      <p:sp>
        <p:nvSpPr>
          <p:cNvPr id="5" name="Footer Placeholder 4">
            <a:extLst>
              <a:ext uri="{FF2B5EF4-FFF2-40B4-BE49-F238E27FC236}">
                <a16:creationId xmlns:a16="http://schemas.microsoft.com/office/drawing/2014/main" id="{A1BF782A-E4E8-4CB1-BF79-694508D7CB10}"/>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65A294E7-8C2B-42CB-B2BF-520E832E7C69}"/>
              </a:ext>
            </a:extLst>
          </p:cNvPr>
          <p:cNvSpPr>
            <a:spLocks noGrp="1"/>
          </p:cNvSpPr>
          <p:nvPr>
            <p:ph type="sldNum" sz="quarter" idx="12"/>
          </p:nvPr>
        </p:nvSpPr>
        <p:spPr/>
        <p:txBody>
          <a:bodyPr/>
          <a:lstStyle/>
          <a:p>
            <a:fld id="{A57A4033-74EE-4860-9ABD-E537236FD2D9}" type="slidenum">
              <a:rPr lang="en-IE" smtClean="0"/>
              <a:t>‹#›</a:t>
            </a:fld>
            <a:endParaRPr lang="en-IE"/>
          </a:p>
        </p:txBody>
      </p:sp>
    </p:spTree>
    <p:extLst>
      <p:ext uri="{BB962C8B-B14F-4D97-AF65-F5344CB8AC3E}">
        <p14:creationId xmlns:p14="http://schemas.microsoft.com/office/powerpoint/2010/main" val="1099198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862C5-6C04-4D46-A9F5-BAE09C4F3822}"/>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35367A8F-0AF1-4476-B03C-35521B6CF9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27AC4057-1188-4ACB-ABBF-BA5FF1AEFC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260D96DF-2D0C-46E5-B424-8C336019C6AB}"/>
              </a:ext>
            </a:extLst>
          </p:cNvPr>
          <p:cNvSpPr>
            <a:spLocks noGrp="1"/>
          </p:cNvSpPr>
          <p:nvPr>
            <p:ph type="dt" sz="half" idx="10"/>
          </p:nvPr>
        </p:nvSpPr>
        <p:spPr/>
        <p:txBody>
          <a:bodyPr/>
          <a:lstStyle/>
          <a:p>
            <a:fld id="{8981E671-A24B-4219-83A0-F7E354B9FD85}" type="datetimeFigureOut">
              <a:rPr lang="en-IE" smtClean="0"/>
              <a:t>09/11/2022</a:t>
            </a:fld>
            <a:endParaRPr lang="en-IE"/>
          </a:p>
        </p:txBody>
      </p:sp>
      <p:sp>
        <p:nvSpPr>
          <p:cNvPr id="6" name="Footer Placeholder 5">
            <a:extLst>
              <a:ext uri="{FF2B5EF4-FFF2-40B4-BE49-F238E27FC236}">
                <a16:creationId xmlns:a16="http://schemas.microsoft.com/office/drawing/2014/main" id="{70CABEBF-742A-47D1-A902-B4A3D91752F4}"/>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8BD59E70-8C6A-4BC2-940A-05D044124D49}"/>
              </a:ext>
            </a:extLst>
          </p:cNvPr>
          <p:cNvSpPr>
            <a:spLocks noGrp="1"/>
          </p:cNvSpPr>
          <p:nvPr>
            <p:ph type="sldNum" sz="quarter" idx="12"/>
          </p:nvPr>
        </p:nvSpPr>
        <p:spPr/>
        <p:txBody>
          <a:bodyPr/>
          <a:lstStyle/>
          <a:p>
            <a:fld id="{A57A4033-74EE-4860-9ABD-E537236FD2D9}" type="slidenum">
              <a:rPr lang="en-IE" smtClean="0"/>
              <a:t>‹#›</a:t>
            </a:fld>
            <a:endParaRPr lang="en-IE"/>
          </a:p>
        </p:txBody>
      </p:sp>
    </p:spTree>
    <p:extLst>
      <p:ext uri="{BB962C8B-B14F-4D97-AF65-F5344CB8AC3E}">
        <p14:creationId xmlns:p14="http://schemas.microsoft.com/office/powerpoint/2010/main" val="3942999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54B88-F174-4B33-A56D-EE5F24CE91E9}"/>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9B39B2DA-D985-48DB-B77A-9957D8765A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43940F-D827-41B5-AE7F-E7C70BC26A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8956EF45-A335-42A8-A809-446CE48865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6040DB-480F-4E8B-9E41-06B25D0253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1FE2CCB3-C6D1-4A6D-92FF-777CA75C7449}"/>
              </a:ext>
            </a:extLst>
          </p:cNvPr>
          <p:cNvSpPr>
            <a:spLocks noGrp="1"/>
          </p:cNvSpPr>
          <p:nvPr>
            <p:ph type="dt" sz="half" idx="10"/>
          </p:nvPr>
        </p:nvSpPr>
        <p:spPr/>
        <p:txBody>
          <a:bodyPr/>
          <a:lstStyle/>
          <a:p>
            <a:fld id="{8981E671-A24B-4219-83A0-F7E354B9FD85}" type="datetimeFigureOut">
              <a:rPr lang="en-IE" smtClean="0"/>
              <a:t>09/11/2022</a:t>
            </a:fld>
            <a:endParaRPr lang="en-IE"/>
          </a:p>
        </p:txBody>
      </p:sp>
      <p:sp>
        <p:nvSpPr>
          <p:cNvPr id="8" name="Footer Placeholder 7">
            <a:extLst>
              <a:ext uri="{FF2B5EF4-FFF2-40B4-BE49-F238E27FC236}">
                <a16:creationId xmlns:a16="http://schemas.microsoft.com/office/drawing/2014/main" id="{8D1AE088-72EC-4275-8903-2EFAA5FD3738}"/>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7EBAC671-36E6-40EF-AD90-47991C4D42E2}"/>
              </a:ext>
            </a:extLst>
          </p:cNvPr>
          <p:cNvSpPr>
            <a:spLocks noGrp="1"/>
          </p:cNvSpPr>
          <p:nvPr>
            <p:ph type="sldNum" sz="quarter" idx="12"/>
          </p:nvPr>
        </p:nvSpPr>
        <p:spPr/>
        <p:txBody>
          <a:bodyPr/>
          <a:lstStyle/>
          <a:p>
            <a:fld id="{A57A4033-74EE-4860-9ABD-E537236FD2D9}" type="slidenum">
              <a:rPr lang="en-IE" smtClean="0"/>
              <a:t>‹#›</a:t>
            </a:fld>
            <a:endParaRPr lang="en-IE"/>
          </a:p>
        </p:txBody>
      </p:sp>
    </p:spTree>
    <p:extLst>
      <p:ext uri="{BB962C8B-B14F-4D97-AF65-F5344CB8AC3E}">
        <p14:creationId xmlns:p14="http://schemas.microsoft.com/office/powerpoint/2010/main" val="1658313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84585-E295-452F-9776-F337A7FDD5A0}"/>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8D40CFFF-9370-4BB5-9181-2799A132EE7C}"/>
              </a:ext>
            </a:extLst>
          </p:cNvPr>
          <p:cNvSpPr>
            <a:spLocks noGrp="1"/>
          </p:cNvSpPr>
          <p:nvPr>
            <p:ph type="dt" sz="half" idx="10"/>
          </p:nvPr>
        </p:nvSpPr>
        <p:spPr/>
        <p:txBody>
          <a:bodyPr/>
          <a:lstStyle/>
          <a:p>
            <a:fld id="{8981E671-A24B-4219-83A0-F7E354B9FD85}" type="datetimeFigureOut">
              <a:rPr lang="en-IE" smtClean="0"/>
              <a:t>09/11/2022</a:t>
            </a:fld>
            <a:endParaRPr lang="en-IE"/>
          </a:p>
        </p:txBody>
      </p:sp>
      <p:sp>
        <p:nvSpPr>
          <p:cNvPr id="4" name="Footer Placeholder 3">
            <a:extLst>
              <a:ext uri="{FF2B5EF4-FFF2-40B4-BE49-F238E27FC236}">
                <a16:creationId xmlns:a16="http://schemas.microsoft.com/office/drawing/2014/main" id="{98219584-67A2-4F2B-84FD-8A71A63C5A63}"/>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3DD7754A-E7A3-416E-9C30-4D04A230F286}"/>
              </a:ext>
            </a:extLst>
          </p:cNvPr>
          <p:cNvSpPr>
            <a:spLocks noGrp="1"/>
          </p:cNvSpPr>
          <p:nvPr>
            <p:ph type="sldNum" sz="quarter" idx="12"/>
          </p:nvPr>
        </p:nvSpPr>
        <p:spPr/>
        <p:txBody>
          <a:bodyPr/>
          <a:lstStyle/>
          <a:p>
            <a:fld id="{A57A4033-74EE-4860-9ABD-E537236FD2D9}" type="slidenum">
              <a:rPr lang="en-IE" smtClean="0"/>
              <a:t>‹#›</a:t>
            </a:fld>
            <a:endParaRPr lang="en-IE"/>
          </a:p>
        </p:txBody>
      </p:sp>
    </p:spTree>
    <p:extLst>
      <p:ext uri="{BB962C8B-B14F-4D97-AF65-F5344CB8AC3E}">
        <p14:creationId xmlns:p14="http://schemas.microsoft.com/office/powerpoint/2010/main" val="383894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E3BFA2-DF40-4217-83BE-E961DBC5E188}"/>
              </a:ext>
            </a:extLst>
          </p:cNvPr>
          <p:cNvSpPr>
            <a:spLocks noGrp="1"/>
          </p:cNvSpPr>
          <p:nvPr>
            <p:ph type="dt" sz="half" idx="10"/>
          </p:nvPr>
        </p:nvSpPr>
        <p:spPr/>
        <p:txBody>
          <a:bodyPr/>
          <a:lstStyle/>
          <a:p>
            <a:fld id="{8981E671-A24B-4219-83A0-F7E354B9FD85}" type="datetimeFigureOut">
              <a:rPr lang="en-IE" smtClean="0"/>
              <a:t>09/11/2022</a:t>
            </a:fld>
            <a:endParaRPr lang="en-IE"/>
          </a:p>
        </p:txBody>
      </p:sp>
      <p:sp>
        <p:nvSpPr>
          <p:cNvPr id="3" name="Footer Placeholder 2">
            <a:extLst>
              <a:ext uri="{FF2B5EF4-FFF2-40B4-BE49-F238E27FC236}">
                <a16:creationId xmlns:a16="http://schemas.microsoft.com/office/drawing/2014/main" id="{D1386B9D-F353-4159-A7C8-5FC9665B8150}"/>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ECCF89C4-F1C0-42DD-A512-8A6763D963BE}"/>
              </a:ext>
            </a:extLst>
          </p:cNvPr>
          <p:cNvSpPr>
            <a:spLocks noGrp="1"/>
          </p:cNvSpPr>
          <p:nvPr>
            <p:ph type="sldNum" sz="quarter" idx="12"/>
          </p:nvPr>
        </p:nvSpPr>
        <p:spPr/>
        <p:txBody>
          <a:bodyPr/>
          <a:lstStyle/>
          <a:p>
            <a:fld id="{A57A4033-74EE-4860-9ABD-E537236FD2D9}" type="slidenum">
              <a:rPr lang="en-IE" smtClean="0"/>
              <a:t>‹#›</a:t>
            </a:fld>
            <a:endParaRPr lang="en-IE"/>
          </a:p>
        </p:txBody>
      </p:sp>
    </p:spTree>
    <p:extLst>
      <p:ext uri="{BB962C8B-B14F-4D97-AF65-F5344CB8AC3E}">
        <p14:creationId xmlns:p14="http://schemas.microsoft.com/office/powerpoint/2010/main" val="2584394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9E791-047E-4DD9-A366-E399C6BD7C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FF1CBD07-4E89-40E1-9888-20BFB68E44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63675D35-6E3D-46E7-892C-D0AC7D3B97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8217D1-C678-4461-BC3A-F9C485DD1E0B}"/>
              </a:ext>
            </a:extLst>
          </p:cNvPr>
          <p:cNvSpPr>
            <a:spLocks noGrp="1"/>
          </p:cNvSpPr>
          <p:nvPr>
            <p:ph type="dt" sz="half" idx="10"/>
          </p:nvPr>
        </p:nvSpPr>
        <p:spPr/>
        <p:txBody>
          <a:bodyPr/>
          <a:lstStyle/>
          <a:p>
            <a:fld id="{8981E671-A24B-4219-83A0-F7E354B9FD85}" type="datetimeFigureOut">
              <a:rPr lang="en-IE" smtClean="0"/>
              <a:t>09/11/2022</a:t>
            </a:fld>
            <a:endParaRPr lang="en-IE"/>
          </a:p>
        </p:txBody>
      </p:sp>
      <p:sp>
        <p:nvSpPr>
          <p:cNvPr id="6" name="Footer Placeholder 5">
            <a:extLst>
              <a:ext uri="{FF2B5EF4-FFF2-40B4-BE49-F238E27FC236}">
                <a16:creationId xmlns:a16="http://schemas.microsoft.com/office/drawing/2014/main" id="{B7DBC29A-C76B-4490-93AE-DA0517E8D510}"/>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B5451FCE-D071-4306-9785-E14F9D9DB039}"/>
              </a:ext>
            </a:extLst>
          </p:cNvPr>
          <p:cNvSpPr>
            <a:spLocks noGrp="1"/>
          </p:cNvSpPr>
          <p:nvPr>
            <p:ph type="sldNum" sz="quarter" idx="12"/>
          </p:nvPr>
        </p:nvSpPr>
        <p:spPr/>
        <p:txBody>
          <a:bodyPr/>
          <a:lstStyle/>
          <a:p>
            <a:fld id="{A57A4033-74EE-4860-9ABD-E537236FD2D9}" type="slidenum">
              <a:rPr lang="en-IE" smtClean="0"/>
              <a:t>‹#›</a:t>
            </a:fld>
            <a:endParaRPr lang="en-IE"/>
          </a:p>
        </p:txBody>
      </p:sp>
    </p:spTree>
    <p:extLst>
      <p:ext uri="{BB962C8B-B14F-4D97-AF65-F5344CB8AC3E}">
        <p14:creationId xmlns:p14="http://schemas.microsoft.com/office/powerpoint/2010/main" val="1857340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B593F-4602-4B78-85E9-197D8484E3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2EDD51EA-299D-4BB6-82F4-22CDA1250A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609F21C6-F531-4561-BB0B-D776F96ADE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EB2893-D49F-434B-A5DF-28EE85401F33}"/>
              </a:ext>
            </a:extLst>
          </p:cNvPr>
          <p:cNvSpPr>
            <a:spLocks noGrp="1"/>
          </p:cNvSpPr>
          <p:nvPr>
            <p:ph type="dt" sz="half" idx="10"/>
          </p:nvPr>
        </p:nvSpPr>
        <p:spPr/>
        <p:txBody>
          <a:bodyPr/>
          <a:lstStyle/>
          <a:p>
            <a:fld id="{8981E671-A24B-4219-83A0-F7E354B9FD85}" type="datetimeFigureOut">
              <a:rPr lang="en-IE" smtClean="0"/>
              <a:t>09/11/2022</a:t>
            </a:fld>
            <a:endParaRPr lang="en-IE"/>
          </a:p>
        </p:txBody>
      </p:sp>
      <p:sp>
        <p:nvSpPr>
          <p:cNvPr id="6" name="Footer Placeholder 5">
            <a:extLst>
              <a:ext uri="{FF2B5EF4-FFF2-40B4-BE49-F238E27FC236}">
                <a16:creationId xmlns:a16="http://schemas.microsoft.com/office/drawing/2014/main" id="{885257DC-2E0D-4D2C-8A0B-162F9C0415F1}"/>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CCE0362C-5E6A-4771-94B7-E42582420850}"/>
              </a:ext>
            </a:extLst>
          </p:cNvPr>
          <p:cNvSpPr>
            <a:spLocks noGrp="1"/>
          </p:cNvSpPr>
          <p:nvPr>
            <p:ph type="sldNum" sz="quarter" idx="12"/>
          </p:nvPr>
        </p:nvSpPr>
        <p:spPr/>
        <p:txBody>
          <a:bodyPr/>
          <a:lstStyle/>
          <a:p>
            <a:fld id="{A57A4033-74EE-4860-9ABD-E537236FD2D9}" type="slidenum">
              <a:rPr lang="en-IE" smtClean="0"/>
              <a:t>‹#›</a:t>
            </a:fld>
            <a:endParaRPr lang="en-IE"/>
          </a:p>
        </p:txBody>
      </p:sp>
    </p:spTree>
    <p:extLst>
      <p:ext uri="{BB962C8B-B14F-4D97-AF65-F5344CB8AC3E}">
        <p14:creationId xmlns:p14="http://schemas.microsoft.com/office/powerpoint/2010/main" val="2817551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AD7BA-1A4C-4D79-84BD-3713DECE7841}"/>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76EDDB26-AF47-41E7-932E-8E58B2829A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9F0A59AF-92C6-4319-967E-C2AEC39C4565}"/>
              </a:ext>
            </a:extLst>
          </p:cNvPr>
          <p:cNvSpPr>
            <a:spLocks noGrp="1"/>
          </p:cNvSpPr>
          <p:nvPr>
            <p:ph type="dt" sz="half" idx="10"/>
          </p:nvPr>
        </p:nvSpPr>
        <p:spPr/>
        <p:txBody>
          <a:bodyPr/>
          <a:lstStyle/>
          <a:p>
            <a:fld id="{8981E671-A24B-4219-83A0-F7E354B9FD85}" type="datetimeFigureOut">
              <a:rPr lang="en-IE" smtClean="0"/>
              <a:t>09/11/2022</a:t>
            </a:fld>
            <a:endParaRPr lang="en-IE"/>
          </a:p>
        </p:txBody>
      </p:sp>
      <p:sp>
        <p:nvSpPr>
          <p:cNvPr id="5" name="Footer Placeholder 4">
            <a:extLst>
              <a:ext uri="{FF2B5EF4-FFF2-40B4-BE49-F238E27FC236}">
                <a16:creationId xmlns:a16="http://schemas.microsoft.com/office/drawing/2014/main" id="{C012BA0F-B9CF-42EC-AE93-5781B318E792}"/>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6E9CFD5-A7AC-4DC0-8046-68427925A1E4}"/>
              </a:ext>
            </a:extLst>
          </p:cNvPr>
          <p:cNvSpPr>
            <a:spLocks noGrp="1"/>
          </p:cNvSpPr>
          <p:nvPr>
            <p:ph type="sldNum" sz="quarter" idx="12"/>
          </p:nvPr>
        </p:nvSpPr>
        <p:spPr/>
        <p:txBody>
          <a:bodyPr/>
          <a:lstStyle/>
          <a:p>
            <a:fld id="{A57A4033-74EE-4860-9ABD-E537236FD2D9}" type="slidenum">
              <a:rPr lang="en-IE" smtClean="0"/>
              <a:t>‹#›</a:t>
            </a:fld>
            <a:endParaRPr lang="en-IE"/>
          </a:p>
        </p:txBody>
      </p:sp>
    </p:spTree>
    <p:extLst>
      <p:ext uri="{BB962C8B-B14F-4D97-AF65-F5344CB8AC3E}">
        <p14:creationId xmlns:p14="http://schemas.microsoft.com/office/powerpoint/2010/main" val="23979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0602E2-3F4C-4E78-B978-8C22601F0EF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EDBC1A1C-7396-4311-9699-2C61C8AC2F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FFDDC38-2212-4405-963A-1546014570DF}"/>
              </a:ext>
            </a:extLst>
          </p:cNvPr>
          <p:cNvSpPr>
            <a:spLocks noGrp="1"/>
          </p:cNvSpPr>
          <p:nvPr>
            <p:ph type="dt" sz="half" idx="10"/>
          </p:nvPr>
        </p:nvSpPr>
        <p:spPr/>
        <p:txBody>
          <a:bodyPr/>
          <a:lstStyle/>
          <a:p>
            <a:fld id="{8981E671-A24B-4219-83A0-F7E354B9FD85}" type="datetimeFigureOut">
              <a:rPr lang="en-IE" smtClean="0"/>
              <a:t>09/11/2022</a:t>
            </a:fld>
            <a:endParaRPr lang="en-IE"/>
          </a:p>
        </p:txBody>
      </p:sp>
      <p:sp>
        <p:nvSpPr>
          <p:cNvPr id="5" name="Footer Placeholder 4">
            <a:extLst>
              <a:ext uri="{FF2B5EF4-FFF2-40B4-BE49-F238E27FC236}">
                <a16:creationId xmlns:a16="http://schemas.microsoft.com/office/drawing/2014/main" id="{A8428B00-5BC5-4B26-81EC-EB07E58A355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8F2E1BC-1218-49B7-BE80-89102BAF02B3}"/>
              </a:ext>
            </a:extLst>
          </p:cNvPr>
          <p:cNvSpPr>
            <a:spLocks noGrp="1"/>
          </p:cNvSpPr>
          <p:nvPr>
            <p:ph type="sldNum" sz="quarter" idx="12"/>
          </p:nvPr>
        </p:nvSpPr>
        <p:spPr/>
        <p:txBody>
          <a:bodyPr/>
          <a:lstStyle/>
          <a:p>
            <a:fld id="{A57A4033-74EE-4860-9ABD-E537236FD2D9}" type="slidenum">
              <a:rPr lang="en-IE" smtClean="0"/>
              <a:t>‹#›</a:t>
            </a:fld>
            <a:endParaRPr lang="en-IE"/>
          </a:p>
        </p:txBody>
      </p:sp>
    </p:spTree>
    <p:extLst>
      <p:ext uri="{BB962C8B-B14F-4D97-AF65-F5344CB8AC3E}">
        <p14:creationId xmlns:p14="http://schemas.microsoft.com/office/powerpoint/2010/main" val="548367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F2F67E-5E77-4630-B3F3-78D1020B7A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426B884A-EF37-4821-8D54-69C34839B2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F0AF2C5D-6BA4-4E99-9337-BC03E98A2C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81E671-A24B-4219-83A0-F7E354B9FD85}" type="datetimeFigureOut">
              <a:rPr lang="en-IE" smtClean="0"/>
              <a:t>09/11/2022</a:t>
            </a:fld>
            <a:endParaRPr lang="en-IE"/>
          </a:p>
        </p:txBody>
      </p:sp>
      <p:sp>
        <p:nvSpPr>
          <p:cNvPr id="5" name="Footer Placeholder 4">
            <a:extLst>
              <a:ext uri="{FF2B5EF4-FFF2-40B4-BE49-F238E27FC236}">
                <a16:creationId xmlns:a16="http://schemas.microsoft.com/office/drawing/2014/main" id="{6E5D082F-0843-436F-A18C-8CCE05DF2A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73D11FE9-1B6E-4F2E-8C3E-4AFCC9844C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A4033-74EE-4860-9ABD-E537236FD2D9}" type="slidenum">
              <a:rPr lang="en-IE" smtClean="0"/>
              <a:t>‹#›</a:t>
            </a:fld>
            <a:endParaRPr lang="en-IE"/>
          </a:p>
        </p:txBody>
      </p:sp>
    </p:spTree>
    <p:extLst>
      <p:ext uri="{BB962C8B-B14F-4D97-AF65-F5344CB8AC3E}">
        <p14:creationId xmlns:p14="http://schemas.microsoft.com/office/powerpoint/2010/main" val="1094445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wikipedia.org/wiki/Physical_computing"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forprimarykids.blogspot.com/2018/04/natural-science-6th-electricity-and.htm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hyperlink" Target="https://electronics.stackexchange.com/questions/339426/short-circuit-vs-complete-circuit" TargetMode="Externa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hyperlink" Target="https://creativecommons.org/licenses/by-sa/3.0/" TargetMode="External"/><Relationship Id="rId5" Type="http://schemas.openxmlformats.org/officeDocument/2006/relationships/hyperlink" Target="https://opensource.com/community/15/11/2015-open-source-holiday-gift-guide" TargetMode="Externa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customXml" Target="../ink/ink1.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en.wikipedia.org/wiki/LED_circuit"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creativecommons.org/licenses/by-sa/3.0/" TargetMode="External"/><Relationship Id="rId3" Type="http://schemas.openxmlformats.org/officeDocument/2006/relationships/image" Target="../media/image18.jpg"/><Relationship Id="rId7" Type="http://schemas.openxmlformats.org/officeDocument/2006/relationships/hyperlink" Target="http://electronics.stackexchange.com/questions/271067/schematic-layout-for-inline-and-pull-up-down-resistor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hyperlink" Target="https://en.wikipedia.org/wiki/Resistor"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electronics.stackexchange.com/questions/310650/types-of-push-button-mechanisms" TargetMode="External"/><Relationship Id="rId2" Type="http://schemas.openxmlformats.org/officeDocument/2006/relationships/image" Target="../media/image21.jpg"/><Relationship Id="rId1" Type="http://schemas.openxmlformats.org/officeDocument/2006/relationships/slideLayout" Target="../slideLayouts/slideLayout2.xml"/><Relationship Id="rId5" Type="http://schemas.openxmlformats.org/officeDocument/2006/relationships/hyperlink" Target="https://en.wikipedia.org/wiki/Push_switch" TargetMode="Externa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learn.sparkfun.com/tutorials/how-to-read-a-schematic/al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www.soriki.com/tfssa/index.php?title=Physics_35.1-35.4:_Circuits,_Series_and_Parallel" TargetMode="External"/><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60.png"/><Relationship Id="rId13" Type="http://schemas.openxmlformats.org/officeDocument/2006/relationships/customXml" Target="../ink/ink6.xml"/><Relationship Id="rId18" Type="http://schemas.openxmlformats.org/officeDocument/2006/relationships/image" Target="../media/image31.png"/><Relationship Id="rId26" Type="http://schemas.openxmlformats.org/officeDocument/2006/relationships/image" Target="../media/image35.png"/><Relationship Id="rId3" Type="http://schemas.openxmlformats.org/officeDocument/2006/relationships/image" Target="../media/image26.png"/><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28.png"/><Relationship Id="rId17" Type="http://schemas.openxmlformats.org/officeDocument/2006/relationships/customXml" Target="../ink/ink8.xml"/><Relationship Id="rId25" Type="http://schemas.openxmlformats.org/officeDocument/2006/relationships/customXml" Target="../ink/ink12.xml"/><Relationship Id="rId2" Type="http://schemas.openxmlformats.org/officeDocument/2006/relationships/notesSlide" Target="../notesSlides/notesSlide10.xml"/><Relationship Id="rId16" Type="http://schemas.openxmlformats.org/officeDocument/2006/relationships/image" Target="../media/image30.png"/><Relationship Id="rId20"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250.png"/><Relationship Id="rId11" Type="http://schemas.openxmlformats.org/officeDocument/2006/relationships/customXml" Target="../ink/ink5.xml"/><Relationship Id="rId24" Type="http://schemas.openxmlformats.org/officeDocument/2006/relationships/image" Target="../media/image34.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36.png"/><Relationship Id="rId10" Type="http://schemas.openxmlformats.org/officeDocument/2006/relationships/image" Target="../media/image270.png"/><Relationship Id="rId19" Type="http://schemas.openxmlformats.org/officeDocument/2006/relationships/customXml" Target="../ink/ink9.xml"/><Relationship Id="rId4" Type="http://schemas.openxmlformats.org/officeDocument/2006/relationships/image" Target="../media/image27.png"/><Relationship Id="rId9" Type="http://schemas.openxmlformats.org/officeDocument/2006/relationships/customXml" Target="../ink/ink4.xml"/><Relationship Id="rId14" Type="http://schemas.openxmlformats.org/officeDocument/2006/relationships/image" Target="../media/image29.png"/><Relationship Id="rId22" Type="http://schemas.openxmlformats.org/officeDocument/2006/relationships/image" Target="../media/image33.png"/><Relationship Id="rId27" Type="http://schemas.openxmlformats.org/officeDocument/2006/relationships/customXml" Target="../ink/ink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gpiozero.readthedocs.io/en/stable/"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EE94D8D-BC47-413E-91AB-A2FCCE172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284A8429-F65A-490D-96E4-1158D3E8A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41771"/>
            <a:ext cx="10515599" cy="822960"/>
          </a:xfrm>
          <a:prstGeom prst="rect">
            <a:avLst/>
          </a:prstGeom>
          <a:ln w="12700">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F022291-A82B-4D23-A1E0-5F9BD6846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41136" y="5905709"/>
            <a:ext cx="109728"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descr="Diagram&#10;&#10;Description automatically generated">
            <a:extLst>
              <a:ext uri="{FF2B5EF4-FFF2-40B4-BE49-F238E27FC236}">
                <a16:creationId xmlns:a16="http://schemas.microsoft.com/office/drawing/2014/main" id="{E591D153-9D15-47F4-8365-9B79D51C4F6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66800" y="279400"/>
            <a:ext cx="10007600" cy="3873500"/>
          </a:xfrm>
          <a:prstGeom prst="rect">
            <a:avLst/>
          </a:prstGeom>
        </p:spPr>
      </p:pic>
      <p:sp>
        <p:nvSpPr>
          <p:cNvPr id="2" name="Title 1">
            <a:extLst>
              <a:ext uri="{FF2B5EF4-FFF2-40B4-BE49-F238E27FC236}">
                <a16:creationId xmlns:a16="http://schemas.microsoft.com/office/drawing/2014/main" id="{60F89C1C-1528-47A7-85A4-92F79D86C129}"/>
              </a:ext>
            </a:extLst>
          </p:cNvPr>
          <p:cNvSpPr>
            <a:spLocks noGrp="1"/>
          </p:cNvSpPr>
          <p:nvPr>
            <p:ph type="ctrTitle"/>
          </p:nvPr>
        </p:nvSpPr>
        <p:spPr>
          <a:xfrm>
            <a:off x="838200" y="4271749"/>
            <a:ext cx="10515600" cy="1092050"/>
          </a:xfrm>
        </p:spPr>
        <p:txBody>
          <a:bodyPr>
            <a:normAutofit/>
          </a:bodyPr>
          <a:lstStyle/>
          <a:p>
            <a:r>
              <a:rPr lang="en-IE" sz="5200"/>
              <a:t>Physical Computing</a:t>
            </a:r>
          </a:p>
        </p:txBody>
      </p:sp>
      <p:sp>
        <p:nvSpPr>
          <p:cNvPr id="3" name="Subtitle 2">
            <a:extLst>
              <a:ext uri="{FF2B5EF4-FFF2-40B4-BE49-F238E27FC236}">
                <a16:creationId xmlns:a16="http://schemas.microsoft.com/office/drawing/2014/main" id="{C3B8D887-392D-4B4B-B66A-73A469FD1FBF}"/>
              </a:ext>
            </a:extLst>
          </p:cNvPr>
          <p:cNvSpPr>
            <a:spLocks noGrp="1"/>
          </p:cNvSpPr>
          <p:nvPr>
            <p:ph type="subTitle" idx="1"/>
          </p:nvPr>
        </p:nvSpPr>
        <p:spPr>
          <a:xfrm>
            <a:off x="1220089" y="5557656"/>
            <a:ext cx="9751823" cy="582612"/>
          </a:xfrm>
        </p:spPr>
        <p:txBody>
          <a:bodyPr anchor="ctr">
            <a:normAutofit/>
          </a:bodyPr>
          <a:lstStyle/>
          <a:p>
            <a:endParaRPr lang="en-IE" dirty="0"/>
          </a:p>
        </p:txBody>
      </p:sp>
    </p:spTree>
    <p:extLst>
      <p:ext uri="{BB962C8B-B14F-4D97-AF65-F5344CB8AC3E}">
        <p14:creationId xmlns:p14="http://schemas.microsoft.com/office/powerpoint/2010/main" val="3774297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9745A-B459-496B-B71C-D3B82A7FE40D}"/>
              </a:ext>
            </a:extLst>
          </p:cNvPr>
          <p:cNvSpPr>
            <a:spLocks noGrp="1"/>
          </p:cNvSpPr>
          <p:nvPr>
            <p:ph type="title"/>
          </p:nvPr>
        </p:nvSpPr>
        <p:spPr/>
        <p:txBody>
          <a:bodyPr/>
          <a:lstStyle/>
          <a:p>
            <a:r>
              <a:rPr lang="en-IE" dirty="0"/>
              <a:t>Agenda</a:t>
            </a:r>
          </a:p>
        </p:txBody>
      </p:sp>
      <p:sp>
        <p:nvSpPr>
          <p:cNvPr id="3" name="Content Placeholder 2">
            <a:extLst>
              <a:ext uri="{FF2B5EF4-FFF2-40B4-BE49-F238E27FC236}">
                <a16:creationId xmlns:a16="http://schemas.microsoft.com/office/drawing/2014/main" id="{C6A2590E-AC2D-4DCE-B7A3-39C8189F20E3}"/>
              </a:ext>
            </a:extLst>
          </p:cNvPr>
          <p:cNvSpPr>
            <a:spLocks noGrp="1"/>
          </p:cNvSpPr>
          <p:nvPr>
            <p:ph idx="1"/>
          </p:nvPr>
        </p:nvSpPr>
        <p:spPr/>
        <p:txBody>
          <a:bodyPr/>
          <a:lstStyle/>
          <a:p>
            <a:r>
              <a:rPr lang="en-IE" dirty="0"/>
              <a:t>Physical Computing</a:t>
            </a:r>
          </a:p>
          <a:p>
            <a:r>
              <a:rPr lang="en-IE" dirty="0"/>
              <a:t>Electricity and Circuits 101</a:t>
            </a:r>
          </a:p>
          <a:p>
            <a:r>
              <a:rPr lang="en-IE" dirty="0"/>
              <a:t>Electronic Components</a:t>
            </a:r>
          </a:p>
          <a:p>
            <a:r>
              <a:rPr lang="en-IE" dirty="0"/>
              <a:t>Programming with the GPIO</a:t>
            </a:r>
          </a:p>
          <a:p>
            <a:r>
              <a:rPr lang="en-IE" dirty="0"/>
              <a:t>Lab Scenario (SMTP)</a:t>
            </a:r>
          </a:p>
          <a:p>
            <a:r>
              <a:rPr lang="en-IE" dirty="0" err="1"/>
              <a:t>PiCamera</a:t>
            </a:r>
            <a:r>
              <a:rPr lang="en-IE" dirty="0"/>
              <a:t> – Images </a:t>
            </a:r>
            <a:r>
              <a:rPr lang="en-IE"/>
              <a:t>and Streaming</a:t>
            </a:r>
            <a:endParaRPr lang="en-IE" dirty="0"/>
          </a:p>
          <a:p>
            <a:endParaRPr lang="en-IE" dirty="0"/>
          </a:p>
          <a:p>
            <a:endParaRPr lang="en-IE" dirty="0"/>
          </a:p>
        </p:txBody>
      </p:sp>
    </p:spTree>
    <p:extLst>
      <p:ext uri="{BB962C8B-B14F-4D97-AF65-F5344CB8AC3E}">
        <p14:creationId xmlns:p14="http://schemas.microsoft.com/office/powerpoint/2010/main" val="2612193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upload.wikimedia.org/wikipedia/commons/a/a1/Phy...">
            <a:extLst>
              <a:ext uri="{FF2B5EF4-FFF2-40B4-BE49-F238E27FC236}">
                <a16:creationId xmlns:a16="http://schemas.microsoft.com/office/drawing/2014/main" id="{32B9F220-6A3D-4207-8118-7846A588E5AE}"/>
              </a:ext>
            </a:extLst>
          </p:cNvPr>
          <p:cNvSpPr>
            <a:spLocks noGrp="1" noChangeAspect="1" noChangeArrowheads="1"/>
          </p:cNvSpPr>
          <p:nvPr>
            <p:ph type="title"/>
          </p:nvPr>
        </p:nvSpPr>
        <p:spPr bwMode="auto">
          <a:xfrm>
            <a:off x="838200" y="405466"/>
            <a:ext cx="10515600" cy="13255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IE" dirty="0"/>
              <a:t>Physical Computing</a:t>
            </a:r>
            <a:br>
              <a:rPr lang="en-IE" dirty="0"/>
            </a:br>
            <a:endParaRPr lang="en-IE" dirty="0"/>
          </a:p>
        </p:txBody>
      </p:sp>
      <p:pic>
        <p:nvPicPr>
          <p:cNvPr id="1030" name="Picture 6" descr="Physical computing">
            <a:extLst>
              <a:ext uri="{FF2B5EF4-FFF2-40B4-BE49-F238E27FC236}">
                <a16:creationId xmlns:a16="http://schemas.microsoft.com/office/drawing/2014/main" id="{9B8871DF-59F2-4630-838F-655A9AA9CD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052303"/>
            <a:ext cx="10515600" cy="41131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0029327-E43B-4DF1-A96A-C7792264A223}"/>
              </a:ext>
            </a:extLst>
          </p:cNvPr>
          <p:cNvSpPr txBox="1"/>
          <p:nvPr/>
        </p:nvSpPr>
        <p:spPr>
          <a:xfrm>
            <a:off x="838200" y="1245335"/>
            <a:ext cx="9152744" cy="369332"/>
          </a:xfrm>
          <a:prstGeom prst="rect">
            <a:avLst/>
          </a:prstGeom>
          <a:noFill/>
        </p:spPr>
        <p:txBody>
          <a:bodyPr wrap="square">
            <a:spAutoFit/>
          </a:bodyPr>
          <a:lstStyle/>
          <a:p>
            <a:r>
              <a:rPr lang="en-GB" b="0" i="1" dirty="0">
                <a:solidFill>
                  <a:srgbClr val="202122"/>
                </a:solidFill>
                <a:effectLst/>
                <a:latin typeface="Arial" panose="020B0604020202020204" pitchFamily="34" charset="0"/>
              </a:rPr>
              <a:t>“A creative framework for understanding human beings' relationship to the world”</a:t>
            </a:r>
            <a:endParaRPr lang="en-IE" i="1" dirty="0"/>
          </a:p>
        </p:txBody>
      </p:sp>
    </p:spTree>
    <p:extLst>
      <p:ext uri="{BB962C8B-B14F-4D97-AF65-F5344CB8AC3E}">
        <p14:creationId xmlns:p14="http://schemas.microsoft.com/office/powerpoint/2010/main" val="3083461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9C3BE-5D88-470A-9C51-C3FB43B77413}"/>
              </a:ext>
            </a:extLst>
          </p:cNvPr>
          <p:cNvSpPr>
            <a:spLocks noGrp="1"/>
          </p:cNvSpPr>
          <p:nvPr>
            <p:ph type="title"/>
          </p:nvPr>
        </p:nvSpPr>
        <p:spPr>
          <a:xfrm>
            <a:off x="838200" y="723578"/>
            <a:ext cx="4595071" cy="1645501"/>
          </a:xfrm>
        </p:spPr>
        <p:txBody>
          <a:bodyPr>
            <a:normAutofit/>
          </a:bodyPr>
          <a:lstStyle/>
          <a:p>
            <a:r>
              <a:rPr lang="en-IE"/>
              <a:t>Physical Computing</a:t>
            </a:r>
          </a:p>
        </p:txBody>
      </p:sp>
      <p:sp>
        <p:nvSpPr>
          <p:cNvPr id="3" name="Content Placeholder 2">
            <a:extLst>
              <a:ext uri="{FF2B5EF4-FFF2-40B4-BE49-F238E27FC236}">
                <a16:creationId xmlns:a16="http://schemas.microsoft.com/office/drawing/2014/main" id="{E2D83EA1-3919-427D-95F9-D5DD69C36C50}"/>
              </a:ext>
            </a:extLst>
          </p:cNvPr>
          <p:cNvSpPr>
            <a:spLocks noGrp="1"/>
          </p:cNvSpPr>
          <p:nvPr>
            <p:ph idx="1"/>
          </p:nvPr>
        </p:nvSpPr>
        <p:spPr>
          <a:xfrm>
            <a:off x="838200" y="2548467"/>
            <a:ext cx="4595071" cy="3628495"/>
          </a:xfrm>
        </p:spPr>
        <p:txBody>
          <a:bodyPr>
            <a:normAutofit/>
          </a:bodyPr>
          <a:lstStyle/>
          <a:p>
            <a:r>
              <a:rPr lang="en-IE" sz="1700" dirty="0"/>
              <a:t>Break away from conventional input/output peripherals:</a:t>
            </a:r>
          </a:p>
          <a:p>
            <a:pPr lvl="1"/>
            <a:r>
              <a:rPr lang="en-IE" sz="1700" dirty="0"/>
              <a:t>Keyboard, mouse, touch screen</a:t>
            </a:r>
          </a:p>
          <a:p>
            <a:r>
              <a:rPr lang="en-IE" sz="1700" dirty="0"/>
              <a:t>Think about how human/environment signals can be captured and changed into electronic signals that can be interpreted by a computing device.</a:t>
            </a:r>
          </a:p>
          <a:p>
            <a:r>
              <a:rPr lang="en-GB" sz="1700" dirty="0"/>
              <a:t>Physical computing applications tend to depend on people for input (and sometimes output), and transform that input into another form, like an animation, a sound, or motion.</a:t>
            </a:r>
          </a:p>
          <a:p>
            <a:r>
              <a:rPr lang="en-GB" sz="1700" dirty="0"/>
              <a:t>Sometimes powerfully fuses art and technology. </a:t>
            </a:r>
            <a:endParaRPr lang="en-IE" sz="1700" dirty="0"/>
          </a:p>
        </p:txBody>
      </p:sp>
      <p:sp>
        <p:nvSpPr>
          <p:cNvPr id="25" name="Rectangle 24">
            <a:extLst>
              <a:ext uri="{FF2B5EF4-FFF2-40B4-BE49-F238E27FC236}">
                <a16:creationId xmlns:a16="http://schemas.microsoft.com/office/drawing/2014/main" id="{003713C1-2FB2-413B-BF91-3AE41726F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0991" y="3474720"/>
            <a:ext cx="6100914" cy="338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90795B4D-5022-4A7F-A01D-8D880B7CD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9584" y="0"/>
            <a:ext cx="6192415" cy="6858000"/>
          </a:xfrm>
          <a:prstGeom prst="rect">
            <a:avLst/>
          </a:prstGeom>
          <a:solidFill>
            <a:schemeClr val="tx1">
              <a:lumMod val="85000"/>
              <a:lumOff val="1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AFD19018-DE7C-4796-ADF2-AD2EB0FC0D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0"/>
            <a:ext cx="3002281" cy="338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AAEE604-67F0-4347-B31C-558F6D4D832C}"/>
              </a:ext>
            </a:extLst>
          </p:cNvPr>
          <p:cNvPicPr>
            <a:picLocks noChangeAspect="1"/>
          </p:cNvPicPr>
          <p:nvPr/>
        </p:nvPicPr>
        <p:blipFill>
          <a:blip r:embed="rId3"/>
          <a:stretch>
            <a:fillRect/>
          </a:stretch>
        </p:blipFill>
        <p:spPr>
          <a:xfrm>
            <a:off x="6740025" y="321734"/>
            <a:ext cx="1726082" cy="2739814"/>
          </a:xfrm>
          <a:prstGeom prst="rect">
            <a:avLst/>
          </a:prstGeom>
        </p:spPr>
      </p:pic>
      <p:sp>
        <p:nvSpPr>
          <p:cNvPr id="31" name="Rectangle 30">
            <a:extLst>
              <a:ext uri="{FF2B5EF4-FFF2-40B4-BE49-F238E27FC236}">
                <a16:creationId xmlns:a16="http://schemas.microsoft.com/office/drawing/2014/main" id="{B1A0A2C2-4F85-44AF-8708-8DCA4B550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9624" y="0"/>
            <a:ext cx="3002281" cy="338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Diagram&#10;&#10;Description automatically generated">
            <a:extLst>
              <a:ext uri="{FF2B5EF4-FFF2-40B4-BE49-F238E27FC236}">
                <a16:creationId xmlns:a16="http://schemas.microsoft.com/office/drawing/2014/main" id="{C8912B64-3C43-4C4B-950A-FBDACCC705C1}"/>
              </a:ext>
            </a:extLst>
          </p:cNvPr>
          <p:cNvPicPr>
            <a:picLocks noChangeAspect="1"/>
          </p:cNvPicPr>
          <p:nvPr/>
        </p:nvPicPr>
        <p:blipFill rotWithShape="1">
          <a:blip r:embed="rId4"/>
          <a:srcRect t="2871" r="-1" b="15458"/>
          <a:stretch/>
        </p:blipFill>
        <p:spPr>
          <a:xfrm>
            <a:off x="9502775" y="545681"/>
            <a:ext cx="2364317" cy="2291919"/>
          </a:xfrm>
          <a:prstGeom prst="rect">
            <a:avLst/>
          </a:prstGeom>
        </p:spPr>
      </p:pic>
      <p:pic>
        <p:nvPicPr>
          <p:cNvPr id="6" name="Picture 5" descr="A picture containing table, small, sitting, desk&#10;&#10;Description automatically generated">
            <a:extLst>
              <a:ext uri="{FF2B5EF4-FFF2-40B4-BE49-F238E27FC236}">
                <a16:creationId xmlns:a16="http://schemas.microsoft.com/office/drawing/2014/main" id="{661E5B4D-6301-497E-854E-68D21F5504C5}"/>
              </a:ext>
            </a:extLst>
          </p:cNvPr>
          <p:cNvPicPr>
            <a:picLocks noChangeAspect="1"/>
          </p:cNvPicPr>
          <p:nvPr/>
        </p:nvPicPr>
        <p:blipFill>
          <a:blip r:embed="rId5"/>
          <a:stretch>
            <a:fillRect/>
          </a:stretch>
        </p:blipFill>
        <p:spPr>
          <a:xfrm>
            <a:off x="7454953" y="3796452"/>
            <a:ext cx="3378093" cy="2559898"/>
          </a:xfrm>
          <a:prstGeom prst="rect">
            <a:avLst/>
          </a:prstGeom>
        </p:spPr>
      </p:pic>
    </p:spTree>
    <p:extLst>
      <p:ext uri="{BB962C8B-B14F-4D97-AF65-F5344CB8AC3E}">
        <p14:creationId xmlns:p14="http://schemas.microsoft.com/office/powerpoint/2010/main" val="44489716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DF732-11B8-4721-923E-AE24DA965A0C}"/>
              </a:ext>
            </a:extLst>
          </p:cNvPr>
          <p:cNvSpPr>
            <a:spLocks noGrp="1"/>
          </p:cNvSpPr>
          <p:nvPr>
            <p:ph type="title"/>
          </p:nvPr>
        </p:nvSpPr>
        <p:spPr/>
        <p:txBody>
          <a:bodyPr/>
          <a:lstStyle/>
          <a:p>
            <a:r>
              <a:rPr lang="en-IE"/>
              <a:t>Electricity</a:t>
            </a:r>
            <a:endParaRPr lang="en-IE" dirty="0"/>
          </a:p>
        </p:txBody>
      </p:sp>
      <p:sp>
        <p:nvSpPr>
          <p:cNvPr id="3" name="Content Placeholder 2">
            <a:extLst>
              <a:ext uri="{FF2B5EF4-FFF2-40B4-BE49-F238E27FC236}">
                <a16:creationId xmlns:a16="http://schemas.microsoft.com/office/drawing/2014/main" id="{B63B4D33-1F64-4AC2-B22E-51C6A6375C1D}"/>
              </a:ext>
            </a:extLst>
          </p:cNvPr>
          <p:cNvSpPr>
            <a:spLocks noGrp="1"/>
          </p:cNvSpPr>
          <p:nvPr>
            <p:ph idx="1"/>
          </p:nvPr>
        </p:nvSpPr>
        <p:spPr>
          <a:xfrm>
            <a:off x="347870" y="1690688"/>
            <a:ext cx="8239539" cy="4351338"/>
          </a:xfrm>
        </p:spPr>
        <p:txBody>
          <a:bodyPr>
            <a:normAutofit fontScale="85000" lnSpcReduction="20000"/>
          </a:bodyPr>
          <a:lstStyle/>
          <a:p>
            <a:r>
              <a:rPr lang="en-GB" b="1" i="0" dirty="0">
                <a:solidFill>
                  <a:srgbClr val="333333"/>
                </a:solidFill>
                <a:effectLst/>
                <a:latin typeface="+mj-lt"/>
              </a:rPr>
              <a:t>Electricity</a:t>
            </a:r>
            <a:r>
              <a:rPr lang="en-GB" b="0" i="0" dirty="0">
                <a:solidFill>
                  <a:srgbClr val="333333"/>
                </a:solidFill>
                <a:effectLst/>
                <a:latin typeface="+mj-lt"/>
              </a:rPr>
              <a:t> is the flow of electrical energy through some conductive material.</a:t>
            </a:r>
          </a:p>
          <a:p>
            <a:r>
              <a:rPr lang="en-GB" b="1" i="0" dirty="0">
                <a:solidFill>
                  <a:srgbClr val="1A1A1A"/>
                </a:solidFill>
                <a:effectLst/>
                <a:latin typeface="+mj-lt"/>
              </a:rPr>
              <a:t>Sensors</a:t>
            </a:r>
            <a:r>
              <a:rPr lang="en-GB" b="0" i="0" dirty="0">
                <a:solidFill>
                  <a:srgbClr val="1A1A1A"/>
                </a:solidFill>
                <a:effectLst/>
                <a:latin typeface="+mj-lt"/>
              </a:rPr>
              <a:t> are components that convert other forms of energy into electrical energy so we can read the changes in those other forms. 	</a:t>
            </a:r>
          </a:p>
          <a:p>
            <a:pPr lvl="1"/>
            <a:r>
              <a:rPr lang="en-GB" dirty="0">
                <a:solidFill>
                  <a:srgbClr val="1A1A1A"/>
                </a:solidFill>
                <a:latin typeface="+mj-lt"/>
              </a:rPr>
              <a:t>Transduction (e.g. microphone)</a:t>
            </a:r>
          </a:p>
          <a:p>
            <a:pPr algn="l"/>
            <a:r>
              <a:rPr lang="en-GB" b="1" i="0" dirty="0">
                <a:solidFill>
                  <a:srgbClr val="1A1A1A"/>
                </a:solidFill>
                <a:effectLst/>
                <a:latin typeface="+mj-lt"/>
              </a:rPr>
              <a:t>Voltage </a:t>
            </a:r>
            <a:r>
              <a:rPr lang="en-GB" b="0" i="0" dirty="0">
                <a:solidFill>
                  <a:srgbClr val="1A1A1A"/>
                </a:solidFill>
                <a:effectLst/>
                <a:latin typeface="+mj-lt"/>
              </a:rPr>
              <a:t>is a measure of the difference in electrical potential energy between two points in a circuit. It is measured in </a:t>
            </a:r>
            <a:r>
              <a:rPr lang="en-GB" b="1" i="0" dirty="0">
                <a:solidFill>
                  <a:srgbClr val="1A1A1A"/>
                </a:solidFill>
                <a:effectLst/>
                <a:latin typeface="+mj-lt"/>
              </a:rPr>
              <a:t>Volts</a:t>
            </a:r>
            <a:r>
              <a:rPr lang="en-GB" b="0" i="0" dirty="0">
                <a:solidFill>
                  <a:srgbClr val="1A1A1A"/>
                </a:solidFill>
                <a:effectLst/>
                <a:latin typeface="+mj-lt"/>
              </a:rPr>
              <a:t>.</a:t>
            </a:r>
          </a:p>
          <a:p>
            <a:pPr algn="l"/>
            <a:r>
              <a:rPr lang="en-GB" b="1" i="0" dirty="0">
                <a:solidFill>
                  <a:srgbClr val="1A1A1A"/>
                </a:solidFill>
                <a:effectLst/>
                <a:latin typeface="+mj-lt"/>
              </a:rPr>
              <a:t>Current </a:t>
            </a:r>
            <a:r>
              <a:rPr lang="en-GB" b="0" i="0" dirty="0">
                <a:solidFill>
                  <a:srgbClr val="1A1A1A"/>
                </a:solidFill>
                <a:effectLst/>
                <a:latin typeface="+mj-lt"/>
              </a:rPr>
              <a:t>is a measure of the magnitude of the flow of electrons through a particular point in a circuit. It is measured in </a:t>
            </a:r>
            <a:r>
              <a:rPr lang="en-GB" b="1" i="0" dirty="0">
                <a:solidFill>
                  <a:srgbClr val="1A1A1A"/>
                </a:solidFill>
                <a:effectLst/>
                <a:latin typeface="+mj-lt"/>
              </a:rPr>
              <a:t>Amperes</a:t>
            </a:r>
            <a:r>
              <a:rPr lang="en-GB" b="0" i="0" dirty="0">
                <a:solidFill>
                  <a:srgbClr val="1A1A1A"/>
                </a:solidFill>
                <a:effectLst/>
                <a:latin typeface="+mj-lt"/>
              </a:rPr>
              <a:t>, or </a:t>
            </a:r>
            <a:r>
              <a:rPr lang="en-GB" b="1" i="0" dirty="0">
                <a:solidFill>
                  <a:srgbClr val="1A1A1A"/>
                </a:solidFill>
                <a:effectLst/>
                <a:latin typeface="+mj-lt"/>
              </a:rPr>
              <a:t>Amps</a:t>
            </a:r>
            <a:r>
              <a:rPr lang="en-GB" b="0" i="0" dirty="0">
                <a:solidFill>
                  <a:srgbClr val="1A1A1A"/>
                </a:solidFill>
                <a:effectLst/>
                <a:latin typeface="+mj-lt"/>
              </a:rPr>
              <a:t>.</a:t>
            </a:r>
          </a:p>
          <a:p>
            <a:pPr algn="l"/>
            <a:r>
              <a:rPr lang="en-GB" b="1" i="0" dirty="0">
                <a:solidFill>
                  <a:srgbClr val="1A1A1A"/>
                </a:solidFill>
                <a:effectLst/>
                <a:latin typeface="+mj-lt"/>
              </a:rPr>
              <a:t>Resistance </a:t>
            </a:r>
            <a:r>
              <a:rPr lang="en-GB" b="0" i="0" dirty="0">
                <a:solidFill>
                  <a:srgbClr val="1A1A1A"/>
                </a:solidFill>
                <a:effectLst/>
                <a:latin typeface="+mj-lt"/>
              </a:rPr>
              <a:t>is a measure of a material’s ability to oppose the flow of electricity. It is measured in </a:t>
            </a:r>
            <a:r>
              <a:rPr lang="en-GB" b="1" i="0" dirty="0">
                <a:solidFill>
                  <a:srgbClr val="1A1A1A"/>
                </a:solidFill>
                <a:effectLst/>
                <a:latin typeface="+mj-lt"/>
              </a:rPr>
              <a:t>Ohms</a:t>
            </a:r>
            <a:r>
              <a:rPr lang="en-GB" b="0" i="0" dirty="0">
                <a:solidFill>
                  <a:srgbClr val="1A1A1A"/>
                </a:solidFill>
                <a:effectLst/>
                <a:latin typeface="+mj-lt"/>
              </a:rPr>
              <a:t>.</a:t>
            </a:r>
          </a:p>
          <a:p>
            <a:endParaRPr lang="en-GB" dirty="0">
              <a:solidFill>
                <a:srgbClr val="1A1A1A"/>
              </a:solidFill>
              <a:latin typeface="Merriweather"/>
            </a:endParaRPr>
          </a:p>
          <a:p>
            <a:endParaRPr lang="en-GB" dirty="0">
              <a:solidFill>
                <a:srgbClr val="333333"/>
              </a:solidFill>
              <a:latin typeface="Libre Franklin"/>
            </a:endParaRPr>
          </a:p>
          <a:p>
            <a:endParaRPr lang="en-IE" dirty="0"/>
          </a:p>
        </p:txBody>
      </p:sp>
      <p:pic>
        <p:nvPicPr>
          <p:cNvPr id="5" name="Picture 4" descr="A picture containing light&#10;&#10;Description automatically generated">
            <a:extLst>
              <a:ext uri="{FF2B5EF4-FFF2-40B4-BE49-F238E27FC236}">
                <a16:creationId xmlns:a16="http://schemas.microsoft.com/office/drawing/2014/main" id="{D7E393A7-7A37-4FE4-A99C-4EE9907ED2C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322375" y="1703940"/>
            <a:ext cx="3693701" cy="1931498"/>
          </a:xfrm>
          <a:prstGeom prst="rect">
            <a:avLst/>
          </a:prstGeom>
        </p:spPr>
      </p:pic>
    </p:spTree>
    <p:extLst>
      <p:ext uri="{BB962C8B-B14F-4D97-AF65-F5344CB8AC3E}">
        <p14:creationId xmlns:p14="http://schemas.microsoft.com/office/powerpoint/2010/main" val="4134539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A367F-6449-40F6-B604-CB36A9A1C51D}"/>
              </a:ext>
            </a:extLst>
          </p:cNvPr>
          <p:cNvSpPr>
            <a:spLocks noGrp="1"/>
          </p:cNvSpPr>
          <p:nvPr>
            <p:ph type="title"/>
          </p:nvPr>
        </p:nvSpPr>
        <p:spPr/>
        <p:txBody>
          <a:bodyPr/>
          <a:lstStyle/>
          <a:p>
            <a:r>
              <a:rPr lang="en-IE" dirty="0"/>
              <a:t>Electricity: Relationship</a:t>
            </a:r>
          </a:p>
        </p:txBody>
      </p:sp>
      <p:sp>
        <p:nvSpPr>
          <p:cNvPr id="3" name="Content Placeholder 2">
            <a:extLst>
              <a:ext uri="{FF2B5EF4-FFF2-40B4-BE49-F238E27FC236}">
                <a16:creationId xmlns:a16="http://schemas.microsoft.com/office/drawing/2014/main" id="{9A0FF207-39B1-4F15-A9F7-3A13820EF50A}"/>
              </a:ext>
            </a:extLst>
          </p:cNvPr>
          <p:cNvSpPr>
            <a:spLocks noGrp="1"/>
          </p:cNvSpPr>
          <p:nvPr>
            <p:ph idx="1"/>
          </p:nvPr>
        </p:nvSpPr>
        <p:spPr>
          <a:xfrm>
            <a:off x="521942" y="1690687"/>
            <a:ext cx="8133920" cy="4971369"/>
          </a:xfrm>
        </p:spPr>
        <p:txBody>
          <a:bodyPr>
            <a:normAutofit/>
          </a:bodyPr>
          <a:lstStyle/>
          <a:p>
            <a:r>
              <a:rPr lang="en-GB" b="1" i="0" dirty="0">
                <a:solidFill>
                  <a:srgbClr val="1A1A1A"/>
                </a:solidFill>
                <a:effectLst/>
                <a:latin typeface="Merriweather"/>
              </a:rPr>
              <a:t>Voltage (V)</a:t>
            </a:r>
            <a:r>
              <a:rPr lang="en-GB" b="0" i="0" dirty="0">
                <a:solidFill>
                  <a:srgbClr val="1A1A1A"/>
                </a:solidFill>
                <a:effectLst/>
                <a:latin typeface="Merriweather"/>
              </a:rPr>
              <a:t>, </a:t>
            </a:r>
            <a:r>
              <a:rPr lang="en-GB" b="1" i="0" dirty="0">
                <a:solidFill>
                  <a:srgbClr val="1A1A1A"/>
                </a:solidFill>
                <a:effectLst/>
                <a:latin typeface="Merriweather"/>
              </a:rPr>
              <a:t>Current (I)</a:t>
            </a:r>
            <a:r>
              <a:rPr lang="en-GB" b="0" i="0" dirty="0">
                <a:solidFill>
                  <a:srgbClr val="1A1A1A"/>
                </a:solidFill>
                <a:effectLst/>
                <a:latin typeface="Merriweather"/>
              </a:rPr>
              <a:t>, and </a:t>
            </a:r>
            <a:r>
              <a:rPr lang="en-GB" b="1" i="0" dirty="0">
                <a:solidFill>
                  <a:srgbClr val="1A1A1A"/>
                </a:solidFill>
                <a:effectLst/>
                <a:latin typeface="Merriweather"/>
              </a:rPr>
              <a:t>Resistance (R)</a:t>
            </a:r>
            <a:r>
              <a:rPr lang="en-GB" b="0" i="0" dirty="0">
                <a:solidFill>
                  <a:srgbClr val="1A1A1A"/>
                </a:solidFill>
                <a:effectLst/>
                <a:latin typeface="Merriweather"/>
              </a:rPr>
              <a:t> are all related, by the following formula:</a:t>
            </a:r>
          </a:p>
          <a:p>
            <a:endParaRPr lang="en-GB" dirty="0">
              <a:solidFill>
                <a:srgbClr val="1A1A1A"/>
              </a:solidFill>
              <a:latin typeface="Merriweather"/>
            </a:endParaRPr>
          </a:p>
          <a:p>
            <a:pPr marL="0" indent="0">
              <a:buNone/>
            </a:pPr>
            <a:r>
              <a:rPr lang="en-IE" b="1" i="0" dirty="0">
                <a:solidFill>
                  <a:srgbClr val="1A1A1A"/>
                </a:solidFill>
                <a:effectLst/>
                <a:latin typeface="Merriweather"/>
              </a:rPr>
              <a:t>V = I x R</a:t>
            </a:r>
          </a:p>
          <a:p>
            <a:pPr marL="0" indent="0">
              <a:buNone/>
            </a:pPr>
            <a:endParaRPr lang="en-IE" b="1" dirty="0">
              <a:solidFill>
                <a:srgbClr val="1A1A1A"/>
              </a:solidFill>
              <a:latin typeface="Merriweather"/>
            </a:endParaRPr>
          </a:p>
          <a:p>
            <a:pPr algn="l"/>
            <a:r>
              <a:rPr lang="en-GB" b="1" i="0" dirty="0">
                <a:solidFill>
                  <a:srgbClr val="1A1A1A"/>
                </a:solidFill>
                <a:effectLst/>
                <a:latin typeface="Merriweather"/>
              </a:rPr>
              <a:t>electrical power (P)</a:t>
            </a:r>
            <a:r>
              <a:rPr lang="en-GB" b="0" i="0" dirty="0">
                <a:solidFill>
                  <a:srgbClr val="1A1A1A"/>
                </a:solidFill>
                <a:effectLst/>
                <a:latin typeface="Merriweather"/>
              </a:rPr>
              <a:t> (measured in watts), </a:t>
            </a:r>
            <a:br>
              <a:rPr lang="en-GB" b="0" i="0" dirty="0">
                <a:solidFill>
                  <a:srgbClr val="1A1A1A"/>
                </a:solidFill>
                <a:effectLst/>
                <a:latin typeface="Merriweather"/>
              </a:rPr>
            </a:br>
            <a:r>
              <a:rPr lang="en-GB" b="0" i="0" dirty="0">
                <a:solidFill>
                  <a:srgbClr val="1A1A1A"/>
                </a:solidFill>
                <a:effectLst/>
                <a:latin typeface="Merriweather"/>
              </a:rPr>
              <a:t>as follows:</a:t>
            </a:r>
          </a:p>
          <a:p>
            <a:pPr marL="0" indent="0" algn="l">
              <a:buNone/>
            </a:pPr>
            <a:r>
              <a:rPr lang="en-GB" b="1" i="0" dirty="0">
                <a:solidFill>
                  <a:srgbClr val="1A1A1A"/>
                </a:solidFill>
                <a:effectLst/>
                <a:latin typeface="Merriweather"/>
              </a:rPr>
              <a:t>Watts = Volts * Amps</a:t>
            </a:r>
            <a:endParaRPr lang="en-GB" b="0" i="0" dirty="0">
              <a:solidFill>
                <a:srgbClr val="1A1A1A"/>
              </a:solidFill>
              <a:effectLst/>
              <a:latin typeface="Merriweather"/>
            </a:endParaRPr>
          </a:p>
          <a:p>
            <a:pPr marL="0" indent="0" algn="l">
              <a:buNone/>
            </a:pPr>
            <a:r>
              <a:rPr lang="en-GB" b="1" i="0" dirty="0">
                <a:solidFill>
                  <a:srgbClr val="1A1A1A"/>
                </a:solidFill>
                <a:effectLst/>
                <a:latin typeface="Merriweather"/>
              </a:rPr>
              <a:t>P = V * I</a:t>
            </a:r>
            <a:endParaRPr lang="en-GB" b="0" i="0" dirty="0">
              <a:solidFill>
                <a:srgbClr val="1A1A1A"/>
              </a:solidFill>
              <a:effectLst/>
              <a:latin typeface="Merriweather"/>
            </a:endParaRPr>
          </a:p>
          <a:p>
            <a:pPr marL="0" indent="0">
              <a:buNone/>
            </a:pPr>
            <a:endParaRPr lang="en-GB" b="1" i="0" dirty="0">
              <a:solidFill>
                <a:srgbClr val="1A1A1A"/>
              </a:solidFill>
              <a:effectLst/>
              <a:latin typeface="Merriweather"/>
            </a:endParaRPr>
          </a:p>
        </p:txBody>
      </p:sp>
      <p:pic>
        <p:nvPicPr>
          <p:cNvPr id="2050" name="Picture 2" descr="Three equations using ohms law to calculate Voltage, Amperage, or Resistance. A circle is divided into 3 sections, each section containing one element of Ohms law, V for voltage, I for Amperage, R for resistance. Each equation is adjacent to the corresponding section of the circle">
            <a:extLst>
              <a:ext uri="{FF2B5EF4-FFF2-40B4-BE49-F238E27FC236}">
                <a16:creationId xmlns:a16="http://schemas.microsoft.com/office/drawing/2014/main" id="{A10A0044-90E7-4859-8407-EB27D949DB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5587" y="2293520"/>
            <a:ext cx="2686050" cy="18859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imple circuit showing the direction of current flowing from the + V terminal to ground">
            <a:extLst>
              <a:ext uri="{FF2B5EF4-FFF2-40B4-BE49-F238E27FC236}">
                <a16:creationId xmlns:a16="http://schemas.microsoft.com/office/drawing/2014/main" id="{150C8FE5-348A-488C-B653-F23F770C4D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6337" y="4410075"/>
            <a:ext cx="1838325" cy="2447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348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60E9A6ED-B880-44EA-8D60-C9D3C82CC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E39206-7050-46FA-889E-9DB1F1E9FD9A}"/>
              </a:ext>
            </a:extLst>
          </p:cNvPr>
          <p:cNvSpPr>
            <a:spLocks noGrp="1"/>
          </p:cNvSpPr>
          <p:nvPr>
            <p:ph type="title"/>
          </p:nvPr>
        </p:nvSpPr>
        <p:spPr>
          <a:xfrm>
            <a:off x="648929" y="557190"/>
            <a:ext cx="5170852" cy="1671564"/>
          </a:xfrm>
        </p:spPr>
        <p:txBody>
          <a:bodyPr>
            <a:normAutofit/>
          </a:bodyPr>
          <a:lstStyle/>
          <a:p>
            <a:r>
              <a:rPr lang="en-IE" sz="4000" dirty="0"/>
              <a:t>Circuits 1</a:t>
            </a:r>
          </a:p>
        </p:txBody>
      </p:sp>
      <p:sp>
        <p:nvSpPr>
          <p:cNvPr id="3" name="Content Placeholder 2">
            <a:extLst>
              <a:ext uri="{FF2B5EF4-FFF2-40B4-BE49-F238E27FC236}">
                <a16:creationId xmlns:a16="http://schemas.microsoft.com/office/drawing/2014/main" id="{27F4D75B-2E1C-4A18-8BBD-3092E23FE88A}"/>
              </a:ext>
            </a:extLst>
          </p:cNvPr>
          <p:cNvSpPr>
            <a:spLocks noGrp="1"/>
          </p:cNvSpPr>
          <p:nvPr>
            <p:ph idx="1"/>
          </p:nvPr>
        </p:nvSpPr>
        <p:spPr>
          <a:xfrm>
            <a:off x="648930" y="2398030"/>
            <a:ext cx="5180245" cy="3731058"/>
          </a:xfrm>
        </p:spPr>
        <p:txBody>
          <a:bodyPr>
            <a:normAutofit/>
          </a:bodyPr>
          <a:lstStyle/>
          <a:p>
            <a:r>
              <a:rPr lang="en-IE" sz="2000" dirty="0"/>
              <a:t>Physical Computing usually involves interfacing a computing device with electrical circuit(s).</a:t>
            </a:r>
          </a:p>
          <a:p>
            <a:r>
              <a:rPr lang="en-IE" sz="2000" dirty="0"/>
              <a:t>A circuit needs a:</a:t>
            </a:r>
          </a:p>
          <a:p>
            <a:pPr lvl="1"/>
            <a:r>
              <a:rPr lang="en-IE" sz="2000" dirty="0"/>
              <a:t>Electrical Energy Source (e.g. battery)</a:t>
            </a:r>
          </a:p>
          <a:p>
            <a:pPr lvl="1"/>
            <a:r>
              <a:rPr lang="en-IE" sz="2000" dirty="0"/>
              <a:t>Load (Converts </a:t>
            </a:r>
            <a:r>
              <a:rPr lang="en-IE" sz="2000" dirty="0" err="1"/>
              <a:t>elec</a:t>
            </a:r>
            <a:r>
              <a:rPr lang="en-IE" sz="2000" dirty="0"/>
              <a:t> energy to something else)</a:t>
            </a:r>
          </a:p>
        </p:txBody>
      </p:sp>
      <p:pic>
        <p:nvPicPr>
          <p:cNvPr id="1026" name="Picture 2">
            <a:extLst>
              <a:ext uri="{FF2B5EF4-FFF2-40B4-BE49-F238E27FC236}">
                <a16:creationId xmlns:a16="http://schemas.microsoft.com/office/drawing/2014/main" id="{E30111F4-C495-48F0-B194-1BA21F671CC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1592"/>
          <a:stretch/>
        </p:blipFill>
        <p:spPr bwMode="auto">
          <a:xfrm>
            <a:off x="6182944" y="557189"/>
            <a:ext cx="5170852" cy="5571898"/>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619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3291F-E9D5-429F-9D17-BFC26967CF76}"/>
              </a:ext>
            </a:extLst>
          </p:cNvPr>
          <p:cNvSpPr>
            <a:spLocks noGrp="1"/>
          </p:cNvSpPr>
          <p:nvPr>
            <p:ph type="title"/>
          </p:nvPr>
        </p:nvSpPr>
        <p:spPr/>
        <p:txBody>
          <a:bodyPr/>
          <a:lstStyle/>
          <a:p>
            <a:r>
              <a:rPr lang="en-IE" dirty="0"/>
              <a:t>Circuits 2</a:t>
            </a:r>
          </a:p>
        </p:txBody>
      </p:sp>
      <p:sp>
        <p:nvSpPr>
          <p:cNvPr id="3" name="Content Placeholder 2">
            <a:extLst>
              <a:ext uri="{FF2B5EF4-FFF2-40B4-BE49-F238E27FC236}">
                <a16:creationId xmlns:a16="http://schemas.microsoft.com/office/drawing/2014/main" id="{4E9268C6-2D47-4D94-9BEB-7BF9A1B58E4D}"/>
              </a:ext>
            </a:extLst>
          </p:cNvPr>
          <p:cNvSpPr>
            <a:spLocks noGrp="1"/>
          </p:cNvSpPr>
          <p:nvPr>
            <p:ph idx="1"/>
          </p:nvPr>
        </p:nvSpPr>
        <p:spPr>
          <a:xfrm>
            <a:off x="568377" y="1885585"/>
            <a:ext cx="6274633" cy="4351338"/>
          </a:xfrm>
        </p:spPr>
        <p:txBody>
          <a:bodyPr>
            <a:normAutofit/>
          </a:bodyPr>
          <a:lstStyle/>
          <a:p>
            <a:pPr algn="l">
              <a:buFont typeface="Arial" panose="020B0604020202020204" pitchFamily="34" charset="0"/>
              <a:buChar char="•"/>
            </a:pPr>
            <a:r>
              <a:rPr lang="en-GB" b="0" i="0" dirty="0">
                <a:solidFill>
                  <a:srgbClr val="333333"/>
                </a:solidFill>
                <a:effectLst/>
                <a:latin typeface="Helvetica Neue"/>
              </a:rPr>
              <a:t>Electricity needs to flow to do anything useful.</a:t>
            </a:r>
          </a:p>
          <a:p>
            <a:pPr lvl="1"/>
            <a:r>
              <a:rPr lang="en-GB" dirty="0">
                <a:solidFill>
                  <a:srgbClr val="333333"/>
                </a:solidFill>
                <a:latin typeface="Helvetica Neue"/>
              </a:rPr>
              <a:t>N</a:t>
            </a:r>
            <a:r>
              <a:rPr lang="en-GB" b="0" i="0" dirty="0">
                <a:solidFill>
                  <a:srgbClr val="333333"/>
                </a:solidFill>
                <a:effectLst/>
                <a:latin typeface="Helvetica Neue"/>
              </a:rPr>
              <a:t>eeds a path to flow through, which must be an electrical conductor(like copper)</a:t>
            </a:r>
          </a:p>
          <a:p>
            <a:pPr algn="l">
              <a:buFont typeface="Arial" panose="020B0604020202020204" pitchFamily="34" charset="0"/>
              <a:buChar char="•"/>
            </a:pPr>
            <a:r>
              <a:rPr lang="en-GB" b="0" i="0" dirty="0">
                <a:solidFill>
                  <a:srgbClr val="333333"/>
                </a:solidFill>
                <a:effectLst/>
                <a:latin typeface="Helvetica Neue"/>
              </a:rPr>
              <a:t>Electricity(Current) will flow from a higher voltage(+) to a lower voltage(-) or ground.</a:t>
            </a:r>
          </a:p>
        </p:txBody>
      </p:sp>
      <p:pic>
        <p:nvPicPr>
          <p:cNvPr id="2050" name="Picture 2">
            <a:extLst>
              <a:ext uri="{FF2B5EF4-FFF2-40B4-BE49-F238E27FC236}">
                <a16:creationId xmlns:a16="http://schemas.microsoft.com/office/drawing/2014/main" id="{C6404391-4FF1-4872-B769-187CB103E2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0347" y="72669"/>
            <a:ext cx="5381653" cy="234973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picture containing shape&#10;&#10;Description automatically generated">
            <a:extLst>
              <a:ext uri="{FF2B5EF4-FFF2-40B4-BE49-F238E27FC236}">
                <a16:creationId xmlns:a16="http://schemas.microsoft.com/office/drawing/2014/main" id="{3A307186-C520-4AA4-AE3D-16AF5288CE12}"/>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673343" y="2319720"/>
            <a:ext cx="7360914" cy="2690330"/>
          </a:xfrm>
          <a:prstGeom prst="rect">
            <a:avLst/>
          </a:prstGeom>
        </p:spPr>
      </p:pic>
      <p:pic>
        <p:nvPicPr>
          <p:cNvPr id="2052" name="Picture 4">
            <a:extLst>
              <a:ext uri="{FF2B5EF4-FFF2-40B4-BE49-F238E27FC236}">
                <a16:creationId xmlns:a16="http://schemas.microsoft.com/office/drawing/2014/main" id="{A5CA514A-1451-40B0-BD26-52F8EE90CA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4142" y="4907364"/>
            <a:ext cx="4228313" cy="2083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9442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C9EFE1-D8CB-4668-9980-DB108327A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7CBAE1BD-B8E4-4029-8AA2-C77E4FED9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D9E72E4-4233-4DD0-80F0-FC5E1B5FA310}"/>
              </a:ext>
            </a:extLst>
          </p:cNvPr>
          <p:cNvSpPr>
            <a:spLocks noGrp="1"/>
          </p:cNvSpPr>
          <p:nvPr>
            <p:ph type="title"/>
          </p:nvPr>
        </p:nvSpPr>
        <p:spPr>
          <a:xfrm>
            <a:off x="6585882" y="4267832"/>
            <a:ext cx="4805996" cy="1401448"/>
          </a:xfrm>
        </p:spPr>
        <p:txBody>
          <a:bodyPr vert="horz" lIns="91440" tIns="45720" rIns="91440" bIns="45720" rtlCol="0" anchor="t">
            <a:normAutofit/>
          </a:bodyPr>
          <a:lstStyle/>
          <a:p>
            <a:r>
              <a:rPr lang="en-US" sz="4400">
                <a:solidFill>
                  <a:srgbClr val="000000"/>
                </a:solidFill>
              </a:rPr>
              <a:t>Electronic Components</a:t>
            </a:r>
          </a:p>
        </p:txBody>
      </p:sp>
      <p:sp>
        <p:nvSpPr>
          <p:cNvPr id="3" name="Text Placeholder 2">
            <a:extLst>
              <a:ext uri="{FF2B5EF4-FFF2-40B4-BE49-F238E27FC236}">
                <a16:creationId xmlns:a16="http://schemas.microsoft.com/office/drawing/2014/main" id="{2EE4C661-7A7D-4898-A4BA-34D9C56D7168}"/>
              </a:ext>
            </a:extLst>
          </p:cNvPr>
          <p:cNvSpPr>
            <a:spLocks noGrp="1"/>
          </p:cNvSpPr>
          <p:nvPr>
            <p:ph type="body" idx="1"/>
          </p:nvPr>
        </p:nvSpPr>
        <p:spPr>
          <a:xfrm>
            <a:off x="6586186" y="3428999"/>
            <a:ext cx="4805691" cy="838831"/>
          </a:xfrm>
        </p:spPr>
        <p:txBody>
          <a:bodyPr vert="horz" lIns="91440" tIns="45720" rIns="91440" bIns="45720" rtlCol="0" anchor="b">
            <a:normAutofit/>
          </a:bodyPr>
          <a:lstStyle/>
          <a:p>
            <a:endParaRPr lang="en-US" sz="1800">
              <a:solidFill>
                <a:srgbClr val="000000"/>
              </a:solidFill>
            </a:endParaRPr>
          </a:p>
        </p:txBody>
      </p:sp>
      <p:sp>
        <p:nvSpPr>
          <p:cNvPr id="15" name="Freeform 49">
            <a:extLst>
              <a:ext uri="{FF2B5EF4-FFF2-40B4-BE49-F238E27FC236}">
                <a16:creationId xmlns:a16="http://schemas.microsoft.com/office/drawing/2014/main" id="{77DA6D33-2D62-458C-BF5D-DBF612FD5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Diagram&#10;&#10;Description automatically generated">
            <a:extLst>
              <a:ext uri="{FF2B5EF4-FFF2-40B4-BE49-F238E27FC236}">
                <a16:creationId xmlns:a16="http://schemas.microsoft.com/office/drawing/2014/main" id="{4FBFFF1F-E5AC-4D5F-AD3C-85853F6C7F39}"/>
              </a:ext>
            </a:extLst>
          </p:cNvPr>
          <p:cNvPicPr>
            <a:picLocks noChangeAspect="1"/>
          </p:cNvPicPr>
          <p:nvPr/>
        </p:nvPicPr>
        <p:blipFill rotWithShape="1">
          <a:blip r:embed="rId4">
            <a:alphaModFix/>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r="13099" b="-1"/>
          <a:stretch/>
        </p:blipFill>
        <p:spPr>
          <a:xfrm>
            <a:off x="1" y="770037"/>
            <a:ext cx="5298683" cy="6097438"/>
          </a:xfrm>
          <a:custGeom>
            <a:avLst/>
            <a:gdLst/>
            <a:ahLst/>
            <a:cxnLst/>
            <a:rect l="l" t="t" r="r" b="b"/>
            <a:pathLst>
              <a:path w="5298683" h="6097438">
                <a:moveTo>
                  <a:pt x="2178155" y="0"/>
                </a:moveTo>
                <a:cubicBezTo>
                  <a:pt x="3901575" y="0"/>
                  <a:pt x="5298683" y="1397108"/>
                  <a:pt x="5298683" y="3120527"/>
                </a:cubicBezTo>
                <a:cubicBezTo>
                  <a:pt x="5298683" y="4413092"/>
                  <a:pt x="4512810" y="5522106"/>
                  <a:pt x="3392805" y="5995828"/>
                </a:cubicBezTo>
                <a:lnTo>
                  <a:pt x="3115184" y="6097438"/>
                </a:lnTo>
                <a:lnTo>
                  <a:pt x="1241127" y="6097438"/>
                </a:lnTo>
                <a:lnTo>
                  <a:pt x="963506" y="5995828"/>
                </a:lnTo>
                <a:cubicBezTo>
                  <a:pt x="683504" y="5877397"/>
                  <a:pt x="424387" y="5719261"/>
                  <a:pt x="193210" y="5528477"/>
                </a:cubicBezTo>
                <a:lnTo>
                  <a:pt x="0" y="5352876"/>
                </a:lnTo>
                <a:lnTo>
                  <a:pt x="0" y="888178"/>
                </a:lnTo>
                <a:lnTo>
                  <a:pt x="193210" y="712577"/>
                </a:lnTo>
                <a:cubicBezTo>
                  <a:pt x="732621" y="267415"/>
                  <a:pt x="1424159" y="0"/>
                  <a:pt x="2178155" y="0"/>
                </a:cubicBezTo>
                <a:close/>
              </a:path>
            </a:pathLst>
          </a:custGeom>
          <a:effectLst>
            <a:softEdge rad="0"/>
          </a:effectLst>
        </p:spPr>
      </p:pic>
      <p:sp>
        <p:nvSpPr>
          <p:cNvPr id="6" name="TextBox 5">
            <a:extLst>
              <a:ext uri="{FF2B5EF4-FFF2-40B4-BE49-F238E27FC236}">
                <a16:creationId xmlns:a16="http://schemas.microsoft.com/office/drawing/2014/main" id="{F3F7DB5D-1EB0-468E-AEE5-72BD6A3E30FE}"/>
              </a:ext>
            </a:extLst>
          </p:cNvPr>
          <p:cNvSpPr txBox="1"/>
          <p:nvPr/>
        </p:nvSpPr>
        <p:spPr>
          <a:xfrm>
            <a:off x="9884958" y="6657945"/>
            <a:ext cx="2307042"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5" tooltip="https://opensource.com/community/15/11/2015-open-source-holiday-gift-guide">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IE" sz="700">
              <a:solidFill>
                <a:srgbClr val="FFFFFF"/>
              </a:solidFill>
            </a:endParaRPr>
          </a:p>
        </p:txBody>
      </p:sp>
    </p:spTree>
    <p:extLst>
      <p:ext uri="{BB962C8B-B14F-4D97-AF65-F5344CB8AC3E}">
        <p14:creationId xmlns:p14="http://schemas.microsoft.com/office/powerpoint/2010/main" val="4220228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D0394FE2-BDDA-4ECE-B320-81AE19E90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5" name="Rectangle 74">
            <a:extLst>
              <a:ext uri="{FF2B5EF4-FFF2-40B4-BE49-F238E27FC236}">
                <a16:creationId xmlns:a16="http://schemas.microsoft.com/office/drawing/2014/main" id="{0625AAC5-802A-4197-8804-2B78FF65C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F76C1E5-D222-47E5-9BA5-378E9AB0874C}"/>
              </a:ext>
            </a:extLst>
          </p:cNvPr>
          <p:cNvSpPr>
            <a:spLocks noGrp="1"/>
          </p:cNvSpPr>
          <p:nvPr>
            <p:ph type="title"/>
          </p:nvPr>
        </p:nvSpPr>
        <p:spPr>
          <a:xfrm>
            <a:off x="2103120" y="310896"/>
            <a:ext cx="7982712" cy="868680"/>
          </a:xfrm>
        </p:spPr>
        <p:txBody>
          <a:bodyPr vert="horz" lIns="91440" tIns="45720" rIns="91440" bIns="45720" rtlCol="0" anchor="ctr">
            <a:normAutofit/>
          </a:bodyPr>
          <a:lstStyle/>
          <a:p>
            <a:pPr algn="ctr"/>
            <a:r>
              <a:rPr lang="en-US" sz="4000" kern="1200">
                <a:solidFill>
                  <a:schemeClr val="tx1"/>
                </a:solidFill>
                <a:latin typeface="+mj-lt"/>
                <a:ea typeface="+mj-ea"/>
                <a:cs typeface="+mj-cs"/>
              </a:rPr>
              <a:t>Electronics: Breadboard</a:t>
            </a:r>
          </a:p>
        </p:txBody>
      </p:sp>
      <p:sp>
        <p:nvSpPr>
          <p:cNvPr id="77" name="Rectangle: Rounded Corners 76">
            <a:extLst>
              <a:ext uri="{FF2B5EF4-FFF2-40B4-BE49-F238E27FC236}">
                <a16:creationId xmlns:a16="http://schemas.microsoft.com/office/drawing/2014/main" id="{A1B139DD-0E8D-42FA-9171-C5F001754A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sp>
        <p:nvSpPr>
          <p:cNvPr id="3" name="Content Placeholder 2">
            <a:extLst>
              <a:ext uri="{FF2B5EF4-FFF2-40B4-BE49-F238E27FC236}">
                <a16:creationId xmlns:a16="http://schemas.microsoft.com/office/drawing/2014/main" id="{E5B6C73B-8BB4-4E4B-B917-1F55BCB4149E}"/>
              </a:ext>
            </a:extLst>
          </p:cNvPr>
          <p:cNvSpPr>
            <a:spLocks noGrp="1"/>
          </p:cNvSpPr>
          <p:nvPr>
            <p:ph idx="1"/>
          </p:nvPr>
        </p:nvSpPr>
        <p:spPr>
          <a:xfrm>
            <a:off x="2615184" y="1261872"/>
            <a:ext cx="6958584" cy="603504"/>
          </a:xfrm>
        </p:spPr>
        <p:txBody>
          <a:bodyPr vert="horz" lIns="91440" tIns="45720" rIns="91440" bIns="45720" rtlCol="0" anchor="ctr">
            <a:normAutofit/>
          </a:bodyPr>
          <a:lstStyle/>
          <a:p>
            <a:pPr marL="0" indent="0" algn="ctr">
              <a:buNone/>
            </a:pPr>
            <a:r>
              <a:rPr lang="en-US" sz="2000" kern="1200">
                <a:solidFill>
                  <a:schemeClr val="bg1"/>
                </a:solidFill>
                <a:latin typeface="+mn-lt"/>
                <a:ea typeface="+mn-ea"/>
                <a:cs typeface="+mn-cs"/>
              </a:rPr>
              <a:t>Used for prototyping electronic solutions</a:t>
            </a:r>
          </a:p>
        </p:txBody>
      </p:sp>
      <p:pic>
        <p:nvPicPr>
          <p:cNvPr id="1028" name="Picture 4">
            <a:extLst>
              <a:ext uri="{FF2B5EF4-FFF2-40B4-BE49-F238E27FC236}">
                <a16:creationId xmlns:a16="http://schemas.microsoft.com/office/drawing/2014/main" id="{9213DE3F-0F36-48CC-84DF-A1A4F176BCD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74" r="6452"/>
          <a:stretch/>
        </p:blipFill>
        <p:spPr bwMode="auto">
          <a:xfrm rot="5400000">
            <a:off x="1704656" y="2787588"/>
            <a:ext cx="4343997" cy="318003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0A749A62-C994-4ACF-AB80-F800C26641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220" r="5675" b="2"/>
          <a:stretch/>
        </p:blipFill>
        <p:spPr bwMode="auto">
          <a:xfrm>
            <a:off x="6194332" y="2128367"/>
            <a:ext cx="5577840" cy="408660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79380820-7B15-44DD-9148-338731BF2904}"/>
                  </a:ext>
                </a:extLst>
              </p14:cNvPr>
              <p14:cNvContentPartPr/>
              <p14:nvPr/>
            </p14:nvContentPartPr>
            <p14:xfrm>
              <a:off x="10816732" y="6377020"/>
              <a:ext cx="5040" cy="360"/>
            </p14:xfrm>
          </p:contentPart>
        </mc:Choice>
        <mc:Fallback xmlns="">
          <p:pic>
            <p:nvPicPr>
              <p:cNvPr id="10" name="Ink 9">
                <a:extLst>
                  <a:ext uri="{FF2B5EF4-FFF2-40B4-BE49-F238E27FC236}">
                    <a16:creationId xmlns:a16="http://schemas.microsoft.com/office/drawing/2014/main" id="{79380820-7B15-44DD-9148-338731BF2904}"/>
                  </a:ext>
                </a:extLst>
              </p:cNvPr>
              <p:cNvPicPr/>
              <p:nvPr/>
            </p:nvPicPr>
            <p:blipFill>
              <a:blip r:embed="rId6"/>
              <a:stretch>
                <a:fillRect/>
              </a:stretch>
            </p:blipFill>
            <p:spPr>
              <a:xfrm>
                <a:off x="10807732" y="6368380"/>
                <a:ext cx="22680" cy="18000"/>
              </a:xfrm>
              <a:prstGeom prst="rect">
                <a:avLst/>
              </a:prstGeom>
            </p:spPr>
          </p:pic>
        </mc:Fallback>
      </mc:AlternateContent>
    </p:spTree>
    <p:extLst>
      <p:ext uri="{BB962C8B-B14F-4D97-AF65-F5344CB8AC3E}">
        <p14:creationId xmlns:p14="http://schemas.microsoft.com/office/powerpoint/2010/main" val="915141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DEE44-84EB-419B-B0C1-EAE236F4FFEA}"/>
              </a:ext>
            </a:extLst>
          </p:cNvPr>
          <p:cNvSpPr>
            <a:spLocks noGrp="1"/>
          </p:cNvSpPr>
          <p:nvPr>
            <p:ph type="title"/>
          </p:nvPr>
        </p:nvSpPr>
        <p:spPr/>
        <p:txBody>
          <a:bodyPr/>
          <a:lstStyle/>
          <a:p>
            <a:r>
              <a:rPr lang="en-IE" dirty="0"/>
              <a:t>LEDs</a:t>
            </a:r>
          </a:p>
        </p:txBody>
      </p:sp>
      <p:sp>
        <p:nvSpPr>
          <p:cNvPr id="3" name="Content Placeholder 2">
            <a:extLst>
              <a:ext uri="{FF2B5EF4-FFF2-40B4-BE49-F238E27FC236}">
                <a16:creationId xmlns:a16="http://schemas.microsoft.com/office/drawing/2014/main" id="{783784FC-1F5B-4E2B-AA6D-719589FDAEF0}"/>
              </a:ext>
            </a:extLst>
          </p:cNvPr>
          <p:cNvSpPr>
            <a:spLocks noGrp="1"/>
          </p:cNvSpPr>
          <p:nvPr>
            <p:ph idx="1"/>
          </p:nvPr>
        </p:nvSpPr>
        <p:spPr/>
        <p:txBody>
          <a:bodyPr/>
          <a:lstStyle/>
          <a:p>
            <a:r>
              <a:rPr lang="en-GB" dirty="0"/>
              <a:t>Emits light when current passes through</a:t>
            </a:r>
          </a:p>
          <a:p>
            <a:r>
              <a:rPr lang="en-GB" dirty="0"/>
              <a:t>Typical LED requires 2V at 20mA</a:t>
            </a:r>
          </a:p>
          <a:p>
            <a:r>
              <a:rPr lang="en-GB" dirty="0"/>
              <a:t>RGB LEDs, LED strips, IR LEDs, Ultrabright</a:t>
            </a:r>
          </a:p>
          <a:p>
            <a:pPr marL="0" indent="0">
              <a:buNone/>
            </a:pPr>
            <a:endParaRPr lang="en-IE" dirty="0"/>
          </a:p>
        </p:txBody>
      </p:sp>
      <p:pic>
        <p:nvPicPr>
          <p:cNvPr id="5" name="Picture 4" descr="A picture containing icon&#10;&#10;Description automatically generated">
            <a:extLst>
              <a:ext uri="{FF2B5EF4-FFF2-40B4-BE49-F238E27FC236}">
                <a16:creationId xmlns:a16="http://schemas.microsoft.com/office/drawing/2014/main" id="{8C13C191-4D56-4318-A8B2-C623E66CE085}"/>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512919" y="365125"/>
            <a:ext cx="2840881" cy="6237025"/>
          </a:xfrm>
          <a:prstGeom prst="rect">
            <a:avLst/>
          </a:prstGeom>
        </p:spPr>
      </p:pic>
      <p:sp>
        <p:nvSpPr>
          <p:cNvPr id="6" name="TextBox 5">
            <a:extLst>
              <a:ext uri="{FF2B5EF4-FFF2-40B4-BE49-F238E27FC236}">
                <a16:creationId xmlns:a16="http://schemas.microsoft.com/office/drawing/2014/main" id="{228F7432-B6E2-4348-B582-833B331BEB60}"/>
              </a:ext>
            </a:extLst>
          </p:cNvPr>
          <p:cNvSpPr txBox="1"/>
          <p:nvPr/>
        </p:nvSpPr>
        <p:spPr>
          <a:xfrm>
            <a:off x="6721408" y="6417484"/>
            <a:ext cx="2095500" cy="369332"/>
          </a:xfrm>
          <a:prstGeom prst="rect">
            <a:avLst/>
          </a:prstGeom>
          <a:noFill/>
        </p:spPr>
        <p:txBody>
          <a:bodyPr wrap="square" rtlCol="0">
            <a:spAutoFit/>
          </a:bodyPr>
          <a:lstStyle/>
          <a:p>
            <a:r>
              <a:rPr lang="en-IE" sz="900" dirty="0">
                <a:hlinkClick r:id="rId4" tooltip="https://en.wikipedia.org/wiki/LED_circuit"/>
              </a:rPr>
              <a:t>This Photo</a:t>
            </a:r>
            <a:r>
              <a:rPr lang="en-IE" sz="900" dirty="0"/>
              <a:t> by Unknown Author is licensed under </a:t>
            </a:r>
            <a:r>
              <a:rPr lang="en-IE" sz="900" dirty="0">
                <a:hlinkClick r:id="rId5" tooltip="https://creativecommons.org/licenses/by-sa/3.0/"/>
              </a:rPr>
              <a:t>CC BY-SA</a:t>
            </a:r>
            <a:endParaRPr lang="en-IE" sz="900" dirty="0"/>
          </a:p>
        </p:txBody>
      </p:sp>
    </p:spTree>
    <p:extLst>
      <p:ext uri="{BB962C8B-B14F-4D97-AF65-F5344CB8AC3E}">
        <p14:creationId xmlns:p14="http://schemas.microsoft.com/office/powerpoint/2010/main" val="3285339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3A36D7-D123-4FEC-976E-E4197AD10472}"/>
              </a:ext>
            </a:extLst>
          </p:cNvPr>
          <p:cNvSpPr>
            <a:spLocks noGrp="1"/>
          </p:cNvSpPr>
          <p:nvPr>
            <p:ph type="title"/>
          </p:nvPr>
        </p:nvSpPr>
        <p:spPr>
          <a:xfrm>
            <a:off x="1001684" y="170412"/>
            <a:ext cx="10178934" cy="1328730"/>
          </a:xfrm>
        </p:spPr>
        <p:txBody>
          <a:bodyPr vert="horz" lIns="91440" tIns="45720" rIns="91440" bIns="45720" rtlCol="0" anchor="b">
            <a:normAutofit/>
          </a:bodyPr>
          <a:lstStyle/>
          <a:p>
            <a:pPr algn="ctr"/>
            <a:r>
              <a:rPr lang="en-US" sz="5200" kern="1200">
                <a:solidFill>
                  <a:schemeClr val="tx1"/>
                </a:solidFill>
                <a:latin typeface="+mj-lt"/>
                <a:ea typeface="+mj-ea"/>
                <a:cs typeface="+mj-cs"/>
              </a:rPr>
              <a:t>Resistors</a:t>
            </a:r>
          </a:p>
        </p:txBody>
      </p:sp>
      <p:sp>
        <p:nvSpPr>
          <p:cNvPr id="3" name="Content Placeholder 2">
            <a:extLst>
              <a:ext uri="{FF2B5EF4-FFF2-40B4-BE49-F238E27FC236}">
                <a16:creationId xmlns:a16="http://schemas.microsoft.com/office/drawing/2014/main" id="{FC888A9D-1973-42B8-8B32-97C9FC88F4C4}"/>
              </a:ext>
            </a:extLst>
          </p:cNvPr>
          <p:cNvSpPr>
            <a:spLocks noGrp="1"/>
          </p:cNvSpPr>
          <p:nvPr>
            <p:ph idx="1"/>
          </p:nvPr>
        </p:nvSpPr>
        <p:spPr>
          <a:xfrm>
            <a:off x="1114111" y="1585000"/>
            <a:ext cx="5179242" cy="1558310"/>
          </a:xfrm>
        </p:spPr>
        <p:txBody>
          <a:bodyPr vert="horz" lIns="91440" tIns="45720" rIns="91440" bIns="45720" rtlCol="0">
            <a:normAutofit/>
          </a:bodyPr>
          <a:lstStyle/>
          <a:p>
            <a:r>
              <a:rPr lang="en-US" sz="3200" kern="1200" dirty="0">
                <a:solidFill>
                  <a:schemeClr val="tx1"/>
                </a:solidFill>
                <a:latin typeface="+mn-lt"/>
                <a:ea typeface="+mn-ea"/>
                <a:cs typeface="+mn-cs"/>
              </a:rPr>
              <a:t>Reduce current and voltage to components</a:t>
            </a:r>
          </a:p>
          <a:p>
            <a:r>
              <a:rPr lang="en-US" sz="3200" dirty="0"/>
              <a:t>Ohm Law: I=V/R</a:t>
            </a:r>
            <a:endParaRPr lang="en-US" sz="3200" kern="1200" dirty="0">
              <a:solidFill>
                <a:schemeClr val="tx1"/>
              </a:solidFill>
              <a:latin typeface="+mn-lt"/>
              <a:ea typeface="+mn-ea"/>
              <a:cs typeface="+mn-cs"/>
            </a:endParaRPr>
          </a:p>
        </p:txBody>
      </p:sp>
      <p:pic>
        <p:nvPicPr>
          <p:cNvPr id="6" name="Picture 5" descr="A glass of wine&#10;&#10;Description automatically generated">
            <a:extLst>
              <a:ext uri="{FF2B5EF4-FFF2-40B4-BE49-F238E27FC236}">
                <a16:creationId xmlns:a16="http://schemas.microsoft.com/office/drawing/2014/main" id="{6695D539-BE4C-43C5-AB89-4A4963E24D59}"/>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2329" r="-2" b="1902"/>
          <a:stretch/>
        </p:blipFill>
        <p:spPr>
          <a:xfrm>
            <a:off x="1308548" y="3072552"/>
            <a:ext cx="4073456" cy="2730711"/>
          </a:xfrm>
          <a:prstGeom prst="rect">
            <a:avLst/>
          </a:prstGeom>
        </p:spPr>
      </p:pic>
      <p:pic>
        <p:nvPicPr>
          <p:cNvPr id="13" name="Shape 372">
            <a:extLst>
              <a:ext uri="{FF2B5EF4-FFF2-40B4-BE49-F238E27FC236}">
                <a16:creationId xmlns:a16="http://schemas.microsoft.com/office/drawing/2014/main" id="{ED36BBAF-66C5-4A7D-A139-3011191F7C8F}"/>
              </a:ext>
            </a:extLst>
          </p:cNvPr>
          <p:cNvPicPr preferRelativeResize="0"/>
          <p:nvPr/>
        </p:nvPicPr>
        <p:blipFill rotWithShape="1">
          <a:blip r:embed="rId5">
            <a:alphaModFix/>
          </a:blip>
          <a:srcRect t="24979" r="5749" b="7"/>
          <a:stretch/>
        </p:blipFill>
        <p:spPr>
          <a:xfrm>
            <a:off x="6293353" y="3229167"/>
            <a:ext cx="4282800" cy="2547900"/>
          </a:xfrm>
          <a:prstGeom prst="rect">
            <a:avLst/>
          </a:prstGeom>
          <a:noFill/>
          <a:ln>
            <a:noFill/>
          </a:ln>
        </p:spPr>
      </p:pic>
      <p:pic>
        <p:nvPicPr>
          <p:cNvPr id="9" name="Picture 8" descr="A picture containing shape&#10;&#10;Description automatically generated">
            <a:extLst>
              <a:ext uri="{FF2B5EF4-FFF2-40B4-BE49-F238E27FC236}">
                <a16:creationId xmlns:a16="http://schemas.microsoft.com/office/drawing/2014/main" id="{6FE8024A-6576-49C0-A4DA-5C3DCD4B57BC}"/>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5471187" y="834777"/>
            <a:ext cx="5927133" cy="2222675"/>
          </a:xfrm>
          <a:prstGeom prst="rect">
            <a:avLst/>
          </a:prstGeom>
        </p:spPr>
      </p:pic>
      <p:sp>
        <p:nvSpPr>
          <p:cNvPr id="10" name="TextBox 9">
            <a:extLst>
              <a:ext uri="{FF2B5EF4-FFF2-40B4-BE49-F238E27FC236}">
                <a16:creationId xmlns:a16="http://schemas.microsoft.com/office/drawing/2014/main" id="{785A953C-D617-4A1F-AB6B-305D3BB1E305}"/>
              </a:ext>
            </a:extLst>
          </p:cNvPr>
          <p:cNvSpPr txBox="1"/>
          <p:nvPr/>
        </p:nvSpPr>
        <p:spPr>
          <a:xfrm>
            <a:off x="539646" y="6532879"/>
            <a:ext cx="12192000" cy="230832"/>
          </a:xfrm>
          <a:prstGeom prst="rect">
            <a:avLst/>
          </a:prstGeom>
          <a:noFill/>
        </p:spPr>
        <p:txBody>
          <a:bodyPr wrap="square" rtlCol="0">
            <a:spAutoFit/>
          </a:bodyPr>
          <a:lstStyle/>
          <a:p>
            <a:r>
              <a:rPr lang="en-IE" sz="900" dirty="0">
                <a:hlinkClick r:id="rId7" tooltip="http://electronics.stackexchange.com/questions/271067/schematic-layout-for-inline-and-pull-up-down-resistors"/>
              </a:rPr>
              <a:t>This Photo</a:t>
            </a:r>
            <a:r>
              <a:rPr lang="en-IE" sz="900" dirty="0"/>
              <a:t> by Unknown Author is licensed under </a:t>
            </a:r>
            <a:r>
              <a:rPr lang="en-IE" sz="900" dirty="0">
                <a:hlinkClick r:id="rId8" tooltip="https://creativecommons.org/licenses/by-sa/3.0/"/>
              </a:rPr>
              <a:t>CC BY-SA</a:t>
            </a:r>
            <a:endParaRPr lang="en-IE" sz="900" dirty="0"/>
          </a:p>
        </p:txBody>
      </p:sp>
    </p:spTree>
    <p:extLst>
      <p:ext uri="{BB962C8B-B14F-4D97-AF65-F5344CB8AC3E}">
        <p14:creationId xmlns:p14="http://schemas.microsoft.com/office/powerpoint/2010/main" val="1568284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9101A-6791-4960-A4E5-F142452AED21}"/>
              </a:ext>
            </a:extLst>
          </p:cNvPr>
          <p:cNvSpPr>
            <a:spLocks noGrp="1"/>
          </p:cNvSpPr>
          <p:nvPr>
            <p:ph type="title"/>
          </p:nvPr>
        </p:nvSpPr>
        <p:spPr/>
        <p:txBody>
          <a:bodyPr/>
          <a:lstStyle/>
          <a:p>
            <a:r>
              <a:rPr lang="en-IE" dirty="0"/>
              <a:t>Push Button</a:t>
            </a:r>
          </a:p>
        </p:txBody>
      </p:sp>
      <p:sp>
        <p:nvSpPr>
          <p:cNvPr id="3" name="Content Placeholder 2">
            <a:extLst>
              <a:ext uri="{FF2B5EF4-FFF2-40B4-BE49-F238E27FC236}">
                <a16:creationId xmlns:a16="http://schemas.microsoft.com/office/drawing/2014/main" id="{0E03735C-0CC8-4BD3-A080-F01C940BADD8}"/>
              </a:ext>
            </a:extLst>
          </p:cNvPr>
          <p:cNvSpPr>
            <a:spLocks noGrp="1"/>
          </p:cNvSpPr>
          <p:nvPr>
            <p:ph idx="1"/>
          </p:nvPr>
        </p:nvSpPr>
        <p:spPr>
          <a:xfrm>
            <a:off x="525593" y="1690688"/>
            <a:ext cx="10515600" cy="4351338"/>
          </a:xfrm>
        </p:spPr>
        <p:txBody>
          <a:bodyPr/>
          <a:lstStyle/>
          <a:p>
            <a:r>
              <a:rPr lang="en-GB" b="1" i="0" dirty="0">
                <a:solidFill>
                  <a:srgbClr val="1A1A1A"/>
                </a:solidFill>
                <a:effectLst/>
                <a:latin typeface="Merriweather"/>
              </a:rPr>
              <a:t>pushbuttons</a:t>
            </a:r>
            <a:r>
              <a:rPr lang="en-GB" b="0" i="0" dirty="0">
                <a:solidFill>
                  <a:srgbClr val="1A1A1A"/>
                </a:solidFill>
                <a:effectLst/>
                <a:latin typeface="Merriweather"/>
              </a:rPr>
              <a:t> control the flow of current through a junction in a circuit</a:t>
            </a:r>
            <a:endParaRPr lang="en-IE" dirty="0"/>
          </a:p>
        </p:txBody>
      </p:sp>
      <p:pic>
        <p:nvPicPr>
          <p:cNvPr id="5" name="Picture 4" descr="A picture containing sitting, indoor, car, table&#10;&#10;Description automatically generated">
            <a:extLst>
              <a:ext uri="{FF2B5EF4-FFF2-40B4-BE49-F238E27FC236}">
                <a16:creationId xmlns:a16="http://schemas.microsoft.com/office/drawing/2014/main" id="{B3D1C724-6F39-426A-953B-60F4D47B857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150807" y="2633688"/>
            <a:ext cx="4064000" cy="4064000"/>
          </a:xfrm>
          <a:prstGeom prst="rect">
            <a:avLst/>
          </a:prstGeom>
        </p:spPr>
      </p:pic>
      <p:pic>
        <p:nvPicPr>
          <p:cNvPr id="8" name="Picture 7" descr="A picture containing graphical user interface&#10;&#10;Description automatically generated">
            <a:extLst>
              <a:ext uri="{FF2B5EF4-FFF2-40B4-BE49-F238E27FC236}">
                <a16:creationId xmlns:a16="http://schemas.microsoft.com/office/drawing/2014/main" id="{74363A3E-8158-4C3C-AD98-A4E030CB66B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615453" y="3699772"/>
            <a:ext cx="5025094" cy="1621735"/>
          </a:xfrm>
          <a:prstGeom prst="rect">
            <a:avLst/>
          </a:prstGeom>
        </p:spPr>
      </p:pic>
    </p:spTree>
    <p:extLst>
      <p:ext uri="{BB962C8B-B14F-4D97-AF65-F5344CB8AC3E}">
        <p14:creationId xmlns:p14="http://schemas.microsoft.com/office/powerpoint/2010/main" val="3525455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41368-CE35-4732-804C-AF3CC6CA4486}"/>
              </a:ext>
            </a:extLst>
          </p:cNvPr>
          <p:cNvSpPr>
            <a:spLocks noGrp="1"/>
          </p:cNvSpPr>
          <p:nvPr>
            <p:ph type="title"/>
          </p:nvPr>
        </p:nvSpPr>
        <p:spPr/>
        <p:txBody>
          <a:bodyPr/>
          <a:lstStyle/>
          <a:p>
            <a:r>
              <a:rPr lang="en-IE" dirty="0"/>
              <a:t>Circuit Schematics</a:t>
            </a:r>
          </a:p>
        </p:txBody>
      </p:sp>
      <p:sp>
        <p:nvSpPr>
          <p:cNvPr id="3" name="Content Placeholder 2">
            <a:extLst>
              <a:ext uri="{FF2B5EF4-FFF2-40B4-BE49-F238E27FC236}">
                <a16:creationId xmlns:a16="http://schemas.microsoft.com/office/drawing/2014/main" id="{C73E3AD6-01FA-49D5-A8FE-79BB7751A894}"/>
              </a:ext>
            </a:extLst>
          </p:cNvPr>
          <p:cNvSpPr>
            <a:spLocks noGrp="1"/>
          </p:cNvSpPr>
          <p:nvPr>
            <p:ph idx="1"/>
          </p:nvPr>
        </p:nvSpPr>
        <p:spPr>
          <a:xfrm>
            <a:off x="838200" y="1825625"/>
            <a:ext cx="5330252" cy="4351338"/>
          </a:xfrm>
        </p:spPr>
        <p:txBody>
          <a:bodyPr/>
          <a:lstStyle/>
          <a:p>
            <a:r>
              <a:rPr lang="en-GB" b="0" i="0" dirty="0">
                <a:solidFill>
                  <a:srgbClr val="333333"/>
                </a:solidFill>
                <a:effectLst/>
                <a:latin typeface="Helvetica Neue"/>
              </a:rPr>
              <a:t>Circuit Schematic </a:t>
            </a:r>
            <a:r>
              <a:rPr lang="en-GB" dirty="0">
                <a:solidFill>
                  <a:srgbClr val="333333"/>
                </a:solidFill>
                <a:latin typeface="Helvetica Neue"/>
              </a:rPr>
              <a:t>illustrate </a:t>
            </a:r>
            <a:r>
              <a:rPr lang="en-GB" b="0" i="0" dirty="0">
                <a:solidFill>
                  <a:srgbClr val="333333"/>
                </a:solidFill>
                <a:effectLst/>
                <a:latin typeface="Helvetica Neue"/>
              </a:rPr>
              <a:t>you how components are connected in a circuit. </a:t>
            </a:r>
          </a:p>
          <a:p>
            <a:r>
              <a:rPr lang="en-IE" dirty="0"/>
              <a:t>For more info follow this </a:t>
            </a:r>
            <a:r>
              <a:rPr lang="en-IE" dirty="0">
                <a:hlinkClick r:id="rId2"/>
              </a:rPr>
              <a:t>link</a:t>
            </a:r>
            <a:endParaRPr lang="en-IE" dirty="0"/>
          </a:p>
        </p:txBody>
      </p:sp>
      <p:pic>
        <p:nvPicPr>
          <p:cNvPr id="3074" name="Picture 2">
            <a:extLst>
              <a:ext uri="{FF2B5EF4-FFF2-40B4-BE49-F238E27FC236}">
                <a16:creationId xmlns:a16="http://schemas.microsoft.com/office/drawing/2014/main" id="{CCBC8CB2-CA2B-41E8-ABDA-6E0262E170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4907" y="2146872"/>
            <a:ext cx="4878339" cy="2564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3529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1A6B-E4E0-44CF-9A4C-F4280E46F576}"/>
              </a:ext>
            </a:extLst>
          </p:cNvPr>
          <p:cNvSpPr>
            <a:spLocks noGrp="1"/>
          </p:cNvSpPr>
          <p:nvPr>
            <p:ph type="title"/>
          </p:nvPr>
        </p:nvSpPr>
        <p:spPr/>
        <p:txBody>
          <a:bodyPr/>
          <a:lstStyle/>
          <a:p>
            <a:r>
              <a:rPr lang="en-IE" dirty="0"/>
              <a:t>Electrical Flow</a:t>
            </a:r>
          </a:p>
        </p:txBody>
      </p:sp>
      <p:sp>
        <p:nvSpPr>
          <p:cNvPr id="3" name="Content Placeholder 2">
            <a:extLst>
              <a:ext uri="{FF2B5EF4-FFF2-40B4-BE49-F238E27FC236}">
                <a16:creationId xmlns:a16="http://schemas.microsoft.com/office/drawing/2014/main" id="{FE2D35C5-AEB7-4A96-BBC7-405F9C95E87C}"/>
              </a:ext>
            </a:extLst>
          </p:cNvPr>
          <p:cNvSpPr>
            <a:spLocks noGrp="1"/>
          </p:cNvSpPr>
          <p:nvPr>
            <p:ph idx="1"/>
          </p:nvPr>
        </p:nvSpPr>
        <p:spPr>
          <a:xfrm>
            <a:off x="838201" y="1825625"/>
            <a:ext cx="7144062" cy="4351338"/>
          </a:xfrm>
        </p:spPr>
        <p:txBody>
          <a:bodyPr/>
          <a:lstStyle/>
          <a:p>
            <a:r>
              <a:rPr lang="en-IE" dirty="0"/>
              <a:t>Components can be arranged in series/parallel</a:t>
            </a:r>
          </a:p>
          <a:p>
            <a:r>
              <a:rPr lang="en-GB" i="0" dirty="0">
                <a:solidFill>
                  <a:srgbClr val="1A1A1A"/>
                </a:solidFill>
                <a:effectLst/>
                <a:latin typeface="Merriweather"/>
              </a:rPr>
              <a:t>Current tends to follow the path of least resistance to the ground</a:t>
            </a:r>
            <a:endParaRPr lang="en-IE" dirty="0"/>
          </a:p>
          <a:p>
            <a:r>
              <a:rPr lang="en-IE" dirty="0"/>
              <a:t> </a:t>
            </a:r>
            <a:r>
              <a:rPr lang="en-GB" dirty="0"/>
              <a:t>In any given circuit, the total voltage around the path of the circuit is zero</a:t>
            </a:r>
          </a:p>
          <a:p>
            <a:r>
              <a:rPr lang="en-GB" dirty="0"/>
              <a:t>The amount of current going into any point in a circuit is the same as the amount coming out of that point.</a:t>
            </a:r>
            <a:endParaRPr lang="en-IE" dirty="0"/>
          </a:p>
        </p:txBody>
      </p:sp>
      <p:pic>
        <p:nvPicPr>
          <p:cNvPr id="8" name="Picture 7" descr="A close up of a device&#10;&#10;Description automatically generated">
            <a:extLst>
              <a:ext uri="{FF2B5EF4-FFF2-40B4-BE49-F238E27FC236}">
                <a16:creationId xmlns:a16="http://schemas.microsoft.com/office/drawing/2014/main" id="{7BCAB99F-877A-415A-B5AE-53BA69AE9F7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915196" y="1913393"/>
            <a:ext cx="4451098" cy="3031214"/>
          </a:xfrm>
          <a:prstGeom prst="rect">
            <a:avLst/>
          </a:prstGeom>
        </p:spPr>
      </p:pic>
    </p:spTree>
    <p:extLst>
      <p:ext uri="{BB962C8B-B14F-4D97-AF65-F5344CB8AC3E}">
        <p14:creationId xmlns:p14="http://schemas.microsoft.com/office/powerpoint/2010/main" val="602013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B4589-1362-4B0E-BAD9-EEF5651E6F5D}"/>
              </a:ext>
            </a:extLst>
          </p:cNvPr>
          <p:cNvSpPr>
            <a:spLocks noGrp="1"/>
          </p:cNvSpPr>
          <p:nvPr>
            <p:ph type="title"/>
          </p:nvPr>
        </p:nvSpPr>
        <p:spPr/>
        <p:txBody>
          <a:bodyPr/>
          <a:lstStyle/>
          <a:p>
            <a:r>
              <a:rPr lang="en-IE" dirty="0"/>
              <a:t>Physical Computing with </a:t>
            </a:r>
            <a:r>
              <a:rPr lang="en-IE" dirty="0" err="1"/>
              <a:t>Rpi</a:t>
            </a:r>
            <a:r>
              <a:rPr lang="en-IE" dirty="0"/>
              <a:t>: GPIO</a:t>
            </a:r>
          </a:p>
        </p:txBody>
      </p:sp>
      <p:sp>
        <p:nvSpPr>
          <p:cNvPr id="3" name="Content Placeholder 2">
            <a:extLst>
              <a:ext uri="{FF2B5EF4-FFF2-40B4-BE49-F238E27FC236}">
                <a16:creationId xmlns:a16="http://schemas.microsoft.com/office/drawing/2014/main" id="{A5F78372-742A-4977-9660-AE83EF1D06DC}"/>
              </a:ext>
            </a:extLst>
          </p:cNvPr>
          <p:cNvSpPr>
            <a:spLocks noGrp="1"/>
          </p:cNvSpPr>
          <p:nvPr>
            <p:ph idx="1"/>
          </p:nvPr>
        </p:nvSpPr>
        <p:spPr>
          <a:xfrm>
            <a:off x="1497767" y="3099789"/>
            <a:ext cx="8442696" cy="3310370"/>
          </a:xfrm>
        </p:spPr>
        <p:txBody>
          <a:bodyPr/>
          <a:lstStyle/>
          <a:p>
            <a:r>
              <a:rPr lang="en-IE" dirty="0"/>
              <a:t>GPIO!</a:t>
            </a:r>
          </a:p>
        </p:txBody>
      </p:sp>
      <p:pic>
        <p:nvPicPr>
          <p:cNvPr id="4098" name="Picture 2" descr="GPIO - Raspberry Pi Documentation">
            <a:extLst>
              <a:ext uri="{FF2B5EF4-FFF2-40B4-BE49-F238E27FC236}">
                <a16:creationId xmlns:a16="http://schemas.microsoft.com/office/drawing/2014/main" id="{B9F1DA52-C8DA-458A-9A98-814F775952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392" y="1274164"/>
            <a:ext cx="9725181" cy="5583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709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8EF63619-BD88-4B3E-B70D-BFF423EC60FE}"/>
              </a:ext>
            </a:extLst>
          </p:cNvPr>
          <p:cNvPicPr>
            <a:picLocks noChangeAspect="1"/>
          </p:cNvPicPr>
          <p:nvPr/>
        </p:nvPicPr>
        <p:blipFill>
          <a:blip r:embed="rId3"/>
          <a:stretch>
            <a:fillRect/>
          </a:stretch>
        </p:blipFill>
        <p:spPr>
          <a:xfrm>
            <a:off x="6948618" y="1132675"/>
            <a:ext cx="4591050" cy="5848350"/>
          </a:xfrm>
          <a:prstGeom prst="rect">
            <a:avLst/>
          </a:prstGeom>
        </p:spPr>
      </p:pic>
      <p:sp>
        <p:nvSpPr>
          <p:cNvPr id="2" name="Title 1">
            <a:extLst>
              <a:ext uri="{FF2B5EF4-FFF2-40B4-BE49-F238E27FC236}">
                <a16:creationId xmlns:a16="http://schemas.microsoft.com/office/drawing/2014/main" id="{D68D90A4-BFC6-40DE-997D-443F9662135B}"/>
              </a:ext>
            </a:extLst>
          </p:cNvPr>
          <p:cNvSpPr>
            <a:spLocks noGrp="1"/>
          </p:cNvSpPr>
          <p:nvPr>
            <p:ph type="title"/>
          </p:nvPr>
        </p:nvSpPr>
        <p:spPr/>
        <p:txBody>
          <a:bodyPr/>
          <a:lstStyle/>
          <a:p>
            <a:r>
              <a:rPr lang="en-IE" dirty="0"/>
              <a:t>Physical Computing with RPi: Build Circuit</a:t>
            </a:r>
          </a:p>
        </p:txBody>
      </p:sp>
      <p:sp>
        <p:nvSpPr>
          <p:cNvPr id="3" name="Content Placeholder 2">
            <a:extLst>
              <a:ext uri="{FF2B5EF4-FFF2-40B4-BE49-F238E27FC236}">
                <a16:creationId xmlns:a16="http://schemas.microsoft.com/office/drawing/2014/main" id="{7B1BB85A-529F-4213-89E0-BAEBCF8EAE65}"/>
              </a:ext>
            </a:extLst>
          </p:cNvPr>
          <p:cNvSpPr>
            <a:spLocks noGrp="1"/>
          </p:cNvSpPr>
          <p:nvPr>
            <p:ph idx="1"/>
          </p:nvPr>
        </p:nvSpPr>
        <p:spPr>
          <a:xfrm>
            <a:off x="838200" y="1825625"/>
            <a:ext cx="6244652" cy="4351338"/>
          </a:xfrm>
        </p:spPr>
        <p:txBody>
          <a:bodyPr/>
          <a:lstStyle/>
          <a:p>
            <a:r>
              <a:rPr lang="en-IE" dirty="0"/>
              <a:t>Use GPIO Headers to create circuit</a:t>
            </a:r>
          </a:p>
          <a:p>
            <a:r>
              <a:rPr lang="en-IE" dirty="0"/>
              <a:t>Write program to Read/Write to GPIO headers</a:t>
            </a:r>
          </a:p>
        </p:txBody>
      </p:sp>
      <p:pic>
        <p:nvPicPr>
          <p:cNvPr id="5" name="Picture 4">
            <a:extLst>
              <a:ext uri="{FF2B5EF4-FFF2-40B4-BE49-F238E27FC236}">
                <a16:creationId xmlns:a16="http://schemas.microsoft.com/office/drawing/2014/main" id="{F373AAA7-09B2-40B9-A6DE-BC2ED9711884}"/>
              </a:ext>
            </a:extLst>
          </p:cNvPr>
          <p:cNvPicPr>
            <a:picLocks noChangeAspect="1"/>
          </p:cNvPicPr>
          <p:nvPr/>
        </p:nvPicPr>
        <p:blipFill>
          <a:blip r:embed="rId4"/>
          <a:stretch>
            <a:fillRect/>
          </a:stretch>
        </p:blipFill>
        <p:spPr>
          <a:xfrm>
            <a:off x="1120982" y="3429000"/>
            <a:ext cx="2943721" cy="2882900"/>
          </a:xfrm>
          <a:prstGeom prst="rect">
            <a:avLst/>
          </a:prstGeom>
        </p:spPr>
      </p:pic>
      <p:grpSp>
        <p:nvGrpSpPr>
          <p:cNvPr id="22" name="Group 21">
            <a:extLst>
              <a:ext uri="{FF2B5EF4-FFF2-40B4-BE49-F238E27FC236}">
                <a16:creationId xmlns:a16="http://schemas.microsoft.com/office/drawing/2014/main" id="{97CBD9E4-72A6-4E6D-8D46-820D11E2A300}"/>
              </a:ext>
            </a:extLst>
          </p:cNvPr>
          <p:cNvGrpSpPr/>
          <p:nvPr/>
        </p:nvGrpSpPr>
        <p:grpSpPr>
          <a:xfrm>
            <a:off x="2680458" y="3866410"/>
            <a:ext cx="5852520" cy="1004040"/>
            <a:chOff x="2774632" y="3939964"/>
            <a:chExt cx="5852520" cy="1004040"/>
          </a:xfrm>
        </p:grpSpPr>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09DB6A79-8C52-48EE-999B-5E1270A9C1F0}"/>
                    </a:ext>
                  </a:extLst>
                </p14:cNvPr>
                <p14:cNvContentPartPr/>
                <p14:nvPr/>
              </p14:nvContentPartPr>
              <p14:xfrm>
                <a:off x="4819792" y="4005124"/>
                <a:ext cx="298800" cy="497160"/>
              </p14:xfrm>
            </p:contentPart>
          </mc:Choice>
          <mc:Fallback xmlns="">
            <p:pic>
              <p:nvPicPr>
                <p:cNvPr id="6" name="Ink 5">
                  <a:extLst>
                    <a:ext uri="{FF2B5EF4-FFF2-40B4-BE49-F238E27FC236}">
                      <a16:creationId xmlns:a16="http://schemas.microsoft.com/office/drawing/2014/main" id="{09DB6A79-8C52-48EE-999B-5E1270A9C1F0}"/>
                    </a:ext>
                  </a:extLst>
                </p:cNvPr>
                <p:cNvPicPr/>
                <p:nvPr/>
              </p:nvPicPr>
              <p:blipFill>
                <a:blip r:embed="rId6"/>
                <a:stretch>
                  <a:fillRect/>
                </a:stretch>
              </p:blipFill>
              <p:spPr>
                <a:xfrm>
                  <a:off x="4810792" y="3996484"/>
                  <a:ext cx="316440" cy="514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3C027634-F390-4165-94B0-099E839C15FD}"/>
                    </a:ext>
                  </a:extLst>
                </p14:cNvPr>
                <p14:cNvContentPartPr/>
                <p14:nvPr/>
              </p14:nvContentPartPr>
              <p14:xfrm>
                <a:off x="5160712" y="4076404"/>
                <a:ext cx="49320" cy="398880"/>
              </p14:xfrm>
            </p:contentPart>
          </mc:Choice>
          <mc:Fallback xmlns="">
            <p:pic>
              <p:nvPicPr>
                <p:cNvPr id="7" name="Ink 6">
                  <a:extLst>
                    <a:ext uri="{FF2B5EF4-FFF2-40B4-BE49-F238E27FC236}">
                      <a16:creationId xmlns:a16="http://schemas.microsoft.com/office/drawing/2014/main" id="{3C027634-F390-4165-94B0-099E839C15FD}"/>
                    </a:ext>
                  </a:extLst>
                </p:cNvPr>
                <p:cNvPicPr/>
                <p:nvPr/>
              </p:nvPicPr>
              <p:blipFill>
                <a:blip r:embed="rId8"/>
                <a:stretch>
                  <a:fillRect/>
                </a:stretch>
              </p:blipFill>
              <p:spPr>
                <a:xfrm>
                  <a:off x="5152072" y="4067764"/>
                  <a:ext cx="6696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F0404639-0407-47B5-96FC-48F55458307B}"/>
                    </a:ext>
                  </a:extLst>
                </p14:cNvPr>
                <p14:cNvContentPartPr/>
                <p14:nvPr/>
              </p14:nvContentPartPr>
              <p14:xfrm>
                <a:off x="5184472" y="3979564"/>
                <a:ext cx="106920" cy="320400"/>
              </p14:xfrm>
            </p:contentPart>
          </mc:Choice>
          <mc:Fallback xmlns="">
            <p:pic>
              <p:nvPicPr>
                <p:cNvPr id="8" name="Ink 7">
                  <a:extLst>
                    <a:ext uri="{FF2B5EF4-FFF2-40B4-BE49-F238E27FC236}">
                      <a16:creationId xmlns:a16="http://schemas.microsoft.com/office/drawing/2014/main" id="{F0404639-0407-47B5-96FC-48F55458307B}"/>
                    </a:ext>
                  </a:extLst>
                </p:cNvPr>
                <p:cNvPicPr/>
                <p:nvPr/>
              </p:nvPicPr>
              <p:blipFill>
                <a:blip r:embed="rId10"/>
                <a:stretch>
                  <a:fillRect/>
                </a:stretch>
              </p:blipFill>
              <p:spPr>
                <a:xfrm>
                  <a:off x="5175832" y="3970924"/>
                  <a:ext cx="1245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84511FBE-B042-464A-A471-54BBDDA00F60}"/>
                    </a:ext>
                  </a:extLst>
                </p14:cNvPr>
                <p14:cNvContentPartPr/>
                <p14:nvPr/>
              </p14:nvContentPartPr>
              <p14:xfrm>
                <a:off x="5438992" y="4015924"/>
                <a:ext cx="30960" cy="478800"/>
              </p14:xfrm>
            </p:contentPart>
          </mc:Choice>
          <mc:Fallback xmlns="">
            <p:pic>
              <p:nvPicPr>
                <p:cNvPr id="9" name="Ink 8">
                  <a:extLst>
                    <a:ext uri="{FF2B5EF4-FFF2-40B4-BE49-F238E27FC236}">
                      <a16:creationId xmlns:a16="http://schemas.microsoft.com/office/drawing/2014/main" id="{84511FBE-B042-464A-A471-54BBDDA00F60}"/>
                    </a:ext>
                  </a:extLst>
                </p:cNvPr>
                <p:cNvPicPr/>
                <p:nvPr/>
              </p:nvPicPr>
              <p:blipFill>
                <a:blip r:embed="rId12"/>
                <a:stretch>
                  <a:fillRect/>
                </a:stretch>
              </p:blipFill>
              <p:spPr>
                <a:xfrm>
                  <a:off x="5429992" y="4006924"/>
                  <a:ext cx="48600" cy="496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369529D9-CF84-46F8-9D02-08EDF32872FE}"/>
                    </a:ext>
                  </a:extLst>
                </p14:cNvPr>
                <p14:cNvContentPartPr/>
                <p14:nvPr/>
              </p14:nvContentPartPr>
              <p14:xfrm>
                <a:off x="5553832" y="3983524"/>
                <a:ext cx="172800" cy="515160"/>
              </p14:xfrm>
            </p:contentPart>
          </mc:Choice>
          <mc:Fallback xmlns="">
            <p:pic>
              <p:nvPicPr>
                <p:cNvPr id="10" name="Ink 9">
                  <a:extLst>
                    <a:ext uri="{FF2B5EF4-FFF2-40B4-BE49-F238E27FC236}">
                      <a16:creationId xmlns:a16="http://schemas.microsoft.com/office/drawing/2014/main" id="{369529D9-CF84-46F8-9D02-08EDF32872FE}"/>
                    </a:ext>
                  </a:extLst>
                </p:cNvPr>
                <p:cNvPicPr/>
                <p:nvPr/>
              </p:nvPicPr>
              <p:blipFill>
                <a:blip r:embed="rId14"/>
                <a:stretch>
                  <a:fillRect/>
                </a:stretch>
              </p:blipFill>
              <p:spPr>
                <a:xfrm>
                  <a:off x="5545192" y="3974524"/>
                  <a:ext cx="190440" cy="532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27270086-FD05-425A-9708-07675A40A73F}"/>
                    </a:ext>
                  </a:extLst>
                </p14:cNvPr>
                <p14:cNvContentPartPr/>
                <p14:nvPr/>
              </p14:nvContentPartPr>
              <p14:xfrm>
                <a:off x="6070792" y="4044004"/>
                <a:ext cx="24120" cy="416880"/>
              </p14:xfrm>
            </p:contentPart>
          </mc:Choice>
          <mc:Fallback xmlns="">
            <p:pic>
              <p:nvPicPr>
                <p:cNvPr id="11" name="Ink 10">
                  <a:extLst>
                    <a:ext uri="{FF2B5EF4-FFF2-40B4-BE49-F238E27FC236}">
                      <a16:creationId xmlns:a16="http://schemas.microsoft.com/office/drawing/2014/main" id="{27270086-FD05-425A-9708-07675A40A73F}"/>
                    </a:ext>
                  </a:extLst>
                </p:cNvPr>
                <p:cNvPicPr/>
                <p:nvPr/>
              </p:nvPicPr>
              <p:blipFill>
                <a:blip r:embed="rId16"/>
                <a:stretch>
                  <a:fillRect/>
                </a:stretch>
              </p:blipFill>
              <p:spPr>
                <a:xfrm>
                  <a:off x="6062152" y="4035364"/>
                  <a:ext cx="41760" cy="434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4BD86E30-6817-4241-BD86-FFED277B5224}"/>
                    </a:ext>
                  </a:extLst>
                </p14:cNvPr>
                <p14:cNvContentPartPr/>
                <p14:nvPr/>
              </p14:nvContentPartPr>
              <p14:xfrm>
                <a:off x="6239272" y="3939964"/>
                <a:ext cx="220320" cy="556560"/>
              </p14:xfrm>
            </p:contentPart>
          </mc:Choice>
          <mc:Fallback xmlns="">
            <p:pic>
              <p:nvPicPr>
                <p:cNvPr id="12" name="Ink 11">
                  <a:extLst>
                    <a:ext uri="{FF2B5EF4-FFF2-40B4-BE49-F238E27FC236}">
                      <a16:creationId xmlns:a16="http://schemas.microsoft.com/office/drawing/2014/main" id="{4BD86E30-6817-4241-BD86-FFED277B5224}"/>
                    </a:ext>
                  </a:extLst>
                </p:cNvPr>
                <p:cNvPicPr/>
                <p:nvPr/>
              </p:nvPicPr>
              <p:blipFill>
                <a:blip r:embed="rId18"/>
                <a:stretch>
                  <a:fillRect/>
                </a:stretch>
              </p:blipFill>
              <p:spPr>
                <a:xfrm>
                  <a:off x="6230272" y="3931324"/>
                  <a:ext cx="237960" cy="574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516507BF-B582-4CC3-92BC-08B5A4C774C3}"/>
                    </a:ext>
                  </a:extLst>
                </p14:cNvPr>
                <p14:cNvContentPartPr/>
                <p14:nvPr/>
              </p14:nvContentPartPr>
              <p14:xfrm>
                <a:off x="6250072" y="4410124"/>
                <a:ext cx="2156040" cy="512280"/>
              </p14:xfrm>
            </p:contentPart>
          </mc:Choice>
          <mc:Fallback xmlns="">
            <p:pic>
              <p:nvPicPr>
                <p:cNvPr id="15" name="Ink 14">
                  <a:extLst>
                    <a:ext uri="{FF2B5EF4-FFF2-40B4-BE49-F238E27FC236}">
                      <a16:creationId xmlns:a16="http://schemas.microsoft.com/office/drawing/2014/main" id="{516507BF-B582-4CC3-92BC-08B5A4C774C3}"/>
                    </a:ext>
                  </a:extLst>
                </p:cNvPr>
                <p:cNvPicPr/>
                <p:nvPr/>
              </p:nvPicPr>
              <p:blipFill>
                <a:blip r:embed="rId20"/>
                <a:stretch>
                  <a:fillRect/>
                </a:stretch>
              </p:blipFill>
              <p:spPr>
                <a:xfrm>
                  <a:off x="6241072" y="4401484"/>
                  <a:ext cx="2173680" cy="529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20D64259-7CA7-463C-AE17-AF8CCB94FA85}"/>
                    </a:ext>
                  </a:extLst>
                </p14:cNvPr>
                <p14:cNvContentPartPr/>
                <p14:nvPr/>
              </p14:nvContentPartPr>
              <p14:xfrm>
                <a:off x="8180752" y="4411204"/>
                <a:ext cx="181800" cy="195480"/>
              </p14:xfrm>
            </p:contentPart>
          </mc:Choice>
          <mc:Fallback xmlns="">
            <p:pic>
              <p:nvPicPr>
                <p:cNvPr id="16" name="Ink 15">
                  <a:extLst>
                    <a:ext uri="{FF2B5EF4-FFF2-40B4-BE49-F238E27FC236}">
                      <a16:creationId xmlns:a16="http://schemas.microsoft.com/office/drawing/2014/main" id="{20D64259-7CA7-463C-AE17-AF8CCB94FA85}"/>
                    </a:ext>
                  </a:extLst>
                </p:cNvPr>
                <p:cNvPicPr/>
                <p:nvPr/>
              </p:nvPicPr>
              <p:blipFill>
                <a:blip r:embed="rId22"/>
                <a:stretch>
                  <a:fillRect/>
                </a:stretch>
              </p:blipFill>
              <p:spPr>
                <a:xfrm>
                  <a:off x="8172112" y="4402204"/>
                  <a:ext cx="1994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5A28235C-5515-480B-AE9E-477DB6985B7D}"/>
                    </a:ext>
                  </a:extLst>
                </p14:cNvPr>
                <p14:cNvContentPartPr/>
                <p14:nvPr/>
              </p14:nvContentPartPr>
              <p14:xfrm>
                <a:off x="2826112" y="4538644"/>
                <a:ext cx="2634120" cy="405360"/>
              </p14:xfrm>
            </p:contentPart>
          </mc:Choice>
          <mc:Fallback xmlns="">
            <p:pic>
              <p:nvPicPr>
                <p:cNvPr id="18" name="Ink 17">
                  <a:extLst>
                    <a:ext uri="{FF2B5EF4-FFF2-40B4-BE49-F238E27FC236}">
                      <a16:creationId xmlns:a16="http://schemas.microsoft.com/office/drawing/2014/main" id="{5A28235C-5515-480B-AE9E-477DB6985B7D}"/>
                    </a:ext>
                  </a:extLst>
                </p:cNvPr>
                <p:cNvPicPr/>
                <p:nvPr/>
              </p:nvPicPr>
              <p:blipFill>
                <a:blip r:embed="rId24"/>
                <a:stretch>
                  <a:fillRect/>
                </a:stretch>
              </p:blipFill>
              <p:spPr>
                <a:xfrm>
                  <a:off x="2817112" y="4530004"/>
                  <a:ext cx="265176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1AA660BD-74F4-42AE-8BAE-964897327C82}"/>
                    </a:ext>
                  </a:extLst>
                </p14:cNvPr>
                <p14:cNvContentPartPr/>
                <p14:nvPr/>
              </p14:nvContentPartPr>
              <p14:xfrm>
                <a:off x="2774632" y="4486804"/>
                <a:ext cx="128880" cy="205560"/>
              </p14:xfrm>
            </p:contentPart>
          </mc:Choice>
          <mc:Fallback xmlns="">
            <p:pic>
              <p:nvPicPr>
                <p:cNvPr id="19" name="Ink 18">
                  <a:extLst>
                    <a:ext uri="{FF2B5EF4-FFF2-40B4-BE49-F238E27FC236}">
                      <a16:creationId xmlns:a16="http://schemas.microsoft.com/office/drawing/2014/main" id="{1AA660BD-74F4-42AE-8BAE-964897327C82}"/>
                    </a:ext>
                  </a:extLst>
                </p:cNvPr>
                <p:cNvPicPr/>
                <p:nvPr/>
              </p:nvPicPr>
              <p:blipFill>
                <a:blip r:embed="rId26"/>
                <a:stretch>
                  <a:fillRect/>
                </a:stretch>
              </p:blipFill>
              <p:spPr>
                <a:xfrm>
                  <a:off x="2765992" y="4478164"/>
                  <a:ext cx="14652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Ink 20">
                  <a:extLst>
                    <a:ext uri="{FF2B5EF4-FFF2-40B4-BE49-F238E27FC236}">
                      <a16:creationId xmlns:a16="http://schemas.microsoft.com/office/drawing/2014/main" id="{E01E04A7-BC87-4645-8696-08C6360314D7}"/>
                    </a:ext>
                  </a:extLst>
                </p14:cNvPr>
                <p14:cNvContentPartPr/>
                <p14:nvPr/>
              </p14:nvContentPartPr>
              <p14:xfrm>
                <a:off x="8407552" y="4130404"/>
                <a:ext cx="219600" cy="298440"/>
              </p14:xfrm>
            </p:contentPart>
          </mc:Choice>
          <mc:Fallback xmlns="">
            <p:pic>
              <p:nvPicPr>
                <p:cNvPr id="21" name="Ink 20">
                  <a:extLst>
                    <a:ext uri="{FF2B5EF4-FFF2-40B4-BE49-F238E27FC236}">
                      <a16:creationId xmlns:a16="http://schemas.microsoft.com/office/drawing/2014/main" id="{E01E04A7-BC87-4645-8696-08C6360314D7}"/>
                    </a:ext>
                  </a:extLst>
                </p:cNvPr>
                <p:cNvPicPr/>
                <p:nvPr/>
              </p:nvPicPr>
              <p:blipFill>
                <a:blip r:embed="rId28"/>
                <a:stretch>
                  <a:fillRect/>
                </a:stretch>
              </p:blipFill>
              <p:spPr>
                <a:xfrm>
                  <a:off x="8398552" y="4121764"/>
                  <a:ext cx="237240" cy="316080"/>
                </a:xfrm>
                <a:prstGeom prst="rect">
                  <a:avLst/>
                </a:prstGeom>
              </p:spPr>
            </p:pic>
          </mc:Fallback>
        </mc:AlternateContent>
      </p:grpSp>
    </p:spTree>
    <p:extLst>
      <p:ext uri="{BB962C8B-B14F-4D97-AF65-F5344CB8AC3E}">
        <p14:creationId xmlns:p14="http://schemas.microsoft.com/office/powerpoint/2010/main" val="317472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178FE-0E31-4F33-A596-ECF16DE60FDA}"/>
              </a:ext>
            </a:extLst>
          </p:cNvPr>
          <p:cNvSpPr>
            <a:spLocks noGrp="1"/>
          </p:cNvSpPr>
          <p:nvPr>
            <p:ph type="title"/>
          </p:nvPr>
        </p:nvSpPr>
        <p:spPr/>
        <p:txBody>
          <a:bodyPr/>
          <a:lstStyle/>
          <a:p>
            <a:r>
              <a:rPr lang="en-IE" dirty="0"/>
              <a:t>Physical Computing with RPi: </a:t>
            </a:r>
            <a:r>
              <a:rPr lang="en-IE" dirty="0" err="1"/>
              <a:t>GPIOZero</a:t>
            </a:r>
            <a:endParaRPr lang="en-IE" dirty="0"/>
          </a:p>
        </p:txBody>
      </p:sp>
      <p:sp>
        <p:nvSpPr>
          <p:cNvPr id="3" name="Content Placeholder 2">
            <a:extLst>
              <a:ext uri="{FF2B5EF4-FFF2-40B4-BE49-F238E27FC236}">
                <a16:creationId xmlns:a16="http://schemas.microsoft.com/office/drawing/2014/main" id="{D70C8BA1-C9C3-4515-84F8-64F553C7E129}"/>
              </a:ext>
            </a:extLst>
          </p:cNvPr>
          <p:cNvSpPr>
            <a:spLocks noGrp="1"/>
          </p:cNvSpPr>
          <p:nvPr>
            <p:ph idx="1"/>
          </p:nvPr>
        </p:nvSpPr>
        <p:spPr>
          <a:xfrm>
            <a:off x="838200" y="1825625"/>
            <a:ext cx="6154711" cy="4351338"/>
          </a:xfrm>
        </p:spPr>
        <p:txBody>
          <a:bodyPr/>
          <a:lstStyle/>
          <a:p>
            <a:r>
              <a:rPr lang="en-IE" dirty="0"/>
              <a:t>Python API for physical computing</a:t>
            </a:r>
          </a:p>
          <a:p>
            <a:r>
              <a:rPr lang="en-IE" dirty="0"/>
              <a:t>Accessible and intuitive:</a:t>
            </a:r>
          </a:p>
          <a:p>
            <a:pPr lvl="1"/>
            <a:r>
              <a:rPr lang="en-IE" dirty="0"/>
              <a:t>Interfaces for common physical computing components</a:t>
            </a:r>
          </a:p>
        </p:txBody>
      </p:sp>
    </p:spTree>
    <p:extLst>
      <p:ext uri="{BB962C8B-B14F-4D97-AF65-F5344CB8AC3E}">
        <p14:creationId xmlns:p14="http://schemas.microsoft.com/office/powerpoint/2010/main" val="476820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E6E91-7272-41C0-8F8D-1D6D29C43607}"/>
              </a:ext>
            </a:extLst>
          </p:cNvPr>
          <p:cNvSpPr>
            <a:spLocks noGrp="1"/>
          </p:cNvSpPr>
          <p:nvPr>
            <p:ph type="title"/>
          </p:nvPr>
        </p:nvSpPr>
        <p:spPr/>
        <p:txBody>
          <a:bodyPr/>
          <a:lstStyle/>
          <a:p>
            <a:r>
              <a:rPr lang="en-IE" dirty="0" err="1"/>
              <a:t>GPIOZero</a:t>
            </a:r>
            <a:endParaRPr lang="en-IE" dirty="0"/>
          </a:p>
        </p:txBody>
      </p:sp>
      <p:sp>
        <p:nvSpPr>
          <p:cNvPr id="3" name="Content Placeholder 2">
            <a:extLst>
              <a:ext uri="{FF2B5EF4-FFF2-40B4-BE49-F238E27FC236}">
                <a16:creationId xmlns:a16="http://schemas.microsoft.com/office/drawing/2014/main" id="{ABB1799F-FCD3-4FB1-82F0-18257215774F}"/>
              </a:ext>
            </a:extLst>
          </p:cNvPr>
          <p:cNvSpPr>
            <a:spLocks noGrp="1"/>
          </p:cNvSpPr>
          <p:nvPr>
            <p:ph idx="1"/>
          </p:nvPr>
        </p:nvSpPr>
        <p:spPr>
          <a:xfrm>
            <a:off x="503730" y="1353496"/>
            <a:ext cx="10515600" cy="4351338"/>
          </a:xfrm>
        </p:spPr>
        <p:txBody>
          <a:bodyPr/>
          <a:lstStyle/>
          <a:p>
            <a:r>
              <a:rPr lang="en-IE" dirty="0"/>
              <a:t>Multi paradigm (programming):</a:t>
            </a:r>
          </a:p>
          <a:p>
            <a:pPr lvl="1"/>
            <a:r>
              <a:rPr lang="en-IE" dirty="0"/>
              <a:t>Polling</a:t>
            </a:r>
          </a:p>
          <a:p>
            <a:pPr lvl="1"/>
            <a:r>
              <a:rPr lang="en-IE" dirty="0"/>
              <a:t>Blocking</a:t>
            </a:r>
          </a:p>
          <a:p>
            <a:pPr lvl="1"/>
            <a:r>
              <a:rPr lang="en-IE" dirty="0" err="1"/>
              <a:t>Callbacks</a:t>
            </a:r>
            <a:endParaRPr lang="en-IE" dirty="0"/>
          </a:p>
          <a:p>
            <a:pPr lvl="1"/>
            <a:r>
              <a:rPr lang="en-IE" dirty="0"/>
              <a:t>Declarative</a:t>
            </a:r>
          </a:p>
        </p:txBody>
      </p:sp>
      <p:pic>
        <p:nvPicPr>
          <p:cNvPr id="4" name="Picture 3">
            <a:extLst>
              <a:ext uri="{FF2B5EF4-FFF2-40B4-BE49-F238E27FC236}">
                <a16:creationId xmlns:a16="http://schemas.microsoft.com/office/drawing/2014/main" id="{DDB7BDD4-12B7-4C14-8FB9-7C30B7C94CD8}"/>
              </a:ext>
            </a:extLst>
          </p:cNvPr>
          <p:cNvPicPr>
            <a:picLocks noChangeAspect="1"/>
          </p:cNvPicPr>
          <p:nvPr/>
        </p:nvPicPr>
        <p:blipFill>
          <a:blip r:embed="rId2"/>
          <a:stretch>
            <a:fillRect/>
          </a:stretch>
        </p:blipFill>
        <p:spPr>
          <a:xfrm>
            <a:off x="7201750" y="723593"/>
            <a:ext cx="3855793" cy="3213161"/>
          </a:xfrm>
          <a:prstGeom prst="rect">
            <a:avLst/>
          </a:prstGeom>
        </p:spPr>
      </p:pic>
      <p:pic>
        <p:nvPicPr>
          <p:cNvPr id="5" name="Picture 4">
            <a:extLst>
              <a:ext uri="{FF2B5EF4-FFF2-40B4-BE49-F238E27FC236}">
                <a16:creationId xmlns:a16="http://schemas.microsoft.com/office/drawing/2014/main" id="{A01F2F55-D759-43CE-A6E2-779CF32A6C4F}"/>
              </a:ext>
            </a:extLst>
          </p:cNvPr>
          <p:cNvPicPr>
            <a:picLocks noChangeAspect="1"/>
          </p:cNvPicPr>
          <p:nvPr/>
        </p:nvPicPr>
        <p:blipFill>
          <a:blip r:embed="rId3"/>
          <a:stretch>
            <a:fillRect/>
          </a:stretch>
        </p:blipFill>
        <p:spPr>
          <a:xfrm>
            <a:off x="3316635" y="4332862"/>
            <a:ext cx="2715264" cy="1325562"/>
          </a:xfrm>
          <a:prstGeom prst="rect">
            <a:avLst/>
          </a:prstGeom>
        </p:spPr>
      </p:pic>
      <p:pic>
        <p:nvPicPr>
          <p:cNvPr id="6" name="Picture 5">
            <a:extLst>
              <a:ext uri="{FF2B5EF4-FFF2-40B4-BE49-F238E27FC236}">
                <a16:creationId xmlns:a16="http://schemas.microsoft.com/office/drawing/2014/main" id="{BC9EC0FB-78E9-476B-9E24-CE50C35E0E8A}"/>
              </a:ext>
            </a:extLst>
          </p:cNvPr>
          <p:cNvPicPr>
            <a:picLocks noChangeAspect="1"/>
          </p:cNvPicPr>
          <p:nvPr/>
        </p:nvPicPr>
        <p:blipFill>
          <a:blip r:embed="rId4"/>
          <a:stretch>
            <a:fillRect/>
          </a:stretch>
        </p:blipFill>
        <p:spPr>
          <a:xfrm>
            <a:off x="6366369" y="4332862"/>
            <a:ext cx="3156757" cy="921189"/>
          </a:xfrm>
          <a:prstGeom prst="rect">
            <a:avLst/>
          </a:prstGeom>
        </p:spPr>
      </p:pic>
      <p:pic>
        <p:nvPicPr>
          <p:cNvPr id="7" name="Picture 6">
            <a:extLst>
              <a:ext uri="{FF2B5EF4-FFF2-40B4-BE49-F238E27FC236}">
                <a16:creationId xmlns:a16="http://schemas.microsoft.com/office/drawing/2014/main" id="{6507CF7E-030A-4EC8-9AC5-74E228441223}"/>
              </a:ext>
            </a:extLst>
          </p:cNvPr>
          <p:cNvPicPr>
            <a:picLocks noChangeAspect="1"/>
          </p:cNvPicPr>
          <p:nvPr/>
        </p:nvPicPr>
        <p:blipFill>
          <a:blip r:embed="rId5"/>
          <a:stretch>
            <a:fillRect/>
          </a:stretch>
        </p:blipFill>
        <p:spPr>
          <a:xfrm>
            <a:off x="9378648" y="4430940"/>
            <a:ext cx="3357791" cy="500823"/>
          </a:xfrm>
          <a:prstGeom prst="rect">
            <a:avLst/>
          </a:prstGeom>
        </p:spPr>
      </p:pic>
      <p:pic>
        <p:nvPicPr>
          <p:cNvPr id="8" name="Picture 7">
            <a:extLst>
              <a:ext uri="{FF2B5EF4-FFF2-40B4-BE49-F238E27FC236}">
                <a16:creationId xmlns:a16="http://schemas.microsoft.com/office/drawing/2014/main" id="{D36AB38E-E9A7-46C7-8403-4D8E426BB741}"/>
              </a:ext>
            </a:extLst>
          </p:cNvPr>
          <p:cNvPicPr>
            <a:picLocks noChangeAspect="1"/>
          </p:cNvPicPr>
          <p:nvPr/>
        </p:nvPicPr>
        <p:blipFill>
          <a:blip r:embed="rId6"/>
          <a:stretch>
            <a:fillRect/>
          </a:stretch>
        </p:blipFill>
        <p:spPr>
          <a:xfrm>
            <a:off x="577042" y="4475909"/>
            <a:ext cx="2368627" cy="1325562"/>
          </a:xfrm>
          <a:prstGeom prst="rect">
            <a:avLst/>
          </a:prstGeom>
        </p:spPr>
      </p:pic>
      <p:pic>
        <p:nvPicPr>
          <p:cNvPr id="18" name="Picture 17">
            <a:extLst>
              <a:ext uri="{FF2B5EF4-FFF2-40B4-BE49-F238E27FC236}">
                <a16:creationId xmlns:a16="http://schemas.microsoft.com/office/drawing/2014/main" id="{D3CA4ABD-2CB0-4338-AA78-F73307676F27}"/>
              </a:ext>
            </a:extLst>
          </p:cNvPr>
          <p:cNvPicPr>
            <a:picLocks noChangeAspect="1"/>
          </p:cNvPicPr>
          <p:nvPr/>
        </p:nvPicPr>
        <p:blipFill>
          <a:blip r:embed="rId3"/>
          <a:stretch>
            <a:fillRect/>
          </a:stretch>
        </p:blipFill>
        <p:spPr>
          <a:xfrm>
            <a:off x="7201750" y="2264526"/>
            <a:ext cx="3352798" cy="1636799"/>
          </a:xfrm>
          <a:prstGeom prst="rect">
            <a:avLst/>
          </a:prstGeom>
        </p:spPr>
      </p:pic>
      <p:pic>
        <p:nvPicPr>
          <p:cNvPr id="20" name="Picture 19">
            <a:extLst>
              <a:ext uri="{FF2B5EF4-FFF2-40B4-BE49-F238E27FC236}">
                <a16:creationId xmlns:a16="http://schemas.microsoft.com/office/drawing/2014/main" id="{0D097A55-F202-4EDF-B8BE-5D54FDD82B26}"/>
              </a:ext>
            </a:extLst>
          </p:cNvPr>
          <p:cNvPicPr>
            <a:picLocks noChangeAspect="1"/>
          </p:cNvPicPr>
          <p:nvPr/>
        </p:nvPicPr>
        <p:blipFill>
          <a:blip r:embed="rId4"/>
          <a:stretch>
            <a:fillRect/>
          </a:stretch>
        </p:blipFill>
        <p:spPr>
          <a:xfrm>
            <a:off x="7201750" y="2303808"/>
            <a:ext cx="4640137" cy="1354061"/>
          </a:xfrm>
          <a:prstGeom prst="rect">
            <a:avLst/>
          </a:prstGeom>
        </p:spPr>
      </p:pic>
      <p:sp>
        <p:nvSpPr>
          <p:cNvPr id="21" name="TextBox 20">
            <a:extLst>
              <a:ext uri="{FF2B5EF4-FFF2-40B4-BE49-F238E27FC236}">
                <a16:creationId xmlns:a16="http://schemas.microsoft.com/office/drawing/2014/main" id="{8793B948-21E5-40BA-A8E8-19EAE1049FD9}"/>
              </a:ext>
            </a:extLst>
          </p:cNvPr>
          <p:cNvSpPr txBox="1"/>
          <p:nvPr/>
        </p:nvSpPr>
        <p:spPr>
          <a:xfrm>
            <a:off x="6670623" y="3429000"/>
            <a:ext cx="4219731" cy="723055"/>
          </a:xfrm>
          <a:prstGeom prst="rect">
            <a:avLst/>
          </a:prstGeom>
          <a:solidFill>
            <a:schemeClr val="bg1"/>
          </a:solidFill>
        </p:spPr>
        <p:txBody>
          <a:bodyPr wrap="square" rtlCol="0">
            <a:spAutoFit/>
          </a:bodyPr>
          <a:lstStyle/>
          <a:p>
            <a:endParaRPr lang="en-IE" dirty="0"/>
          </a:p>
        </p:txBody>
      </p:sp>
      <p:pic>
        <p:nvPicPr>
          <p:cNvPr id="23" name="Picture 22">
            <a:extLst>
              <a:ext uri="{FF2B5EF4-FFF2-40B4-BE49-F238E27FC236}">
                <a16:creationId xmlns:a16="http://schemas.microsoft.com/office/drawing/2014/main" id="{C66975D7-42C1-4C8A-9A56-AA3DA2FE9EF2}"/>
              </a:ext>
            </a:extLst>
          </p:cNvPr>
          <p:cNvPicPr>
            <a:picLocks noChangeAspect="1"/>
          </p:cNvPicPr>
          <p:nvPr/>
        </p:nvPicPr>
        <p:blipFill>
          <a:blip r:embed="rId5"/>
          <a:stretch>
            <a:fillRect/>
          </a:stretch>
        </p:blipFill>
        <p:spPr>
          <a:xfrm>
            <a:off x="7240698" y="2572159"/>
            <a:ext cx="5096822" cy="760204"/>
          </a:xfrm>
          <a:prstGeom prst="rect">
            <a:avLst/>
          </a:prstGeom>
        </p:spPr>
      </p:pic>
    </p:spTree>
    <p:extLst>
      <p:ext uri="{BB962C8B-B14F-4D97-AF65-F5344CB8AC3E}">
        <p14:creationId xmlns:p14="http://schemas.microsoft.com/office/powerpoint/2010/main" val="3718107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71293-ADB6-4AE8-9184-01084DBEECA5}"/>
              </a:ext>
            </a:extLst>
          </p:cNvPr>
          <p:cNvSpPr>
            <a:spLocks noGrp="1"/>
          </p:cNvSpPr>
          <p:nvPr>
            <p:ph type="title"/>
          </p:nvPr>
        </p:nvSpPr>
        <p:spPr/>
        <p:txBody>
          <a:bodyPr/>
          <a:lstStyle/>
          <a:p>
            <a:r>
              <a:rPr lang="en-IE" dirty="0"/>
              <a:t>GPIO: Supported Devices</a:t>
            </a:r>
          </a:p>
        </p:txBody>
      </p:sp>
      <p:sp>
        <p:nvSpPr>
          <p:cNvPr id="3" name="Content Placeholder 2">
            <a:extLst>
              <a:ext uri="{FF2B5EF4-FFF2-40B4-BE49-F238E27FC236}">
                <a16:creationId xmlns:a16="http://schemas.microsoft.com/office/drawing/2014/main" id="{CDF961AB-9A70-4D0F-A215-9A79A18501D4}"/>
              </a:ext>
            </a:extLst>
          </p:cNvPr>
          <p:cNvSpPr>
            <a:spLocks noGrp="1"/>
          </p:cNvSpPr>
          <p:nvPr>
            <p:ph idx="1"/>
          </p:nvPr>
        </p:nvSpPr>
        <p:spPr>
          <a:xfrm>
            <a:off x="838200" y="1825625"/>
            <a:ext cx="5135380" cy="4351338"/>
          </a:xfrm>
        </p:spPr>
        <p:txBody>
          <a:bodyPr>
            <a:normAutofit fontScale="92500" lnSpcReduction="10000"/>
          </a:bodyPr>
          <a:lstStyle/>
          <a:p>
            <a:pPr algn="l">
              <a:buFont typeface="Arial" panose="020B0604020202020204" pitchFamily="34" charset="0"/>
              <a:buChar char="•"/>
            </a:pPr>
            <a:r>
              <a:rPr lang="en-GB" b="0" i="0" dirty="0">
                <a:solidFill>
                  <a:srgbClr val="222222"/>
                </a:solidFill>
                <a:effectLst/>
                <a:latin typeface="Rubik"/>
              </a:rPr>
              <a:t>LED (also PWM LED allowing change of brightness)</a:t>
            </a:r>
          </a:p>
          <a:p>
            <a:pPr algn="l">
              <a:buFont typeface="Arial" panose="020B0604020202020204" pitchFamily="34" charset="0"/>
              <a:buChar char="•"/>
            </a:pPr>
            <a:r>
              <a:rPr lang="en-GB" b="0" i="0" dirty="0">
                <a:solidFill>
                  <a:srgbClr val="222222"/>
                </a:solidFill>
                <a:effectLst/>
                <a:latin typeface="Rubik"/>
              </a:rPr>
              <a:t>RGB LED</a:t>
            </a:r>
          </a:p>
          <a:p>
            <a:pPr algn="l">
              <a:buFont typeface="Arial" panose="020B0604020202020204" pitchFamily="34" charset="0"/>
              <a:buChar char="•"/>
            </a:pPr>
            <a:r>
              <a:rPr lang="en-GB" b="0" i="0" dirty="0">
                <a:solidFill>
                  <a:srgbClr val="222222"/>
                </a:solidFill>
                <a:effectLst/>
                <a:latin typeface="Rubik"/>
              </a:rPr>
              <a:t>Buzzer</a:t>
            </a:r>
          </a:p>
          <a:p>
            <a:pPr algn="l">
              <a:buFont typeface="Arial" panose="020B0604020202020204" pitchFamily="34" charset="0"/>
              <a:buChar char="•"/>
            </a:pPr>
            <a:r>
              <a:rPr lang="en-GB" b="0" i="0" dirty="0">
                <a:solidFill>
                  <a:srgbClr val="222222"/>
                </a:solidFill>
                <a:effectLst/>
                <a:latin typeface="Rubik"/>
              </a:rPr>
              <a:t>Motor</a:t>
            </a:r>
          </a:p>
          <a:p>
            <a:pPr algn="l">
              <a:buFont typeface="Arial" panose="020B0604020202020204" pitchFamily="34" charset="0"/>
              <a:buChar char="•"/>
            </a:pPr>
            <a:r>
              <a:rPr lang="en-GB" b="0" i="0" dirty="0">
                <a:solidFill>
                  <a:srgbClr val="222222"/>
                </a:solidFill>
                <a:effectLst/>
                <a:latin typeface="Rubik"/>
              </a:rPr>
              <a:t>Button</a:t>
            </a:r>
          </a:p>
          <a:p>
            <a:pPr algn="l">
              <a:buFont typeface="Arial" panose="020B0604020202020204" pitchFamily="34" charset="0"/>
              <a:buChar char="•"/>
            </a:pPr>
            <a:r>
              <a:rPr lang="en-GB" b="0" i="0" dirty="0">
                <a:solidFill>
                  <a:srgbClr val="222222"/>
                </a:solidFill>
                <a:effectLst/>
                <a:latin typeface="Rubik"/>
              </a:rPr>
              <a:t>Motion Sensor</a:t>
            </a:r>
          </a:p>
          <a:p>
            <a:pPr algn="l">
              <a:buFont typeface="Arial" panose="020B0604020202020204" pitchFamily="34" charset="0"/>
              <a:buChar char="•"/>
            </a:pPr>
            <a:r>
              <a:rPr lang="en-GB" b="0" i="0" dirty="0">
                <a:solidFill>
                  <a:srgbClr val="222222"/>
                </a:solidFill>
                <a:effectLst/>
                <a:latin typeface="Rubik"/>
              </a:rPr>
              <a:t>Light Sensor</a:t>
            </a:r>
          </a:p>
          <a:p>
            <a:pPr algn="l">
              <a:buFont typeface="Arial" panose="020B0604020202020204" pitchFamily="34" charset="0"/>
              <a:buChar char="•"/>
            </a:pPr>
            <a:r>
              <a:rPr lang="en-GB" b="0" i="0" dirty="0">
                <a:solidFill>
                  <a:srgbClr val="222222"/>
                </a:solidFill>
                <a:effectLst/>
                <a:latin typeface="Rubik"/>
              </a:rPr>
              <a:t>Analogue-to-Digital converters MCP3004 and MCP3008</a:t>
            </a:r>
          </a:p>
        </p:txBody>
      </p:sp>
      <p:sp>
        <p:nvSpPr>
          <p:cNvPr id="4" name="TextBox 3">
            <a:extLst>
              <a:ext uri="{FF2B5EF4-FFF2-40B4-BE49-F238E27FC236}">
                <a16:creationId xmlns:a16="http://schemas.microsoft.com/office/drawing/2014/main" id="{01C2ACD1-7EBD-4B60-A235-1817681E047A}"/>
              </a:ext>
            </a:extLst>
          </p:cNvPr>
          <p:cNvSpPr txBox="1"/>
          <p:nvPr/>
        </p:nvSpPr>
        <p:spPr>
          <a:xfrm>
            <a:off x="5973580" y="1825625"/>
            <a:ext cx="6153463" cy="646331"/>
          </a:xfrm>
          <a:prstGeom prst="rect">
            <a:avLst/>
          </a:prstGeom>
          <a:noFill/>
        </p:spPr>
        <p:txBody>
          <a:bodyPr wrap="square" rtlCol="0">
            <a:spAutoFit/>
          </a:bodyPr>
          <a:lstStyle/>
          <a:p>
            <a:r>
              <a:rPr lang="en-IE" dirty="0">
                <a:hlinkClick r:id="rId2"/>
              </a:rPr>
              <a:t>https://gpiozero.readthedocs.io/en/stable/</a:t>
            </a:r>
            <a:endParaRPr lang="en-IE" dirty="0"/>
          </a:p>
          <a:p>
            <a:endParaRPr lang="en-IE" dirty="0"/>
          </a:p>
        </p:txBody>
      </p:sp>
      <p:pic>
        <p:nvPicPr>
          <p:cNvPr id="5" name="Picture 4">
            <a:extLst>
              <a:ext uri="{FF2B5EF4-FFF2-40B4-BE49-F238E27FC236}">
                <a16:creationId xmlns:a16="http://schemas.microsoft.com/office/drawing/2014/main" id="{29215963-2134-465B-A94E-266B97BE40AE}"/>
              </a:ext>
            </a:extLst>
          </p:cNvPr>
          <p:cNvPicPr>
            <a:picLocks noChangeAspect="1"/>
          </p:cNvPicPr>
          <p:nvPr/>
        </p:nvPicPr>
        <p:blipFill>
          <a:blip r:embed="rId3"/>
          <a:stretch>
            <a:fillRect/>
          </a:stretch>
        </p:blipFill>
        <p:spPr>
          <a:xfrm>
            <a:off x="5354169" y="2471956"/>
            <a:ext cx="6153463" cy="2809542"/>
          </a:xfrm>
          <a:prstGeom prst="rect">
            <a:avLst/>
          </a:prstGeom>
        </p:spPr>
      </p:pic>
    </p:spTree>
    <p:extLst>
      <p:ext uri="{BB962C8B-B14F-4D97-AF65-F5344CB8AC3E}">
        <p14:creationId xmlns:p14="http://schemas.microsoft.com/office/powerpoint/2010/main" val="1012398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E15CC8-8BCA-4FE2-92AA-E1B75DEBDD2B}"/>
              </a:ext>
            </a:extLst>
          </p:cNvPr>
          <p:cNvSpPr>
            <a:spLocks noGrp="1"/>
          </p:cNvSpPr>
          <p:nvPr>
            <p:ph type="title"/>
          </p:nvPr>
        </p:nvSpPr>
        <p:spPr>
          <a:xfrm>
            <a:off x="838200" y="365125"/>
            <a:ext cx="10515600" cy="1306443"/>
          </a:xfrm>
        </p:spPr>
        <p:txBody>
          <a:bodyPr>
            <a:normAutofit/>
          </a:bodyPr>
          <a:lstStyle/>
          <a:p>
            <a:r>
              <a:rPr lang="en-IE" sz="4000" dirty="0"/>
              <a:t>Physical Computing Lab: RPi Doorbell</a:t>
            </a:r>
          </a:p>
        </p:txBody>
      </p:sp>
      <p:sp>
        <p:nvSpPr>
          <p:cNvPr id="3" name="Content Placeholder 2">
            <a:extLst>
              <a:ext uri="{FF2B5EF4-FFF2-40B4-BE49-F238E27FC236}">
                <a16:creationId xmlns:a16="http://schemas.microsoft.com/office/drawing/2014/main" id="{509C3A4F-BEBA-4911-9186-1CF67F815207}"/>
              </a:ext>
            </a:extLst>
          </p:cNvPr>
          <p:cNvSpPr>
            <a:spLocks noGrp="1"/>
          </p:cNvSpPr>
          <p:nvPr>
            <p:ph idx="1"/>
          </p:nvPr>
        </p:nvSpPr>
        <p:spPr>
          <a:xfrm>
            <a:off x="838200" y="1825625"/>
            <a:ext cx="4152774" cy="4303464"/>
          </a:xfrm>
        </p:spPr>
        <p:txBody>
          <a:bodyPr>
            <a:normAutofit fontScale="92500" lnSpcReduction="20000"/>
          </a:bodyPr>
          <a:lstStyle/>
          <a:p>
            <a:r>
              <a:rPr lang="en-IE" sz="2000" dirty="0"/>
              <a:t>Abstract Idea: Send email on button push event</a:t>
            </a:r>
          </a:p>
          <a:p>
            <a:r>
              <a:rPr lang="en-IE" sz="2000" dirty="0"/>
              <a:t>Technologies: </a:t>
            </a:r>
          </a:p>
          <a:p>
            <a:pPr lvl="1"/>
            <a:r>
              <a:rPr lang="en-IE" sz="2000" dirty="0"/>
              <a:t>Button and Breadboard connected to GPIO</a:t>
            </a:r>
          </a:p>
          <a:p>
            <a:pPr lvl="1"/>
            <a:r>
              <a:rPr lang="en-IE" sz="2000" dirty="0" err="1"/>
              <a:t>PiCamera</a:t>
            </a:r>
            <a:endParaRPr lang="en-IE" sz="2000" dirty="0"/>
          </a:p>
          <a:p>
            <a:pPr lvl="1"/>
            <a:r>
              <a:rPr lang="en-IE" sz="2000" dirty="0"/>
              <a:t>SMPT server/email service to send email</a:t>
            </a:r>
          </a:p>
          <a:p>
            <a:r>
              <a:rPr lang="en-IE" sz="2400" dirty="0"/>
              <a:t>Use Case</a:t>
            </a:r>
          </a:p>
          <a:p>
            <a:pPr marL="914400" lvl="1" indent="-457200">
              <a:buFont typeface="+mj-lt"/>
              <a:buAutoNum type="arabicPeriod"/>
            </a:pPr>
            <a:r>
              <a:rPr lang="en-IE" sz="2000" dirty="0"/>
              <a:t>Button pushed</a:t>
            </a:r>
          </a:p>
          <a:p>
            <a:pPr marL="914400" lvl="1" indent="-457200">
              <a:buFont typeface="+mj-lt"/>
              <a:buAutoNum type="arabicPeriod"/>
            </a:pPr>
            <a:r>
              <a:rPr lang="en-IE" sz="2000" dirty="0" err="1"/>
              <a:t>PiCamera</a:t>
            </a:r>
            <a:r>
              <a:rPr lang="en-IE" sz="2000" dirty="0"/>
              <a:t> takes photo and stores on </a:t>
            </a:r>
            <a:r>
              <a:rPr lang="en-IE" sz="2000" dirty="0" err="1"/>
              <a:t>Rpi</a:t>
            </a:r>
            <a:endParaRPr lang="en-IE" sz="2000" dirty="0"/>
          </a:p>
          <a:p>
            <a:pPr marL="914400" lvl="1" indent="-457200">
              <a:buFont typeface="+mj-lt"/>
              <a:buAutoNum type="arabicPeriod"/>
            </a:pPr>
            <a:r>
              <a:rPr lang="en-IE" sz="2000" dirty="0"/>
              <a:t>Image attached to email and sent using SMTP</a:t>
            </a:r>
          </a:p>
          <a:p>
            <a:pPr marL="914400" lvl="1" indent="-457200">
              <a:buFont typeface="+mj-lt"/>
              <a:buAutoNum type="arabicPeriod"/>
            </a:pPr>
            <a:r>
              <a:rPr lang="en-IE" sz="2000" dirty="0"/>
              <a:t>Recipient accesses image using mail client</a:t>
            </a:r>
          </a:p>
          <a:p>
            <a:pPr marL="914400" lvl="1" indent="-457200">
              <a:buFont typeface="+mj-lt"/>
              <a:buAutoNum type="arabicPeriod"/>
            </a:pPr>
            <a:endParaRPr lang="en-IE" sz="2000" dirty="0"/>
          </a:p>
          <a:p>
            <a:pPr marL="0" indent="0">
              <a:buNone/>
            </a:pPr>
            <a:endParaRPr lang="en-IE" sz="2400" dirty="0"/>
          </a:p>
        </p:txBody>
      </p:sp>
      <p:pic>
        <p:nvPicPr>
          <p:cNvPr id="4" name="Picture 3">
            <a:extLst>
              <a:ext uri="{FF2B5EF4-FFF2-40B4-BE49-F238E27FC236}">
                <a16:creationId xmlns:a16="http://schemas.microsoft.com/office/drawing/2014/main" id="{2CF045C0-1FCE-4274-92C6-C866B129E34F}"/>
              </a:ext>
            </a:extLst>
          </p:cNvPr>
          <p:cNvPicPr>
            <a:picLocks noChangeAspect="1"/>
          </p:cNvPicPr>
          <p:nvPr/>
        </p:nvPicPr>
        <p:blipFill rotWithShape="1">
          <a:blip r:embed="rId2"/>
          <a:srcRect l="2512" r="-2" b="-2"/>
          <a:stretch/>
        </p:blipFill>
        <p:spPr>
          <a:xfrm>
            <a:off x="6094475" y="1967035"/>
            <a:ext cx="6170299" cy="4224808"/>
          </a:xfrm>
          <a:prstGeom prst="rect">
            <a:avLst/>
          </a:prstGeom>
        </p:spPr>
      </p:pic>
    </p:spTree>
    <p:extLst>
      <p:ext uri="{BB962C8B-B14F-4D97-AF65-F5344CB8AC3E}">
        <p14:creationId xmlns:p14="http://schemas.microsoft.com/office/powerpoint/2010/main" val="1090255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TotalTime>
  <Words>1551</Words>
  <Application>Microsoft Office PowerPoint</Application>
  <PresentationFormat>Widescreen</PresentationFormat>
  <Paragraphs>133</Paragraphs>
  <Slides>21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Avenir Next LT Pro</vt:lpstr>
      <vt:lpstr>Calibri</vt:lpstr>
      <vt:lpstr>Calibri Light</vt:lpstr>
      <vt:lpstr>Helvetica Neue</vt:lpstr>
      <vt:lpstr>Libre Franklin</vt:lpstr>
      <vt:lpstr>Merriweather</vt:lpstr>
      <vt:lpstr>Rubik</vt:lpstr>
      <vt:lpstr>Office Theme</vt:lpstr>
      <vt:lpstr>Physical Computing</vt:lpstr>
      <vt:lpstr>Agenda</vt:lpstr>
      <vt:lpstr>Physical Computing </vt:lpstr>
      <vt:lpstr>Physical Computing</vt:lpstr>
      <vt:lpstr>Electricity</vt:lpstr>
      <vt:lpstr>Electricity: Relationship</vt:lpstr>
      <vt:lpstr>Circuits 1</vt:lpstr>
      <vt:lpstr>Circuits 2</vt:lpstr>
      <vt:lpstr>Electronic Components</vt:lpstr>
      <vt:lpstr>Electronics: Breadboard</vt:lpstr>
      <vt:lpstr>LEDs</vt:lpstr>
      <vt:lpstr>Resistors</vt:lpstr>
      <vt:lpstr>Push Button</vt:lpstr>
      <vt:lpstr>Circuit Schematics</vt:lpstr>
      <vt:lpstr>Electrical Flow</vt:lpstr>
      <vt:lpstr>Physical Computing with Rpi: GPIO</vt:lpstr>
      <vt:lpstr>Physical Computing with RPi: Build Circuit</vt:lpstr>
      <vt:lpstr>Physical Computing with RPi: GPIOZero</vt:lpstr>
      <vt:lpstr>GPIOZero</vt:lpstr>
      <vt:lpstr>GPIO: Supported Devices</vt:lpstr>
      <vt:lpstr>Physical Computing Lab: RPi Doorbell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Computing</dc:title>
  <dc:creator>Frank X Walsh</dc:creator>
  <cp:lastModifiedBy>Frank X Walsh</cp:lastModifiedBy>
  <cp:revision>5</cp:revision>
  <dcterms:created xsi:type="dcterms:W3CDTF">2020-11-18T11:37:22Z</dcterms:created>
  <dcterms:modified xsi:type="dcterms:W3CDTF">2022-11-09T14:55:15Z</dcterms:modified>
</cp:coreProperties>
</file>