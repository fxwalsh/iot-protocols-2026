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3" r:id="rId6"/>
    <p:sldId id="260" r:id="rId7"/>
    <p:sldId id="261" r:id="rId8"/>
    <p:sldId id="262"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94660"/>
  </p:normalViewPr>
  <p:slideViewPr>
    <p:cSldViewPr snapToGrid="0" showGuides="1">
      <p:cViewPr varScale="1">
        <p:scale>
          <a:sx n="101" d="100"/>
          <a:sy n="101" d="100"/>
        </p:scale>
        <p:origin x="88" y="47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90C43F1-02EF-47D4-8823-60579426905C}" type="doc">
      <dgm:prSet loTypeId="urn:microsoft.com/office/officeart/2005/8/layout/process1" loCatId="process" qsTypeId="urn:microsoft.com/office/officeart/2005/8/quickstyle/simple1" qsCatId="simple" csTypeId="urn:microsoft.com/office/officeart/2005/8/colors/accent1_2" csCatId="accent1" phldr="1"/>
      <dgm:spPr/>
    </dgm:pt>
    <dgm:pt modelId="{1A727F9C-7E70-40D7-BFEF-B9F949E3989C}">
      <dgm:prSet phldrT="[Text]"/>
      <dgm:spPr/>
      <dgm:t>
        <a:bodyPr/>
        <a:lstStyle/>
        <a:p>
          <a:r>
            <a:rPr lang="en-IE" b="1" dirty="0"/>
            <a:t>Manual</a:t>
          </a:r>
        </a:p>
        <a:p>
          <a:r>
            <a:rPr lang="en-IE" dirty="0"/>
            <a:t>Workers inspect produce</a:t>
          </a:r>
        </a:p>
      </dgm:t>
    </dgm:pt>
    <dgm:pt modelId="{D65792B2-F7D4-4D21-AA16-82ADF20E29A5}" type="parTrans" cxnId="{A0207BD1-12A6-4D74-9660-6AADE5E5EF0E}">
      <dgm:prSet/>
      <dgm:spPr/>
      <dgm:t>
        <a:bodyPr/>
        <a:lstStyle/>
        <a:p>
          <a:endParaRPr lang="en-IE"/>
        </a:p>
      </dgm:t>
    </dgm:pt>
    <dgm:pt modelId="{55A52E9A-AE39-4BCE-9AE9-BF793CD649C4}" type="sibTrans" cxnId="{A0207BD1-12A6-4D74-9660-6AADE5E5EF0E}">
      <dgm:prSet/>
      <dgm:spPr/>
      <dgm:t>
        <a:bodyPr/>
        <a:lstStyle/>
        <a:p>
          <a:endParaRPr lang="en-IE"/>
        </a:p>
      </dgm:t>
    </dgm:pt>
    <dgm:pt modelId="{61503352-50FA-4FA8-BD31-0BA72F7DC3DE}">
      <dgm:prSet phldrT="[Text]"/>
      <dgm:spPr/>
      <dgm:t>
        <a:bodyPr/>
        <a:lstStyle/>
        <a:p>
          <a:r>
            <a:rPr lang="en-IE" b="1" dirty="0"/>
            <a:t>Optical</a:t>
          </a:r>
        </a:p>
        <a:p>
          <a:r>
            <a:rPr lang="en-IE" dirty="0"/>
            <a:t>Colour Based detection</a:t>
          </a:r>
        </a:p>
      </dgm:t>
    </dgm:pt>
    <dgm:pt modelId="{F502B252-01D5-4EAC-A70E-9E3FE731AD3F}" type="parTrans" cxnId="{C5527FA5-597B-4071-81D5-C955AF4AC026}">
      <dgm:prSet/>
      <dgm:spPr/>
      <dgm:t>
        <a:bodyPr/>
        <a:lstStyle/>
        <a:p>
          <a:endParaRPr lang="en-IE"/>
        </a:p>
      </dgm:t>
    </dgm:pt>
    <dgm:pt modelId="{1806B0E6-60FB-434B-8397-38A2B3550EEA}" type="sibTrans" cxnId="{C5527FA5-597B-4071-81D5-C955AF4AC026}">
      <dgm:prSet/>
      <dgm:spPr/>
      <dgm:t>
        <a:bodyPr/>
        <a:lstStyle/>
        <a:p>
          <a:endParaRPr lang="en-IE"/>
        </a:p>
      </dgm:t>
    </dgm:pt>
    <dgm:pt modelId="{1C5EF333-77BF-4691-A266-B2FBB4747EB9}">
      <dgm:prSet phldrT="[Text]"/>
      <dgm:spPr/>
      <dgm:t>
        <a:bodyPr/>
        <a:lstStyle/>
        <a:p>
          <a:r>
            <a:rPr lang="en-IE" b="1" dirty="0"/>
            <a:t>AI Based Sorting</a:t>
          </a:r>
        </a:p>
        <a:p>
          <a:r>
            <a:rPr lang="en-IE" dirty="0"/>
            <a:t>Detect subtle differences(disease, bruising)</a:t>
          </a:r>
        </a:p>
      </dgm:t>
    </dgm:pt>
    <dgm:pt modelId="{38B08C89-0FCA-4104-B3D0-17B5C34ABAC8}" type="parTrans" cxnId="{7CE06E4B-2FF9-4A6A-9D10-5EE25F8EECC8}">
      <dgm:prSet/>
      <dgm:spPr/>
      <dgm:t>
        <a:bodyPr/>
        <a:lstStyle/>
        <a:p>
          <a:endParaRPr lang="en-IE"/>
        </a:p>
      </dgm:t>
    </dgm:pt>
    <dgm:pt modelId="{35C284D1-A658-4621-873A-E58D9CEC7FF4}" type="sibTrans" cxnId="{7CE06E4B-2FF9-4A6A-9D10-5EE25F8EECC8}">
      <dgm:prSet/>
      <dgm:spPr/>
      <dgm:t>
        <a:bodyPr/>
        <a:lstStyle/>
        <a:p>
          <a:endParaRPr lang="en-IE"/>
        </a:p>
      </dgm:t>
    </dgm:pt>
    <dgm:pt modelId="{A80F98C7-8E88-4EAE-8475-98DD2117CC16}" type="pres">
      <dgm:prSet presAssocID="{790C43F1-02EF-47D4-8823-60579426905C}" presName="Name0" presStyleCnt="0">
        <dgm:presLayoutVars>
          <dgm:dir/>
          <dgm:resizeHandles val="exact"/>
        </dgm:presLayoutVars>
      </dgm:prSet>
      <dgm:spPr/>
    </dgm:pt>
    <dgm:pt modelId="{295B9069-994B-494D-8A6D-98FEBB8AF4F9}" type="pres">
      <dgm:prSet presAssocID="{1A727F9C-7E70-40D7-BFEF-B9F949E3989C}" presName="node" presStyleLbl="node1" presStyleIdx="0" presStyleCnt="3">
        <dgm:presLayoutVars>
          <dgm:bulletEnabled val="1"/>
        </dgm:presLayoutVars>
      </dgm:prSet>
      <dgm:spPr/>
    </dgm:pt>
    <dgm:pt modelId="{1AD01AE5-B333-4BC5-BE6B-9D4D7280BE61}" type="pres">
      <dgm:prSet presAssocID="{55A52E9A-AE39-4BCE-9AE9-BF793CD649C4}" presName="sibTrans" presStyleLbl="sibTrans2D1" presStyleIdx="0" presStyleCnt="2"/>
      <dgm:spPr/>
    </dgm:pt>
    <dgm:pt modelId="{01FB1F9E-BFC3-46A1-9E50-0C671A28B5FD}" type="pres">
      <dgm:prSet presAssocID="{55A52E9A-AE39-4BCE-9AE9-BF793CD649C4}" presName="connectorText" presStyleLbl="sibTrans2D1" presStyleIdx="0" presStyleCnt="2"/>
      <dgm:spPr/>
    </dgm:pt>
    <dgm:pt modelId="{AFD3D2BE-4817-4A13-9C36-08591EE99194}" type="pres">
      <dgm:prSet presAssocID="{61503352-50FA-4FA8-BD31-0BA72F7DC3DE}" presName="node" presStyleLbl="node1" presStyleIdx="1" presStyleCnt="3">
        <dgm:presLayoutVars>
          <dgm:bulletEnabled val="1"/>
        </dgm:presLayoutVars>
      </dgm:prSet>
      <dgm:spPr/>
    </dgm:pt>
    <dgm:pt modelId="{63A07C64-AF71-4F7F-AD96-90A6EFC48F42}" type="pres">
      <dgm:prSet presAssocID="{1806B0E6-60FB-434B-8397-38A2B3550EEA}" presName="sibTrans" presStyleLbl="sibTrans2D1" presStyleIdx="1" presStyleCnt="2"/>
      <dgm:spPr/>
    </dgm:pt>
    <dgm:pt modelId="{CDE7CFD8-B935-4EAD-AA6B-691A0990E276}" type="pres">
      <dgm:prSet presAssocID="{1806B0E6-60FB-434B-8397-38A2B3550EEA}" presName="connectorText" presStyleLbl="sibTrans2D1" presStyleIdx="1" presStyleCnt="2"/>
      <dgm:spPr/>
    </dgm:pt>
    <dgm:pt modelId="{133B6E56-E8D3-4115-B78E-F874F59E6FC0}" type="pres">
      <dgm:prSet presAssocID="{1C5EF333-77BF-4691-A266-B2FBB4747EB9}" presName="node" presStyleLbl="node1" presStyleIdx="2" presStyleCnt="3">
        <dgm:presLayoutVars>
          <dgm:bulletEnabled val="1"/>
        </dgm:presLayoutVars>
      </dgm:prSet>
      <dgm:spPr/>
    </dgm:pt>
  </dgm:ptLst>
  <dgm:cxnLst>
    <dgm:cxn modelId="{D4C2C100-AFDF-49A0-9D4D-4C359EAD1319}" type="presOf" srcId="{1A727F9C-7E70-40D7-BFEF-B9F949E3989C}" destId="{295B9069-994B-494D-8A6D-98FEBB8AF4F9}" srcOrd="0" destOrd="0" presId="urn:microsoft.com/office/officeart/2005/8/layout/process1"/>
    <dgm:cxn modelId="{8D284C0A-03C7-415C-B2E3-9CDE089D3D43}" type="presOf" srcId="{1806B0E6-60FB-434B-8397-38A2B3550EEA}" destId="{CDE7CFD8-B935-4EAD-AA6B-691A0990E276}" srcOrd="1" destOrd="0" presId="urn:microsoft.com/office/officeart/2005/8/layout/process1"/>
    <dgm:cxn modelId="{409D6F0F-8273-41B9-9031-8E1DC5341EE4}" type="presOf" srcId="{55A52E9A-AE39-4BCE-9AE9-BF793CD649C4}" destId="{01FB1F9E-BFC3-46A1-9E50-0C671A28B5FD}" srcOrd="1" destOrd="0" presId="urn:microsoft.com/office/officeart/2005/8/layout/process1"/>
    <dgm:cxn modelId="{DDA9B514-E49C-4EB2-B397-7AFFE41D1DC5}" type="presOf" srcId="{790C43F1-02EF-47D4-8823-60579426905C}" destId="{A80F98C7-8E88-4EAE-8475-98DD2117CC16}" srcOrd="0" destOrd="0" presId="urn:microsoft.com/office/officeart/2005/8/layout/process1"/>
    <dgm:cxn modelId="{A499975D-9C2E-4518-A488-8BA20D7DBE8D}" type="presOf" srcId="{1806B0E6-60FB-434B-8397-38A2B3550EEA}" destId="{63A07C64-AF71-4F7F-AD96-90A6EFC48F42}" srcOrd="0" destOrd="0" presId="urn:microsoft.com/office/officeart/2005/8/layout/process1"/>
    <dgm:cxn modelId="{7CE06E4B-2FF9-4A6A-9D10-5EE25F8EECC8}" srcId="{790C43F1-02EF-47D4-8823-60579426905C}" destId="{1C5EF333-77BF-4691-A266-B2FBB4747EB9}" srcOrd="2" destOrd="0" parTransId="{38B08C89-0FCA-4104-B3D0-17B5C34ABAC8}" sibTransId="{35C284D1-A658-4621-873A-E58D9CEC7FF4}"/>
    <dgm:cxn modelId="{B1C49D6F-0267-4D33-94AF-92EDAB73CB48}" type="presOf" srcId="{61503352-50FA-4FA8-BD31-0BA72F7DC3DE}" destId="{AFD3D2BE-4817-4A13-9C36-08591EE99194}" srcOrd="0" destOrd="0" presId="urn:microsoft.com/office/officeart/2005/8/layout/process1"/>
    <dgm:cxn modelId="{8A886A55-A662-42FD-8873-55E28EF09883}" type="presOf" srcId="{55A52E9A-AE39-4BCE-9AE9-BF793CD649C4}" destId="{1AD01AE5-B333-4BC5-BE6B-9D4D7280BE61}" srcOrd="0" destOrd="0" presId="urn:microsoft.com/office/officeart/2005/8/layout/process1"/>
    <dgm:cxn modelId="{C5527FA5-597B-4071-81D5-C955AF4AC026}" srcId="{790C43F1-02EF-47D4-8823-60579426905C}" destId="{61503352-50FA-4FA8-BD31-0BA72F7DC3DE}" srcOrd="1" destOrd="0" parTransId="{F502B252-01D5-4EAC-A70E-9E3FE731AD3F}" sibTransId="{1806B0E6-60FB-434B-8397-38A2B3550EEA}"/>
    <dgm:cxn modelId="{A0207BD1-12A6-4D74-9660-6AADE5E5EF0E}" srcId="{790C43F1-02EF-47D4-8823-60579426905C}" destId="{1A727F9C-7E70-40D7-BFEF-B9F949E3989C}" srcOrd="0" destOrd="0" parTransId="{D65792B2-F7D4-4D21-AA16-82ADF20E29A5}" sibTransId="{55A52E9A-AE39-4BCE-9AE9-BF793CD649C4}"/>
    <dgm:cxn modelId="{72D18BD3-899D-4305-ABFD-D30DF94CAFBB}" type="presOf" srcId="{1C5EF333-77BF-4691-A266-B2FBB4747EB9}" destId="{133B6E56-E8D3-4115-B78E-F874F59E6FC0}" srcOrd="0" destOrd="0" presId="urn:microsoft.com/office/officeart/2005/8/layout/process1"/>
    <dgm:cxn modelId="{9D4F2FC7-0998-4881-8553-A3FB671CFEE8}" type="presParOf" srcId="{A80F98C7-8E88-4EAE-8475-98DD2117CC16}" destId="{295B9069-994B-494D-8A6D-98FEBB8AF4F9}" srcOrd="0" destOrd="0" presId="urn:microsoft.com/office/officeart/2005/8/layout/process1"/>
    <dgm:cxn modelId="{8C8B6D77-52D6-484C-A12C-6A25E1EC8123}" type="presParOf" srcId="{A80F98C7-8E88-4EAE-8475-98DD2117CC16}" destId="{1AD01AE5-B333-4BC5-BE6B-9D4D7280BE61}" srcOrd="1" destOrd="0" presId="urn:microsoft.com/office/officeart/2005/8/layout/process1"/>
    <dgm:cxn modelId="{734F82FC-2B2D-4069-8FC7-499FC2B71998}" type="presParOf" srcId="{1AD01AE5-B333-4BC5-BE6B-9D4D7280BE61}" destId="{01FB1F9E-BFC3-46A1-9E50-0C671A28B5FD}" srcOrd="0" destOrd="0" presId="urn:microsoft.com/office/officeart/2005/8/layout/process1"/>
    <dgm:cxn modelId="{A0FB3810-68E7-4D2E-B070-F46C12680D3F}" type="presParOf" srcId="{A80F98C7-8E88-4EAE-8475-98DD2117CC16}" destId="{AFD3D2BE-4817-4A13-9C36-08591EE99194}" srcOrd="2" destOrd="0" presId="urn:microsoft.com/office/officeart/2005/8/layout/process1"/>
    <dgm:cxn modelId="{E1792FD1-E18A-4A47-8FBF-EDF6874E8F7D}" type="presParOf" srcId="{A80F98C7-8E88-4EAE-8475-98DD2117CC16}" destId="{63A07C64-AF71-4F7F-AD96-90A6EFC48F42}" srcOrd="3" destOrd="0" presId="urn:microsoft.com/office/officeart/2005/8/layout/process1"/>
    <dgm:cxn modelId="{DA172411-00B4-4C91-B567-7885E6F87BAE}" type="presParOf" srcId="{63A07C64-AF71-4F7F-AD96-90A6EFC48F42}" destId="{CDE7CFD8-B935-4EAD-AA6B-691A0990E276}" srcOrd="0" destOrd="0" presId="urn:microsoft.com/office/officeart/2005/8/layout/process1"/>
    <dgm:cxn modelId="{83A4EB71-FBF2-4E74-B0E6-B90CC925612C}" type="presParOf" srcId="{A80F98C7-8E88-4EAE-8475-98DD2117CC16}" destId="{133B6E56-E8D3-4115-B78E-F874F59E6FC0}"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95B9069-994B-494D-8A6D-98FEBB8AF4F9}">
      <dsp:nvSpPr>
        <dsp:cNvPr id="0" name=""/>
        <dsp:cNvSpPr/>
      </dsp:nvSpPr>
      <dsp:spPr>
        <a:xfrm>
          <a:off x="7143" y="2068777"/>
          <a:ext cx="2135187" cy="128111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IE" sz="1700" b="1" kern="1200" dirty="0"/>
            <a:t>Manual</a:t>
          </a:r>
        </a:p>
        <a:p>
          <a:pPr marL="0" lvl="0" indent="0" algn="ctr" defTabSz="755650">
            <a:lnSpc>
              <a:spcPct val="90000"/>
            </a:lnSpc>
            <a:spcBef>
              <a:spcPct val="0"/>
            </a:spcBef>
            <a:spcAft>
              <a:spcPct val="35000"/>
            </a:spcAft>
            <a:buNone/>
          </a:pPr>
          <a:r>
            <a:rPr lang="en-IE" sz="1700" kern="1200" dirty="0"/>
            <a:t>Workers inspect produce</a:t>
          </a:r>
        </a:p>
      </dsp:txBody>
      <dsp:txXfrm>
        <a:off x="44665" y="2106299"/>
        <a:ext cx="2060143" cy="1206068"/>
      </dsp:txXfrm>
    </dsp:sp>
    <dsp:sp modelId="{1AD01AE5-B333-4BC5-BE6B-9D4D7280BE61}">
      <dsp:nvSpPr>
        <dsp:cNvPr id="0" name=""/>
        <dsp:cNvSpPr/>
      </dsp:nvSpPr>
      <dsp:spPr>
        <a:xfrm>
          <a:off x="2355850" y="2444570"/>
          <a:ext cx="452659" cy="52952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IE" sz="1400" kern="1200"/>
        </a:p>
      </dsp:txBody>
      <dsp:txXfrm>
        <a:off x="2355850" y="2550475"/>
        <a:ext cx="316861" cy="317716"/>
      </dsp:txXfrm>
    </dsp:sp>
    <dsp:sp modelId="{AFD3D2BE-4817-4A13-9C36-08591EE99194}">
      <dsp:nvSpPr>
        <dsp:cNvPr id="0" name=""/>
        <dsp:cNvSpPr/>
      </dsp:nvSpPr>
      <dsp:spPr>
        <a:xfrm>
          <a:off x="2996406" y="2068777"/>
          <a:ext cx="2135187" cy="128111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IE" sz="1700" b="1" kern="1200" dirty="0"/>
            <a:t>Optical</a:t>
          </a:r>
        </a:p>
        <a:p>
          <a:pPr marL="0" lvl="0" indent="0" algn="ctr" defTabSz="755650">
            <a:lnSpc>
              <a:spcPct val="90000"/>
            </a:lnSpc>
            <a:spcBef>
              <a:spcPct val="0"/>
            </a:spcBef>
            <a:spcAft>
              <a:spcPct val="35000"/>
            </a:spcAft>
            <a:buNone/>
          </a:pPr>
          <a:r>
            <a:rPr lang="en-IE" sz="1700" kern="1200" dirty="0"/>
            <a:t>Colour Based detection</a:t>
          </a:r>
        </a:p>
      </dsp:txBody>
      <dsp:txXfrm>
        <a:off x="3033928" y="2106299"/>
        <a:ext cx="2060143" cy="1206068"/>
      </dsp:txXfrm>
    </dsp:sp>
    <dsp:sp modelId="{63A07C64-AF71-4F7F-AD96-90A6EFC48F42}">
      <dsp:nvSpPr>
        <dsp:cNvPr id="0" name=""/>
        <dsp:cNvSpPr/>
      </dsp:nvSpPr>
      <dsp:spPr>
        <a:xfrm>
          <a:off x="5345112" y="2444570"/>
          <a:ext cx="452659" cy="52952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IE" sz="1400" kern="1200"/>
        </a:p>
      </dsp:txBody>
      <dsp:txXfrm>
        <a:off x="5345112" y="2550475"/>
        <a:ext cx="316861" cy="317716"/>
      </dsp:txXfrm>
    </dsp:sp>
    <dsp:sp modelId="{133B6E56-E8D3-4115-B78E-F874F59E6FC0}">
      <dsp:nvSpPr>
        <dsp:cNvPr id="0" name=""/>
        <dsp:cNvSpPr/>
      </dsp:nvSpPr>
      <dsp:spPr>
        <a:xfrm>
          <a:off x="5985668" y="2068777"/>
          <a:ext cx="2135187" cy="1281112"/>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IE" sz="1700" b="1" kern="1200" dirty="0"/>
            <a:t>AI Based Sorting</a:t>
          </a:r>
        </a:p>
        <a:p>
          <a:pPr marL="0" lvl="0" indent="0" algn="ctr" defTabSz="755650">
            <a:lnSpc>
              <a:spcPct val="90000"/>
            </a:lnSpc>
            <a:spcBef>
              <a:spcPct val="0"/>
            </a:spcBef>
            <a:spcAft>
              <a:spcPct val="35000"/>
            </a:spcAft>
            <a:buNone/>
          </a:pPr>
          <a:r>
            <a:rPr lang="en-IE" sz="1700" kern="1200" dirty="0"/>
            <a:t>Detect subtle differences(disease, bruising)</a:t>
          </a:r>
        </a:p>
      </dsp:txBody>
      <dsp:txXfrm>
        <a:off x="6023190" y="2106299"/>
        <a:ext cx="2060143" cy="1206068"/>
      </dsp:txXfrm>
    </dsp:sp>
  </dsp:spTree>
</dsp:drawing>
</file>

<file path=ppt/diagrams/layout1.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832779-8DA3-4C1E-A59C-669AA92B4F41}" type="datetimeFigureOut">
              <a:rPr lang="en-IE" smtClean="0"/>
              <a:t>10/03/2025</a:t>
            </a:fld>
            <a:endParaRPr lang="en-I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20DE8B-847B-48FB-AE86-BD152F2AC84E}" type="slidenum">
              <a:rPr lang="en-IE" smtClean="0"/>
              <a:t>‹#›</a:t>
            </a:fld>
            <a:endParaRPr lang="en-IE"/>
          </a:p>
        </p:txBody>
      </p:sp>
    </p:spTree>
    <p:extLst>
      <p:ext uri="{BB962C8B-B14F-4D97-AF65-F5344CB8AC3E}">
        <p14:creationId xmlns:p14="http://schemas.microsoft.com/office/powerpoint/2010/main" val="3245836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recent rise in Artificial Intelligence (AI) and Machine Learning (ML) is providing a wide range of capabilities to todays developers. ML models can be trained to recognize different things in images, including unripe fruit, and this can be used in IoT devices to help sort produce either as it is being harvested, or during processing in factories or warehouses.</a:t>
            </a:r>
          </a:p>
          <a:p>
            <a:endParaRPr lang="en-GB" dirty="0"/>
          </a:p>
          <a:p>
            <a:r>
              <a:rPr lang="en-GB" dirty="0"/>
              <a:t>In this lesson you will learn about image classification - using ML models to distinguish between images of different things. You will learn how to train an image classifier to distinguish between fruit that is good, and fruit that is bad, either under or over ripe, bruised, or rotten.</a:t>
            </a:r>
            <a:endParaRPr lang="en-IE" dirty="0"/>
          </a:p>
        </p:txBody>
      </p:sp>
      <p:sp>
        <p:nvSpPr>
          <p:cNvPr id="4" name="Slide Number Placeholder 3"/>
          <p:cNvSpPr>
            <a:spLocks noGrp="1"/>
          </p:cNvSpPr>
          <p:nvPr>
            <p:ph type="sldNum" sz="quarter" idx="5"/>
          </p:nvPr>
        </p:nvSpPr>
        <p:spPr/>
        <p:txBody>
          <a:bodyPr/>
          <a:lstStyle/>
          <a:p>
            <a:fld id="{3020DE8B-847B-48FB-AE86-BD152F2AC84E}" type="slidenum">
              <a:rPr lang="en-IE" smtClean="0"/>
              <a:t>1</a:t>
            </a:fld>
            <a:endParaRPr lang="en-IE"/>
          </a:p>
        </p:txBody>
      </p:sp>
    </p:spTree>
    <p:extLst>
      <p:ext uri="{BB962C8B-B14F-4D97-AF65-F5344CB8AC3E}">
        <p14:creationId xmlns:p14="http://schemas.microsoft.com/office/powerpoint/2010/main" val="32598174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0" i="0" dirty="0">
                <a:solidFill>
                  <a:srgbClr val="333333"/>
                </a:solidFill>
                <a:effectLst/>
                <a:latin typeface="Open Sans" panose="020B0606030504020204" pitchFamily="34" charset="0"/>
              </a:rPr>
              <a:t>Feeding the global population is hard, especially at a price that makes food affordable for all. One of the largest costs is </a:t>
            </a:r>
            <a:r>
              <a:rPr lang="en-GB" b="0" i="0" dirty="0" err="1">
                <a:solidFill>
                  <a:srgbClr val="333333"/>
                </a:solidFill>
                <a:effectLst/>
                <a:latin typeface="Open Sans" panose="020B0606030504020204" pitchFamily="34" charset="0"/>
              </a:rPr>
              <a:t>labor</a:t>
            </a:r>
            <a:r>
              <a:rPr lang="en-GB" b="0" i="0" dirty="0">
                <a:solidFill>
                  <a:srgbClr val="333333"/>
                </a:solidFill>
                <a:effectLst/>
                <a:latin typeface="Open Sans" panose="020B0606030504020204" pitchFamily="34" charset="0"/>
              </a:rPr>
              <a:t>, so farmers are increasingly turning to automation and tools like IoT to reduce their </a:t>
            </a:r>
            <a:r>
              <a:rPr lang="en-GB" b="0" i="0" dirty="0" err="1">
                <a:solidFill>
                  <a:srgbClr val="333333"/>
                </a:solidFill>
                <a:effectLst/>
                <a:latin typeface="Open Sans" panose="020B0606030504020204" pitchFamily="34" charset="0"/>
              </a:rPr>
              <a:t>labor</a:t>
            </a:r>
            <a:r>
              <a:rPr lang="en-GB" b="0" i="0" dirty="0">
                <a:solidFill>
                  <a:srgbClr val="333333"/>
                </a:solidFill>
                <a:effectLst/>
                <a:latin typeface="Open Sans" panose="020B0606030504020204" pitchFamily="34" charset="0"/>
              </a:rPr>
              <a:t> costs. Harvesting by hand is </a:t>
            </a:r>
            <a:r>
              <a:rPr lang="en-GB" b="0" i="0" dirty="0" err="1">
                <a:solidFill>
                  <a:srgbClr val="333333"/>
                </a:solidFill>
                <a:effectLst/>
                <a:latin typeface="Open Sans" panose="020B0606030504020204" pitchFamily="34" charset="0"/>
              </a:rPr>
              <a:t>labor</a:t>
            </a:r>
            <a:r>
              <a:rPr lang="en-GB" b="0" i="0" dirty="0">
                <a:solidFill>
                  <a:srgbClr val="333333"/>
                </a:solidFill>
                <a:effectLst/>
                <a:latin typeface="Open Sans" panose="020B0606030504020204" pitchFamily="34" charset="0"/>
              </a:rPr>
              <a:t> intensive (and often backbreaking work), and is being replaced by machinery, especially in richer nations. Despite the savings in cost of using machinery to harvest, there is a downside - the ability to sort food as it is being harvested.</a:t>
            </a:r>
            <a:endParaRPr lang="en-IE" dirty="0"/>
          </a:p>
        </p:txBody>
      </p:sp>
      <p:sp>
        <p:nvSpPr>
          <p:cNvPr id="4" name="Slide Number Placeholder 3"/>
          <p:cNvSpPr>
            <a:spLocks noGrp="1"/>
          </p:cNvSpPr>
          <p:nvPr>
            <p:ph type="sldNum" sz="quarter" idx="5"/>
          </p:nvPr>
        </p:nvSpPr>
        <p:spPr/>
        <p:txBody>
          <a:bodyPr/>
          <a:lstStyle/>
          <a:p>
            <a:fld id="{3020DE8B-847B-48FB-AE86-BD152F2AC84E}" type="slidenum">
              <a:rPr lang="en-IE" smtClean="0"/>
              <a:t>2</a:t>
            </a:fld>
            <a:endParaRPr lang="en-IE"/>
          </a:p>
        </p:txBody>
      </p:sp>
    </p:spTree>
    <p:extLst>
      <p:ext uri="{BB962C8B-B14F-4D97-AF65-F5344CB8AC3E}">
        <p14:creationId xmlns:p14="http://schemas.microsoft.com/office/powerpoint/2010/main" val="17805673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E" dirty="0"/>
              <a:t>GPUs</a:t>
            </a:r>
          </a:p>
        </p:txBody>
      </p:sp>
      <p:sp>
        <p:nvSpPr>
          <p:cNvPr id="4" name="Slide Number Placeholder 3"/>
          <p:cNvSpPr>
            <a:spLocks noGrp="1"/>
          </p:cNvSpPr>
          <p:nvPr>
            <p:ph type="sldNum" sz="quarter" idx="5"/>
          </p:nvPr>
        </p:nvSpPr>
        <p:spPr/>
        <p:txBody>
          <a:bodyPr/>
          <a:lstStyle/>
          <a:p>
            <a:fld id="{3020DE8B-847B-48FB-AE86-BD152F2AC84E}" type="slidenum">
              <a:rPr lang="en-IE" smtClean="0"/>
              <a:t>6</a:t>
            </a:fld>
            <a:endParaRPr lang="en-IE"/>
          </a:p>
        </p:txBody>
      </p:sp>
    </p:spTree>
    <p:extLst>
      <p:ext uri="{BB962C8B-B14F-4D97-AF65-F5344CB8AC3E}">
        <p14:creationId xmlns:p14="http://schemas.microsoft.com/office/powerpoint/2010/main" val="31381796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68F00-5146-1C89-F62F-924A2F4256A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E"/>
          </a:p>
        </p:txBody>
      </p:sp>
      <p:sp>
        <p:nvSpPr>
          <p:cNvPr id="3" name="Subtitle 2">
            <a:extLst>
              <a:ext uri="{FF2B5EF4-FFF2-40B4-BE49-F238E27FC236}">
                <a16:creationId xmlns:a16="http://schemas.microsoft.com/office/drawing/2014/main" id="{FC4BC4FE-F7F9-7DCB-FFF1-0DA54E3B6AF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E"/>
          </a:p>
        </p:txBody>
      </p:sp>
      <p:sp>
        <p:nvSpPr>
          <p:cNvPr id="4" name="Date Placeholder 3">
            <a:extLst>
              <a:ext uri="{FF2B5EF4-FFF2-40B4-BE49-F238E27FC236}">
                <a16:creationId xmlns:a16="http://schemas.microsoft.com/office/drawing/2014/main" id="{DB1307E3-94AB-B679-842A-F4CAC85AAA8A}"/>
              </a:ext>
            </a:extLst>
          </p:cNvPr>
          <p:cNvSpPr>
            <a:spLocks noGrp="1"/>
          </p:cNvSpPr>
          <p:nvPr>
            <p:ph type="dt" sz="half" idx="10"/>
          </p:nvPr>
        </p:nvSpPr>
        <p:spPr/>
        <p:txBody>
          <a:bodyPr/>
          <a:lstStyle/>
          <a:p>
            <a:fld id="{21A5D980-FB4D-475E-8D87-DE3E8282E11E}" type="datetimeFigureOut">
              <a:rPr lang="en-IE" smtClean="0"/>
              <a:t>10/03/2025</a:t>
            </a:fld>
            <a:endParaRPr lang="en-IE"/>
          </a:p>
        </p:txBody>
      </p:sp>
      <p:sp>
        <p:nvSpPr>
          <p:cNvPr id="5" name="Footer Placeholder 4">
            <a:extLst>
              <a:ext uri="{FF2B5EF4-FFF2-40B4-BE49-F238E27FC236}">
                <a16:creationId xmlns:a16="http://schemas.microsoft.com/office/drawing/2014/main" id="{43E72CC0-46DF-25C5-1CBA-B632DF3BB510}"/>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B8FDDC3F-4A36-1153-E903-595E26D2E7BD}"/>
              </a:ext>
            </a:extLst>
          </p:cNvPr>
          <p:cNvSpPr>
            <a:spLocks noGrp="1"/>
          </p:cNvSpPr>
          <p:nvPr>
            <p:ph type="sldNum" sz="quarter" idx="12"/>
          </p:nvPr>
        </p:nvSpPr>
        <p:spPr/>
        <p:txBody>
          <a:bodyPr/>
          <a:lstStyle/>
          <a:p>
            <a:fld id="{6DF38C0E-AFC0-4AB0-86FC-50BC75CFD3DE}" type="slidenum">
              <a:rPr lang="en-IE" smtClean="0"/>
              <a:t>‹#›</a:t>
            </a:fld>
            <a:endParaRPr lang="en-IE"/>
          </a:p>
        </p:txBody>
      </p:sp>
    </p:spTree>
    <p:extLst>
      <p:ext uri="{BB962C8B-B14F-4D97-AF65-F5344CB8AC3E}">
        <p14:creationId xmlns:p14="http://schemas.microsoft.com/office/powerpoint/2010/main" val="14055012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B82333-F481-A06E-3F88-F6388981B876}"/>
              </a:ext>
            </a:extLst>
          </p:cNvPr>
          <p:cNvSpPr>
            <a:spLocks noGrp="1"/>
          </p:cNvSpPr>
          <p:nvPr>
            <p:ph type="title"/>
          </p:nvPr>
        </p:nvSpPr>
        <p:spPr/>
        <p:txBody>
          <a:bodyPr/>
          <a:lstStyle/>
          <a:p>
            <a:r>
              <a:rPr lang="en-GB"/>
              <a:t>Click to edit Master title style</a:t>
            </a:r>
            <a:endParaRPr lang="en-IE"/>
          </a:p>
        </p:txBody>
      </p:sp>
      <p:sp>
        <p:nvSpPr>
          <p:cNvPr id="3" name="Content Placeholder 2">
            <a:extLst>
              <a:ext uri="{FF2B5EF4-FFF2-40B4-BE49-F238E27FC236}">
                <a16:creationId xmlns:a16="http://schemas.microsoft.com/office/drawing/2014/main" id="{0F79CED4-DABC-ACB0-AE00-BD5D4D75A72F}"/>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E"/>
          </a:p>
        </p:txBody>
      </p:sp>
      <p:sp>
        <p:nvSpPr>
          <p:cNvPr id="4" name="Date Placeholder 3">
            <a:extLst>
              <a:ext uri="{FF2B5EF4-FFF2-40B4-BE49-F238E27FC236}">
                <a16:creationId xmlns:a16="http://schemas.microsoft.com/office/drawing/2014/main" id="{26DABDC0-3C22-839D-41F2-DA01639E7175}"/>
              </a:ext>
            </a:extLst>
          </p:cNvPr>
          <p:cNvSpPr>
            <a:spLocks noGrp="1"/>
          </p:cNvSpPr>
          <p:nvPr>
            <p:ph type="dt" sz="half" idx="10"/>
          </p:nvPr>
        </p:nvSpPr>
        <p:spPr/>
        <p:txBody>
          <a:bodyPr/>
          <a:lstStyle/>
          <a:p>
            <a:fld id="{21A5D980-FB4D-475E-8D87-DE3E8282E11E}" type="datetimeFigureOut">
              <a:rPr lang="en-IE" smtClean="0"/>
              <a:t>10/03/2025</a:t>
            </a:fld>
            <a:endParaRPr lang="en-IE"/>
          </a:p>
        </p:txBody>
      </p:sp>
      <p:sp>
        <p:nvSpPr>
          <p:cNvPr id="5" name="Footer Placeholder 4">
            <a:extLst>
              <a:ext uri="{FF2B5EF4-FFF2-40B4-BE49-F238E27FC236}">
                <a16:creationId xmlns:a16="http://schemas.microsoft.com/office/drawing/2014/main" id="{9714E236-42DC-1612-8470-6A27C7DCDCD2}"/>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F99315E2-907F-A00D-E925-D16EDE9CFBB0}"/>
              </a:ext>
            </a:extLst>
          </p:cNvPr>
          <p:cNvSpPr>
            <a:spLocks noGrp="1"/>
          </p:cNvSpPr>
          <p:nvPr>
            <p:ph type="sldNum" sz="quarter" idx="12"/>
          </p:nvPr>
        </p:nvSpPr>
        <p:spPr/>
        <p:txBody>
          <a:bodyPr/>
          <a:lstStyle/>
          <a:p>
            <a:fld id="{6DF38C0E-AFC0-4AB0-86FC-50BC75CFD3DE}" type="slidenum">
              <a:rPr lang="en-IE" smtClean="0"/>
              <a:t>‹#›</a:t>
            </a:fld>
            <a:endParaRPr lang="en-IE"/>
          </a:p>
        </p:txBody>
      </p:sp>
    </p:spTree>
    <p:extLst>
      <p:ext uri="{BB962C8B-B14F-4D97-AF65-F5344CB8AC3E}">
        <p14:creationId xmlns:p14="http://schemas.microsoft.com/office/powerpoint/2010/main" val="393525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13AE9-70B2-27E0-9D17-6A892FD0AA8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E"/>
          </a:p>
        </p:txBody>
      </p:sp>
      <p:sp>
        <p:nvSpPr>
          <p:cNvPr id="3" name="Text Placeholder 2">
            <a:extLst>
              <a:ext uri="{FF2B5EF4-FFF2-40B4-BE49-F238E27FC236}">
                <a16:creationId xmlns:a16="http://schemas.microsoft.com/office/drawing/2014/main" id="{2B8B2FF3-7149-7E06-1034-6FA4FB3F609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47C424D7-692B-4E77-8E36-EFB102B4E84A}"/>
              </a:ext>
            </a:extLst>
          </p:cNvPr>
          <p:cNvSpPr>
            <a:spLocks noGrp="1"/>
          </p:cNvSpPr>
          <p:nvPr>
            <p:ph type="dt" sz="half" idx="10"/>
          </p:nvPr>
        </p:nvSpPr>
        <p:spPr/>
        <p:txBody>
          <a:bodyPr/>
          <a:lstStyle/>
          <a:p>
            <a:fld id="{21A5D980-FB4D-475E-8D87-DE3E8282E11E}" type="datetimeFigureOut">
              <a:rPr lang="en-IE" smtClean="0"/>
              <a:t>10/03/2025</a:t>
            </a:fld>
            <a:endParaRPr lang="en-IE"/>
          </a:p>
        </p:txBody>
      </p:sp>
      <p:sp>
        <p:nvSpPr>
          <p:cNvPr id="5" name="Footer Placeholder 4">
            <a:extLst>
              <a:ext uri="{FF2B5EF4-FFF2-40B4-BE49-F238E27FC236}">
                <a16:creationId xmlns:a16="http://schemas.microsoft.com/office/drawing/2014/main" id="{02F8E7FA-2CE5-28A5-2481-589F86380765}"/>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DE694AD1-0849-A6F1-D898-10FD647F5DD4}"/>
              </a:ext>
            </a:extLst>
          </p:cNvPr>
          <p:cNvSpPr>
            <a:spLocks noGrp="1"/>
          </p:cNvSpPr>
          <p:nvPr>
            <p:ph type="sldNum" sz="quarter" idx="12"/>
          </p:nvPr>
        </p:nvSpPr>
        <p:spPr/>
        <p:txBody>
          <a:bodyPr/>
          <a:lstStyle/>
          <a:p>
            <a:fld id="{6DF38C0E-AFC0-4AB0-86FC-50BC75CFD3DE}" type="slidenum">
              <a:rPr lang="en-IE" smtClean="0"/>
              <a:t>‹#›</a:t>
            </a:fld>
            <a:endParaRPr lang="en-IE"/>
          </a:p>
        </p:txBody>
      </p:sp>
    </p:spTree>
    <p:extLst>
      <p:ext uri="{BB962C8B-B14F-4D97-AF65-F5344CB8AC3E}">
        <p14:creationId xmlns:p14="http://schemas.microsoft.com/office/powerpoint/2010/main" val="33630399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AE097-C21D-8F1A-532A-57B7908E4CFF}"/>
              </a:ext>
            </a:extLst>
          </p:cNvPr>
          <p:cNvSpPr>
            <a:spLocks noGrp="1"/>
          </p:cNvSpPr>
          <p:nvPr>
            <p:ph type="title"/>
          </p:nvPr>
        </p:nvSpPr>
        <p:spPr/>
        <p:txBody>
          <a:bodyPr/>
          <a:lstStyle/>
          <a:p>
            <a:r>
              <a:rPr lang="en-GB"/>
              <a:t>Click to edit Master title style</a:t>
            </a:r>
            <a:endParaRPr lang="en-IE"/>
          </a:p>
        </p:txBody>
      </p:sp>
      <p:sp>
        <p:nvSpPr>
          <p:cNvPr id="3" name="Content Placeholder 2">
            <a:extLst>
              <a:ext uri="{FF2B5EF4-FFF2-40B4-BE49-F238E27FC236}">
                <a16:creationId xmlns:a16="http://schemas.microsoft.com/office/drawing/2014/main" id="{588A1DC5-78E6-39C9-BF18-702BF0001C8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E"/>
          </a:p>
        </p:txBody>
      </p:sp>
      <p:sp>
        <p:nvSpPr>
          <p:cNvPr id="4" name="Content Placeholder 3">
            <a:extLst>
              <a:ext uri="{FF2B5EF4-FFF2-40B4-BE49-F238E27FC236}">
                <a16:creationId xmlns:a16="http://schemas.microsoft.com/office/drawing/2014/main" id="{3C60ACFB-5FEF-D907-D990-59221E7A6D9D}"/>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E"/>
          </a:p>
        </p:txBody>
      </p:sp>
      <p:sp>
        <p:nvSpPr>
          <p:cNvPr id="5" name="Date Placeholder 4">
            <a:extLst>
              <a:ext uri="{FF2B5EF4-FFF2-40B4-BE49-F238E27FC236}">
                <a16:creationId xmlns:a16="http://schemas.microsoft.com/office/drawing/2014/main" id="{4A0D4FDD-7873-C848-8A2C-40500C08FA89}"/>
              </a:ext>
            </a:extLst>
          </p:cNvPr>
          <p:cNvSpPr>
            <a:spLocks noGrp="1"/>
          </p:cNvSpPr>
          <p:nvPr>
            <p:ph type="dt" sz="half" idx="10"/>
          </p:nvPr>
        </p:nvSpPr>
        <p:spPr/>
        <p:txBody>
          <a:bodyPr/>
          <a:lstStyle/>
          <a:p>
            <a:fld id="{21A5D980-FB4D-475E-8D87-DE3E8282E11E}" type="datetimeFigureOut">
              <a:rPr lang="en-IE" smtClean="0"/>
              <a:t>10/03/2025</a:t>
            </a:fld>
            <a:endParaRPr lang="en-IE"/>
          </a:p>
        </p:txBody>
      </p:sp>
      <p:sp>
        <p:nvSpPr>
          <p:cNvPr id="6" name="Footer Placeholder 5">
            <a:extLst>
              <a:ext uri="{FF2B5EF4-FFF2-40B4-BE49-F238E27FC236}">
                <a16:creationId xmlns:a16="http://schemas.microsoft.com/office/drawing/2014/main" id="{2BA7C0C3-D7ED-F002-058E-D71271615102}"/>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6D43249B-6FB2-879D-15E6-5329B0438FED}"/>
              </a:ext>
            </a:extLst>
          </p:cNvPr>
          <p:cNvSpPr>
            <a:spLocks noGrp="1"/>
          </p:cNvSpPr>
          <p:nvPr>
            <p:ph type="sldNum" sz="quarter" idx="12"/>
          </p:nvPr>
        </p:nvSpPr>
        <p:spPr/>
        <p:txBody>
          <a:bodyPr/>
          <a:lstStyle/>
          <a:p>
            <a:fld id="{6DF38C0E-AFC0-4AB0-86FC-50BC75CFD3DE}" type="slidenum">
              <a:rPr lang="en-IE" smtClean="0"/>
              <a:t>‹#›</a:t>
            </a:fld>
            <a:endParaRPr lang="en-IE"/>
          </a:p>
        </p:txBody>
      </p:sp>
    </p:spTree>
    <p:extLst>
      <p:ext uri="{BB962C8B-B14F-4D97-AF65-F5344CB8AC3E}">
        <p14:creationId xmlns:p14="http://schemas.microsoft.com/office/powerpoint/2010/main" val="2363260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71169-69CA-5A36-B2FF-144763ACEB5A}"/>
              </a:ext>
            </a:extLst>
          </p:cNvPr>
          <p:cNvSpPr>
            <a:spLocks noGrp="1"/>
          </p:cNvSpPr>
          <p:nvPr>
            <p:ph type="title"/>
          </p:nvPr>
        </p:nvSpPr>
        <p:spPr>
          <a:xfrm>
            <a:off x="839788" y="365125"/>
            <a:ext cx="10515600" cy="1325563"/>
          </a:xfrm>
        </p:spPr>
        <p:txBody>
          <a:bodyPr/>
          <a:lstStyle/>
          <a:p>
            <a:r>
              <a:rPr lang="en-GB"/>
              <a:t>Click to edit Master title style</a:t>
            </a:r>
            <a:endParaRPr lang="en-IE"/>
          </a:p>
        </p:txBody>
      </p:sp>
      <p:sp>
        <p:nvSpPr>
          <p:cNvPr id="3" name="Text Placeholder 2">
            <a:extLst>
              <a:ext uri="{FF2B5EF4-FFF2-40B4-BE49-F238E27FC236}">
                <a16:creationId xmlns:a16="http://schemas.microsoft.com/office/drawing/2014/main" id="{067A7471-D93C-3EE0-6466-941E7BB368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584634D4-802F-267E-9DAE-03B409F3F13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E"/>
          </a:p>
        </p:txBody>
      </p:sp>
      <p:sp>
        <p:nvSpPr>
          <p:cNvPr id="5" name="Text Placeholder 4">
            <a:extLst>
              <a:ext uri="{FF2B5EF4-FFF2-40B4-BE49-F238E27FC236}">
                <a16:creationId xmlns:a16="http://schemas.microsoft.com/office/drawing/2014/main" id="{6C3F3050-D2B6-F566-3078-A43249DDA29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3D88F3E6-3704-B09D-F455-B4A9CBC7A6B2}"/>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E"/>
          </a:p>
        </p:txBody>
      </p:sp>
      <p:sp>
        <p:nvSpPr>
          <p:cNvPr id="7" name="Date Placeholder 6">
            <a:extLst>
              <a:ext uri="{FF2B5EF4-FFF2-40B4-BE49-F238E27FC236}">
                <a16:creationId xmlns:a16="http://schemas.microsoft.com/office/drawing/2014/main" id="{05BAEBEF-0524-849A-BAC1-F67502DFB3B4}"/>
              </a:ext>
            </a:extLst>
          </p:cNvPr>
          <p:cNvSpPr>
            <a:spLocks noGrp="1"/>
          </p:cNvSpPr>
          <p:nvPr>
            <p:ph type="dt" sz="half" idx="10"/>
          </p:nvPr>
        </p:nvSpPr>
        <p:spPr/>
        <p:txBody>
          <a:bodyPr/>
          <a:lstStyle/>
          <a:p>
            <a:fld id="{21A5D980-FB4D-475E-8D87-DE3E8282E11E}" type="datetimeFigureOut">
              <a:rPr lang="en-IE" smtClean="0"/>
              <a:t>10/03/2025</a:t>
            </a:fld>
            <a:endParaRPr lang="en-IE"/>
          </a:p>
        </p:txBody>
      </p:sp>
      <p:sp>
        <p:nvSpPr>
          <p:cNvPr id="8" name="Footer Placeholder 7">
            <a:extLst>
              <a:ext uri="{FF2B5EF4-FFF2-40B4-BE49-F238E27FC236}">
                <a16:creationId xmlns:a16="http://schemas.microsoft.com/office/drawing/2014/main" id="{6903298B-AE11-20AC-4E9E-7D5C45BFDB1D}"/>
              </a:ext>
            </a:extLst>
          </p:cNvPr>
          <p:cNvSpPr>
            <a:spLocks noGrp="1"/>
          </p:cNvSpPr>
          <p:nvPr>
            <p:ph type="ftr" sz="quarter" idx="11"/>
          </p:nvPr>
        </p:nvSpPr>
        <p:spPr/>
        <p:txBody>
          <a:bodyPr/>
          <a:lstStyle/>
          <a:p>
            <a:endParaRPr lang="en-IE"/>
          </a:p>
        </p:txBody>
      </p:sp>
      <p:sp>
        <p:nvSpPr>
          <p:cNvPr id="9" name="Slide Number Placeholder 8">
            <a:extLst>
              <a:ext uri="{FF2B5EF4-FFF2-40B4-BE49-F238E27FC236}">
                <a16:creationId xmlns:a16="http://schemas.microsoft.com/office/drawing/2014/main" id="{01A8471A-2566-0792-40FB-4E3424FC6E58}"/>
              </a:ext>
            </a:extLst>
          </p:cNvPr>
          <p:cNvSpPr>
            <a:spLocks noGrp="1"/>
          </p:cNvSpPr>
          <p:nvPr>
            <p:ph type="sldNum" sz="quarter" idx="12"/>
          </p:nvPr>
        </p:nvSpPr>
        <p:spPr/>
        <p:txBody>
          <a:bodyPr/>
          <a:lstStyle/>
          <a:p>
            <a:fld id="{6DF38C0E-AFC0-4AB0-86FC-50BC75CFD3DE}" type="slidenum">
              <a:rPr lang="en-IE" smtClean="0"/>
              <a:t>‹#›</a:t>
            </a:fld>
            <a:endParaRPr lang="en-IE"/>
          </a:p>
        </p:txBody>
      </p:sp>
    </p:spTree>
    <p:extLst>
      <p:ext uri="{BB962C8B-B14F-4D97-AF65-F5344CB8AC3E}">
        <p14:creationId xmlns:p14="http://schemas.microsoft.com/office/powerpoint/2010/main" val="6503334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9B726E-7425-D002-9460-0F534FC27AA3}"/>
              </a:ext>
            </a:extLst>
          </p:cNvPr>
          <p:cNvSpPr>
            <a:spLocks noGrp="1"/>
          </p:cNvSpPr>
          <p:nvPr>
            <p:ph type="title"/>
          </p:nvPr>
        </p:nvSpPr>
        <p:spPr/>
        <p:txBody>
          <a:bodyPr/>
          <a:lstStyle/>
          <a:p>
            <a:r>
              <a:rPr lang="en-GB"/>
              <a:t>Click to edit Master title style</a:t>
            </a:r>
            <a:endParaRPr lang="en-IE"/>
          </a:p>
        </p:txBody>
      </p:sp>
      <p:sp>
        <p:nvSpPr>
          <p:cNvPr id="3" name="Date Placeholder 2">
            <a:extLst>
              <a:ext uri="{FF2B5EF4-FFF2-40B4-BE49-F238E27FC236}">
                <a16:creationId xmlns:a16="http://schemas.microsoft.com/office/drawing/2014/main" id="{52FF0B02-0B01-0661-DE21-0A8816BA6F24}"/>
              </a:ext>
            </a:extLst>
          </p:cNvPr>
          <p:cNvSpPr>
            <a:spLocks noGrp="1"/>
          </p:cNvSpPr>
          <p:nvPr>
            <p:ph type="dt" sz="half" idx="10"/>
          </p:nvPr>
        </p:nvSpPr>
        <p:spPr/>
        <p:txBody>
          <a:bodyPr/>
          <a:lstStyle/>
          <a:p>
            <a:fld id="{21A5D980-FB4D-475E-8D87-DE3E8282E11E}" type="datetimeFigureOut">
              <a:rPr lang="en-IE" smtClean="0"/>
              <a:t>10/03/2025</a:t>
            </a:fld>
            <a:endParaRPr lang="en-IE"/>
          </a:p>
        </p:txBody>
      </p:sp>
      <p:sp>
        <p:nvSpPr>
          <p:cNvPr id="4" name="Footer Placeholder 3">
            <a:extLst>
              <a:ext uri="{FF2B5EF4-FFF2-40B4-BE49-F238E27FC236}">
                <a16:creationId xmlns:a16="http://schemas.microsoft.com/office/drawing/2014/main" id="{4353D3B2-A35C-0B62-AEFB-386E24C8D1E8}"/>
              </a:ext>
            </a:extLst>
          </p:cNvPr>
          <p:cNvSpPr>
            <a:spLocks noGrp="1"/>
          </p:cNvSpPr>
          <p:nvPr>
            <p:ph type="ftr" sz="quarter" idx="11"/>
          </p:nvPr>
        </p:nvSpPr>
        <p:spPr/>
        <p:txBody>
          <a:bodyPr/>
          <a:lstStyle/>
          <a:p>
            <a:endParaRPr lang="en-IE"/>
          </a:p>
        </p:txBody>
      </p:sp>
      <p:sp>
        <p:nvSpPr>
          <p:cNvPr id="5" name="Slide Number Placeholder 4">
            <a:extLst>
              <a:ext uri="{FF2B5EF4-FFF2-40B4-BE49-F238E27FC236}">
                <a16:creationId xmlns:a16="http://schemas.microsoft.com/office/drawing/2014/main" id="{50DE682F-90CD-C9B9-48E8-2F17D39CC00B}"/>
              </a:ext>
            </a:extLst>
          </p:cNvPr>
          <p:cNvSpPr>
            <a:spLocks noGrp="1"/>
          </p:cNvSpPr>
          <p:nvPr>
            <p:ph type="sldNum" sz="quarter" idx="12"/>
          </p:nvPr>
        </p:nvSpPr>
        <p:spPr/>
        <p:txBody>
          <a:bodyPr/>
          <a:lstStyle/>
          <a:p>
            <a:fld id="{6DF38C0E-AFC0-4AB0-86FC-50BC75CFD3DE}" type="slidenum">
              <a:rPr lang="en-IE" smtClean="0"/>
              <a:t>‹#›</a:t>
            </a:fld>
            <a:endParaRPr lang="en-IE"/>
          </a:p>
        </p:txBody>
      </p:sp>
    </p:spTree>
    <p:extLst>
      <p:ext uri="{BB962C8B-B14F-4D97-AF65-F5344CB8AC3E}">
        <p14:creationId xmlns:p14="http://schemas.microsoft.com/office/powerpoint/2010/main" val="2541343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1091747-CC1A-E1F5-7AD3-A8D4E17A7D51}"/>
              </a:ext>
            </a:extLst>
          </p:cNvPr>
          <p:cNvSpPr>
            <a:spLocks noGrp="1"/>
          </p:cNvSpPr>
          <p:nvPr>
            <p:ph type="dt" sz="half" idx="10"/>
          </p:nvPr>
        </p:nvSpPr>
        <p:spPr/>
        <p:txBody>
          <a:bodyPr/>
          <a:lstStyle/>
          <a:p>
            <a:fld id="{21A5D980-FB4D-475E-8D87-DE3E8282E11E}" type="datetimeFigureOut">
              <a:rPr lang="en-IE" smtClean="0"/>
              <a:t>10/03/2025</a:t>
            </a:fld>
            <a:endParaRPr lang="en-IE"/>
          </a:p>
        </p:txBody>
      </p:sp>
      <p:sp>
        <p:nvSpPr>
          <p:cNvPr id="3" name="Footer Placeholder 2">
            <a:extLst>
              <a:ext uri="{FF2B5EF4-FFF2-40B4-BE49-F238E27FC236}">
                <a16:creationId xmlns:a16="http://schemas.microsoft.com/office/drawing/2014/main" id="{3BCD0583-E9BD-4A35-69F3-B77B4AA02502}"/>
              </a:ext>
            </a:extLst>
          </p:cNvPr>
          <p:cNvSpPr>
            <a:spLocks noGrp="1"/>
          </p:cNvSpPr>
          <p:nvPr>
            <p:ph type="ftr" sz="quarter" idx="11"/>
          </p:nvPr>
        </p:nvSpPr>
        <p:spPr/>
        <p:txBody>
          <a:bodyPr/>
          <a:lstStyle/>
          <a:p>
            <a:endParaRPr lang="en-IE"/>
          </a:p>
        </p:txBody>
      </p:sp>
      <p:sp>
        <p:nvSpPr>
          <p:cNvPr id="4" name="Slide Number Placeholder 3">
            <a:extLst>
              <a:ext uri="{FF2B5EF4-FFF2-40B4-BE49-F238E27FC236}">
                <a16:creationId xmlns:a16="http://schemas.microsoft.com/office/drawing/2014/main" id="{34FB4B40-B0B8-BA0D-F1A3-9D1230C68417}"/>
              </a:ext>
            </a:extLst>
          </p:cNvPr>
          <p:cNvSpPr>
            <a:spLocks noGrp="1"/>
          </p:cNvSpPr>
          <p:nvPr>
            <p:ph type="sldNum" sz="quarter" idx="12"/>
          </p:nvPr>
        </p:nvSpPr>
        <p:spPr/>
        <p:txBody>
          <a:bodyPr/>
          <a:lstStyle/>
          <a:p>
            <a:fld id="{6DF38C0E-AFC0-4AB0-86FC-50BC75CFD3DE}" type="slidenum">
              <a:rPr lang="en-IE" smtClean="0"/>
              <a:t>‹#›</a:t>
            </a:fld>
            <a:endParaRPr lang="en-IE"/>
          </a:p>
        </p:txBody>
      </p:sp>
    </p:spTree>
    <p:extLst>
      <p:ext uri="{BB962C8B-B14F-4D97-AF65-F5344CB8AC3E}">
        <p14:creationId xmlns:p14="http://schemas.microsoft.com/office/powerpoint/2010/main" val="3931109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01F49A-0847-0C47-E2FD-F64D1AA0C6E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E"/>
          </a:p>
        </p:txBody>
      </p:sp>
      <p:sp>
        <p:nvSpPr>
          <p:cNvPr id="3" name="Content Placeholder 2">
            <a:extLst>
              <a:ext uri="{FF2B5EF4-FFF2-40B4-BE49-F238E27FC236}">
                <a16:creationId xmlns:a16="http://schemas.microsoft.com/office/drawing/2014/main" id="{DB9FDBD3-5E70-E47D-0086-09746A6CD47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E"/>
          </a:p>
        </p:txBody>
      </p:sp>
      <p:sp>
        <p:nvSpPr>
          <p:cNvPr id="4" name="Text Placeholder 3">
            <a:extLst>
              <a:ext uri="{FF2B5EF4-FFF2-40B4-BE49-F238E27FC236}">
                <a16:creationId xmlns:a16="http://schemas.microsoft.com/office/drawing/2014/main" id="{D49ECAB5-BECE-81EB-B246-2CDBC5F9D6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85D816A-C880-0AC7-8A37-25D0EAAEF4E6}"/>
              </a:ext>
            </a:extLst>
          </p:cNvPr>
          <p:cNvSpPr>
            <a:spLocks noGrp="1"/>
          </p:cNvSpPr>
          <p:nvPr>
            <p:ph type="dt" sz="half" idx="10"/>
          </p:nvPr>
        </p:nvSpPr>
        <p:spPr/>
        <p:txBody>
          <a:bodyPr/>
          <a:lstStyle/>
          <a:p>
            <a:fld id="{21A5D980-FB4D-475E-8D87-DE3E8282E11E}" type="datetimeFigureOut">
              <a:rPr lang="en-IE" smtClean="0"/>
              <a:t>10/03/2025</a:t>
            </a:fld>
            <a:endParaRPr lang="en-IE"/>
          </a:p>
        </p:txBody>
      </p:sp>
      <p:sp>
        <p:nvSpPr>
          <p:cNvPr id="6" name="Footer Placeholder 5">
            <a:extLst>
              <a:ext uri="{FF2B5EF4-FFF2-40B4-BE49-F238E27FC236}">
                <a16:creationId xmlns:a16="http://schemas.microsoft.com/office/drawing/2014/main" id="{F6927B29-72EC-4F4F-7683-9A04FB57BD0F}"/>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312DB5C0-88CE-DA98-F47C-D35CFC669FC9}"/>
              </a:ext>
            </a:extLst>
          </p:cNvPr>
          <p:cNvSpPr>
            <a:spLocks noGrp="1"/>
          </p:cNvSpPr>
          <p:nvPr>
            <p:ph type="sldNum" sz="quarter" idx="12"/>
          </p:nvPr>
        </p:nvSpPr>
        <p:spPr/>
        <p:txBody>
          <a:bodyPr/>
          <a:lstStyle/>
          <a:p>
            <a:fld id="{6DF38C0E-AFC0-4AB0-86FC-50BC75CFD3DE}" type="slidenum">
              <a:rPr lang="en-IE" smtClean="0"/>
              <a:t>‹#›</a:t>
            </a:fld>
            <a:endParaRPr lang="en-IE"/>
          </a:p>
        </p:txBody>
      </p:sp>
    </p:spTree>
    <p:extLst>
      <p:ext uri="{BB962C8B-B14F-4D97-AF65-F5344CB8AC3E}">
        <p14:creationId xmlns:p14="http://schemas.microsoft.com/office/powerpoint/2010/main" val="16210601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7DB1D-4A1B-2A8D-DD1C-716F6AD97105}"/>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E"/>
          </a:p>
        </p:txBody>
      </p:sp>
      <p:sp>
        <p:nvSpPr>
          <p:cNvPr id="3" name="Picture Placeholder 2">
            <a:extLst>
              <a:ext uri="{FF2B5EF4-FFF2-40B4-BE49-F238E27FC236}">
                <a16:creationId xmlns:a16="http://schemas.microsoft.com/office/drawing/2014/main" id="{FCC9DB3C-0CCD-4A38-0958-24B38397FF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E"/>
          </a:p>
        </p:txBody>
      </p:sp>
      <p:sp>
        <p:nvSpPr>
          <p:cNvPr id="4" name="Text Placeholder 3">
            <a:extLst>
              <a:ext uri="{FF2B5EF4-FFF2-40B4-BE49-F238E27FC236}">
                <a16:creationId xmlns:a16="http://schemas.microsoft.com/office/drawing/2014/main" id="{5D7FCCB5-0FE7-E853-6101-5DB1908D60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DDC373B-D02C-71FE-732C-0D1D23029ED8}"/>
              </a:ext>
            </a:extLst>
          </p:cNvPr>
          <p:cNvSpPr>
            <a:spLocks noGrp="1"/>
          </p:cNvSpPr>
          <p:nvPr>
            <p:ph type="dt" sz="half" idx="10"/>
          </p:nvPr>
        </p:nvSpPr>
        <p:spPr/>
        <p:txBody>
          <a:bodyPr/>
          <a:lstStyle/>
          <a:p>
            <a:fld id="{21A5D980-FB4D-475E-8D87-DE3E8282E11E}" type="datetimeFigureOut">
              <a:rPr lang="en-IE" smtClean="0"/>
              <a:t>10/03/2025</a:t>
            </a:fld>
            <a:endParaRPr lang="en-IE"/>
          </a:p>
        </p:txBody>
      </p:sp>
      <p:sp>
        <p:nvSpPr>
          <p:cNvPr id="6" name="Footer Placeholder 5">
            <a:extLst>
              <a:ext uri="{FF2B5EF4-FFF2-40B4-BE49-F238E27FC236}">
                <a16:creationId xmlns:a16="http://schemas.microsoft.com/office/drawing/2014/main" id="{8A3256A2-5BF6-5643-B190-C2A7DF2240A4}"/>
              </a:ext>
            </a:extLst>
          </p:cNvPr>
          <p:cNvSpPr>
            <a:spLocks noGrp="1"/>
          </p:cNvSpPr>
          <p:nvPr>
            <p:ph type="ftr" sz="quarter" idx="11"/>
          </p:nvPr>
        </p:nvSpPr>
        <p:spPr/>
        <p:txBody>
          <a:bodyPr/>
          <a:lstStyle/>
          <a:p>
            <a:endParaRPr lang="en-IE"/>
          </a:p>
        </p:txBody>
      </p:sp>
      <p:sp>
        <p:nvSpPr>
          <p:cNvPr id="7" name="Slide Number Placeholder 6">
            <a:extLst>
              <a:ext uri="{FF2B5EF4-FFF2-40B4-BE49-F238E27FC236}">
                <a16:creationId xmlns:a16="http://schemas.microsoft.com/office/drawing/2014/main" id="{D4743F03-F4DB-8418-AEA1-BDB3A2932C43}"/>
              </a:ext>
            </a:extLst>
          </p:cNvPr>
          <p:cNvSpPr>
            <a:spLocks noGrp="1"/>
          </p:cNvSpPr>
          <p:nvPr>
            <p:ph type="sldNum" sz="quarter" idx="12"/>
          </p:nvPr>
        </p:nvSpPr>
        <p:spPr/>
        <p:txBody>
          <a:bodyPr/>
          <a:lstStyle/>
          <a:p>
            <a:fld id="{6DF38C0E-AFC0-4AB0-86FC-50BC75CFD3DE}" type="slidenum">
              <a:rPr lang="en-IE" smtClean="0"/>
              <a:t>‹#›</a:t>
            </a:fld>
            <a:endParaRPr lang="en-IE"/>
          </a:p>
        </p:txBody>
      </p:sp>
    </p:spTree>
    <p:extLst>
      <p:ext uri="{BB962C8B-B14F-4D97-AF65-F5344CB8AC3E}">
        <p14:creationId xmlns:p14="http://schemas.microsoft.com/office/powerpoint/2010/main" val="7672559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4510F-56B6-BF4C-16C3-2149D000C9DC}"/>
              </a:ext>
            </a:extLst>
          </p:cNvPr>
          <p:cNvSpPr>
            <a:spLocks noGrp="1"/>
          </p:cNvSpPr>
          <p:nvPr>
            <p:ph type="title"/>
          </p:nvPr>
        </p:nvSpPr>
        <p:spPr/>
        <p:txBody>
          <a:bodyPr/>
          <a:lstStyle/>
          <a:p>
            <a:r>
              <a:rPr lang="en-GB"/>
              <a:t>Click to edit Master title style</a:t>
            </a:r>
            <a:endParaRPr lang="en-IE"/>
          </a:p>
        </p:txBody>
      </p:sp>
      <p:sp>
        <p:nvSpPr>
          <p:cNvPr id="3" name="Vertical Text Placeholder 2">
            <a:extLst>
              <a:ext uri="{FF2B5EF4-FFF2-40B4-BE49-F238E27FC236}">
                <a16:creationId xmlns:a16="http://schemas.microsoft.com/office/drawing/2014/main" id="{A784DA40-6EE1-862D-FB1C-DF6646D45551}"/>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E"/>
          </a:p>
        </p:txBody>
      </p:sp>
      <p:sp>
        <p:nvSpPr>
          <p:cNvPr id="4" name="Date Placeholder 3">
            <a:extLst>
              <a:ext uri="{FF2B5EF4-FFF2-40B4-BE49-F238E27FC236}">
                <a16:creationId xmlns:a16="http://schemas.microsoft.com/office/drawing/2014/main" id="{A593D91F-E036-69DB-9A49-2A91C8A2D40A}"/>
              </a:ext>
            </a:extLst>
          </p:cNvPr>
          <p:cNvSpPr>
            <a:spLocks noGrp="1"/>
          </p:cNvSpPr>
          <p:nvPr>
            <p:ph type="dt" sz="half" idx="10"/>
          </p:nvPr>
        </p:nvSpPr>
        <p:spPr/>
        <p:txBody>
          <a:bodyPr/>
          <a:lstStyle/>
          <a:p>
            <a:fld id="{21A5D980-FB4D-475E-8D87-DE3E8282E11E}" type="datetimeFigureOut">
              <a:rPr lang="en-IE" smtClean="0"/>
              <a:t>10/03/2025</a:t>
            </a:fld>
            <a:endParaRPr lang="en-IE"/>
          </a:p>
        </p:txBody>
      </p:sp>
      <p:sp>
        <p:nvSpPr>
          <p:cNvPr id="5" name="Footer Placeholder 4">
            <a:extLst>
              <a:ext uri="{FF2B5EF4-FFF2-40B4-BE49-F238E27FC236}">
                <a16:creationId xmlns:a16="http://schemas.microsoft.com/office/drawing/2014/main" id="{41C9E59A-35FC-8236-5CB6-3D996F7EF3B7}"/>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A710BDF0-3DEC-031C-FA8C-C479A429C6E0}"/>
              </a:ext>
            </a:extLst>
          </p:cNvPr>
          <p:cNvSpPr>
            <a:spLocks noGrp="1"/>
          </p:cNvSpPr>
          <p:nvPr>
            <p:ph type="sldNum" sz="quarter" idx="12"/>
          </p:nvPr>
        </p:nvSpPr>
        <p:spPr/>
        <p:txBody>
          <a:bodyPr/>
          <a:lstStyle/>
          <a:p>
            <a:fld id="{6DF38C0E-AFC0-4AB0-86FC-50BC75CFD3DE}" type="slidenum">
              <a:rPr lang="en-IE" smtClean="0"/>
              <a:t>‹#›</a:t>
            </a:fld>
            <a:endParaRPr lang="en-IE"/>
          </a:p>
        </p:txBody>
      </p:sp>
    </p:spTree>
    <p:extLst>
      <p:ext uri="{BB962C8B-B14F-4D97-AF65-F5344CB8AC3E}">
        <p14:creationId xmlns:p14="http://schemas.microsoft.com/office/powerpoint/2010/main" val="3854995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8884D48-9EE7-07D4-05AB-A410D766052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E"/>
          </a:p>
        </p:txBody>
      </p:sp>
      <p:sp>
        <p:nvSpPr>
          <p:cNvPr id="3" name="Vertical Text Placeholder 2">
            <a:extLst>
              <a:ext uri="{FF2B5EF4-FFF2-40B4-BE49-F238E27FC236}">
                <a16:creationId xmlns:a16="http://schemas.microsoft.com/office/drawing/2014/main" id="{AA493768-9446-836F-57B1-9008CC35980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E"/>
          </a:p>
        </p:txBody>
      </p:sp>
      <p:sp>
        <p:nvSpPr>
          <p:cNvPr id="4" name="Date Placeholder 3">
            <a:extLst>
              <a:ext uri="{FF2B5EF4-FFF2-40B4-BE49-F238E27FC236}">
                <a16:creationId xmlns:a16="http://schemas.microsoft.com/office/drawing/2014/main" id="{6F7C714A-A206-D3C3-0C37-4848544451AE}"/>
              </a:ext>
            </a:extLst>
          </p:cNvPr>
          <p:cNvSpPr>
            <a:spLocks noGrp="1"/>
          </p:cNvSpPr>
          <p:nvPr>
            <p:ph type="dt" sz="half" idx="10"/>
          </p:nvPr>
        </p:nvSpPr>
        <p:spPr/>
        <p:txBody>
          <a:bodyPr/>
          <a:lstStyle/>
          <a:p>
            <a:fld id="{21A5D980-FB4D-475E-8D87-DE3E8282E11E}" type="datetimeFigureOut">
              <a:rPr lang="en-IE" smtClean="0"/>
              <a:t>10/03/2025</a:t>
            </a:fld>
            <a:endParaRPr lang="en-IE"/>
          </a:p>
        </p:txBody>
      </p:sp>
      <p:sp>
        <p:nvSpPr>
          <p:cNvPr id="5" name="Footer Placeholder 4">
            <a:extLst>
              <a:ext uri="{FF2B5EF4-FFF2-40B4-BE49-F238E27FC236}">
                <a16:creationId xmlns:a16="http://schemas.microsoft.com/office/drawing/2014/main" id="{887FCCFD-ACA3-9A31-ECED-B17E3838D2D6}"/>
              </a:ext>
            </a:extLst>
          </p:cNvPr>
          <p:cNvSpPr>
            <a:spLocks noGrp="1"/>
          </p:cNvSpPr>
          <p:nvPr>
            <p:ph type="ftr" sz="quarter" idx="11"/>
          </p:nvPr>
        </p:nvSpPr>
        <p:spPr/>
        <p:txBody>
          <a:bodyPr/>
          <a:lstStyle/>
          <a:p>
            <a:endParaRPr lang="en-IE"/>
          </a:p>
        </p:txBody>
      </p:sp>
      <p:sp>
        <p:nvSpPr>
          <p:cNvPr id="6" name="Slide Number Placeholder 5">
            <a:extLst>
              <a:ext uri="{FF2B5EF4-FFF2-40B4-BE49-F238E27FC236}">
                <a16:creationId xmlns:a16="http://schemas.microsoft.com/office/drawing/2014/main" id="{7DE31656-AED3-B834-E744-844CB3B928D0}"/>
              </a:ext>
            </a:extLst>
          </p:cNvPr>
          <p:cNvSpPr>
            <a:spLocks noGrp="1"/>
          </p:cNvSpPr>
          <p:nvPr>
            <p:ph type="sldNum" sz="quarter" idx="12"/>
          </p:nvPr>
        </p:nvSpPr>
        <p:spPr/>
        <p:txBody>
          <a:bodyPr/>
          <a:lstStyle/>
          <a:p>
            <a:fld id="{6DF38C0E-AFC0-4AB0-86FC-50BC75CFD3DE}" type="slidenum">
              <a:rPr lang="en-IE" smtClean="0"/>
              <a:t>‹#›</a:t>
            </a:fld>
            <a:endParaRPr lang="en-IE"/>
          </a:p>
        </p:txBody>
      </p:sp>
    </p:spTree>
    <p:extLst>
      <p:ext uri="{BB962C8B-B14F-4D97-AF65-F5344CB8AC3E}">
        <p14:creationId xmlns:p14="http://schemas.microsoft.com/office/powerpoint/2010/main" val="19472724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7ED5CD-2822-8C5C-2543-8C5DB3E119D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E"/>
          </a:p>
        </p:txBody>
      </p:sp>
      <p:sp>
        <p:nvSpPr>
          <p:cNvPr id="3" name="Text Placeholder 2">
            <a:extLst>
              <a:ext uri="{FF2B5EF4-FFF2-40B4-BE49-F238E27FC236}">
                <a16:creationId xmlns:a16="http://schemas.microsoft.com/office/drawing/2014/main" id="{3228AE29-62D5-B061-F7FD-C44BB3FF2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E"/>
          </a:p>
        </p:txBody>
      </p:sp>
      <p:sp>
        <p:nvSpPr>
          <p:cNvPr id="4" name="Date Placeholder 3">
            <a:extLst>
              <a:ext uri="{FF2B5EF4-FFF2-40B4-BE49-F238E27FC236}">
                <a16:creationId xmlns:a16="http://schemas.microsoft.com/office/drawing/2014/main" id="{06E7FCA8-7179-4C41-C2A4-25DA3D701E1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1A5D980-FB4D-475E-8D87-DE3E8282E11E}" type="datetimeFigureOut">
              <a:rPr lang="en-IE" smtClean="0"/>
              <a:t>10/03/2025</a:t>
            </a:fld>
            <a:endParaRPr lang="en-IE"/>
          </a:p>
        </p:txBody>
      </p:sp>
      <p:sp>
        <p:nvSpPr>
          <p:cNvPr id="5" name="Footer Placeholder 4">
            <a:extLst>
              <a:ext uri="{FF2B5EF4-FFF2-40B4-BE49-F238E27FC236}">
                <a16:creationId xmlns:a16="http://schemas.microsoft.com/office/drawing/2014/main" id="{46B4A092-F676-0487-A5B9-DF212F9375A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E"/>
          </a:p>
        </p:txBody>
      </p:sp>
      <p:sp>
        <p:nvSpPr>
          <p:cNvPr id="6" name="Slide Number Placeholder 5">
            <a:extLst>
              <a:ext uri="{FF2B5EF4-FFF2-40B4-BE49-F238E27FC236}">
                <a16:creationId xmlns:a16="http://schemas.microsoft.com/office/drawing/2014/main" id="{CEDD9CBB-66FE-DC0C-6DF7-841DCE86136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DF38C0E-AFC0-4AB0-86FC-50BC75CFD3DE}" type="slidenum">
              <a:rPr lang="en-IE" smtClean="0"/>
              <a:t>‹#›</a:t>
            </a:fld>
            <a:endParaRPr lang="en-IE"/>
          </a:p>
        </p:txBody>
      </p:sp>
    </p:spTree>
    <p:extLst>
      <p:ext uri="{BB962C8B-B14F-4D97-AF65-F5344CB8AC3E}">
        <p14:creationId xmlns:p14="http://schemas.microsoft.com/office/powerpoint/2010/main" val="12453356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1.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8C31D-AF46-3A0A-2B13-AAD7F3B5E111}"/>
              </a:ext>
            </a:extLst>
          </p:cNvPr>
          <p:cNvSpPr>
            <a:spLocks noGrp="1"/>
          </p:cNvSpPr>
          <p:nvPr>
            <p:ph type="ctrTitle"/>
          </p:nvPr>
        </p:nvSpPr>
        <p:spPr/>
        <p:txBody>
          <a:bodyPr/>
          <a:lstStyle/>
          <a:p>
            <a:r>
              <a:rPr lang="en-IE" dirty="0"/>
              <a:t>Image Classification</a:t>
            </a:r>
          </a:p>
        </p:txBody>
      </p:sp>
      <p:sp>
        <p:nvSpPr>
          <p:cNvPr id="3" name="Subtitle 2">
            <a:extLst>
              <a:ext uri="{FF2B5EF4-FFF2-40B4-BE49-F238E27FC236}">
                <a16:creationId xmlns:a16="http://schemas.microsoft.com/office/drawing/2014/main" id="{8C2602EC-283A-72D9-21AF-7AFCF7F91F92}"/>
              </a:ext>
            </a:extLst>
          </p:cNvPr>
          <p:cNvSpPr>
            <a:spLocks noGrp="1"/>
          </p:cNvSpPr>
          <p:nvPr>
            <p:ph type="subTitle" idx="1"/>
          </p:nvPr>
        </p:nvSpPr>
        <p:spPr/>
        <p:txBody>
          <a:bodyPr/>
          <a:lstStyle/>
          <a:p>
            <a:endParaRPr lang="en-IE"/>
          </a:p>
        </p:txBody>
      </p:sp>
      <p:sp>
        <p:nvSpPr>
          <p:cNvPr id="5" name="TextBox 4">
            <a:extLst>
              <a:ext uri="{FF2B5EF4-FFF2-40B4-BE49-F238E27FC236}">
                <a16:creationId xmlns:a16="http://schemas.microsoft.com/office/drawing/2014/main" id="{5461368A-101A-AF82-4507-8A0F3CCA5A4E}"/>
              </a:ext>
            </a:extLst>
          </p:cNvPr>
          <p:cNvSpPr txBox="1"/>
          <p:nvPr/>
        </p:nvSpPr>
        <p:spPr>
          <a:xfrm>
            <a:off x="3047475" y="3245910"/>
            <a:ext cx="6094948" cy="369332"/>
          </a:xfrm>
          <a:prstGeom prst="rect">
            <a:avLst/>
          </a:prstGeom>
          <a:noFill/>
        </p:spPr>
        <p:txBody>
          <a:bodyPr wrap="square">
            <a:spAutoFit/>
          </a:bodyPr>
          <a:lstStyle/>
          <a:p>
            <a:endParaRPr lang="en-IE" dirty="0"/>
          </a:p>
        </p:txBody>
      </p:sp>
      <p:sp>
        <p:nvSpPr>
          <p:cNvPr id="7" name="TextBox 6">
            <a:extLst>
              <a:ext uri="{FF2B5EF4-FFF2-40B4-BE49-F238E27FC236}">
                <a16:creationId xmlns:a16="http://schemas.microsoft.com/office/drawing/2014/main" id="{513EE3A7-F6F5-AF66-7760-67FAF06ED7C8}"/>
              </a:ext>
            </a:extLst>
          </p:cNvPr>
          <p:cNvSpPr txBox="1"/>
          <p:nvPr/>
        </p:nvSpPr>
        <p:spPr>
          <a:xfrm>
            <a:off x="3047475" y="3245910"/>
            <a:ext cx="6094948" cy="369332"/>
          </a:xfrm>
          <a:prstGeom prst="rect">
            <a:avLst/>
          </a:prstGeom>
          <a:noFill/>
        </p:spPr>
        <p:txBody>
          <a:bodyPr wrap="square">
            <a:spAutoFit/>
          </a:bodyPr>
          <a:lstStyle/>
          <a:p>
            <a:endParaRPr lang="en-IE" dirty="0"/>
          </a:p>
        </p:txBody>
      </p:sp>
    </p:spTree>
    <p:extLst>
      <p:ext uri="{BB962C8B-B14F-4D97-AF65-F5344CB8AC3E}">
        <p14:creationId xmlns:p14="http://schemas.microsoft.com/office/powerpoint/2010/main" val="2817962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F7606-20AB-4786-328A-6D00227B27BB}"/>
              </a:ext>
            </a:extLst>
          </p:cNvPr>
          <p:cNvSpPr>
            <a:spLocks noGrp="1"/>
          </p:cNvSpPr>
          <p:nvPr>
            <p:ph type="title"/>
          </p:nvPr>
        </p:nvSpPr>
        <p:spPr/>
        <p:txBody>
          <a:bodyPr/>
          <a:lstStyle/>
          <a:p>
            <a:r>
              <a:rPr lang="en-IE" dirty="0"/>
              <a:t>Example/Use Case: Food Production</a:t>
            </a:r>
          </a:p>
        </p:txBody>
      </p:sp>
      <p:sp>
        <p:nvSpPr>
          <p:cNvPr id="3" name="Content Placeholder 2">
            <a:extLst>
              <a:ext uri="{FF2B5EF4-FFF2-40B4-BE49-F238E27FC236}">
                <a16:creationId xmlns:a16="http://schemas.microsoft.com/office/drawing/2014/main" id="{743AAF7A-35DE-858B-B998-8BB73C7E2959}"/>
              </a:ext>
            </a:extLst>
          </p:cNvPr>
          <p:cNvSpPr>
            <a:spLocks noGrp="1"/>
          </p:cNvSpPr>
          <p:nvPr>
            <p:ph idx="1"/>
          </p:nvPr>
        </p:nvSpPr>
        <p:spPr/>
        <p:txBody>
          <a:bodyPr/>
          <a:lstStyle/>
          <a:p>
            <a:r>
              <a:rPr lang="it-IT" dirty="0"/>
              <a:t>Artificial Intelligence  &amp; Machine Learning help automate produce sorting.</a:t>
            </a:r>
          </a:p>
          <a:p>
            <a:r>
              <a:rPr lang="en-GB" dirty="0"/>
              <a:t>ML models can recognize ripe vs. unripe, good vs. bad fruit.</a:t>
            </a:r>
          </a:p>
          <a:p>
            <a:r>
              <a:rPr lang="en-GB" dirty="0"/>
              <a:t>Used in </a:t>
            </a:r>
            <a:r>
              <a:rPr lang="en-GB" b="1" dirty="0"/>
              <a:t>IoT devices</a:t>
            </a:r>
            <a:r>
              <a:rPr lang="en-GB" dirty="0"/>
              <a:t>, factories, and warehouses.</a:t>
            </a:r>
          </a:p>
          <a:p>
            <a:r>
              <a:rPr lang="en-GB" dirty="0"/>
              <a:t>Our Objective today</a:t>
            </a:r>
            <a:r>
              <a:rPr lang="en-IE" dirty="0"/>
              <a:t>:</a:t>
            </a:r>
          </a:p>
          <a:p>
            <a:pPr lvl="1"/>
            <a:r>
              <a:rPr lang="en-GB" dirty="0"/>
              <a:t>Use image classification for food sorting.</a:t>
            </a:r>
          </a:p>
          <a:p>
            <a:pPr lvl="1"/>
            <a:r>
              <a:rPr lang="en-IE" dirty="0"/>
              <a:t>Train, Test, and Retrain an image classifier.</a:t>
            </a:r>
            <a:endParaRPr lang="en-GB" dirty="0"/>
          </a:p>
        </p:txBody>
      </p:sp>
    </p:spTree>
    <p:extLst>
      <p:ext uri="{BB962C8B-B14F-4D97-AF65-F5344CB8AC3E}">
        <p14:creationId xmlns:p14="http://schemas.microsoft.com/office/powerpoint/2010/main" val="17955412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E967CC-9FCE-5754-D3EE-C50339094A49}"/>
              </a:ext>
            </a:extLst>
          </p:cNvPr>
          <p:cNvSpPr>
            <a:spLocks noGrp="1"/>
          </p:cNvSpPr>
          <p:nvPr>
            <p:ph type="title"/>
          </p:nvPr>
        </p:nvSpPr>
        <p:spPr/>
        <p:txBody>
          <a:bodyPr/>
          <a:lstStyle/>
          <a:p>
            <a:r>
              <a:rPr lang="en-IE" dirty="0"/>
              <a:t>AI, ML, and IoT in Agri Tech</a:t>
            </a:r>
          </a:p>
        </p:txBody>
      </p:sp>
      <p:sp>
        <p:nvSpPr>
          <p:cNvPr id="3" name="Content Placeholder 2">
            <a:extLst>
              <a:ext uri="{FF2B5EF4-FFF2-40B4-BE49-F238E27FC236}">
                <a16:creationId xmlns:a16="http://schemas.microsoft.com/office/drawing/2014/main" id="{E500584D-1BA5-DD69-0F3F-461F081CE28B}"/>
              </a:ext>
            </a:extLst>
          </p:cNvPr>
          <p:cNvSpPr>
            <a:spLocks noGrp="1"/>
          </p:cNvSpPr>
          <p:nvPr>
            <p:ph idx="1"/>
          </p:nvPr>
        </p:nvSpPr>
        <p:spPr>
          <a:xfrm>
            <a:off x="838200" y="1825625"/>
            <a:ext cx="4459014" cy="4351338"/>
          </a:xfrm>
        </p:spPr>
        <p:txBody>
          <a:bodyPr/>
          <a:lstStyle/>
          <a:p>
            <a:r>
              <a:rPr lang="en-IE" dirty="0"/>
              <a:t>Automation in Agri Tech</a:t>
            </a:r>
          </a:p>
          <a:p>
            <a:pPr lvl="1"/>
            <a:r>
              <a:rPr lang="en-IE" dirty="0"/>
              <a:t>Reduces labour costs.</a:t>
            </a:r>
          </a:p>
          <a:p>
            <a:pPr lvl="1"/>
            <a:r>
              <a:rPr lang="en-GB" dirty="0"/>
              <a:t>Already have machinery harvests faster but </a:t>
            </a:r>
          </a:p>
          <a:p>
            <a:pPr lvl="1"/>
            <a:r>
              <a:rPr lang="en-GB" dirty="0"/>
              <a:t>Lacks sorting ability</a:t>
            </a:r>
          </a:p>
          <a:p>
            <a:r>
              <a:rPr lang="en-GB" dirty="0"/>
              <a:t>Evolution of Produce Sorting</a:t>
            </a:r>
          </a:p>
          <a:p>
            <a:pPr marL="0" indent="0">
              <a:buNone/>
            </a:pPr>
            <a:endParaRPr lang="en-IE" dirty="0"/>
          </a:p>
        </p:txBody>
      </p:sp>
      <p:graphicFrame>
        <p:nvGraphicFramePr>
          <p:cNvPr id="4" name="Diagram 3">
            <a:extLst>
              <a:ext uri="{FF2B5EF4-FFF2-40B4-BE49-F238E27FC236}">
                <a16:creationId xmlns:a16="http://schemas.microsoft.com/office/drawing/2014/main" id="{52364045-C3EC-159F-A721-6FA38C7C5031}"/>
              </a:ext>
            </a:extLst>
          </p:cNvPr>
          <p:cNvGraphicFramePr/>
          <p:nvPr>
            <p:extLst>
              <p:ext uri="{D42A27DB-BD31-4B8C-83A1-F6EECF244321}">
                <p14:modId xmlns:p14="http://schemas.microsoft.com/office/powerpoint/2010/main" val="738799992"/>
              </p:ext>
            </p:extLst>
          </p:nvPr>
        </p:nvGraphicFramePr>
        <p:xfrm>
          <a:off x="1628403" y="3179086"/>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Picture 5">
            <a:extLst>
              <a:ext uri="{FF2B5EF4-FFF2-40B4-BE49-F238E27FC236}">
                <a16:creationId xmlns:a16="http://schemas.microsoft.com/office/drawing/2014/main" id="{0EC6DC73-5218-3377-1828-F517C3132399}"/>
              </a:ext>
            </a:extLst>
          </p:cNvPr>
          <p:cNvPicPr>
            <a:picLocks noChangeAspect="1"/>
          </p:cNvPicPr>
          <p:nvPr/>
        </p:nvPicPr>
        <p:blipFill>
          <a:blip r:embed="rId7"/>
          <a:stretch>
            <a:fillRect/>
          </a:stretch>
        </p:blipFill>
        <p:spPr>
          <a:xfrm>
            <a:off x="4826701" y="1526239"/>
            <a:ext cx="7620000" cy="3181350"/>
          </a:xfrm>
          <a:prstGeom prst="rect">
            <a:avLst/>
          </a:prstGeom>
        </p:spPr>
      </p:pic>
    </p:spTree>
    <p:extLst>
      <p:ext uri="{BB962C8B-B14F-4D97-AF65-F5344CB8AC3E}">
        <p14:creationId xmlns:p14="http://schemas.microsoft.com/office/powerpoint/2010/main" val="1785774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5FEB2C-9EB5-7422-FF7E-14CA59283F40}"/>
              </a:ext>
            </a:extLst>
          </p:cNvPr>
          <p:cNvSpPr>
            <a:spLocks noGrp="1"/>
          </p:cNvSpPr>
          <p:nvPr>
            <p:ph type="title"/>
          </p:nvPr>
        </p:nvSpPr>
        <p:spPr/>
        <p:txBody>
          <a:bodyPr/>
          <a:lstStyle/>
          <a:p>
            <a:r>
              <a:rPr lang="en-IE" dirty="0"/>
              <a:t>Image Classification using Machine Learning</a:t>
            </a:r>
          </a:p>
        </p:txBody>
      </p:sp>
      <p:sp>
        <p:nvSpPr>
          <p:cNvPr id="3" name="Content Placeholder 2">
            <a:extLst>
              <a:ext uri="{FF2B5EF4-FFF2-40B4-BE49-F238E27FC236}">
                <a16:creationId xmlns:a16="http://schemas.microsoft.com/office/drawing/2014/main" id="{17DD79B2-3090-71C9-C61F-12B5C31E6F9D}"/>
              </a:ext>
            </a:extLst>
          </p:cNvPr>
          <p:cNvSpPr>
            <a:spLocks noGrp="1"/>
          </p:cNvSpPr>
          <p:nvPr>
            <p:ph idx="1"/>
          </p:nvPr>
        </p:nvSpPr>
        <p:spPr>
          <a:xfrm>
            <a:off x="838200" y="1825625"/>
            <a:ext cx="5070716" cy="4351338"/>
          </a:xfrm>
        </p:spPr>
        <p:txBody>
          <a:bodyPr>
            <a:normAutofit/>
          </a:bodyPr>
          <a:lstStyle/>
          <a:p>
            <a:r>
              <a:rPr lang="en-IE" dirty="0"/>
              <a:t>How ML works:</a:t>
            </a:r>
          </a:p>
          <a:p>
            <a:pPr lvl="1"/>
            <a:r>
              <a:rPr lang="en-IE" dirty="0"/>
              <a:t>Traditional programming: Algorithm + Data = Output.</a:t>
            </a:r>
          </a:p>
          <a:p>
            <a:pPr lvl="1"/>
            <a:r>
              <a:rPr lang="en-GB" dirty="0"/>
              <a:t>ML: Data + Output → Trained Model, which can predict new results.</a:t>
            </a:r>
          </a:p>
          <a:p>
            <a:endParaRPr lang="en-IE" dirty="0"/>
          </a:p>
        </p:txBody>
      </p:sp>
      <p:pic>
        <p:nvPicPr>
          <p:cNvPr id="6" name="Picture 5">
            <a:extLst>
              <a:ext uri="{FF2B5EF4-FFF2-40B4-BE49-F238E27FC236}">
                <a16:creationId xmlns:a16="http://schemas.microsoft.com/office/drawing/2014/main" id="{B123C2C7-88DD-07D5-8BE2-7C3ECC0E6CCB}"/>
              </a:ext>
            </a:extLst>
          </p:cNvPr>
          <p:cNvPicPr>
            <a:picLocks noChangeAspect="1"/>
          </p:cNvPicPr>
          <p:nvPr/>
        </p:nvPicPr>
        <p:blipFill>
          <a:blip r:embed="rId2"/>
          <a:stretch>
            <a:fillRect/>
          </a:stretch>
        </p:blipFill>
        <p:spPr>
          <a:xfrm>
            <a:off x="6186849" y="1396206"/>
            <a:ext cx="5657850" cy="5210175"/>
          </a:xfrm>
          <a:prstGeom prst="rect">
            <a:avLst/>
          </a:prstGeom>
        </p:spPr>
      </p:pic>
    </p:spTree>
    <p:extLst>
      <p:ext uri="{BB962C8B-B14F-4D97-AF65-F5344CB8AC3E}">
        <p14:creationId xmlns:p14="http://schemas.microsoft.com/office/powerpoint/2010/main" val="42775147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172C51-662B-95D1-EE75-78DB8E636EA6}"/>
              </a:ext>
            </a:extLst>
          </p:cNvPr>
          <p:cNvSpPr>
            <a:spLocks noGrp="1"/>
          </p:cNvSpPr>
          <p:nvPr>
            <p:ph type="title"/>
          </p:nvPr>
        </p:nvSpPr>
        <p:spPr/>
        <p:txBody>
          <a:bodyPr/>
          <a:lstStyle/>
          <a:p>
            <a:r>
              <a:rPr lang="en-IE" dirty="0"/>
              <a:t>Image Classification – Bananas!</a:t>
            </a:r>
          </a:p>
        </p:txBody>
      </p:sp>
      <p:sp>
        <p:nvSpPr>
          <p:cNvPr id="3" name="Content Placeholder 2">
            <a:extLst>
              <a:ext uri="{FF2B5EF4-FFF2-40B4-BE49-F238E27FC236}">
                <a16:creationId xmlns:a16="http://schemas.microsoft.com/office/drawing/2014/main" id="{F6AA6B46-9695-96A5-46B7-823C41BE27AC}"/>
              </a:ext>
            </a:extLst>
          </p:cNvPr>
          <p:cNvSpPr>
            <a:spLocks noGrp="1"/>
          </p:cNvSpPr>
          <p:nvPr>
            <p:ph idx="1"/>
          </p:nvPr>
        </p:nvSpPr>
        <p:spPr>
          <a:xfrm>
            <a:off x="838200" y="1825625"/>
            <a:ext cx="5468007" cy="4351338"/>
          </a:xfrm>
        </p:spPr>
        <p:txBody>
          <a:bodyPr/>
          <a:lstStyle/>
          <a:p>
            <a:r>
              <a:rPr lang="en-GB" dirty="0"/>
              <a:t>Example: Bananas!</a:t>
            </a:r>
          </a:p>
          <a:p>
            <a:pPr lvl="1"/>
            <a:r>
              <a:rPr lang="en-GB" dirty="0"/>
              <a:t>Trained on images of </a:t>
            </a:r>
            <a:r>
              <a:rPr lang="en-GB" b="1" dirty="0"/>
              <a:t>ripe &amp; unripe bananas</a:t>
            </a:r>
            <a:r>
              <a:rPr lang="en-GB" dirty="0"/>
              <a:t>.</a:t>
            </a:r>
          </a:p>
          <a:p>
            <a:pPr lvl="1"/>
            <a:r>
              <a:rPr lang="en-GB" dirty="0"/>
              <a:t>Predicts </a:t>
            </a:r>
            <a:r>
              <a:rPr lang="en-GB" b="1" dirty="0"/>
              <a:t>probabilities</a:t>
            </a:r>
            <a:r>
              <a:rPr lang="en-GB" dirty="0"/>
              <a:t> instead of a strict yes/no answer.</a:t>
            </a:r>
          </a:p>
          <a:p>
            <a:r>
              <a:rPr lang="en-GB" dirty="0"/>
              <a:t>Key terms:</a:t>
            </a:r>
          </a:p>
          <a:p>
            <a:pPr lvl="1"/>
            <a:r>
              <a:rPr lang="en-GB" b="1" dirty="0"/>
              <a:t>Training: </a:t>
            </a:r>
            <a:r>
              <a:rPr lang="en-IE" dirty="0"/>
              <a:t>Learning from labelled data.</a:t>
            </a:r>
            <a:endParaRPr lang="en-GB" dirty="0"/>
          </a:p>
          <a:p>
            <a:pPr lvl="1"/>
            <a:r>
              <a:rPr lang="en-GB" b="1" dirty="0"/>
              <a:t>Model: </a:t>
            </a:r>
            <a:r>
              <a:rPr lang="en-IE" dirty="0"/>
              <a:t>The trained ML algorithm.</a:t>
            </a:r>
            <a:endParaRPr lang="en-GB" dirty="0"/>
          </a:p>
          <a:p>
            <a:pPr lvl="1"/>
            <a:r>
              <a:rPr lang="en-GB" b="1" dirty="0"/>
              <a:t>Predictions:</a:t>
            </a:r>
            <a:r>
              <a:rPr lang="en-GB" dirty="0"/>
              <a:t> </a:t>
            </a:r>
            <a:r>
              <a:rPr lang="en-IE" dirty="0"/>
              <a:t>Model-generated results.</a:t>
            </a:r>
            <a:endParaRPr lang="en-GB" dirty="0"/>
          </a:p>
          <a:p>
            <a:endParaRPr lang="en-IE" dirty="0"/>
          </a:p>
        </p:txBody>
      </p:sp>
      <p:pic>
        <p:nvPicPr>
          <p:cNvPr id="5" name="Picture 4">
            <a:extLst>
              <a:ext uri="{FF2B5EF4-FFF2-40B4-BE49-F238E27FC236}">
                <a16:creationId xmlns:a16="http://schemas.microsoft.com/office/drawing/2014/main" id="{8A5C634F-AD7A-2830-5722-B1C9F5B80D72}"/>
              </a:ext>
            </a:extLst>
          </p:cNvPr>
          <p:cNvPicPr>
            <a:picLocks noChangeAspect="1"/>
          </p:cNvPicPr>
          <p:nvPr/>
        </p:nvPicPr>
        <p:blipFill>
          <a:blip r:embed="rId2"/>
          <a:stretch>
            <a:fillRect/>
          </a:stretch>
        </p:blipFill>
        <p:spPr>
          <a:xfrm>
            <a:off x="6420604" y="2008506"/>
            <a:ext cx="5076825" cy="3810000"/>
          </a:xfrm>
          <a:prstGeom prst="rect">
            <a:avLst/>
          </a:prstGeom>
        </p:spPr>
      </p:pic>
    </p:spTree>
    <p:extLst>
      <p:ext uri="{BB962C8B-B14F-4D97-AF65-F5344CB8AC3E}">
        <p14:creationId xmlns:p14="http://schemas.microsoft.com/office/powerpoint/2010/main" val="35448297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481EC58-BF20-0366-B55B-5B6A0E7E2F65}"/>
              </a:ext>
            </a:extLst>
          </p:cNvPr>
          <p:cNvSpPr>
            <a:spLocks noGrp="1"/>
          </p:cNvSpPr>
          <p:nvPr>
            <p:ph type="title"/>
          </p:nvPr>
        </p:nvSpPr>
        <p:spPr>
          <a:xfrm>
            <a:off x="793662" y="386930"/>
            <a:ext cx="10066122" cy="1298448"/>
          </a:xfrm>
        </p:spPr>
        <p:txBody>
          <a:bodyPr anchor="b">
            <a:normAutofit/>
          </a:bodyPr>
          <a:lstStyle/>
          <a:p>
            <a:r>
              <a:rPr lang="en-IE" sz="4800"/>
              <a:t>Training an Image Classifier</a:t>
            </a:r>
          </a:p>
        </p:txBody>
      </p:sp>
      <p:sp>
        <p:nvSpPr>
          <p:cNvPr id="19" name="Rectangle 1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4B98F00-0D95-68DC-F0E8-425E660E1DDF}"/>
              </a:ext>
            </a:extLst>
          </p:cNvPr>
          <p:cNvSpPr>
            <a:spLocks noGrp="1"/>
          </p:cNvSpPr>
          <p:nvPr>
            <p:ph idx="1"/>
          </p:nvPr>
        </p:nvSpPr>
        <p:spPr>
          <a:xfrm>
            <a:off x="793661" y="2599509"/>
            <a:ext cx="4530898" cy="3639450"/>
          </a:xfrm>
        </p:spPr>
        <p:txBody>
          <a:bodyPr anchor="ctr">
            <a:normAutofit lnSpcReduction="10000"/>
          </a:bodyPr>
          <a:lstStyle/>
          <a:p>
            <a:r>
              <a:rPr lang="en-GB" sz="2000" dirty="0"/>
              <a:t>Uses a </a:t>
            </a:r>
            <a:r>
              <a:rPr lang="en-GB" sz="2000" b="1" dirty="0"/>
              <a:t>pre-trained model</a:t>
            </a:r>
            <a:r>
              <a:rPr lang="en-GB" sz="2000" dirty="0"/>
              <a:t> to classify new images with </a:t>
            </a:r>
            <a:r>
              <a:rPr lang="en-GB" sz="2000" b="1" dirty="0"/>
              <a:t>fewer examples</a:t>
            </a:r>
            <a:r>
              <a:rPr lang="en-GB" sz="2000" dirty="0"/>
              <a:t>.</a:t>
            </a:r>
          </a:p>
          <a:p>
            <a:r>
              <a:rPr lang="en-GB" sz="2000" dirty="0"/>
              <a:t>Uses </a:t>
            </a:r>
            <a:r>
              <a:rPr lang="en-GB" sz="2000" b="1" dirty="0"/>
              <a:t>Transfer Learning</a:t>
            </a:r>
            <a:r>
              <a:rPr lang="en-GB" sz="2000" dirty="0"/>
              <a:t> is where you transfer the learning from an existing ML model to a new model based off new data</a:t>
            </a:r>
          </a:p>
          <a:p>
            <a:r>
              <a:rPr lang="en-GB" sz="2000" b="1" dirty="0"/>
              <a:t>Saves computation</a:t>
            </a:r>
            <a:r>
              <a:rPr lang="en-GB" sz="2000" dirty="0"/>
              <a:t> – models already recognise shapes &amp; textures.</a:t>
            </a:r>
          </a:p>
          <a:p>
            <a:r>
              <a:rPr lang="en-GB" sz="2000" b="1" dirty="0"/>
              <a:t>Requires fewer images</a:t>
            </a:r>
            <a:r>
              <a:rPr lang="en-GB" sz="2000" dirty="0"/>
              <a:t> – trains with 30+ images instead of millions.</a:t>
            </a:r>
          </a:p>
          <a:p>
            <a:r>
              <a:rPr lang="en-GB" sz="2000" b="1" dirty="0"/>
              <a:t>Example</a:t>
            </a:r>
            <a:r>
              <a:rPr lang="en-GB" sz="2000" dirty="0"/>
              <a:t>: Recognising a sailboat from basic shapes.</a:t>
            </a:r>
          </a:p>
          <a:p>
            <a:endParaRPr lang="en-IE" sz="2000" dirty="0"/>
          </a:p>
        </p:txBody>
      </p:sp>
      <p:pic>
        <p:nvPicPr>
          <p:cNvPr id="6" name="Picture 5">
            <a:extLst>
              <a:ext uri="{FF2B5EF4-FFF2-40B4-BE49-F238E27FC236}">
                <a16:creationId xmlns:a16="http://schemas.microsoft.com/office/drawing/2014/main" id="{81D799D5-2A00-2CA9-96BC-10CF6B337DA3}"/>
              </a:ext>
            </a:extLst>
          </p:cNvPr>
          <p:cNvPicPr>
            <a:picLocks noChangeAspect="1"/>
          </p:cNvPicPr>
          <p:nvPr/>
        </p:nvPicPr>
        <p:blipFill>
          <a:blip r:embed="rId3"/>
          <a:stretch>
            <a:fillRect/>
          </a:stretch>
        </p:blipFill>
        <p:spPr>
          <a:xfrm>
            <a:off x="5911532" y="3227630"/>
            <a:ext cx="5150277" cy="2227494"/>
          </a:xfrm>
          <a:prstGeom prst="rect">
            <a:avLst/>
          </a:prstGeom>
        </p:spPr>
      </p:pic>
      <p:sp>
        <p:nvSpPr>
          <p:cNvPr id="17" name="Rectangle 16">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008651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3346177D-ADC4-4968-B747-5CFCD390B5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6B8D1B-9072-2EA5-6100-853AAB84C593}"/>
              </a:ext>
            </a:extLst>
          </p:cNvPr>
          <p:cNvSpPr>
            <a:spLocks noGrp="1"/>
          </p:cNvSpPr>
          <p:nvPr>
            <p:ph type="title"/>
          </p:nvPr>
        </p:nvSpPr>
        <p:spPr>
          <a:xfrm>
            <a:off x="5596501" y="489508"/>
            <a:ext cx="5754896" cy="1667569"/>
          </a:xfrm>
        </p:spPr>
        <p:txBody>
          <a:bodyPr anchor="b">
            <a:normAutofit/>
          </a:bodyPr>
          <a:lstStyle/>
          <a:p>
            <a:r>
              <a:rPr lang="en-IE" sz="4000"/>
              <a:t>Microsoft Custom Vision</a:t>
            </a:r>
          </a:p>
        </p:txBody>
      </p:sp>
      <p:pic>
        <p:nvPicPr>
          <p:cNvPr id="6" name="Picture 5">
            <a:extLst>
              <a:ext uri="{FF2B5EF4-FFF2-40B4-BE49-F238E27FC236}">
                <a16:creationId xmlns:a16="http://schemas.microsoft.com/office/drawing/2014/main" id="{728C3760-D9EF-1214-5A3B-DC2916FD7D00}"/>
              </a:ext>
            </a:extLst>
          </p:cNvPr>
          <p:cNvPicPr>
            <a:picLocks noChangeAspect="1"/>
          </p:cNvPicPr>
          <p:nvPr/>
        </p:nvPicPr>
        <p:blipFill>
          <a:blip r:embed="rId2"/>
          <a:stretch>
            <a:fillRect/>
          </a:stretch>
        </p:blipFill>
        <p:spPr>
          <a:xfrm>
            <a:off x="1094119" y="918640"/>
            <a:ext cx="3824187" cy="4589025"/>
          </a:xfrm>
          <a:prstGeom prst="rect">
            <a:avLst/>
          </a:prstGeom>
        </p:spPr>
      </p:pic>
      <p:sp>
        <p:nvSpPr>
          <p:cNvPr id="3" name="Content Placeholder 2">
            <a:extLst>
              <a:ext uri="{FF2B5EF4-FFF2-40B4-BE49-F238E27FC236}">
                <a16:creationId xmlns:a16="http://schemas.microsoft.com/office/drawing/2014/main" id="{FBD391D5-5E94-FF1A-060E-EE1EA4D86EF4}"/>
              </a:ext>
            </a:extLst>
          </p:cNvPr>
          <p:cNvSpPr>
            <a:spLocks noGrp="1"/>
          </p:cNvSpPr>
          <p:nvPr>
            <p:ph idx="1"/>
          </p:nvPr>
        </p:nvSpPr>
        <p:spPr>
          <a:xfrm>
            <a:off x="5596502" y="2405894"/>
            <a:ext cx="5754896" cy="3197464"/>
          </a:xfrm>
        </p:spPr>
        <p:txBody>
          <a:bodyPr anchor="t">
            <a:normAutofit/>
          </a:bodyPr>
          <a:lstStyle/>
          <a:p>
            <a:r>
              <a:rPr lang="en-GB" sz="1900"/>
              <a:t>A </a:t>
            </a:r>
            <a:r>
              <a:rPr lang="en-GB" sz="1900" b="1"/>
              <a:t>cloud-based AI tool </a:t>
            </a:r>
            <a:r>
              <a:rPr lang="en-GB" sz="1900"/>
              <a:t>for training image classifiers.</a:t>
            </a:r>
          </a:p>
          <a:p>
            <a:r>
              <a:rPr lang="en-GB" sz="1900"/>
              <a:t>Uses a small number of images to build accurate models.</a:t>
            </a:r>
          </a:p>
          <a:p>
            <a:r>
              <a:rPr lang="en-GB" sz="1900"/>
              <a:t>How it works:</a:t>
            </a:r>
          </a:p>
          <a:p>
            <a:pPr marL="914400" lvl="1" indent="-457200">
              <a:buFont typeface="+mj-lt"/>
              <a:buAutoNum type="arabicPeriod"/>
            </a:pPr>
            <a:r>
              <a:rPr lang="en-GB" sz="1900"/>
              <a:t>Upload &amp; tag images (e.g., "ripe" or "unripe")</a:t>
            </a:r>
          </a:p>
          <a:p>
            <a:pPr marL="914400" lvl="1" indent="-457200">
              <a:buFont typeface="+mj-lt"/>
              <a:buAutoNum type="arabicPeriod"/>
            </a:pPr>
            <a:r>
              <a:rPr lang="en-IE" sz="1900"/>
              <a:t>Train the model</a:t>
            </a:r>
          </a:p>
          <a:p>
            <a:pPr marL="914400" lvl="1" indent="-457200">
              <a:buFont typeface="+mj-lt"/>
              <a:buAutoNum type="arabicPeriod"/>
            </a:pPr>
            <a:r>
              <a:rPr lang="en-IE" sz="1900"/>
              <a:t>Test &amp; refine the model</a:t>
            </a:r>
          </a:p>
          <a:p>
            <a:pPr marL="914400" lvl="1" indent="-457200">
              <a:buFont typeface="+mj-lt"/>
              <a:buAutoNum type="arabicPeriod"/>
            </a:pPr>
            <a:r>
              <a:rPr lang="en-GB" sz="1900"/>
              <a:t>Deploy via API or SDK</a:t>
            </a:r>
            <a:endParaRPr lang="en-IE" sz="1900"/>
          </a:p>
        </p:txBody>
      </p:sp>
      <p:sp>
        <p:nvSpPr>
          <p:cNvPr id="22" name="Rectangle 21">
            <a:extLst>
              <a:ext uri="{FF2B5EF4-FFF2-40B4-BE49-F238E27FC236}">
                <a16:creationId xmlns:a16="http://schemas.microsoft.com/office/drawing/2014/main" id="{0844A943-BF79-4FEA-ABB1-3BD54D2366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90000">
                <a:srgbClr val="000000"/>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437CC72-F4A8-4DC3-AFAB-D22C482C81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50000"/>
                </a:srgbClr>
              </a:gs>
              <a:gs pos="100000">
                <a:schemeClr val="accent1">
                  <a:lumMod val="7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85593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1ED334F-9514-2669-4B04-B26CF5502E7F}"/>
              </a:ext>
            </a:extLst>
          </p:cNvPr>
          <p:cNvSpPr>
            <a:spLocks noGrp="1"/>
          </p:cNvSpPr>
          <p:nvPr>
            <p:ph type="title"/>
          </p:nvPr>
        </p:nvSpPr>
        <p:spPr>
          <a:xfrm>
            <a:off x="761800" y="762001"/>
            <a:ext cx="5334197" cy="1708242"/>
          </a:xfrm>
        </p:spPr>
        <p:txBody>
          <a:bodyPr anchor="ctr">
            <a:normAutofit/>
          </a:bodyPr>
          <a:lstStyle/>
          <a:p>
            <a:r>
              <a:rPr lang="en-IE" sz="4000"/>
              <a:t>AI &amp; ML Tools</a:t>
            </a:r>
          </a:p>
        </p:txBody>
      </p:sp>
      <p:sp>
        <p:nvSpPr>
          <p:cNvPr id="3" name="Content Placeholder 2">
            <a:extLst>
              <a:ext uri="{FF2B5EF4-FFF2-40B4-BE49-F238E27FC236}">
                <a16:creationId xmlns:a16="http://schemas.microsoft.com/office/drawing/2014/main" id="{BE8F4443-52FD-37BA-3E3E-85590748E88B}"/>
              </a:ext>
            </a:extLst>
          </p:cNvPr>
          <p:cNvSpPr>
            <a:spLocks noGrp="1"/>
          </p:cNvSpPr>
          <p:nvPr>
            <p:ph idx="1"/>
          </p:nvPr>
        </p:nvSpPr>
        <p:spPr>
          <a:xfrm>
            <a:off x="761800" y="2470244"/>
            <a:ext cx="5334197" cy="3769835"/>
          </a:xfrm>
        </p:spPr>
        <p:txBody>
          <a:bodyPr anchor="ctr">
            <a:normAutofit/>
          </a:bodyPr>
          <a:lstStyle/>
          <a:p>
            <a:r>
              <a:rPr lang="en-IE" sz="2000"/>
              <a:t>MS Cognitive Services on Azure include:</a:t>
            </a:r>
          </a:p>
          <a:p>
            <a:pPr lvl="1"/>
            <a:r>
              <a:rPr lang="en-GB" sz="2000"/>
              <a:t>Custom Vision, speech recognition, and language tools</a:t>
            </a:r>
            <a:endParaRPr lang="en-IE" sz="2000"/>
          </a:p>
        </p:txBody>
      </p:sp>
      <p:pic>
        <p:nvPicPr>
          <p:cNvPr id="5" name="Picture 4" descr="Metal tic-tac-toe game pieces">
            <a:extLst>
              <a:ext uri="{FF2B5EF4-FFF2-40B4-BE49-F238E27FC236}">
                <a16:creationId xmlns:a16="http://schemas.microsoft.com/office/drawing/2014/main" id="{AAA8A203-57BE-BB86-4984-B06B4380CF4A}"/>
              </a:ext>
            </a:extLst>
          </p:cNvPr>
          <p:cNvPicPr>
            <a:picLocks noChangeAspect="1"/>
          </p:cNvPicPr>
          <p:nvPr/>
        </p:nvPicPr>
        <p:blipFill>
          <a:blip r:embed="rId2"/>
          <a:srcRect l="14110" r="27646" b="-1"/>
          <a:stretch/>
        </p:blipFill>
        <p:spPr>
          <a:xfrm>
            <a:off x="6857797" y="-10886"/>
            <a:ext cx="5334204"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11972421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566</Words>
  <Application>Microsoft Office PowerPoint</Application>
  <PresentationFormat>Widescreen</PresentationFormat>
  <Paragraphs>57</Paragraphs>
  <Slides>8</Slides>
  <Notes>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Aptos</vt:lpstr>
      <vt:lpstr>Aptos Display</vt:lpstr>
      <vt:lpstr>Arial</vt:lpstr>
      <vt:lpstr>Open Sans</vt:lpstr>
      <vt:lpstr>Office Theme</vt:lpstr>
      <vt:lpstr>Image Classification</vt:lpstr>
      <vt:lpstr>Example/Use Case: Food Production</vt:lpstr>
      <vt:lpstr>AI, ML, and IoT in Agri Tech</vt:lpstr>
      <vt:lpstr>Image Classification using Machine Learning</vt:lpstr>
      <vt:lpstr>Image Classification – Bananas!</vt:lpstr>
      <vt:lpstr>Training an Image Classifier</vt:lpstr>
      <vt:lpstr>Microsoft Custom Vision</vt:lpstr>
      <vt:lpstr>AI &amp; ML Tools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Frank Walsh</dc:creator>
  <cp:lastModifiedBy>Frank Walsh</cp:lastModifiedBy>
  <cp:revision>2</cp:revision>
  <dcterms:created xsi:type="dcterms:W3CDTF">2025-03-09T10:51:46Z</dcterms:created>
  <dcterms:modified xsi:type="dcterms:W3CDTF">2025-03-10T08:05:47Z</dcterms:modified>
</cp:coreProperties>
</file>