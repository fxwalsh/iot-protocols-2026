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 showGuides="1">
      <p:cViewPr>
        <p:scale>
          <a:sx n="101" d="100"/>
          <a:sy n="101" d="100"/>
        </p:scale>
        <p:origin x="48" y="1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0C43F1-02EF-47D4-8823-60579426905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A727F9C-7E70-40D7-BFEF-B9F949E3989C}">
      <dgm:prSet phldrT="[Text]"/>
      <dgm:spPr/>
      <dgm:t>
        <a:bodyPr/>
        <a:lstStyle/>
        <a:p>
          <a:r>
            <a:rPr lang="en-IE" b="1" dirty="0"/>
            <a:t>Manual</a:t>
          </a:r>
        </a:p>
        <a:p>
          <a:r>
            <a:rPr lang="en-IE" dirty="0"/>
            <a:t>Workers inspect produce</a:t>
          </a:r>
        </a:p>
      </dgm:t>
    </dgm:pt>
    <dgm:pt modelId="{D65792B2-F7D4-4D21-AA16-82ADF20E29A5}" type="parTrans" cxnId="{A0207BD1-12A6-4D74-9660-6AADE5E5EF0E}">
      <dgm:prSet/>
      <dgm:spPr/>
      <dgm:t>
        <a:bodyPr/>
        <a:lstStyle/>
        <a:p>
          <a:endParaRPr lang="en-IE"/>
        </a:p>
      </dgm:t>
    </dgm:pt>
    <dgm:pt modelId="{55A52E9A-AE39-4BCE-9AE9-BF793CD649C4}" type="sibTrans" cxnId="{A0207BD1-12A6-4D74-9660-6AADE5E5EF0E}">
      <dgm:prSet/>
      <dgm:spPr/>
      <dgm:t>
        <a:bodyPr/>
        <a:lstStyle/>
        <a:p>
          <a:endParaRPr lang="en-IE"/>
        </a:p>
      </dgm:t>
    </dgm:pt>
    <dgm:pt modelId="{61503352-50FA-4FA8-BD31-0BA72F7DC3DE}">
      <dgm:prSet phldrT="[Text]"/>
      <dgm:spPr/>
      <dgm:t>
        <a:bodyPr/>
        <a:lstStyle/>
        <a:p>
          <a:r>
            <a:rPr lang="en-IE" b="1" dirty="0"/>
            <a:t>Optical</a:t>
          </a:r>
        </a:p>
        <a:p>
          <a:r>
            <a:rPr lang="en-IE" dirty="0"/>
            <a:t>Colour Based detection</a:t>
          </a:r>
        </a:p>
      </dgm:t>
    </dgm:pt>
    <dgm:pt modelId="{F502B252-01D5-4EAC-A70E-9E3FE731AD3F}" type="parTrans" cxnId="{C5527FA5-597B-4071-81D5-C955AF4AC026}">
      <dgm:prSet/>
      <dgm:spPr/>
      <dgm:t>
        <a:bodyPr/>
        <a:lstStyle/>
        <a:p>
          <a:endParaRPr lang="en-IE"/>
        </a:p>
      </dgm:t>
    </dgm:pt>
    <dgm:pt modelId="{1806B0E6-60FB-434B-8397-38A2B3550EEA}" type="sibTrans" cxnId="{C5527FA5-597B-4071-81D5-C955AF4AC026}">
      <dgm:prSet/>
      <dgm:spPr/>
      <dgm:t>
        <a:bodyPr/>
        <a:lstStyle/>
        <a:p>
          <a:endParaRPr lang="en-IE"/>
        </a:p>
      </dgm:t>
    </dgm:pt>
    <dgm:pt modelId="{1C5EF333-77BF-4691-A266-B2FBB4747EB9}">
      <dgm:prSet phldrT="[Text]"/>
      <dgm:spPr/>
      <dgm:t>
        <a:bodyPr/>
        <a:lstStyle/>
        <a:p>
          <a:r>
            <a:rPr lang="en-IE" b="1" dirty="0"/>
            <a:t>AI Based Sorting</a:t>
          </a:r>
        </a:p>
        <a:p>
          <a:r>
            <a:rPr lang="en-IE" dirty="0"/>
            <a:t>Detect subtle differences(disease, </a:t>
          </a:r>
          <a:r>
            <a:rPr lang="en-IE" dirty="0" err="1"/>
            <a:t>buising</a:t>
          </a:r>
          <a:endParaRPr lang="en-IE" dirty="0"/>
        </a:p>
      </dgm:t>
    </dgm:pt>
    <dgm:pt modelId="{38B08C89-0FCA-4104-B3D0-17B5C34ABAC8}" type="parTrans" cxnId="{7CE06E4B-2FF9-4A6A-9D10-5EE25F8EECC8}">
      <dgm:prSet/>
      <dgm:spPr/>
      <dgm:t>
        <a:bodyPr/>
        <a:lstStyle/>
        <a:p>
          <a:endParaRPr lang="en-IE"/>
        </a:p>
      </dgm:t>
    </dgm:pt>
    <dgm:pt modelId="{35C284D1-A658-4621-873A-E58D9CEC7FF4}" type="sibTrans" cxnId="{7CE06E4B-2FF9-4A6A-9D10-5EE25F8EECC8}">
      <dgm:prSet/>
      <dgm:spPr/>
      <dgm:t>
        <a:bodyPr/>
        <a:lstStyle/>
        <a:p>
          <a:endParaRPr lang="en-IE"/>
        </a:p>
      </dgm:t>
    </dgm:pt>
    <dgm:pt modelId="{A80F98C7-8E88-4EAE-8475-98DD2117CC16}" type="pres">
      <dgm:prSet presAssocID="{790C43F1-02EF-47D4-8823-60579426905C}" presName="Name0" presStyleCnt="0">
        <dgm:presLayoutVars>
          <dgm:dir/>
          <dgm:resizeHandles val="exact"/>
        </dgm:presLayoutVars>
      </dgm:prSet>
      <dgm:spPr/>
    </dgm:pt>
    <dgm:pt modelId="{295B9069-994B-494D-8A6D-98FEBB8AF4F9}" type="pres">
      <dgm:prSet presAssocID="{1A727F9C-7E70-40D7-BFEF-B9F949E3989C}" presName="node" presStyleLbl="node1" presStyleIdx="0" presStyleCnt="3">
        <dgm:presLayoutVars>
          <dgm:bulletEnabled val="1"/>
        </dgm:presLayoutVars>
      </dgm:prSet>
      <dgm:spPr/>
    </dgm:pt>
    <dgm:pt modelId="{1AD01AE5-B333-4BC5-BE6B-9D4D7280BE61}" type="pres">
      <dgm:prSet presAssocID="{55A52E9A-AE39-4BCE-9AE9-BF793CD649C4}" presName="sibTrans" presStyleLbl="sibTrans2D1" presStyleIdx="0" presStyleCnt="2"/>
      <dgm:spPr/>
    </dgm:pt>
    <dgm:pt modelId="{01FB1F9E-BFC3-46A1-9E50-0C671A28B5FD}" type="pres">
      <dgm:prSet presAssocID="{55A52E9A-AE39-4BCE-9AE9-BF793CD649C4}" presName="connectorText" presStyleLbl="sibTrans2D1" presStyleIdx="0" presStyleCnt="2"/>
      <dgm:spPr/>
    </dgm:pt>
    <dgm:pt modelId="{AFD3D2BE-4817-4A13-9C36-08591EE99194}" type="pres">
      <dgm:prSet presAssocID="{61503352-50FA-4FA8-BD31-0BA72F7DC3DE}" presName="node" presStyleLbl="node1" presStyleIdx="1" presStyleCnt="3">
        <dgm:presLayoutVars>
          <dgm:bulletEnabled val="1"/>
        </dgm:presLayoutVars>
      </dgm:prSet>
      <dgm:spPr/>
    </dgm:pt>
    <dgm:pt modelId="{63A07C64-AF71-4F7F-AD96-90A6EFC48F42}" type="pres">
      <dgm:prSet presAssocID="{1806B0E6-60FB-434B-8397-38A2B3550EEA}" presName="sibTrans" presStyleLbl="sibTrans2D1" presStyleIdx="1" presStyleCnt="2"/>
      <dgm:spPr/>
    </dgm:pt>
    <dgm:pt modelId="{CDE7CFD8-B935-4EAD-AA6B-691A0990E276}" type="pres">
      <dgm:prSet presAssocID="{1806B0E6-60FB-434B-8397-38A2B3550EEA}" presName="connectorText" presStyleLbl="sibTrans2D1" presStyleIdx="1" presStyleCnt="2"/>
      <dgm:spPr/>
    </dgm:pt>
    <dgm:pt modelId="{133B6E56-E8D3-4115-B78E-F874F59E6FC0}" type="pres">
      <dgm:prSet presAssocID="{1C5EF333-77BF-4691-A266-B2FBB4747EB9}" presName="node" presStyleLbl="node1" presStyleIdx="2" presStyleCnt="3">
        <dgm:presLayoutVars>
          <dgm:bulletEnabled val="1"/>
        </dgm:presLayoutVars>
      </dgm:prSet>
      <dgm:spPr/>
    </dgm:pt>
  </dgm:ptLst>
  <dgm:cxnLst>
    <dgm:cxn modelId="{D4C2C100-AFDF-49A0-9D4D-4C359EAD1319}" type="presOf" srcId="{1A727F9C-7E70-40D7-BFEF-B9F949E3989C}" destId="{295B9069-994B-494D-8A6D-98FEBB8AF4F9}" srcOrd="0" destOrd="0" presId="urn:microsoft.com/office/officeart/2005/8/layout/process1"/>
    <dgm:cxn modelId="{8D284C0A-03C7-415C-B2E3-9CDE089D3D43}" type="presOf" srcId="{1806B0E6-60FB-434B-8397-38A2B3550EEA}" destId="{CDE7CFD8-B935-4EAD-AA6B-691A0990E276}" srcOrd="1" destOrd="0" presId="urn:microsoft.com/office/officeart/2005/8/layout/process1"/>
    <dgm:cxn modelId="{409D6F0F-8273-41B9-9031-8E1DC5341EE4}" type="presOf" srcId="{55A52E9A-AE39-4BCE-9AE9-BF793CD649C4}" destId="{01FB1F9E-BFC3-46A1-9E50-0C671A28B5FD}" srcOrd="1" destOrd="0" presId="urn:microsoft.com/office/officeart/2005/8/layout/process1"/>
    <dgm:cxn modelId="{DDA9B514-E49C-4EB2-B397-7AFFE41D1DC5}" type="presOf" srcId="{790C43F1-02EF-47D4-8823-60579426905C}" destId="{A80F98C7-8E88-4EAE-8475-98DD2117CC16}" srcOrd="0" destOrd="0" presId="urn:microsoft.com/office/officeart/2005/8/layout/process1"/>
    <dgm:cxn modelId="{A499975D-9C2E-4518-A488-8BA20D7DBE8D}" type="presOf" srcId="{1806B0E6-60FB-434B-8397-38A2B3550EEA}" destId="{63A07C64-AF71-4F7F-AD96-90A6EFC48F42}" srcOrd="0" destOrd="0" presId="urn:microsoft.com/office/officeart/2005/8/layout/process1"/>
    <dgm:cxn modelId="{7CE06E4B-2FF9-4A6A-9D10-5EE25F8EECC8}" srcId="{790C43F1-02EF-47D4-8823-60579426905C}" destId="{1C5EF333-77BF-4691-A266-B2FBB4747EB9}" srcOrd="2" destOrd="0" parTransId="{38B08C89-0FCA-4104-B3D0-17B5C34ABAC8}" sibTransId="{35C284D1-A658-4621-873A-E58D9CEC7FF4}"/>
    <dgm:cxn modelId="{B1C49D6F-0267-4D33-94AF-92EDAB73CB48}" type="presOf" srcId="{61503352-50FA-4FA8-BD31-0BA72F7DC3DE}" destId="{AFD3D2BE-4817-4A13-9C36-08591EE99194}" srcOrd="0" destOrd="0" presId="urn:microsoft.com/office/officeart/2005/8/layout/process1"/>
    <dgm:cxn modelId="{8A886A55-A662-42FD-8873-55E28EF09883}" type="presOf" srcId="{55A52E9A-AE39-4BCE-9AE9-BF793CD649C4}" destId="{1AD01AE5-B333-4BC5-BE6B-9D4D7280BE61}" srcOrd="0" destOrd="0" presId="urn:microsoft.com/office/officeart/2005/8/layout/process1"/>
    <dgm:cxn modelId="{C5527FA5-597B-4071-81D5-C955AF4AC026}" srcId="{790C43F1-02EF-47D4-8823-60579426905C}" destId="{61503352-50FA-4FA8-BD31-0BA72F7DC3DE}" srcOrd="1" destOrd="0" parTransId="{F502B252-01D5-4EAC-A70E-9E3FE731AD3F}" sibTransId="{1806B0E6-60FB-434B-8397-38A2B3550EEA}"/>
    <dgm:cxn modelId="{A0207BD1-12A6-4D74-9660-6AADE5E5EF0E}" srcId="{790C43F1-02EF-47D4-8823-60579426905C}" destId="{1A727F9C-7E70-40D7-BFEF-B9F949E3989C}" srcOrd="0" destOrd="0" parTransId="{D65792B2-F7D4-4D21-AA16-82ADF20E29A5}" sibTransId="{55A52E9A-AE39-4BCE-9AE9-BF793CD649C4}"/>
    <dgm:cxn modelId="{72D18BD3-899D-4305-ABFD-D30DF94CAFBB}" type="presOf" srcId="{1C5EF333-77BF-4691-A266-B2FBB4747EB9}" destId="{133B6E56-E8D3-4115-B78E-F874F59E6FC0}" srcOrd="0" destOrd="0" presId="urn:microsoft.com/office/officeart/2005/8/layout/process1"/>
    <dgm:cxn modelId="{9D4F2FC7-0998-4881-8553-A3FB671CFEE8}" type="presParOf" srcId="{A80F98C7-8E88-4EAE-8475-98DD2117CC16}" destId="{295B9069-994B-494D-8A6D-98FEBB8AF4F9}" srcOrd="0" destOrd="0" presId="urn:microsoft.com/office/officeart/2005/8/layout/process1"/>
    <dgm:cxn modelId="{8C8B6D77-52D6-484C-A12C-6A25E1EC8123}" type="presParOf" srcId="{A80F98C7-8E88-4EAE-8475-98DD2117CC16}" destId="{1AD01AE5-B333-4BC5-BE6B-9D4D7280BE61}" srcOrd="1" destOrd="0" presId="urn:microsoft.com/office/officeart/2005/8/layout/process1"/>
    <dgm:cxn modelId="{734F82FC-2B2D-4069-8FC7-499FC2B71998}" type="presParOf" srcId="{1AD01AE5-B333-4BC5-BE6B-9D4D7280BE61}" destId="{01FB1F9E-BFC3-46A1-9E50-0C671A28B5FD}" srcOrd="0" destOrd="0" presId="urn:microsoft.com/office/officeart/2005/8/layout/process1"/>
    <dgm:cxn modelId="{A0FB3810-68E7-4D2E-B070-F46C12680D3F}" type="presParOf" srcId="{A80F98C7-8E88-4EAE-8475-98DD2117CC16}" destId="{AFD3D2BE-4817-4A13-9C36-08591EE99194}" srcOrd="2" destOrd="0" presId="urn:microsoft.com/office/officeart/2005/8/layout/process1"/>
    <dgm:cxn modelId="{E1792FD1-E18A-4A47-8FBF-EDF6874E8F7D}" type="presParOf" srcId="{A80F98C7-8E88-4EAE-8475-98DD2117CC16}" destId="{63A07C64-AF71-4F7F-AD96-90A6EFC48F42}" srcOrd="3" destOrd="0" presId="urn:microsoft.com/office/officeart/2005/8/layout/process1"/>
    <dgm:cxn modelId="{DA172411-00B4-4C91-B567-7885E6F87BAE}" type="presParOf" srcId="{63A07C64-AF71-4F7F-AD96-90A6EFC48F42}" destId="{CDE7CFD8-B935-4EAD-AA6B-691A0990E276}" srcOrd="0" destOrd="0" presId="urn:microsoft.com/office/officeart/2005/8/layout/process1"/>
    <dgm:cxn modelId="{83A4EB71-FBF2-4E74-B0E6-B90CC925612C}" type="presParOf" srcId="{A80F98C7-8E88-4EAE-8475-98DD2117CC16}" destId="{133B6E56-E8D3-4115-B78E-F874F59E6FC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B9069-994B-494D-8A6D-98FEBB8AF4F9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700" b="1" kern="1200" dirty="0"/>
            <a:t>Manual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700" kern="1200" dirty="0"/>
            <a:t>Workers inspect produce</a:t>
          </a:r>
        </a:p>
      </dsp:txBody>
      <dsp:txXfrm>
        <a:off x="44665" y="2106299"/>
        <a:ext cx="2060143" cy="1206068"/>
      </dsp:txXfrm>
    </dsp:sp>
    <dsp:sp modelId="{1AD01AE5-B333-4BC5-BE6B-9D4D7280BE61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E" sz="1400" kern="1200"/>
        </a:p>
      </dsp:txBody>
      <dsp:txXfrm>
        <a:off x="2355850" y="2550475"/>
        <a:ext cx="316861" cy="317716"/>
      </dsp:txXfrm>
    </dsp:sp>
    <dsp:sp modelId="{AFD3D2BE-4817-4A13-9C36-08591EE99194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700" b="1" kern="1200" dirty="0"/>
            <a:t>Optical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700" kern="1200" dirty="0"/>
            <a:t>Colour Based detection</a:t>
          </a:r>
        </a:p>
      </dsp:txBody>
      <dsp:txXfrm>
        <a:off x="3033928" y="2106299"/>
        <a:ext cx="2060143" cy="1206068"/>
      </dsp:txXfrm>
    </dsp:sp>
    <dsp:sp modelId="{63A07C64-AF71-4F7F-AD96-90A6EFC48F42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E" sz="1400" kern="1200"/>
        </a:p>
      </dsp:txBody>
      <dsp:txXfrm>
        <a:off x="5345112" y="2550475"/>
        <a:ext cx="316861" cy="317716"/>
      </dsp:txXfrm>
    </dsp:sp>
    <dsp:sp modelId="{133B6E56-E8D3-4115-B78E-F874F59E6FC0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700" b="1" kern="1200" dirty="0"/>
            <a:t>AI Based Sorting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700" kern="1200" dirty="0"/>
            <a:t>Detect subtle differences(disease, </a:t>
          </a:r>
          <a:r>
            <a:rPr lang="en-IE" sz="1700" kern="1200" dirty="0" err="1"/>
            <a:t>buising</a:t>
          </a:r>
          <a:endParaRPr lang="en-IE" sz="1700" kern="1200" dirty="0"/>
        </a:p>
      </dsp:txBody>
      <dsp:txXfrm>
        <a:off x="6023190" y="2106299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8F00-5146-1C89-F62F-924A2F425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BC4FE-F7F9-7DCB-FFF1-0DA54E3B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307E3-94AB-B679-842A-F4CAC85A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72CC0-46DF-25C5-1CBA-B632DF3B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DDC3F-4A36-1153-E903-595E26D2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0550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2333-F481-A06E-3F88-F6388981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9CED4-DABC-ACB0-AE00-BD5D4D75A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ABDC0-3C22-839D-41F2-DA01639E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4E236-42DC-1612-8470-6A27C7DC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315E2-907F-A00D-E925-D16EDE9C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52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13AE9-70B2-27E0-9D17-6A892FD0A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B2FF3-7149-7E06-1034-6FA4FB3F6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424D7-692B-4E77-8E36-EFB102B4E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8E7FA-2CE5-28A5-2481-589F8638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94AD1-0849-A6F1-D898-10FD647F5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63039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AE097-C21D-8F1A-532A-57B7908E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A1DC5-78E6-39C9-BF18-702BF0001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0ACFB-5FEF-D907-D990-59221E7A6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D4FDD-7873-C848-8A2C-40500C08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7C0C3-D7ED-F002-058E-D7127161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3249B-6FB2-879D-15E6-5329B043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63260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71169-69CA-5A36-B2FF-144763AC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A7471-D93C-3EE0-6466-941E7BB36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634D4-802F-267E-9DAE-03B409F3F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3F3050-D2B6-F566-3078-A43249DDA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8F3E6-3704-B09D-F455-B4A9CBC7A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AEBEF-0524-849A-BAC1-F67502DFB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3298B-AE11-20AC-4E9E-7D5C45BF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8471A-2566-0792-40FB-4E3424FC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0333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B726E-7425-D002-9460-0F534FC2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F0B02-0B01-0661-DE21-0A8816BA6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3D3B2-A35C-0B62-AEFB-386E24C8D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E682F-90CD-C9B9-48E8-2F17D39C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4134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091747-CC1A-E1F5-7AD3-A8D4E17A7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CD0583-E9BD-4A35-69F3-B77B4AA0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B4B40-B0B8-BA0D-F1A3-9D1230C6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1109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F49A-0847-0C47-E2FD-F64D1AA0C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FDBD3-5E70-E47D-0086-09746A6CD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ECAB5-BECE-81EB-B246-2CDBC5F9D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D816A-C880-0AC7-8A37-25D0EAAE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27B29-72EC-4F4F-7683-9A04FB57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DB5C0-88CE-DA98-F47C-D35CFC66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2106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DB1D-4A1B-2A8D-DD1C-716F6AD97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C9DB3C-0CCD-4A38-0958-24B38397F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FCCB5-0FE7-E853-6101-5DB1908D6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C373B-D02C-71FE-732C-0D1D2302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256A2-5BF6-5643-B190-C2A7DF2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43F03-F4DB-8418-AEA1-BDB3A293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67255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510F-56B6-BF4C-16C3-2149D000C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84DA40-6EE1-862D-FB1C-DF6646D45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3D91F-E036-69DB-9A49-2A91C8A2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9E59A-35FC-8236-5CB6-3D996F7E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0BDF0-3DEC-031C-FA8C-C479A429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499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884D48-9EE7-07D4-05AB-A410D7660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93768-9446-836F-57B1-9008CC359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714A-A206-D3C3-0C37-48485444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FCCFD-ACA3-9A31-ECED-B17E3838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31656-AED3-B834-E744-844CB3B9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727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ED5CD-2822-8C5C-2543-8C5DB3E11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8AE29-62D5-B061-F7FD-C44BB3FF2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7FCA8-7179-4C41-C2A4-25DA3D701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5D980-FB4D-475E-8D87-DE3E8282E11E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4A092-F676-0487-A5B9-DF212F937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9CBB-66FE-DC0C-6DF7-841DCE861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38C0E-AFC0-4AB0-86FC-50BC75CFD3D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5335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C31D-AF46-3A0A-2B13-AAD7F3B5E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Image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602EC-283A-72D9-21AF-7AFCF7F91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1368A-101A-AF82-4507-8A0F3CCA5A4E}"/>
              </a:ext>
            </a:extLst>
          </p:cNvPr>
          <p:cNvSpPr txBox="1"/>
          <p:nvPr/>
        </p:nvSpPr>
        <p:spPr>
          <a:xfrm>
            <a:off x="3047475" y="3245910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3EE3A7-F6F5-AF66-7760-67FAF06ED7C8}"/>
              </a:ext>
            </a:extLst>
          </p:cNvPr>
          <p:cNvSpPr txBox="1"/>
          <p:nvPr/>
        </p:nvSpPr>
        <p:spPr>
          <a:xfrm>
            <a:off x="3047475" y="3245910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179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F7606-20AB-4786-328A-6D00227B2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Example/Use Case: Food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AAF7A-35DE-858B-B998-8BB73C7E2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Artificial Intelligence  &amp; Machine Learning help automate produce sorting.</a:t>
            </a:r>
          </a:p>
          <a:p>
            <a:r>
              <a:rPr lang="en-GB" dirty="0"/>
              <a:t>ML models can recognize ripe vs. unripe, good vs. bad fruit.</a:t>
            </a:r>
          </a:p>
          <a:p>
            <a:r>
              <a:rPr lang="en-GB" dirty="0"/>
              <a:t>Used in </a:t>
            </a:r>
            <a:r>
              <a:rPr lang="en-GB" b="1" dirty="0"/>
              <a:t>IoT devices</a:t>
            </a:r>
            <a:r>
              <a:rPr lang="en-GB" dirty="0"/>
              <a:t>, factories, and warehouses.</a:t>
            </a:r>
          </a:p>
          <a:p>
            <a:r>
              <a:rPr lang="en-GB" dirty="0"/>
              <a:t>Our Objective today</a:t>
            </a:r>
            <a:r>
              <a:rPr lang="en-IE" dirty="0"/>
              <a:t>:</a:t>
            </a:r>
          </a:p>
          <a:p>
            <a:pPr lvl="1"/>
            <a:r>
              <a:rPr lang="en-GB" dirty="0"/>
              <a:t>Use image classification for food sorting.</a:t>
            </a:r>
          </a:p>
          <a:p>
            <a:pPr lvl="1"/>
            <a:r>
              <a:rPr lang="en-IE" dirty="0"/>
              <a:t>Train, Test, and Retrain an image classifier.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554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67CC-9FCE-5754-D3EE-C5033909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AI, ML, and IoT in Agri Tech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0584D-1BA5-DD69-0F3F-461F081CE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59014" cy="4351338"/>
          </a:xfrm>
        </p:spPr>
        <p:txBody>
          <a:bodyPr/>
          <a:lstStyle/>
          <a:p>
            <a:r>
              <a:rPr lang="en-IE" dirty="0"/>
              <a:t>Automation in Agri Tech</a:t>
            </a:r>
          </a:p>
          <a:p>
            <a:pPr lvl="1"/>
            <a:r>
              <a:rPr lang="en-IE" dirty="0"/>
              <a:t>Reduces labour costs.</a:t>
            </a:r>
          </a:p>
          <a:p>
            <a:pPr lvl="1"/>
            <a:r>
              <a:rPr lang="en-GB" dirty="0"/>
              <a:t>Already have machinery harvests faster but </a:t>
            </a:r>
          </a:p>
          <a:p>
            <a:pPr lvl="1"/>
            <a:r>
              <a:rPr lang="en-GB" dirty="0"/>
              <a:t>Lacks sorting ability</a:t>
            </a:r>
          </a:p>
          <a:p>
            <a:r>
              <a:rPr lang="en-GB" dirty="0"/>
              <a:t>Evolution of Produce Sorting</a:t>
            </a:r>
          </a:p>
          <a:p>
            <a:pPr marL="0" indent="0">
              <a:buNone/>
            </a:pPr>
            <a:endParaRPr lang="en-IE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2364045-C3EC-159F-A721-6FA38C7C50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2820823"/>
              </p:ext>
            </p:extLst>
          </p:nvPr>
        </p:nvGraphicFramePr>
        <p:xfrm>
          <a:off x="1628403" y="317908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EC6DC73-5218-3377-1828-F517C31323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701" y="1526239"/>
            <a:ext cx="76200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EB2C-9EB5-7422-FF7E-14CA5928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Image Classification using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79B2-3090-71C9-C61F-12B5C31E6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0716" cy="4351338"/>
          </a:xfrm>
        </p:spPr>
        <p:txBody>
          <a:bodyPr>
            <a:normAutofit/>
          </a:bodyPr>
          <a:lstStyle/>
          <a:p>
            <a:r>
              <a:rPr lang="en-IE" dirty="0"/>
              <a:t>How ML works:</a:t>
            </a:r>
          </a:p>
          <a:p>
            <a:pPr lvl="1"/>
            <a:r>
              <a:rPr lang="en-IE" dirty="0"/>
              <a:t>Traditional programming: Algorithm + Data = Output.</a:t>
            </a:r>
          </a:p>
          <a:p>
            <a:pPr lvl="1"/>
            <a:r>
              <a:rPr lang="en-GB" dirty="0"/>
              <a:t>ML: Data + Output → Trained Model, which can predict new results.</a:t>
            </a:r>
          </a:p>
          <a:p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23C2C7-88DD-07D5-8BE2-7C3ECC0E6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849" y="1396206"/>
            <a:ext cx="56578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1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2C51-662B-95D1-EE75-78DB8E63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Image Classification – Bananas!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A6B46-9695-96A5-46B7-823C41BE2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8007" cy="4351338"/>
          </a:xfrm>
        </p:spPr>
        <p:txBody>
          <a:bodyPr/>
          <a:lstStyle/>
          <a:p>
            <a:r>
              <a:rPr lang="en-GB" dirty="0"/>
              <a:t>Example: Bananas!</a:t>
            </a:r>
          </a:p>
          <a:p>
            <a:pPr lvl="1"/>
            <a:r>
              <a:rPr lang="en-GB" dirty="0"/>
              <a:t>Trained on images of </a:t>
            </a:r>
            <a:r>
              <a:rPr lang="en-GB" b="1" dirty="0"/>
              <a:t>ripe &amp; unripe bananas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Predicts </a:t>
            </a:r>
            <a:r>
              <a:rPr lang="en-GB" b="1" dirty="0"/>
              <a:t>probabilities</a:t>
            </a:r>
            <a:r>
              <a:rPr lang="en-GB" dirty="0"/>
              <a:t> instead of a strict yes/no answer.</a:t>
            </a:r>
          </a:p>
          <a:p>
            <a:r>
              <a:rPr lang="en-GB" dirty="0"/>
              <a:t>Key terms:</a:t>
            </a:r>
          </a:p>
          <a:p>
            <a:pPr lvl="1"/>
            <a:r>
              <a:rPr lang="en-GB" b="1" dirty="0"/>
              <a:t>Training: </a:t>
            </a:r>
            <a:r>
              <a:rPr lang="en-IE" dirty="0"/>
              <a:t>Learning from labelled data.</a:t>
            </a:r>
            <a:endParaRPr lang="en-GB" dirty="0"/>
          </a:p>
          <a:p>
            <a:pPr lvl="1"/>
            <a:r>
              <a:rPr lang="en-GB" b="1" dirty="0"/>
              <a:t>Model: </a:t>
            </a:r>
            <a:r>
              <a:rPr lang="en-IE" dirty="0"/>
              <a:t>The trained ML algorithm.</a:t>
            </a:r>
            <a:endParaRPr lang="en-GB" dirty="0"/>
          </a:p>
          <a:p>
            <a:pPr lvl="1"/>
            <a:r>
              <a:rPr lang="en-GB" b="1" dirty="0"/>
              <a:t>Predictions:</a:t>
            </a:r>
            <a:r>
              <a:rPr lang="en-GB" dirty="0"/>
              <a:t> </a:t>
            </a:r>
            <a:r>
              <a:rPr lang="en-IE" dirty="0"/>
              <a:t>Model-generated results.</a:t>
            </a:r>
            <a:endParaRPr lang="en-GB" dirty="0"/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C634F-AD7A-2830-5722-B1C9F5B80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604" y="2008506"/>
            <a:ext cx="50768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29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1EC58-BF20-0366-B55B-5B6A0E7E2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E" sz="4800"/>
              <a:t>Training an Image Classifier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98F00-0D95-68DC-F0E8-425E660E1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 lnSpcReduction="10000"/>
          </a:bodyPr>
          <a:lstStyle/>
          <a:p>
            <a:r>
              <a:rPr lang="en-GB" sz="2000" dirty="0"/>
              <a:t>Uses a </a:t>
            </a:r>
            <a:r>
              <a:rPr lang="en-GB" sz="2000" b="1" dirty="0"/>
              <a:t>pre-trained model</a:t>
            </a:r>
            <a:r>
              <a:rPr lang="en-GB" sz="2000" dirty="0"/>
              <a:t> to classify new images with </a:t>
            </a:r>
            <a:r>
              <a:rPr lang="en-GB" sz="2000" b="1" dirty="0"/>
              <a:t>fewer examples</a:t>
            </a:r>
            <a:r>
              <a:rPr lang="en-GB" sz="2000" dirty="0"/>
              <a:t>.</a:t>
            </a:r>
          </a:p>
          <a:p>
            <a:r>
              <a:rPr lang="en-GB" sz="2000" dirty="0"/>
              <a:t>Uses </a:t>
            </a:r>
            <a:r>
              <a:rPr lang="en-GB" sz="2000" b="1" dirty="0"/>
              <a:t>Transfer Learning</a:t>
            </a:r>
            <a:r>
              <a:rPr lang="en-GB" sz="2000" dirty="0"/>
              <a:t> is where you transfer the learning from an existing ML model to a new model based off new data</a:t>
            </a:r>
          </a:p>
          <a:p>
            <a:r>
              <a:rPr lang="en-GB" sz="2000" b="1" dirty="0"/>
              <a:t>Saves computation</a:t>
            </a:r>
            <a:r>
              <a:rPr lang="en-GB" sz="2000" dirty="0"/>
              <a:t> – models already recognise shapes &amp; textures.</a:t>
            </a:r>
          </a:p>
          <a:p>
            <a:r>
              <a:rPr lang="en-GB" sz="2000" b="1" dirty="0"/>
              <a:t>Requires fewer images</a:t>
            </a:r>
            <a:r>
              <a:rPr lang="en-GB" sz="2000" dirty="0"/>
              <a:t> – trains with 30+ images instead of millions.</a:t>
            </a:r>
          </a:p>
          <a:p>
            <a:r>
              <a:rPr lang="en-GB" sz="2000" b="1" dirty="0"/>
              <a:t>Example</a:t>
            </a:r>
            <a:r>
              <a:rPr lang="en-GB" sz="2000" dirty="0"/>
              <a:t>: Recognising a sailboat from basic shapes.</a:t>
            </a:r>
          </a:p>
          <a:p>
            <a:endParaRPr lang="en-IE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D799D5-2A00-2CA9-96BC-10CF6B337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227630"/>
            <a:ext cx="5150277" cy="222749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6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B8D1B-9072-2EA5-6100-853AAB84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IE" sz="4000"/>
              <a:t>Microsoft Custom Vision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8C3760-D9EF-1214-5A3B-DC2916FD7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119" y="918640"/>
            <a:ext cx="3824187" cy="45890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391D5-5E94-FF1A-060E-EE1EA4D86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GB" sz="1900"/>
              <a:t>A </a:t>
            </a:r>
            <a:r>
              <a:rPr lang="en-GB" sz="1900" b="1"/>
              <a:t>cloud-based AI tool </a:t>
            </a:r>
            <a:r>
              <a:rPr lang="en-GB" sz="1900"/>
              <a:t>for training image classifiers.</a:t>
            </a:r>
          </a:p>
          <a:p>
            <a:r>
              <a:rPr lang="en-GB" sz="1900"/>
              <a:t>Uses a small number of images to build accurate models.</a:t>
            </a:r>
          </a:p>
          <a:p>
            <a:r>
              <a:rPr lang="en-GB" sz="1900"/>
              <a:t>How it works: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Upload &amp; tag images (e.g., "ripe" or "unripe")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sz="1900"/>
              <a:t>Train the model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sz="1900"/>
              <a:t>Test &amp; refine the model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Deploy via API or SDK</a:t>
            </a:r>
            <a:endParaRPr lang="en-IE" sz="19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5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D334F-9514-2669-4B04-B26CF550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IE" sz="4000"/>
              <a:t>AI &amp; ML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F4443-52FD-37BA-3E3E-85590748E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IE" sz="2000"/>
              <a:t>MS Cognitive Services on Azure include:</a:t>
            </a:r>
          </a:p>
          <a:p>
            <a:pPr lvl="1"/>
            <a:r>
              <a:rPr lang="en-GB" sz="2000"/>
              <a:t>Custom Vision, speech recognition, and language tools</a:t>
            </a:r>
            <a:endParaRPr lang="en-IE" sz="2000"/>
          </a:p>
        </p:txBody>
      </p:sp>
      <p:pic>
        <p:nvPicPr>
          <p:cNvPr id="5" name="Picture 4" descr="Metal tic-tac-toe game pieces">
            <a:extLst>
              <a:ext uri="{FF2B5EF4-FFF2-40B4-BE49-F238E27FC236}">
                <a16:creationId xmlns:a16="http://schemas.microsoft.com/office/drawing/2014/main" id="{AAA8A203-57BE-BB86-4984-B06B4380C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10" r="27646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7242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Image Classification</vt:lpstr>
      <vt:lpstr>Example/Use Case: Food Production</vt:lpstr>
      <vt:lpstr>AI, ML, and IoT in Agri Tech</vt:lpstr>
      <vt:lpstr>Image Classification using Machine Learning</vt:lpstr>
      <vt:lpstr>Image Classification – Bananas!</vt:lpstr>
      <vt:lpstr>Training an Image Classifier</vt:lpstr>
      <vt:lpstr>Microsoft Custom Vision</vt:lpstr>
      <vt:lpstr>AI &amp; ML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Walsh</dc:creator>
  <cp:lastModifiedBy>Frank Walsh</cp:lastModifiedBy>
  <cp:revision>1</cp:revision>
  <dcterms:created xsi:type="dcterms:W3CDTF">2025-03-09T10:51:46Z</dcterms:created>
  <dcterms:modified xsi:type="dcterms:W3CDTF">2025-03-09T11:02:42Z</dcterms:modified>
</cp:coreProperties>
</file>