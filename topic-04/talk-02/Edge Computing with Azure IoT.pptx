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48" y="9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02655-22B8-11AC-3E25-7A55951EA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C112C1-FE27-B7CC-086E-58B821EFF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794E6-3BE0-3490-E40F-E94236D0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F356-1062-46E2-B0B1-8F3731ACDFD9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6C578-369D-6A65-8BA5-86A1070C5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E8CC4-D70D-AD14-D4D0-04572A4F1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B5D6-87E9-4E05-875F-6923D303BB8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24621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1ACAA-1115-DC40-6D02-6FD098146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99001-9745-B4D8-E67F-1C55C33F5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17F71-2096-64F3-CB44-4FDAFD0BD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F356-1062-46E2-B0B1-8F3731ACDFD9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BDCD5-FE2D-44D9-D8BC-A1315829E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EF3DA-17F2-4648-7BCF-70C3331AA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B5D6-87E9-4E05-875F-6923D303BB8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43591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6C9F9-8E16-D820-D98A-27919A384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29EDF-A8EC-33CC-EB0E-69B486C0E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E1CC7-BAA8-0D21-3949-F11557D32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F356-1062-46E2-B0B1-8F3731ACDFD9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DD4EB-1A6D-FFE0-8A3E-DDABC0EA2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0426-4939-B240-78A5-20A6AC4AE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B5D6-87E9-4E05-875F-6923D303BB8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43786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37E02-25B4-3957-C039-E40D6036C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9144D-959B-A420-44FD-0A05B6EE1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012BA1-2A74-71FB-EB22-7824E6C27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FBAE4-F0E4-A510-AEDB-7DFCBF7A7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F356-1062-46E2-B0B1-8F3731ACDFD9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645B4-0C35-1A6C-9047-4C3F38365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27021-D5FB-3B2A-3184-35EAD73E1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B5D6-87E9-4E05-875F-6923D303BB8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9985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24F75-0648-BD48-7E45-0552C6DD9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A7C58-79AB-EEF1-9A3F-2CCB36979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44F46E-232E-722C-C0C6-AA662A3A1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D55908-2976-393C-C644-0B3A3BBC34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DDE2D1-CCD6-52C7-37EE-6D2CAD83BC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B2F52D-B2A8-A3F3-0CF9-AE37FA74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F356-1062-46E2-B0B1-8F3731ACDFD9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402EFE-247F-A7D5-3EC6-66E8F0010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9BB709-921F-A273-7A6E-EDC505E2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B5D6-87E9-4E05-875F-6923D303BB8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54949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D2E6-7BAB-6805-61EB-C4B5C4C3A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2E648B-414E-3966-5241-CBBDB3885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F356-1062-46E2-B0B1-8F3731ACDFD9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088615-7214-A44F-549B-879CD1514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D21418-05CE-D621-0348-3ED4CC7DC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B5D6-87E9-4E05-875F-6923D303BB8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76429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096903-8BB1-7B78-5240-15DBF36C0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F356-1062-46E2-B0B1-8F3731ACDFD9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8B64AF-AFFD-C413-C355-723B43EE8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10E7B-DE1B-A796-99B9-40AA6F612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B5D6-87E9-4E05-875F-6923D303BB8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9039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A1DCD-03E8-F914-A791-7EF624DB9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49D3A-13DD-C1F0-673F-75369C3F3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028093-9ED4-CB9D-BBB7-4203BBDD7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66BCC-DA7C-498F-FBDB-0D5D1B9CE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F356-1062-46E2-B0B1-8F3731ACDFD9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46560-8724-2FE0-ACB3-E2647D0A8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BA9CB-258C-B9D3-DB57-4CF71DE66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B5D6-87E9-4E05-875F-6923D303BB8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87365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ADE3-0884-4C31-4C0B-3FA4C8CC1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83BA1C-FBDB-F58A-C8F7-AEF43464DD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D3F59-AF7C-1A8F-6F4F-0A7B6431E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8B086-9F8A-7756-BE5D-D6BE732E5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F356-1062-46E2-B0B1-8F3731ACDFD9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2EA71-5A53-933C-8EB4-3A6074749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2C8CCD-E86A-8CF0-38AB-B31DAFEF7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B5D6-87E9-4E05-875F-6923D303BB8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61154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7E64A-402B-060A-5C57-052A0128A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CB7464-A185-A9EE-657C-A3FFD35DB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D7BAD-B050-9AEF-EB86-CAC6645E4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F356-1062-46E2-B0B1-8F3731ACDFD9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7FE02-79D0-468B-FA3D-E1D61E95F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DF08C-E47C-A4A6-2AF0-FEFEAD361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B5D6-87E9-4E05-875F-6923D303BB8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08578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7F1014-AE61-69AB-CD07-B84B35E17E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258BA0-BE05-4A27-2FD5-737775727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7CFE3-1AAE-FD4B-1427-D6ACC388C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F356-1062-46E2-B0B1-8F3731ACDFD9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8E6ED-C929-603A-F7B2-B6FDBC39F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A11DB-6168-C7C2-BAFB-A15C9D222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DB5D6-87E9-4E05-875F-6923D303BB8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85035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9E1833-29AE-90D4-61C4-021ABA714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516B6-B653-FA6C-DA4A-4F25AA016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6768E-2307-CF1E-65BF-97DC479BD4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C0F356-1062-46E2-B0B1-8F3731ACDFD9}" type="datetimeFigureOut">
              <a:rPr lang="en-IE" smtClean="0"/>
              <a:t>09/03/2025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F6E53-F285-8100-C8FA-1EBA99687F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FE345-0B9D-95F1-A19A-9124F2A9FB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6DB5D6-87E9-4E05-875F-6923D303BB8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6708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dullhunk/7089960501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-electronics.org/a-wireless-monitoring-solution-for-solar-power-systems-in-remote-locations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enwaynation.com/2019/12/lowering-bloomnew-red-sox-honcho-begins.html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ctronics-lab.com/enabling-ai-edge-iwaves-corazon-ai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ctronics-lab.com/tag/aie900a-ao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280716&amp;picture=software-update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56232-32A5-F76C-3C36-D9718E6233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Edge Computing with Azure IoT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B07DA-0FDA-AFC4-DE67-1ECFBACEC7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41083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9C41C-2B82-053E-F4B5-E3DDC3446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E" sz="5000" dirty="0"/>
              <a:t>Our work to date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BCB3F-8C8E-4127-4B5D-3573EB34A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GB" sz="2200" b="1" dirty="0"/>
              <a:t>Current Model: </a:t>
            </a:r>
            <a:r>
              <a:rPr lang="en-GB" sz="2200" dirty="0"/>
              <a:t>Devices gather data and send it to the cloud for analysis.</a:t>
            </a:r>
          </a:p>
          <a:p>
            <a:r>
              <a:rPr lang="en-GB" sz="2200" b="1" dirty="0"/>
              <a:t>Uses: </a:t>
            </a:r>
            <a:r>
              <a:rPr lang="en-GB" sz="2200" dirty="0"/>
              <a:t>AI models, serverless functions.</a:t>
            </a:r>
          </a:p>
          <a:p>
            <a:r>
              <a:rPr lang="en-GB" sz="2200" b="1" dirty="0"/>
              <a:t>Limitations:</a:t>
            </a:r>
            <a:r>
              <a:rPr lang="en-GB" sz="2200" dirty="0"/>
              <a:t> Latency, internet dependency.</a:t>
            </a:r>
            <a:endParaRPr lang="en-IE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5A5CAD-391B-7753-9426-A4B34CB88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61" y="640080"/>
            <a:ext cx="4796941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573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CD516-4FC4-41DD-284E-DD877116F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E" sz="5400"/>
              <a:t>Edge Computing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3A109-159F-1770-70CF-BE566DC00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GB" sz="2200" dirty="0"/>
              <a:t>Edge computing processes IoT data as close as possible to where it is generated, reducing dependence on the cloud.</a:t>
            </a:r>
          </a:p>
          <a:p>
            <a:r>
              <a:rPr lang="en-GB" sz="2200" b="1" dirty="0"/>
              <a:t>Key Concept:</a:t>
            </a:r>
            <a:r>
              <a:rPr lang="en-GB" sz="2200" dirty="0"/>
              <a:t> Moves some cloud services to local networks. </a:t>
            </a:r>
            <a:r>
              <a:rPr lang="en-GB" sz="2200" b="1" dirty="0"/>
              <a:t>Example</a:t>
            </a:r>
            <a:r>
              <a:rPr lang="en-GB" sz="2200" dirty="0"/>
              <a:t>: Running AI models on edge devices (e.g., fruit ripeness analysis). IoT devices connecting to.</a:t>
            </a:r>
            <a:endParaRPr lang="en-IE" sz="2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0630D6-549B-347C-0903-01B2E723F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504" y="640080"/>
            <a:ext cx="5020056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018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94ADA-D3AE-FD80-C526-2592E73D6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Edge Computing -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9C728-768B-8025-F99D-5B03A0BEB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b="1" dirty="0"/>
              <a:t>Speed:</a:t>
            </a:r>
            <a:r>
              <a:rPr lang="en-IE" dirty="0"/>
              <a:t> Faster processing, reduced internet congestion.</a:t>
            </a:r>
          </a:p>
          <a:p>
            <a:r>
              <a:rPr lang="en-IE" b="1" dirty="0"/>
              <a:t>Remote Accessibility: </a:t>
            </a:r>
            <a:r>
              <a:rPr lang="en-IE" dirty="0"/>
              <a:t>Works in low/no connectivity areas.</a:t>
            </a:r>
          </a:p>
          <a:p>
            <a:r>
              <a:rPr lang="en-IE" b="1" dirty="0"/>
              <a:t>Lower Costs: </a:t>
            </a:r>
            <a:r>
              <a:rPr lang="en-IE" dirty="0"/>
              <a:t>Reduces cloud service usage.</a:t>
            </a:r>
          </a:p>
          <a:p>
            <a:r>
              <a:rPr lang="en-IE" b="1" dirty="0"/>
              <a:t>Privacy &amp; Security: </a:t>
            </a:r>
            <a:r>
              <a:rPr lang="en-IE" dirty="0"/>
              <a:t>Keeps sensitive data local.</a:t>
            </a:r>
          </a:p>
          <a:p>
            <a:r>
              <a:rPr lang="en-IE" b="1" dirty="0"/>
              <a:t>Handling Insecure Devices: </a:t>
            </a:r>
            <a:r>
              <a:rPr lang="en-IE" dirty="0"/>
              <a:t>Acts as a secure gateway.</a:t>
            </a:r>
          </a:p>
          <a:p>
            <a:r>
              <a:rPr lang="en-IE" b="1" dirty="0"/>
              <a:t>Supports Incompatible Devices: </a:t>
            </a:r>
            <a:r>
              <a:rPr lang="en-IE" dirty="0"/>
              <a:t>Works as an IoT Hub gateway.</a:t>
            </a:r>
          </a:p>
        </p:txBody>
      </p:sp>
    </p:spTree>
    <p:extLst>
      <p:ext uri="{BB962C8B-B14F-4D97-AF65-F5344CB8AC3E}">
        <p14:creationId xmlns:p14="http://schemas.microsoft.com/office/powerpoint/2010/main" val="3270228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4CF04D-E847-6F02-440D-6E73A40A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E" sz="4800"/>
              <a:t>Edge Computing - Speed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4A5B1-757C-BA47-6B7C-BF74B4093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GB" sz="2000"/>
              <a:t>Faster network speeds on internal networks.</a:t>
            </a:r>
          </a:p>
          <a:p>
            <a:r>
              <a:rPr lang="en-GB" sz="2000"/>
              <a:t>Reduces latency caused by long-distance cloud communication.</a:t>
            </a:r>
          </a:p>
          <a:p>
            <a:r>
              <a:rPr lang="en-GB" sz="2000" b="1"/>
              <a:t>Example: </a:t>
            </a:r>
            <a:r>
              <a:rPr lang="en-GB" sz="2000"/>
              <a:t>Optical cables allow fast travel but crossing the Atlantic adds delay (~28ms).</a:t>
            </a:r>
            <a:endParaRPr lang="en-IE" sz="2000"/>
          </a:p>
        </p:txBody>
      </p:sp>
      <p:pic>
        <p:nvPicPr>
          <p:cNvPr id="5" name="Picture 4" descr="A screen shot of a device&#10;&#10;AI-generated content may be incorrect.">
            <a:extLst>
              <a:ext uri="{FF2B5EF4-FFF2-40B4-BE49-F238E27FC236}">
                <a16:creationId xmlns:a16="http://schemas.microsoft.com/office/drawing/2014/main" id="{95258324-59E8-4E4E-E43A-7C0206135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911532" y="2905737"/>
            <a:ext cx="5150277" cy="287127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AF2CDB-20D6-BD38-1DBA-5C4D863151BD}"/>
              </a:ext>
            </a:extLst>
          </p:cNvPr>
          <p:cNvSpPr txBox="1"/>
          <p:nvPr/>
        </p:nvSpPr>
        <p:spPr>
          <a:xfrm>
            <a:off x="8764385" y="5576961"/>
            <a:ext cx="229742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www.flickr.com/photos/dullhunk/7089960501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888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34058-C53F-AC1E-37E3-31C33544C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E" sz="4800" dirty="0"/>
              <a:t>Edge Computing – Remote Locations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C427C-0F0E-790F-65E6-3230187F2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/>
              <a:t>Edge computing works in low-connectivity areas.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/>
              <a:t>Useful in humanitarian crises or developing regions.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Example:</a:t>
            </a:r>
            <a:r>
              <a:rPr lang="en-GB" sz="2000"/>
              <a:t> Local data processing in disaster zones.</a:t>
            </a:r>
          </a:p>
          <a:p>
            <a:endParaRPr lang="en-IE" sz="2000"/>
          </a:p>
        </p:txBody>
      </p:sp>
      <p:pic>
        <p:nvPicPr>
          <p:cNvPr id="5" name="Picture 4" descr="A solar panel on a stand&#10;&#10;AI-generated content may be incorrect.">
            <a:extLst>
              <a:ext uri="{FF2B5EF4-FFF2-40B4-BE49-F238E27FC236}">
                <a16:creationId xmlns:a16="http://schemas.microsoft.com/office/drawing/2014/main" id="{43707E16-F72F-3187-7331-AA050693A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997231" y="2484255"/>
            <a:ext cx="4978879" cy="371424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AEE34E-2480-2709-ADD6-83B513BB278A}"/>
              </a:ext>
            </a:extLst>
          </p:cNvPr>
          <p:cNvSpPr txBox="1"/>
          <p:nvPr/>
        </p:nvSpPr>
        <p:spPr>
          <a:xfrm>
            <a:off x="8386940" y="5998444"/>
            <a:ext cx="258917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www.open-electronics.org/a-wireless-monitoring-solution-for-solar-power-systems-in-remote-location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229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510ED3-A3F1-8256-B372-C1E328FF6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E" sz="4800"/>
              <a:t>Edge Computing - Costs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927BE-A1AA-B2FB-8839-81875E95B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E" sz="2000" b="1"/>
              <a:t>Reduces cloud processing and storage expenses.</a:t>
            </a:r>
            <a:endParaRPr lang="en-IE" sz="2000"/>
          </a:p>
          <a:p>
            <a:pPr>
              <a:buFont typeface="Arial" panose="020B0604020202020204" pitchFamily="34" charset="0"/>
              <a:buChar char="•"/>
            </a:pPr>
            <a:r>
              <a:rPr lang="en-IE" sz="2000" b="1"/>
              <a:t>Affordable AI accelerators (e.g., Jetson Nano).</a:t>
            </a:r>
            <a:endParaRPr lang="en-IE" sz="2000"/>
          </a:p>
          <a:p>
            <a:pPr>
              <a:buFont typeface="Arial" panose="020B0604020202020204" pitchFamily="34" charset="0"/>
              <a:buChar char="•"/>
            </a:pPr>
            <a:r>
              <a:rPr lang="en-IE" sz="2000" b="1"/>
              <a:t>Example:</a:t>
            </a:r>
            <a:r>
              <a:rPr lang="en-IE" sz="2000"/>
              <a:t> AI workloads running on inexpensive local devices.</a:t>
            </a:r>
          </a:p>
          <a:p>
            <a:endParaRPr lang="en-IE" sz="2000"/>
          </a:p>
        </p:txBody>
      </p:sp>
      <p:pic>
        <p:nvPicPr>
          <p:cNvPr id="5" name="Picture 4" descr="A pair of scissors cutting a cost&#10;&#10;AI-generated content may be incorrect.">
            <a:extLst>
              <a:ext uri="{FF2B5EF4-FFF2-40B4-BE49-F238E27FC236}">
                <a16:creationId xmlns:a16="http://schemas.microsoft.com/office/drawing/2014/main" id="{F2E80D1F-8C68-8EC7-ECFF-E421B778F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911532" y="2867110"/>
            <a:ext cx="5150277" cy="29485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5C00DD-785E-E17F-715E-2F779613567E}"/>
              </a:ext>
            </a:extLst>
          </p:cNvPr>
          <p:cNvSpPr txBox="1"/>
          <p:nvPr/>
        </p:nvSpPr>
        <p:spPr>
          <a:xfrm>
            <a:off x="8472639" y="5615588"/>
            <a:ext cx="258917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://www.fenwaynation.com/2019/12/lowering-bloomnew-red-sox-honcho-begins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435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17C04C-7ED4-468A-6563-75FF6310D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E" sz="5000"/>
              <a:t>Edge Computing: Privacy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C35AD-0447-5DAA-E89B-4B6BC0AAF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200" b="1" dirty="0"/>
              <a:t>Sensitive data remains on local networks.</a:t>
            </a:r>
            <a:endParaRPr lang="en-GB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200" b="1" dirty="0"/>
              <a:t>Prevents data leaks by reducing cloud storage.</a:t>
            </a:r>
            <a:endParaRPr lang="en-GB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200" b="1" dirty="0"/>
              <a:t>Example:</a:t>
            </a:r>
            <a:r>
              <a:rPr lang="en-GB" sz="2200" dirty="0"/>
              <a:t> Medical data, security footage(</a:t>
            </a:r>
            <a:r>
              <a:rPr lang="en-GB" sz="2200" dirty="0" err="1"/>
              <a:t>iWave</a:t>
            </a:r>
            <a:r>
              <a:rPr lang="en-GB" sz="2200" dirty="0"/>
              <a:t> Corazon).</a:t>
            </a:r>
          </a:p>
        </p:txBody>
      </p:sp>
      <p:pic>
        <p:nvPicPr>
          <p:cNvPr id="7" name="Picture 6" descr="A diagram of a wireless router&#10;&#10;AI-generated content may be incorrect.">
            <a:extLst>
              <a:ext uri="{FF2B5EF4-FFF2-40B4-BE49-F238E27FC236}">
                <a16:creationId xmlns:a16="http://schemas.microsoft.com/office/drawing/2014/main" id="{8099DD31-6981-488B-27B4-FAC0BCE2D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9048" y="1654835"/>
            <a:ext cx="5458968" cy="35483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2A8A4C-D1B1-A395-FB20-BD5B5D65818D}"/>
              </a:ext>
            </a:extLst>
          </p:cNvPr>
          <p:cNvSpPr txBox="1"/>
          <p:nvPr/>
        </p:nvSpPr>
        <p:spPr>
          <a:xfrm>
            <a:off x="9125940" y="5003109"/>
            <a:ext cx="243207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www.electronics-lab.com/enabling-ai-edge-iwaves-corazon-ai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331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60B9B-1081-1BB1-11F8-59800AA06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E" sz="3000"/>
              <a:t>Edge – Insecure/incompatible devices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0C490-5094-EF91-59E9-A2C4D1C90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200" b="1" dirty="0"/>
              <a:t>Can Act as a secure gateway for vulnerable/dodgy devices</a:t>
            </a:r>
            <a:endParaRPr lang="en-GB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200" b="1" dirty="0"/>
              <a:t>Connects devices with limited connectivity options (e.g., Bluetooth-only).</a:t>
            </a:r>
            <a:endParaRPr lang="en-GB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200" b="1" dirty="0"/>
              <a:t>Example:</a:t>
            </a:r>
            <a:r>
              <a:rPr lang="en-GB" sz="2200" dirty="0"/>
              <a:t> IoT Edge acting as an intermediary.</a:t>
            </a:r>
          </a:p>
          <a:p>
            <a:endParaRPr lang="en-IE" sz="2200" dirty="0"/>
          </a:p>
        </p:txBody>
      </p:sp>
      <p:pic>
        <p:nvPicPr>
          <p:cNvPr id="5" name="Picture 4" descr="A rectangular electronic device with many ports&#10;&#10;AI-generated content may be incorrect.">
            <a:extLst>
              <a:ext uri="{FF2B5EF4-FFF2-40B4-BE49-F238E27FC236}">
                <a16:creationId xmlns:a16="http://schemas.microsoft.com/office/drawing/2014/main" id="{C26F816A-3FB0-76A3-CCEA-D6508512C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9048" y="1989197"/>
            <a:ext cx="5458968" cy="28796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0F3B65-DCEF-C8A7-A6D5-4432463642FD}"/>
              </a:ext>
            </a:extLst>
          </p:cNvPr>
          <p:cNvSpPr txBox="1"/>
          <p:nvPr/>
        </p:nvSpPr>
        <p:spPr>
          <a:xfrm>
            <a:off x="9125940" y="4668747"/>
            <a:ext cx="243207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www.electronics-lab.com/tag/aie900a-ao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82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942232-83D0-49E2-AF9B-1F97E3C1E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E70D72-6E23-4015-A4A6-85C120C1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6757D9-68F2-B1A3-A2EE-A63E237C9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163848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IE" sz="3600">
                <a:solidFill>
                  <a:schemeClr val="tx2"/>
                </a:solidFill>
              </a:rPr>
              <a:t>Edge Computing - Challenges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28A977F-B603-4D81-B0FC-C8DE048A7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28" name="Freeform: Shape 14">
              <a:extLst>
                <a:ext uri="{FF2B5EF4-FFF2-40B4-BE49-F238E27FC236}">
                  <a16:creationId xmlns:a16="http://schemas.microsoft.com/office/drawing/2014/main" id="{0183CE8C-E039-4B2F-A36E-5FD5CD5D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15">
              <a:extLst>
                <a:ext uri="{FF2B5EF4-FFF2-40B4-BE49-F238E27FC236}">
                  <a16:creationId xmlns:a16="http://schemas.microsoft.com/office/drawing/2014/main" id="{3EB77281-FAB4-40D0-B3F3-264EC4AB2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16">
              <a:extLst>
                <a:ext uri="{FF2B5EF4-FFF2-40B4-BE49-F238E27FC236}">
                  <a16:creationId xmlns:a16="http://schemas.microsoft.com/office/drawing/2014/main" id="{815E59F3-75FC-494F-8737-5F00A4964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Freeform: Shape 17">
              <a:extLst>
                <a:ext uri="{FF2B5EF4-FFF2-40B4-BE49-F238E27FC236}">
                  <a16:creationId xmlns:a16="http://schemas.microsoft.com/office/drawing/2014/main" id="{43ADDCFA-B066-4D79-AB71-062E66E58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computer with progress bar and progress bar&#10;&#10;AI-generated content may be incorrect.">
            <a:extLst>
              <a:ext uri="{FF2B5EF4-FFF2-40B4-BE49-F238E27FC236}">
                <a16:creationId xmlns:a16="http://schemas.microsoft.com/office/drawing/2014/main" id="{5622E0DB-C237-FC5C-F320-C17CB1A0B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04671" y="3207705"/>
            <a:ext cx="4954693" cy="247734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9B431-71C0-04AE-2D14-8C67A36E9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871" y="2827419"/>
            <a:ext cx="5029200" cy="3227626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800" b="1">
                <a:solidFill>
                  <a:schemeClr val="tx2"/>
                </a:solidFill>
              </a:rPr>
              <a:t>Scaling &amp; Flexibility:</a:t>
            </a:r>
            <a:r>
              <a:rPr lang="en-GB" sz="1800">
                <a:solidFill>
                  <a:schemeClr val="tx2"/>
                </a:solidFill>
              </a:rPr>
              <a:t> Manual setup required for more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>
                <a:solidFill>
                  <a:schemeClr val="tx2"/>
                </a:solidFill>
              </a:rPr>
              <a:t>Reliability:</a:t>
            </a:r>
            <a:r>
              <a:rPr lang="en-GB" sz="1800">
                <a:solidFill>
                  <a:schemeClr val="tx2"/>
                </a:solidFill>
              </a:rPr>
              <a:t> Cloud has redundancy; edge requires local investment.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>
                <a:solidFill>
                  <a:schemeClr val="tx2"/>
                </a:solidFill>
              </a:rPr>
              <a:t>Maintenance:</a:t>
            </a:r>
            <a:r>
              <a:rPr lang="en-GB" sz="1800">
                <a:solidFill>
                  <a:schemeClr val="tx2"/>
                </a:solidFill>
              </a:rPr>
              <a:t> Cloud providers handle updates, edge devices can require manual maintenance(can be mitigated with “over-the-air” depoys.)</a:t>
            </a:r>
          </a:p>
          <a:p>
            <a:endParaRPr lang="en-IE" sz="1800">
              <a:solidFill>
                <a:schemeClr val="tx2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78D9229-E61D-4FEE-8321-2F8B64A8C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33" name="Freeform: Shape 20">
              <a:extLst>
                <a:ext uri="{FF2B5EF4-FFF2-40B4-BE49-F238E27FC236}">
                  <a16:creationId xmlns:a16="http://schemas.microsoft.com/office/drawing/2014/main" id="{1FDD3CCB-26A3-4D79-AEB6-7A60CF980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21">
              <a:extLst>
                <a:ext uri="{FF2B5EF4-FFF2-40B4-BE49-F238E27FC236}">
                  <a16:creationId xmlns:a16="http://schemas.microsoft.com/office/drawing/2014/main" id="{E9AC4470-5113-4709-B29F-CDB937F254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22">
              <a:extLst>
                <a:ext uri="{FF2B5EF4-FFF2-40B4-BE49-F238E27FC236}">
                  <a16:creationId xmlns:a16="http://schemas.microsoft.com/office/drawing/2014/main" id="{3E0D146C-9DAB-421E-AE88-5F854BF3F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Freeform: Shape 23">
              <a:extLst>
                <a:ext uri="{FF2B5EF4-FFF2-40B4-BE49-F238E27FC236}">
                  <a16:creationId xmlns:a16="http://schemas.microsoft.com/office/drawing/2014/main" id="{12EB32A5-4408-4F6C-84B2-F9A908237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03803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3FEE66-EDA3-77DD-5A66-9B2EA1D06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IE" sz="4000"/>
              <a:t> Azure IoT Edge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FB43E1-2F28-B418-3C9E-4BF8C8DA6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30" y="1081262"/>
            <a:ext cx="3876165" cy="426378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89BB5-7E99-4022-107B-F2C1129F7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Service for managing edge workloads.</a:t>
            </a:r>
            <a:endParaRPr lang="en-GB" sz="200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Deploy and manage from the cloud.</a:t>
            </a:r>
            <a:endParaRPr lang="en-GB" sz="200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/>
              <a:t>Example:</a:t>
            </a:r>
            <a:r>
              <a:rPr lang="en-GB" sz="2000"/>
              <a:t> Train an AI model in the cloud, deploy it to an edge device</a:t>
            </a:r>
          </a:p>
          <a:p>
            <a:endParaRPr lang="en-IE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502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DABEE-B063-FFC2-8812-B529240A2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How IoT Edge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BAA9D-06A9-DE87-0426-5BC00EF5D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Uses Modules:</a:t>
            </a:r>
            <a:r>
              <a:rPr lang="en-GB" dirty="0"/>
              <a:t> Software components deployed to edge devices.</a:t>
            </a:r>
          </a:p>
          <a:p>
            <a:r>
              <a:rPr lang="en-GB" b="1" dirty="0"/>
              <a:t>Built-in Modules:</a:t>
            </a:r>
            <a:r>
              <a:rPr lang="en-GB" dirty="0"/>
              <a:t> </a:t>
            </a:r>
            <a:r>
              <a:rPr lang="en-GB" dirty="0" err="1"/>
              <a:t>edgeAgent</a:t>
            </a:r>
            <a:r>
              <a:rPr lang="en-GB" dirty="0"/>
              <a:t>, </a:t>
            </a:r>
            <a:r>
              <a:rPr lang="en-GB" dirty="0" err="1"/>
              <a:t>edgeHub</a:t>
            </a:r>
            <a:r>
              <a:rPr lang="en-GB" dirty="0"/>
              <a:t> for IoT Hub communication.</a:t>
            </a:r>
          </a:p>
          <a:p>
            <a:r>
              <a:rPr lang="en-GB" b="1" dirty="0"/>
              <a:t>Example:</a:t>
            </a:r>
            <a:r>
              <a:rPr lang="en-GB" dirty="0"/>
              <a:t> Deploy an image classifier to an edge device.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381527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D21070-60E7-0AEA-0B74-DB137AE02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E" sz="5000"/>
              <a:t> Containers in IoT Edge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598F4-1CFE-B1CA-F6B5-7A27F58E2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200" b="1"/>
              <a:t>Runs workloads in isolated containers.</a:t>
            </a:r>
            <a:endParaRPr lang="en-GB" sz="2200"/>
          </a:p>
          <a:p>
            <a:pPr>
              <a:buFont typeface="Arial" panose="020B0604020202020204" pitchFamily="34" charset="0"/>
              <a:buChar char="•"/>
            </a:pPr>
            <a:r>
              <a:rPr lang="en-GB" sz="2200" b="1"/>
              <a:t>Containers work like virtual machines but lighter.</a:t>
            </a:r>
            <a:endParaRPr lang="en-GB" sz="2200"/>
          </a:p>
          <a:p>
            <a:pPr>
              <a:buFont typeface="Arial" panose="020B0604020202020204" pitchFamily="34" charset="0"/>
              <a:buChar char="•"/>
            </a:pPr>
            <a:r>
              <a:rPr lang="en-GB" sz="2200" b="1"/>
              <a:t>Example:</a:t>
            </a:r>
            <a:r>
              <a:rPr lang="en-GB" sz="2200"/>
              <a:t> AI model deployed in a container.</a:t>
            </a:r>
          </a:p>
          <a:p>
            <a:endParaRPr lang="en-IE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C3F1EE-4993-F85A-A0DB-325A7C3FA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357677"/>
            <a:ext cx="5458968" cy="21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283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061AEF-67B9-2F09-3D3A-2DDCAADA7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894" y="131197"/>
            <a:ext cx="10071520" cy="1481328"/>
          </a:xfrm>
        </p:spPr>
        <p:txBody>
          <a:bodyPr anchor="b">
            <a:normAutofit/>
          </a:bodyPr>
          <a:lstStyle/>
          <a:p>
            <a:r>
              <a:rPr lang="en-IE" sz="5000"/>
              <a:t>Lab Example- Custom Vision</a:t>
            </a:r>
            <a:endParaRPr lang="en-IE" sz="5000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2EE24-33B7-B89C-71CE-3B7A98666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200" b="1"/>
              <a:t>Deploy image classifiers as containers.</a:t>
            </a:r>
            <a:endParaRPr lang="en-GB" sz="2200"/>
          </a:p>
          <a:p>
            <a:pPr>
              <a:buFont typeface="Arial" panose="020B0604020202020204" pitchFamily="34" charset="0"/>
              <a:buChar char="•"/>
            </a:pPr>
            <a:r>
              <a:rPr lang="en-GB" sz="2200" b="1"/>
              <a:t>Access local models using REST API.</a:t>
            </a:r>
            <a:endParaRPr lang="en-GB" sz="2200"/>
          </a:p>
          <a:p>
            <a:pPr>
              <a:buFont typeface="Arial" panose="020B0604020202020204" pitchFamily="34" charset="0"/>
              <a:buChar char="•"/>
            </a:pPr>
            <a:r>
              <a:rPr lang="en-GB" sz="2200" b="1"/>
              <a:t>Example:</a:t>
            </a:r>
            <a:r>
              <a:rPr lang="en-GB" sz="2200"/>
              <a:t> Custom Vision model running on an edge device instead of cloud.</a:t>
            </a:r>
          </a:p>
          <a:p>
            <a:endParaRPr lang="en-IE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D79E3B-8D1E-AC0D-5259-A7232360C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959" y="1618219"/>
            <a:ext cx="4317310" cy="459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578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91986-04E1-2258-5B9D-217B9372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IE" sz="3200"/>
              <a:t>Lab Example – Building Edge Container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2B2D7-51CB-B4CE-78E3-4B7B9D14A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E" sz="1700" dirty="0"/>
              <a:t>Downloaded your classifier model</a:t>
            </a:r>
          </a:p>
          <a:p>
            <a:pPr marL="342900" indent="-342900">
              <a:buFont typeface="+mj-lt"/>
              <a:buAutoNum type="arabicPeriod"/>
            </a:pPr>
            <a:r>
              <a:rPr lang="en-IE" sz="1700" dirty="0"/>
              <a:t>Build into a container</a:t>
            </a:r>
          </a:p>
          <a:p>
            <a:pPr marL="342900" indent="-342900">
              <a:buFont typeface="+mj-lt"/>
              <a:buAutoNum type="arabicPeriod"/>
            </a:pPr>
            <a:r>
              <a:rPr lang="en-IE" sz="1700" dirty="0"/>
              <a:t>P</a:t>
            </a:r>
            <a:r>
              <a:rPr lang="en-GB" sz="1700" dirty="0"/>
              <a:t>ush to a container registry on Azure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700" dirty="0"/>
              <a:t>IoT Edge downloads the container from the registry and push it to the device</a:t>
            </a:r>
          </a:p>
          <a:p>
            <a:pPr marL="0" indent="0">
              <a:buNone/>
            </a:pPr>
            <a:r>
              <a:rPr lang="en-GB" sz="1700" dirty="0"/>
              <a:t>The container registry you will use for this lesson is Azure Container Registry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FC56FA-5E88-451E-9CB6-35ACD46E4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933824"/>
            <a:ext cx="6389346" cy="499966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872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</Words>
  <Application>Microsoft Office PowerPoint</Application>
  <PresentationFormat>Widescreen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Edge Computing with Azure IoT</vt:lpstr>
      <vt:lpstr>Our work to date</vt:lpstr>
      <vt:lpstr>Edge Computing</vt:lpstr>
      <vt:lpstr>Edge Computing - Benefits</vt:lpstr>
      <vt:lpstr>Edge Computing - Speed</vt:lpstr>
      <vt:lpstr>Edge Computing – Remote Locations</vt:lpstr>
      <vt:lpstr>Edge Computing - Costs</vt:lpstr>
      <vt:lpstr>Edge Computing: Privacy</vt:lpstr>
      <vt:lpstr>Edge – Insecure/incompatible devices</vt:lpstr>
      <vt:lpstr>Edge Computing - Challenges</vt:lpstr>
      <vt:lpstr> Azure IoT Edge Overview</vt:lpstr>
      <vt:lpstr>How IoT Edge Works</vt:lpstr>
      <vt:lpstr> Containers in IoT Edge</vt:lpstr>
      <vt:lpstr>Lab Example- Custom Vision</vt:lpstr>
      <vt:lpstr>Lab Example – Building Edge Container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Walsh</dc:creator>
  <cp:lastModifiedBy>Frank Walsh</cp:lastModifiedBy>
  <cp:revision>2</cp:revision>
  <dcterms:created xsi:type="dcterms:W3CDTF">2025-03-09T16:43:38Z</dcterms:created>
  <dcterms:modified xsi:type="dcterms:W3CDTF">2025-03-09T19:57:41Z</dcterms:modified>
</cp:coreProperties>
</file>