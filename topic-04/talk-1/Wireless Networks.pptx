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2"/>
  </p:notesMasterIdLst>
  <p:sldIdLst>
    <p:sldId id="256" r:id="rId2"/>
    <p:sldId id="259" r:id="rId3"/>
    <p:sldId id="334" r:id="rId4"/>
    <p:sldId id="319" r:id="rId5"/>
    <p:sldId id="318" r:id="rId6"/>
    <p:sldId id="260" r:id="rId7"/>
    <p:sldId id="332" r:id="rId8"/>
    <p:sldId id="262" r:id="rId9"/>
    <p:sldId id="357" r:id="rId10"/>
    <p:sldId id="281" r:id="rId11"/>
    <p:sldId id="348" r:id="rId12"/>
    <p:sldId id="261" r:id="rId13"/>
    <p:sldId id="263" r:id="rId14"/>
    <p:sldId id="295" r:id="rId15"/>
    <p:sldId id="286" r:id="rId16"/>
    <p:sldId id="285" r:id="rId17"/>
    <p:sldId id="280" r:id="rId18"/>
    <p:sldId id="296" r:id="rId19"/>
    <p:sldId id="289" r:id="rId20"/>
    <p:sldId id="290" r:id="rId21"/>
    <p:sldId id="298" r:id="rId22"/>
    <p:sldId id="301" r:id="rId23"/>
    <p:sldId id="299" r:id="rId24"/>
    <p:sldId id="325" r:id="rId25"/>
    <p:sldId id="278" r:id="rId26"/>
    <p:sldId id="277" r:id="rId27"/>
    <p:sldId id="273" r:id="rId28"/>
    <p:sldId id="272" r:id="rId29"/>
    <p:sldId id="265" r:id="rId30"/>
    <p:sldId id="264" r:id="rId31"/>
    <p:sldId id="358" r:id="rId32"/>
    <p:sldId id="268" r:id="rId33"/>
    <p:sldId id="270" r:id="rId34"/>
    <p:sldId id="326" r:id="rId35"/>
    <p:sldId id="327" r:id="rId36"/>
    <p:sldId id="328" r:id="rId37"/>
    <p:sldId id="329" r:id="rId38"/>
    <p:sldId id="331" r:id="rId39"/>
    <p:sldId id="330" r:id="rId40"/>
    <p:sldId id="320"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350" autoAdjust="0"/>
  </p:normalViewPr>
  <p:slideViewPr>
    <p:cSldViewPr snapToGrid="0">
      <p:cViewPr>
        <p:scale>
          <a:sx n="85" d="100"/>
          <a:sy n="85" d="100"/>
        </p:scale>
        <p:origin x="82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385B887-FB00-4722-A41F-30E131598D5C}" type="doc">
      <dgm:prSet loTypeId="urn:microsoft.com/office/officeart/2008/layout/LinedList" loCatId="list" qsTypeId="urn:microsoft.com/office/officeart/2005/8/quickstyle/simple4" qsCatId="simple" csTypeId="urn:microsoft.com/office/officeart/2005/8/colors/accent3_2" csCatId="accent3"/>
      <dgm:spPr/>
      <dgm:t>
        <a:bodyPr/>
        <a:lstStyle/>
        <a:p>
          <a:endParaRPr lang="en-US"/>
        </a:p>
      </dgm:t>
    </dgm:pt>
    <dgm:pt modelId="{1E0D510B-5A53-4620-A65E-59767E91F6C4}">
      <dgm:prSet/>
      <dgm:spPr/>
      <dgm:t>
        <a:bodyPr/>
        <a:lstStyle/>
        <a:p>
          <a:r>
            <a:rPr lang="en-US" b="1" dirty="0"/>
            <a:t>Peripheral and Central Devices ​</a:t>
          </a:r>
          <a:endParaRPr lang="en-US" dirty="0"/>
        </a:p>
      </dgm:t>
    </dgm:pt>
    <dgm:pt modelId="{DE57F2B1-A02B-42B3-8F6B-B9F7F162424E}" type="parTrans" cxnId="{092DED42-D52D-4693-B43B-4DED0E4A7748}">
      <dgm:prSet/>
      <dgm:spPr/>
      <dgm:t>
        <a:bodyPr/>
        <a:lstStyle/>
        <a:p>
          <a:endParaRPr lang="en-US"/>
        </a:p>
      </dgm:t>
    </dgm:pt>
    <dgm:pt modelId="{7AD8009A-B277-4F07-BB45-47CCD30393DB}" type="sibTrans" cxnId="{092DED42-D52D-4693-B43B-4DED0E4A7748}">
      <dgm:prSet/>
      <dgm:spPr/>
      <dgm:t>
        <a:bodyPr/>
        <a:lstStyle/>
        <a:p>
          <a:endParaRPr lang="en-US"/>
        </a:p>
      </dgm:t>
    </dgm:pt>
    <dgm:pt modelId="{0CAFEC1A-7A19-440B-BD47-C3826F89923C}">
      <dgm:prSet/>
      <dgm:spPr/>
      <dgm:t>
        <a:bodyPr/>
        <a:lstStyle/>
        <a:p>
          <a:r>
            <a:rPr lang="en-US" b="1" dirty="0"/>
            <a:t>Master/central : </a:t>
          </a:r>
          <a:r>
            <a:rPr lang="en-US" dirty="0"/>
            <a:t>will typically have more computing resources and available energy - a computer or a tablet, for example.​</a:t>
          </a:r>
        </a:p>
      </dgm:t>
    </dgm:pt>
    <dgm:pt modelId="{4C7C5DBB-4DCD-4F75-9E5B-D488AB714572}" type="parTrans" cxnId="{CBC7A6F0-23FE-4A7B-85CF-70ED931BCF07}">
      <dgm:prSet/>
      <dgm:spPr/>
      <dgm:t>
        <a:bodyPr/>
        <a:lstStyle/>
        <a:p>
          <a:endParaRPr lang="en-US"/>
        </a:p>
      </dgm:t>
    </dgm:pt>
    <dgm:pt modelId="{EEB05C2E-CEAA-4A52-93A2-F896B226EC74}" type="sibTrans" cxnId="{CBC7A6F0-23FE-4A7B-85CF-70ED931BCF07}">
      <dgm:prSet/>
      <dgm:spPr/>
      <dgm:t>
        <a:bodyPr/>
        <a:lstStyle/>
        <a:p>
          <a:endParaRPr lang="en-US"/>
        </a:p>
      </dgm:t>
    </dgm:pt>
    <dgm:pt modelId="{83FACB17-1FA6-4AD4-BD3F-BC886E76B081}">
      <dgm:prSet/>
      <dgm:spPr/>
      <dgm:t>
        <a:bodyPr/>
        <a:lstStyle/>
        <a:p>
          <a:r>
            <a:rPr lang="en-US" b="1" dirty="0"/>
            <a:t>Slave/peripheral </a:t>
          </a:r>
          <a:r>
            <a:rPr lang="en-US" dirty="0"/>
            <a:t>: an embedded device - will be constrained in both computing resources and energy.​</a:t>
          </a:r>
        </a:p>
      </dgm:t>
    </dgm:pt>
    <dgm:pt modelId="{6277A0D4-FFA3-42F2-B583-2AD3A81A7A1D}" type="parTrans" cxnId="{C0A172F2-C6D5-4923-9127-88328D34EA04}">
      <dgm:prSet/>
      <dgm:spPr/>
      <dgm:t>
        <a:bodyPr/>
        <a:lstStyle/>
        <a:p>
          <a:endParaRPr lang="en-US"/>
        </a:p>
      </dgm:t>
    </dgm:pt>
    <dgm:pt modelId="{6040B836-6A6E-4429-B537-441A3FBF0616}" type="sibTrans" cxnId="{C0A172F2-C6D5-4923-9127-88328D34EA04}">
      <dgm:prSet/>
      <dgm:spPr/>
      <dgm:t>
        <a:bodyPr/>
        <a:lstStyle/>
        <a:p>
          <a:endParaRPr lang="en-US"/>
        </a:p>
      </dgm:t>
    </dgm:pt>
    <dgm:pt modelId="{DF6FCBCC-CB8F-40AC-BFF2-4254EA409434}">
      <dgm:prSet/>
      <dgm:spPr/>
      <dgm:t>
        <a:bodyPr/>
        <a:lstStyle/>
        <a:p>
          <a:r>
            <a:rPr lang="en-US" b="1" dirty="0"/>
            <a:t>Servers and Clients​</a:t>
          </a:r>
          <a:endParaRPr lang="en-US" dirty="0"/>
        </a:p>
      </dgm:t>
    </dgm:pt>
    <dgm:pt modelId="{0125C6EE-78E9-4A5C-9DEA-E5217699127F}" type="parTrans" cxnId="{31324DE6-B442-4AB3-90B5-5671EB5AA227}">
      <dgm:prSet/>
      <dgm:spPr/>
      <dgm:t>
        <a:bodyPr/>
        <a:lstStyle/>
        <a:p>
          <a:endParaRPr lang="en-US"/>
        </a:p>
      </dgm:t>
    </dgm:pt>
    <dgm:pt modelId="{00300FEB-ED76-4201-9455-D7EC2696B2F2}" type="sibTrans" cxnId="{31324DE6-B442-4AB3-90B5-5671EB5AA227}">
      <dgm:prSet/>
      <dgm:spPr/>
      <dgm:t>
        <a:bodyPr/>
        <a:lstStyle/>
        <a:p>
          <a:endParaRPr lang="en-US"/>
        </a:p>
      </dgm:t>
    </dgm:pt>
    <dgm:pt modelId="{AB39FD00-38AF-4501-8335-ECE5B95E2385}">
      <dgm:prSet/>
      <dgm:spPr/>
      <dgm:t>
        <a:bodyPr/>
        <a:lstStyle/>
        <a:p>
          <a:r>
            <a:rPr lang="en-US" b="1" dirty="0"/>
            <a:t>Server : </a:t>
          </a:r>
          <a:r>
            <a:rPr lang="en-US" dirty="0"/>
            <a:t>the device that has information it wishes to share, and in BLE that is typically the peripheral (the embedded device).​</a:t>
          </a:r>
        </a:p>
      </dgm:t>
    </dgm:pt>
    <dgm:pt modelId="{6A4BE211-D26E-4BAC-B018-6AECAB1A79FF}" type="parTrans" cxnId="{4948FAC7-80D2-477B-B05C-2C9963EBD51F}">
      <dgm:prSet/>
      <dgm:spPr/>
      <dgm:t>
        <a:bodyPr/>
        <a:lstStyle/>
        <a:p>
          <a:endParaRPr lang="en-US"/>
        </a:p>
      </dgm:t>
    </dgm:pt>
    <dgm:pt modelId="{605E040B-FC86-45DA-9913-8A10764E7498}" type="sibTrans" cxnId="{4948FAC7-80D2-477B-B05C-2C9963EBD51F}">
      <dgm:prSet/>
      <dgm:spPr/>
      <dgm:t>
        <a:bodyPr/>
        <a:lstStyle/>
        <a:p>
          <a:endParaRPr lang="en-US"/>
        </a:p>
      </dgm:t>
    </dgm:pt>
    <dgm:pt modelId="{0A4E7F01-1652-4C50-A055-107345EA2190}">
      <dgm:prSet/>
      <dgm:spPr/>
      <dgm:t>
        <a:bodyPr/>
        <a:lstStyle/>
        <a:p>
          <a:r>
            <a:rPr lang="en-US" b="1" dirty="0"/>
            <a:t>Client :</a:t>
          </a:r>
          <a:r>
            <a:rPr lang="en-US" dirty="0"/>
            <a:t> the device that wants information and services, and in BLE that is typically the central device - the phone​</a:t>
          </a:r>
        </a:p>
      </dgm:t>
    </dgm:pt>
    <dgm:pt modelId="{BE97F4E1-1271-46A6-9C58-3869C84B34A0}" type="parTrans" cxnId="{A0CEA715-D989-4033-9B81-C41AC12BD087}">
      <dgm:prSet/>
      <dgm:spPr/>
      <dgm:t>
        <a:bodyPr/>
        <a:lstStyle/>
        <a:p>
          <a:endParaRPr lang="en-US"/>
        </a:p>
      </dgm:t>
    </dgm:pt>
    <dgm:pt modelId="{8909A727-65AB-4809-B02C-A0CC7C029FE9}" type="sibTrans" cxnId="{A0CEA715-D989-4033-9B81-C41AC12BD087}">
      <dgm:prSet/>
      <dgm:spPr/>
      <dgm:t>
        <a:bodyPr/>
        <a:lstStyle/>
        <a:p>
          <a:endParaRPr lang="en-US"/>
        </a:p>
      </dgm:t>
    </dgm:pt>
    <dgm:pt modelId="{6B69F401-BEB0-4B82-85AB-F8D8A22AA81D}" type="pres">
      <dgm:prSet presAssocID="{B385B887-FB00-4722-A41F-30E131598D5C}" presName="vert0" presStyleCnt="0">
        <dgm:presLayoutVars>
          <dgm:dir/>
          <dgm:animOne val="branch"/>
          <dgm:animLvl val="lvl"/>
        </dgm:presLayoutVars>
      </dgm:prSet>
      <dgm:spPr/>
    </dgm:pt>
    <dgm:pt modelId="{D325B91A-6FDB-41FC-872F-8CE8AB646C0B}" type="pres">
      <dgm:prSet presAssocID="{1E0D510B-5A53-4620-A65E-59767E91F6C4}" presName="thickLine" presStyleLbl="alignNode1" presStyleIdx="0" presStyleCnt="2"/>
      <dgm:spPr/>
    </dgm:pt>
    <dgm:pt modelId="{0D5132EF-1F7E-498F-8975-7189033D3C6B}" type="pres">
      <dgm:prSet presAssocID="{1E0D510B-5A53-4620-A65E-59767E91F6C4}" presName="horz1" presStyleCnt="0"/>
      <dgm:spPr/>
    </dgm:pt>
    <dgm:pt modelId="{75238A0C-F758-4859-B414-A4EEFDD6247F}" type="pres">
      <dgm:prSet presAssocID="{1E0D510B-5A53-4620-A65E-59767E91F6C4}" presName="tx1" presStyleLbl="revTx" presStyleIdx="0" presStyleCnt="6"/>
      <dgm:spPr/>
    </dgm:pt>
    <dgm:pt modelId="{0F83E7C6-2E40-4D8C-A424-739B0C6EC94E}" type="pres">
      <dgm:prSet presAssocID="{1E0D510B-5A53-4620-A65E-59767E91F6C4}" presName="vert1" presStyleCnt="0"/>
      <dgm:spPr/>
    </dgm:pt>
    <dgm:pt modelId="{6B993BA9-E941-489B-AE52-FA12B4353E5B}" type="pres">
      <dgm:prSet presAssocID="{0CAFEC1A-7A19-440B-BD47-C3826F89923C}" presName="vertSpace2a" presStyleCnt="0"/>
      <dgm:spPr/>
    </dgm:pt>
    <dgm:pt modelId="{4EC4C9DD-90B1-4FD9-8544-301B2828D52F}" type="pres">
      <dgm:prSet presAssocID="{0CAFEC1A-7A19-440B-BD47-C3826F89923C}" presName="horz2" presStyleCnt="0"/>
      <dgm:spPr/>
    </dgm:pt>
    <dgm:pt modelId="{9B4BDD2A-0E54-48F9-B874-C599DE63262B}" type="pres">
      <dgm:prSet presAssocID="{0CAFEC1A-7A19-440B-BD47-C3826F89923C}" presName="horzSpace2" presStyleCnt="0"/>
      <dgm:spPr/>
    </dgm:pt>
    <dgm:pt modelId="{5BAFCCD6-BC0C-4CD3-88B5-3B9D94AFF5F0}" type="pres">
      <dgm:prSet presAssocID="{0CAFEC1A-7A19-440B-BD47-C3826F89923C}" presName="tx2" presStyleLbl="revTx" presStyleIdx="1" presStyleCnt="6"/>
      <dgm:spPr/>
    </dgm:pt>
    <dgm:pt modelId="{F0F0C194-624C-4936-8F8D-9735E0866D7F}" type="pres">
      <dgm:prSet presAssocID="{0CAFEC1A-7A19-440B-BD47-C3826F89923C}" presName="vert2" presStyleCnt="0"/>
      <dgm:spPr/>
    </dgm:pt>
    <dgm:pt modelId="{CADA0FEB-B5A5-4C02-95BB-B5C9751590C5}" type="pres">
      <dgm:prSet presAssocID="{0CAFEC1A-7A19-440B-BD47-C3826F89923C}" presName="thinLine2b" presStyleLbl="callout" presStyleIdx="0" presStyleCnt="4"/>
      <dgm:spPr/>
    </dgm:pt>
    <dgm:pt modelId="{7CFFC4CC-24E8-4B26-85BC-4F6C08DE6CA2}" type="pres">
      <dgm:prSet presAssocID="{0CAFEC1A-7A19-440B-BD47-C3826F89923C}" presName="vertSpace2b" presStyleCnt="0"/>
      <dgm:spPr/>
    </dgm:pt>
    <dgm:pt modelId="{6865A335-587C-46E3-A29B-95C8C23B3266}" type="pres">
      <dgm:prSet presAssocID="{83FACB17-1FA6-4AD4-BD3F-BC886E76B081}" presName="horz2" presStyleCnt="0"/>
      <dgm:spPr/>
    </dgm:pt>
    <dgm:pt modelId="{188D5A77-EEAE-4265-9470-9A5C5D2AE889}" type="pres">
      <dgm:prSet presAssocID="{83FACB17-1FA6-4AD4-BD3F-BC886E76B081}" presName="horzSpace2" presStyleCnt="0"/>
      <dgm:spPr/>
    </dgm:pt>
    <dgm:pt modelId="{A664EBB8-5F35-4C10-9E6D-ECD0C2272871}" type="pres">
      <dgm:prSet presAssocID="{83FACB17-1FA6-4AD4-BD3F-BC886E76B081}" presName="tx2" presStyleLbl="revTx" presStyleIdx="2" presStyleCnt="6"/>
      <dgm:spPr/>
    </dgm:pt>
    <dgm:pt modelId="{38765C26-3553-4230-BE85-F7B930E0B1A1}" type="pres">
      <dgm:prSet presAssocID="{83FACB17-1FA6-4AD4-BD3F-BC886E76B081}" presName="vert2" presStyleCnt="0"/>
      <dgm:spPr/>
    </dgm:pt>
    <dgm:pt modelId="{36734E74-AA4E-4A91-9CC7-2E5397790F50}" type="pres">
      <dgm:prSet presAssocID="{83FACB17-1FA6-4AD4-BD3F-BC886E76B081}" presName="thinLine2b" presStyleLbl="callout" presStyleIdx="1" presStyleCnt="4"/>
      <dgm:spPr/>
    </dgm:pt>
    <dgm:pt modelId="{5EEFBC55-76EB-4505-8E85-8CCDA14B0926}" type="pres">
      <dgm:prSet presAssocID="{83FACB17-1FA6-4AD4-BD3F-BC886E76B081}" presName="vertSpace2b" presStyleCnt="0"/>
      <dgm:spPr/>
    </dgm:pt>
    <dgm:pt modelId="{2217AD49-E864-4CBF-B3A5-C7329B511CBB}" type="pres">
      <dgm:prSet presAssocID="{DF6FCBCC-CB8F-40AC-BFF2-4254EA409434}" presName="thickLine" presStyleLbl="alignNode1" presStyleIdx="1" presStyleCnt="2"/>
      <dgm:spPr/>
    </dgm:pt>
    <dgm:pt modelId="{84614A60-1C5F-4A4B-BAB9-11EFD9C9007C}" type="pres">
      <dgm:prSet presAssocID="{DF6FCBCC-CB8F-40AC-BFF2-4254EA409434}" presName="horz1" presStyleCnt="0"/>
      <dgm:spPr/>
    </dgm:pt>
    <dgm:pt modelId="{E77952AC-4482-4091-A527-5931CDA684B3}" type="pres">
      <dgm:prSet presAssocID="{DF6FCBCC-CB8F-40AC-BFF2-4254EA409434}" presName="tx1" presStyleLbl="revTx" presStyleIdx="3" presStyleCnt="6"/>
      <dgm:spPr/>
    </dgm:pt>
    <dgm:pt modelId="{49A52326-8FB0-47FD-B270-982F831E52A9}" type="pres">
      <dgm:prSet presAssocID="{DF6FCBCC-CB8F-40AC-BFF2-4254EA409434}" presName="vert1" presStyleCnt="0"/>
      <dgm:spPr/>
    </dgm:pt>
    <dgm:pt modelId="{33802DD5-6CC8-4F16-A3B7-917000353DB3}" type="pres">
      <dgm:prSet presAssocID="{AB39FD00-38AF-4501-8335-ECE5B95E2385}" presName="vertSpace2a" presStyleCnt="0"/>
      <dgm:spPr/>
    </dgm:pt>
    <dgm:pt modelId="{AD4BC653-E82D-4DAA-A95A-3795123ED74D}" type="pres">
      <dgm:prSet presAssocID="{AB39FD00-38AF-4501-8335-ECE5B95E2385}" presName="horz2" presStyleCnt="0"/>
      <dgm:spPr/>
    </dgm:pt>
    <dgm:pt modelId="{B4F41459-DEDA-40CB-BD70-CD37CF340E70}" type="pres">
      <dgm:prSet presAssocID="{AB39FD00-38AF-4501-8335-ECE5B95E2385}" presName="horzSpace2" presStyleCnt="0"/>
      <dgm:spPr/>
    </dgm:pt>
    <dgm:pt modelId="{B7F83B20-8005-4698-B793-9E8E1342706A}" type="pres">
      <dgm:prSet presAssocID="{AB39FD00-38AF-4501-8335-ECE5B95E2385}" presName="tx2" presStyleLbl="revTx" presStyleIdx="4" presStyleCnt="6"/>
      <dgm:spPr/>
    </dgm:pt>
    <dgm:pt modelId="{2CE5B3C0-1C7D-4DBC-AA8B-7EC0E1968735}" type="pres">
      <dgm:prSet presAssocID="{AB39FD00-38AF-4501-8335-ECE5B95E2385}" presName="vert2" presStyleCnt="0"/>
      <dgm:spPr/>
    </dgm:pt>
    <dgm:pt modelId="{EBBA86DE-498C-4765-9638-66D6180CEBD9}" type="pres">
      <dgm:prSet presAssocID="{AB39FD00-38AF-4501-8335-ECE5B95E2385}" presName="thinLine2b" presStyleLbl="callout" presStyleIdx="2" presStyleCnt="4"/>
      <dgm:spPr/>
    </dgm:pt>
    <dgm:pt modelId="{241A2C1F-62DD-4959-B25F-6708EF1FD75C}" type="pres">
      <dgm:prSet presAssocID="{AB39FD00-38AF-4501-8335-ECE5B95E2385}" presName="vertSpace2b" presStyleCnt="0"/>
      <dgm:spPr/>
    </dgm:pt>
    <dgm:pt modelId="{AFD3E1F2-0C4E-412C-A2EA-1AE493FA4D6E}" type="pres">
      <dgm:prSet presAssocID="{0A4E7F01-1652-4C50-A055-107345EA2190}" presName="horz2" presStyleCnt="0"/>
      <dgm:spPr/>
    </dgm:pt>
    <dgm:pt modelId="{3AB46E2D-7F25-48FE-92F9-98B6FCE69FEB}" type="pres">
      <dgm:prSet presAssocID="{0A4E7F01-1652-4C50-A055-107345EA2190}" presName="horzSpace2" presStyleCnt="0"/>
      <dgm:spPr/>
    </dgm:pt>
    <dgm:pt modelId="{A428EC3C-1461-42B2-9E12-26BC85C72FE9}" type="pres">
      <dgm:prSet presAssocID="{0A4E7F01-1652-4C50-A055-107345EA2190}" presName="tx2" presStyleLbl="revTx" presStyleIdx="5" presStyleCnt="6"/>
      <dgm:spPr/>
    </dgm:pt>
    <dgm:pt modelId="{2DBD3D10-DCDE-4DA8-859C-4ABF1A956BCE}" type="pres">
      <dgm:prSet presAssocID="{0A4E7F01-1652-4C50-A055-107345EA2190}" presName="vert2" presStyleCnt="0"/>
      <dgm:spPr/>
    </dgm:pt>
    <dgm:pt modelId="{2E9D30C5-5ADA-4CB7-8F4D-9ECA2AE1B9B8}" type="pres">
      <dgm:prSet presAssocID="{0A4E7F01-1652-4C50-A055-107345EA2190}" presName="thinLine2b" presStyleLbl="callout" presStyleIdx="3" presStyleCnt="4"/>
      <dgm:spPr/>
    </dgm:pt>
    <dgm:pt modelId="{D3CDD7B9-804C-4673-9E28-C7177A25FCD7}" type="pres">
      <dgm:prSet presAssocID="{0A4E7F01-1652-4C50-A055-107345EA2190}" presName="vertSpace2b" presStyleCnt="0"/>
      <dgm:spPr/>
    </dgm:pt>
  </dgm:ptLst>
  <dgm:cxnLst>
    <dgm:cxn modelId="{28568D06-5353-4CF6-9E89-8C9666CE2155}" type="presOf" srcId="{0CAFEC1A-7A19-440B-BD47-C3826F89923C}" destId="{5BAFCCD6-BC0C-4CD3-88B5-3B9D94AFF5F0}" srcOrd="0" destOrd="0" presId="urn:microsoft.com/office/officeart/2008/layout/LinedList"/>
    <dgm:cxn modelId="{A0CEA715-D989-4033-9B81-C41AC12BD087}" srcId="{DF6FCBCC-CB8F-40AC-BFF2-4254EA409434}" destId="{0A4E7F01-1652-4C50-A055-107345EA2190}" srcOrd="1" destOrd="0" parTransId="{BE97F4E1-1271-46A6-9C58-3869C84B34A0}" sibTransId="{8909A727-65AB-4809-B02C-A0CC7C029FE9}"/>
    <dgm:cxn modelId="{E1C42022-FF65-4799-AC19-C88DE91F676B}" type="presOf" srcId="{DF6FCBCC-CB8F-40AC-BFF2-4254EA409434}" destId="{E77952AC-4482-4091-A527-5931CDA684B3}" srcOrd="0" destOrd="0" presId="urn:microsoft.com/office/officeart/2008/layout/LinedList"/>
    <dgm:cxn modelId="{3073D022-5236-4D3E-B76F-19D5FB622E50}" type="presOf" srcId="{83FACB17-1FA6-4AD4-BD3F-BC886E76B081}" destId="{A664EBB8-5F35-4C10-9E6D-ECD0C2272871}" srcOrd="0" destOrd="0" presId="urn:microsoft.com/office/officeart/2008/layout/LinedList"/>
    <dgm:cxn modelId="{092DED42-D52D-4693-B43B-4DED0E4A7748}" srcId="{B385B887-FB00-4722-A41F-30E131598D5C}" destId="{1E0D510B-5A53-4620-A65E-59767E91F6C4}" srcOrd="0" destOrd="0" parTransId="{DE57F2B1-A02B-42B3-8F6B-B9F7F162424E}" sibTransId="{7AD8009A-B277-4F07-BB45-47CCD30393DB}"/>
    <dgm:cxn modelId="{2A0DAB6F-BCC7-477A-9DE8-72E921925ABA}" type="presOf" srcId="{AB39FD00-38AF-4501-8335-ECE5B95E2385}" destId="{B7F83B20-8005-4698-B793-9E8E1342706A}" srcOrd="0" destOrd="0" presId="urn:microsoft.com/office/officeart/2008/layout/LinedList"/>
    <dgm:cxn modelId="{CEEC7551-1980-4464-BAFB-AE0C6D2E81B9}" type="presOf" srcId="{0A4E7F01-1652-4C50-A055-107345EA2190}" destId="{A428EC3C-1461-42B2-9E12-26BC85C72FE9}" srcOrd="0" destOrd="0" presId="urn:microsoft.com/office/officeart/2008/layout/LinedList"/>
    <dgm:cxn modelId="{87F3398C-9788-42B9-BAB8-190EE20F98AB}" type="presOf" srcId="{B385B887-FB00-4722-A41F-30E131598D5C}" destId="{6B69F401-BEB0-4B82-85AB-F8D8A22AA81D}" srcOrd="0" destOrd="0" presId="urn:microsoft.com/office/officeart/2008/layout/LinedList"/>
    <dgm:cxn modelId="{4948FAC7-80D2-477B-B05C-2C9963EBD51F}" srcId="{DF6FCBCC-CB8F-40AC-BFF2-4254EA409434}" destId="{AB39FD00-38AF-4501-8335-ECE5B95E2385}" srcOrd="0" destOrd="0" parTransId="{6A4BE211-D26E-4BAC-B018-6AECAB1A79FF}" sibTransId="{605E040B-FC86-45DA-9913-8A10764E7498}"/>
    <dgm:cxn modelId="{31324DE6-B442-4AB3-90B5-5671EB5AA227}" srcId="{B385B887-FB00-4722-A41F-30E131598D5C}" destId="{DF6FCBCC-CB8F-40AC-BFF2-4254EA409434}" srcOrd="1" destOrd="0" parTransId="{0125C6EE-78E9-4A5C-9DEA-E5217699127F}" sibTransId="{00300FEB-ED76-4201-9455-D7EC2696B2F2}"/>
    <dgm:cxn modelId="{EA0A9BEF-DB01-4B78-8DC7-550E6D87E91B}" type="presOf" srcId="{1E0D510B-5A53-4620-A65E-59767E91F6C4}" destId="{75238A0C-F758-4859-B414-A4EEFDD6247F}" srcOrd="0" destOrd="0" presId="urn:microsoft.com/office/officeart/2008/layout/LinedList"/>
    <dgm:cxn modelId="{CBC7A6F0-23FE-4A7B-85CF-70ED931BCF07}" srcId="{1E0D510B-5A53-4620-A65E-59767E91F6C4}" destId="{0CAFEC1A-7A19-440B-BD47-C3826F89923C}" srcOrd="0" destOrd="0" parTransId="{4C7C5DBB-4DCD-4F75-9E5B-D488AB714572}" sibTransId="{EEB05C2E-CEAA-4A52-93A2-F896B226EC74}"/>
    <dgm:cxn modelId="{C0A172F2-C6D5-4923-9127-88328D34EA04}" srcId="{1E0D510B-5A53-4620-A65E-59767E91F6C4}" destId="{83FACB17-1FA6-4AD4-BD3F-BC886E76B081}" srcOrd="1" destOrd="0" parTransId="{6277A0D4-FFA3-42F2-B583-2AD3A81A7A1D}" sibTransId="{6040B836-6A6E-4429-B537-441A3FBF0616}"/>
    <dgm:cxn modelId="{AD376C50-2885-489B-8B54-EAF74B6CBED6}" type="presParOf" srcId="{6B69F401-BEB0-4B82-85AB-F8D8A22AA81D}" destId="{D325B91A-6FDB-41FC-872F-8CE8AB646C0B}" srcOrd="0" destOrd="0" presId="urn:microsoft.com/office/officeart/2008/layout/LinedList"/>
    <dgm:cxn modelId="{DDB655AF-31CC-4A7F-9641-B0EEF12B3DC8}" type="presParOf" srcId="{6B69F401-BEB0-4B82-85AB-F8D8A22AA81D}" destId="{0D5132EF-1F7E-498F-8975-7189033D3C6B}" srcOrd="1" destOrd="0" presId="urn:microsoft.com/office/officeart/2008/layout/LinedList"/>
    <dgm:cxn modelId="{4A095F80-ACC3-4C66-91EC-6849B8C2A490}" type="presParOf" srcId="{0D5132EF-1F7E-498F-8975-7189033D3C6B}" destId="{75238A0C-F758-4859-B414-A4EEFDD6247F}" srcOrd="0" destOrd="0" presId="urn:microsoft.com/office/officeart/2008/layout/LinedList"/>
    <dgm:cxn modelId="{75BABD98-D234-42F3-B8F8-A122CFFA81BA}" type="presParOf" srcId="{0D5132EF-1F7E-498F-8975-7189033D3C6B}" destId="{0F83E7C6-2E40-4D8C-A424-739B0C6EC94E}" srcOrd="1" destOrd="0" presId="urn:microsoft.com/office/officeart/2008/layout/LinedList"/>
    <dgm:cxn modelId="{1307A3EF-63A7-46B2-8BC3-B42205D1BCF2}" type="presParOf" srcId="{0F83E7C6-2E40-4D8C-A424-739B0C6EC94E}" destId="{6B993BA9-E941-489B-AE52-FA12B4353E5B}" srcOrd="0" destOrd="0" presId="urn:microsoft.com/office/officeart/2008/layout/LinedList"/>
    <dgm:cxn modelId="{E19C0DC5-5ECB-477F-A5D6-1CA07C87563C}" type="presParOf" srcId="{0F83E7C6-2E40-4D8C-A424-739B0C6EC94E}" destId="{4EC4C9DD-90B1-4FD9-8544-301B2828D52F}" srcOrd="1" destOrd="0" presId="urn:microsoft.com/office/officeart/2008/layout/LinedList"/>
    <dgm:cxn modelId="{A9C2E627-341D-4420-9974-458C74B428ED}" type="presParOf" srcId="{4EC4C9DD-90B1-4FD9-8544-301B2828D52F}" destId="{9B4BDD2A-0E54-48F9-B874-C599DE63262B}" srcOrd="0" destOrd="0" presId="urn:microsoft.com/office/officeart/2008/layout/LinedList"/>
    <dgm:cxn modelId="{6131251F-3E1A-4D90-8550-6EFB030F06FE}" type="presParOf" srcId="{4EC4C9DD-90B1-4FD9-8544-301B2828D52F}" destId="{5BAFCCD6-BC0C-4CD3-88B5-3B9D94AFF5F0}" srcOrd="1" destOrd="0" presId="urn:microsoft.com/office/officeart/2008/layout/LinedList"/>
    <dgm:cxn modelId="{467A21F9-053C-46D2-A719-B4456C6C2959}" type="presParOf" srcId="{4EC4C9DD-90B1-4FD9-8544-301B2828D52F}" destId="{F0F0C194-624C-4936-8F8D-9735E0866D7F}" srcOrd="2" destOrd="0" presId="urn:microsoft.com/office/officeart/2008/layout/LinedList"/>
    <dgm:cxn modelId="{75298E81-B7A7-4D14-B5AB-E75524489105}" type="presParOf" srcId="{0F83E7C6-2E40-4D8C-A424-739B0C6EC94E}" destId="{CADA0FEB-B5A5-4C02-95BB-B5C9751590C5}" srcOrd="2" destOrd="0" presId="urn:microsoft.com/office/officeart/2008/layout/LinedList"/>
    <dgm:cxn modelId="{4F9C9D53-C9EF-4B17-8E4E-529A8CCCD652}" type="presParOf" srcId="{0F83E7C6-2E40-4D8C-A424-739B0C6EC94E}" destId="{7CFFC4CC-24E8-4B26-85BC-4F6C08DE6CA2}" srcOrd="3" destOrd="0" presId="urn:microsoft.com/office/officeart/2008/layout/LinedList"/>
    <dgm:cxn modelId="{D33F3339-7EA9-4229-8347-CC023E445AB7}" type="presParOf" srcId="{0F83E7C6-2E40-4D8C-A424-739B0C6EC94E}" destId="{6865A335-587C-46E3-A29B-95C8C23B3266}" srcOrd="4" destOrd="0" presId="urn:microsoft.com/office/officeart/2008/layout/LinedList"/>
    <dgm:cxn modelId="{9BF5D47C-7C09-407F-B212-61B8EAEBA07F}" type="presParOf" srcId="{6865A335-587C-46E3-A29B-95C8C23B3266}" destId="{188D5A77-EEAE-4265-9470-9A5C5D2AE889}" srcOrd="0" destOrd="0" presId="urn:microsoft.com/office/officeart/2008/layout/LinedList"/>
    <dgm:cxn modelId="{FC0E7178-E90B-46E1-BA78-1E275BD0BB82}" type="presParOf" srcId="{6865A335-587C-46E3-A29B-95C8C23B3266}" destId="{A664EBB8-5F35-4C10-9E6D-ECD0C2272871}" srcOrd="1" destOrd="0" presId="urn:microsoft.com/office/officeart/2008/layout/LinedList"/>
    <dgm:cxn modelId="{2885B75D-FBA6-4A3C-8C64-541DA303DF93}" type="presParOf" srcId="{6865A335-587C-46E3-A29B-95C8C23B3266}" destId="{38765C26-3553-4230-BE85-F7B930E0B1A1}" srcOrd="2" destOrd="0" presId="urn:microsoft.com/office/officeart/2008/layout/LinedList"/>
    <dgm:cxn modelId="{F77F3630-088E-4453-9BEC-316D6C47C45E}" type="presParOf" srcId="{0F83E7C6-2E40-4D8C-A424-739B0C6EC94E}" destId="{36734E74-AA4E-4A91-9CC7-2E5397790F50}" srcOrd="5" destOrd="0" presId="urn:microsoft.com/office/officeart/2008/layout/LinedList"/>
    <dgm:cxn modelId="{124F8D0F-B5E4-46B6-A638-03406A452EDA}" type="presParOf" srcId="{0F83E7C6-2E40-4D8C-A424-739B0C6EC94E}" destId="{5EEFBC55-76EB-4505-8E85-8CCDA14B0926}" srcOrd="6" destOrd="0" presId="urn:microsoft.com/office/officeart/2008/layout/LinedList"/>
    <dgm:cxn modelId="{3419D45F-932E-458F-887F-647F9DD5F393}" type="presParOf" srcId="{6B69F401-BEB0-4B82-85AB-F8D8A22AA81D}" destId="{2217AD49-E864-4CBF-B3A5-C7329B511CBB}" srcOrd="2" destOrd="0" presId="urn:microsoft.com/office/officeart/2008/layout/LinedList"/>
    <dgm:cxn modelId="{1B3A43FC-3CB5-462B-AD8D-79D503277FE7}" type="presParOf" srcId="{6B69F401-BEB0-4B82-85AB-F8D8A22AA81D}" destId="{84614A60-1C5F-4A4B-BAB9-11EFD9C9007C}" srcOrd="3" destOrd="0" presId="urn:microsoft.com/office/officeart/2008/layout/LinedList"/>
    <dgm:cxn modelId="{7AB0DB66-71ED-4CAF-B08B-7BF5F8935AAC}" type="presParOf" srcId="{84614A60-1C5F-4A4B-BAB9-11EFD9C9007C}" destId="{E77952AC-4482-4091-A527-5931CDA684B3}" srcOrd="0" destOrd="0" presId="urn:microsoft.com/office/officeart/2008/layout/LinedList"/>
    <dgm:cxn modelId="{1B35FC8A-4046-43A5-95A5-6F88E382D986}" type="presParOf" srcId="{84614A60-1C5F-4A4B-BAB9-11EFD9C9007C}" destId="{49A52326-8FB0-47FD-B270-982F831E52A9}" srcOrd="1" destOrd="0" presId="urn:microsoft.com/office/officeart/2008/layout/LinedList"/>
    <dgm:cxn modelId="{85D1D9F4-839B-43CF-9F99-F6AC1657C147}" type="presParOf" srcId="{49A52326-8FB0-47FD-B270-982F831E52A9}" destId="{33802DD5-6CC8-4F16-A3B7-917000353DB3}" srcOrd="0" destOrd="0" presId="urn:microsoft.com/office/officeart/2008/layout/LinedList"/>
    <dgm:cxn modelId="{5A3D20E3-13BB-4CFE-A663-ABF9747CA221}" type="presParOf" srcId="{49A52326-8FB0-47FD-B270-982F831E52A9}" destId="{AD4BC653-E82D-4DAA-A95A-3795123ED74D}" srcOrd="1" destOrd="0" presId="urn:microsoft.com/office/officeart/2008/layout/LinedList"/>
    <dgm:cxn modelId="{2DF99BD7-E4F7-4A25-ADAC-EA4F20A55F1A}" type="presParOf" srcId="{AD4BC653-E82D-4DAA-A95A-3795123ED74D}" destId="{B4F41459-DEDA-40CB-BD70-CD37CF340E70}" srcOrd="0" destOrd="0" presId="urn:microsoft.com/office/officeart/2008/layout/LinedList"/>
    <dgm:cxn modelId="{F38A88CC-ED6B-4005-B82A-21FD60A2EEF8}" type="presParOf" srcId="{AD4BC653-E82D-4DAA-A95A-3795123ED74D}" destId="{B7F83B20-8005-4698-B793-9E8E1342706A}" srcOrd="1" destOrd="0" presId="urn:microsoft.com/office/officeart/2008/layout/LinedList"/>
    <dgm:cxn modelId="{7A40E4C6-7E5E-4848-8F20-AD18CD95A511}" type="presParOf" srcId="{AD4BC653-E82D-4DAA-A95A-3795123ED74D}" destId="{2CE5B3C0-1C7D-4DBC-AA8B-7EC0E1968735}" srcOrd="2" destOrd="0" presId="urn:microsoft.com/office/officeart/2008/layout/LinedList"/>
    <dgm:cxn modelId="{2EF3E67F-2E1B-418F-8071-239B7A613A33}" type="presParOf" srcId="{49A52326-8FB0-47FD-B270-982F831E52A9}" destId="{EBBA86DE-498C-4765-9638-66D6180CEBD9}" srcOrd="2" destOrd="0" presId="urn:microsoft.com/office/officeart/2008/layout/LinedList"/>
    <dgm:cxn modelId="{C49F701E-A6EA-4A5D-ADB4-6BA03FCDBBA3}" type="presParOf" srcId="{49A52326-8FB0-47FD-B270-982F831E52A9}" destId="{241A2C1F-62DD-4959-B25F-6708EF1FD75C}" srcOrd="3" destOrd="0" presId="urn:microsoft.com/office/officeart/2008/layout/LinedList"/>
    <dgm:cxn modelId="{1B32C458-DD8F-4A8D-9205-9F72E6B9EDE2}" type="presParOf" srcId="{49A52326-8FB0-47FD-B270-982F831E52A9}" destId="{AFD3E1F2-0C4E-412C-A2EA-1AE493FA4D6E}" srcOrd="4" destOrd="0" presId="urn:microsoft.com/office/officeart/2008/layout/LinedList"/>
    <dgm:cxn modelId="{69186519-E8BE-4D91-978D-054CF45AFD06}" type="presParOf" srcId="{AFD3E1F2-0C4E-412C-A2EA-1AE493FA4D6E}" destId="{3AB46E2D-7F25-48FE-92F9-98B6FCE69FEB}" srcOrd="0" destOrd="0" presId="urn:microsoft.com/office/officeart/2008/layout/LinedList"/>
    <dgm:cxn modelId="{B02D7FA4-4162-48B8-9340-1C9C3E1E6CC6}" type="presParOf" srcId="{AFD3E1F2-0C4E-412C-A2EA-1AE493FA4D6E}" destId="{A428EC3C-1461-42B2-9E12-26BC85C72FE9}" srcOrd="1" destOrd="0" presId="urn:microsoft.com/office/officeart/2008/layout/LinedList"/>
    <dgm:cxn modelId="{BA08F410-745D-403D-AC7F-6A400A8FDF8A}" type="presParOf" srcId="{AFD3E1F2-0C4E-412C-A2EA-1AE493FA4D6E}" destId="{2DBD3D10-DCDE-4DA8-859C-4ABF1A956BCE}" srcOrd="2" destOrd="0" presId="urn:microsoft.com/office/officeart/2008/layout/LinedList"/>
    <dgm:cxn modelId="{79200E25-7224-467A-86E4-B6F5DDDD5899}" type="presParOf" srcId="{49A52326-8FB0-47FD-B270-982F831E52A9}" destId="{2E9D30C5-5ADA-4CB7-8F4D-9ECA2AE1B9B8}" srcOrd="5" destOrd="0" presId="urn:microsoft.com/office/officeart/2008/layout/LinedList"/>
    <dgm:cxn modelId="{25487818-7339-47DD-9295-F4EEBC5A4355}" type="presParOf" srcId="{49A52326-8FB0-47FD-B270-982F831E52A9}" destId="{D3CDD7B9-804C-4673-9E28-C7177A25FCD7}" srcOrd="6"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25B91A-6FDB-41FC-872F-8CE8AB646C0B}">
      <dsp:nvSpPr>
        <dsp:cNvPr id="0" name=""/>
        <dsp:cNvSpPr/>
      </dsp:nvSpPr>
      <dsp:spPr>
        <a:xfrm>
          <a:off x="0" y="0"/>
          <a:ext cx="4977578"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75238A0C-F758-4859-B414-A4EEFDD6247F}">
      <dsp:nvSpPr>
        <dsp:cNvPr id="0" name=""/>
        <dsp:cNvSpPr/>
      </dsp:nvSpPr>
      <dsp:spPr>
        <a:xfrm>
          <a:off x="0" y="0"/>
          <a:ext cx="995515" cy="18196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Peripheral and Central Devices ​</a:t>
          </a:r>
          <a:endParaRPr lang="en-US" sz="1600" kern="1200" dirty="0"/>
        </a:p>
      </dsp:txBody>
      <dsp:txXfrm>
        <a:off x="0" y="0"/>
        <a:ext cx="995515" cy="1819644"/>
      </dsp:txXfrm>
    </dsp:sp>
    <dsp:sp modelId="{5BAFCCD6-BC0C-4CD3-88B5-3B9D94AFF5F0}">
      <dsp:nvSpPr>
        <dsp:cNvPr id="0" name=""/>
        <dsp:cNvSpPr/>
      </dsp:nvSpPr>
      <dsp:spPr>
        <a:xfrm>
          <a:off x="1070179" y="42292"/>
          <a:ext cx="3907398" cy="8458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dirty="0"/>
            <a:t>Master/central : </a:t>
          </a:r>
          <a:r>
            <a:rPr lang="en-US" sz="1700" kern="1200" dirty="0"/>
            <a:t>will typically have more computing resources and available energy - a computer or a tablet, for example.​</a:t>
          </a:r>
        </a:p>
      </dsp:txBody>
      <dsp:txXfrm>
        <a:off x="1070179" y="42292"/>
        <a:ext cx="3907398" cy="845850"/>
      </dsp:txXfrm>
    </dsp:sp>
    <dsp:sp modelId="{CADA0FEB-B5A5-4C02-95BB-B5C9751590C5}">
      <dsp:nvSpPr>
        <dsp:cNvPr id="0" name=""/>
        <dsp:cNvSpPr/>
      </dsp:nvSpPr>
      <dsp:spPr>
        <a:xfrm>
          <a:off x="995515" y="888142"/>
          <a:ext cx="3982062" cy="0"/>
        </a:xfrm>
        <a:prstGeom prst="line">
          <a:avLst/>
        </a:prstGeom>
        <a:solidFill>
          <a:schemeClr val="accent3">
            <a:hueOff val="0"/>
            <a:satOff val="0"/>
            <a:lumOff val="0"/>
            <a:alphaOff val="0"/>
          </a:schemeClr>
        </a:solidFill>
        <a:ln w="12700" cap="flat" cmpd="sng" algn="ctr">
          <a:solidFill>
            <a:schemeClr val="accent3">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A664EBB8-5F35-4C10-9E6D-ECD0C2272871}">
      <dsp:nvSpPr>
        <dsp:cNvPr id="0" name=""/>
        <dsp:cNvSpPr/>
      </dsp:nvSpPr>
      <dsp:spPr>
        <a:xfrm>
          <a:off x="1070179" y="930435"/>
          <a:ext cx="3907398" cy="8458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dirty="0"/>
            <a:t>Slave/peripheral </a:t>
          </a:r>
          <a:r>
            <a:rPr lang="en-US" sz="1700" kern="1200" dirty="0"/>
            <a:t>: an embedded device - will be constrained in both computing resources and energy.​</a:t>
          </a:r>
        </a:p>
      </dsp:txBody>
      <dsp:txXfrm>
        <a:off x="1070179" y="930435"/>
        <a:ext cx="3907398" cy="845850"/>
      </dsp:txXfrm>
    </dsp:sp>
    <dsp:sp modelId="{36734E74-AA4E-4A91-9CC7-2E5397790F50}">
      <dsp:nvSpPr>
        <dsp:cNvPr id="0" name=""/>
        <dsp:cNvSpPr/>
      </dsp:nvSpPr>
      <dsp:spPr>
        <a:xfrm>
          <a:off x="995515" y="1776285"/>
          <a:ext cx="3982062" cy="0"/>
        </a:xfrm>
        <a:prstGeom prst="line">
          <a:avLst/>
        </a:prstGeom>
        <a:solidFill>
          <a:schemeClr val="accent3">
            <a:hueOff val="0"/>
            <a:satOff val="0"/>
            <a:lumOff val="0"/>
            <a:alphaOff val="0"/>
          </a:schemeClr>
        </a:solidFill>
        <a:ln w="12700" cap="flat" cmpd="sng" algn="ctr">
          <a:solidFill>
            <a:schemeClr val="accent3">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2217AD49-E864-4CBF-B3A5-C7329B511CBB}">
      <dsp:nvSpPr>
        <dsp:cNvPr id="0" name=""/>
        <dsp:cNvSpPr/>
      </dsp:nvSpPr>
      <dsp:spPr>
        <a:xfrm>
          <a:off x="0" y="1819644"/>
          <a:ext cx="4977578"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E77952AC-4482-4091-A527-5931CDA684B3}">
      <dsp:nvSpPr>
        <dsp:cNvPr id="0" name=""/>
        <dsp:cNvSpPr/>
      </dsp:nvSpPr>
      <dsp:spPr>
        <a:xfrm>
          <a:off x="0" y="1819644"/>
          <a:ext cx="995515" cy="18196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Servers and Clients​</a:t>
          </a:r>
          <a:endParaRPr lang="en-US" sz="1600" kern="1200" dirty="0"/>
        </a:p>
      </dsp:txBody>
      <dsp:txXfrm>
        <a:off x="0" y="1819644"/>
        <a:ext cx="995515" cy="1819644"/>
      </dsp:txXfrm>
    </dsp:sp>
    <dsp:sp modelId="{B7F83B20-8005-4698-B793-9E8E1342706A}">
      <dsp:nvSpPr>
        <dsp:cNvPr id="0" name=""/>
        <dsp:cNvSpPr/>
      </dsp:nvSpPr>
      <dsp:spPr>
        <a:xfrm>
          <a:off x="1070179" y="1861937"/>
          <a:ext cx="3907398" cy="8458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dirty="0"/>
            <a:t>Server : </a:t>
          </a:r>
          <a:r>
            <a:rPr lang="en-US" sz="1700" kern="1200" dirty="0"/>
            <a:t>the device that has information it wishes to share, and in BLE that is typically the peripheral (the embedded device).​</a:t>
          </a:r>
        </a:p>
      </dsp:txBody>
      <dsp:txXfrm>
        <a:off x="1070179" y="1861937"/>
        <a:ext cx="3907398" cy="845850"/>
      </dsp:txXfrm>
    </dsp:sp>
    <dsp:sp modelId="{EBBA86DE-498C-4765-9638-66D6180CEBD9}">
      <dsp:nvSpPr>
        <dsp:cNvPr id="0" name=""/>
        <dsp:cNvSpPr/>
      </dsp:nvSpPr>
      <dsp:spPr>
        <a:xfrm>
          <a:off x="995515" y="2707787"/>
          <a:ext cx="3982062" cy="0"/>
        </a:xfrm>
        <a:prstGeom prst="line">
          <a:avLst/>
        </a:prstGeom>
        <a:solidFill>
          <a:schemeClr val="accent3">
            <a:hueOff val="0"/>
            <a:satOff val="0"/>
            <a:lumOff val="0"/>
            <a:alphaOff val="0"/>
          </a:schemeClr>
        </a:solidFill>
        <a:ln w="12700" cap="flat" cmpd="sng" algn="ctr">
          <a:solidFill>
            <a:schemeClr val="accent3">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A428EC3C-1461-42B2-9E12-26BC85C72FE9}">
      <dsp:nvSpPr>
        <dsp:cNvPr id="0" name=""/>
        <dsp:cNvSpPr/>
      </dsp:nvSpPr>
      <dsp:spPr>
        <a:xfrm>
          <a:off x="1070179" y="2750079"/>
          <a:ext cx="3907398" cy="8458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dirty="0"/>
            <a:t>Client :</a:t>
          </a:r>
          <a:r>
            <a:rPr lang="en-US" sz="1700" kern="1200" dirty="0"/>
            <a:t> the device that wants information and services, and in BLE that is typically the central device - the phone​</a:t>
          </a:r>
        </a:p>
      </dsp:txBody>
      <dsp:txXfrm>
        <a:off x="1070179" y="2750079"/>
        <a:ext cx="3907398" cy="845850"/>
      </dsp:txXfrm>
    </dsp:sp>
    <dsp:sp modelId="{2E9D30C5-5ADA-4CB7-8F4D-9ECA2AE1B9B8}">
      <dsp:nvSpPr>
        <dsp:cNvPr id="0" name=""/>
        <dsp:cNvSpPr/>
      </dsp:nvSpPr>
      <dsp:spPr>
        <a:xfrm>
          <a:off x="995515" y="3595930"/>
          <a:ext cx="3982062" cy="0"/>
        </a:xfrm>
        <a:prstGeom prst="line">
          <a:avLst/>
        </a:prstGeom>
        <a:solidFill>
          <a:schemeClr val="accent3">
            <a:hueOff val="0"/>
            <a:satOff val="0"/>
            <a:lumOff val="0"/>
            <a:alphaOff val="0"/>
          </a:schemeClr>
        </a:solidFill>
        <a:ln w="12700" cap="flat" cmpd="sng" algn="ctr">
          <a:solidFill>
            <a:schemeClr val="accent3">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0D8D94-8884-4106-9CD4-2B9F17002681}" type="datetimeFigureOut">
              <a:rPr lang="en-US"/>
              <a:t>3/5/2026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2CB5E-C7AB-4744-96A6-927D83746E94}" type="slidenum">
              <a:rPr lang="en-US"/>
              <a:t>‹#›</a:t>
            </a:fld>
            <a:endParaRPr lang="en-US"/>
          </a:p>
        </p:txBody>
      </p:sp>
    </p:spTree>
    <p:extLst>
      <p:ext uri="{BB962C8B-B14F-4D97-AF65-F5344CB8AC3E}">
        <p14:creationId xmlns:p14="http://schemas.microsoft.com/office/powerpoint/2010/main" val="422938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honeywellsps.my.salesforce.com/sfc/p/00000000SK3U/a/A00000000Ec2/AUcH1RnAKUfL3ujZPitnZda25xNbm4gQIEW9U2ytc_4"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0A32CB5E-C7AB-4744-96A6-927D83746E94}" type="slidenum">
              <a:rPr lang="en-US" smtClean="0"/>
              <a:t>1</a:t>
            </a:fld>
            <a:endParaRPr lang="en-US"/>
          </a:p>
        </p:txBody>
      </p:sp>
    </p:spTree>
    <p:extLst>
      <p:ext uri="{BB962C8B-B14F-4D97-AF65-F5344CB8AC3E}">
        <p14:creationId xmlns:p14="http://schemas.microsoft.com/office/powerpoint/2010/main" val="22086068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000000"/>
                </a:solidFill>
                <a:effectLst/>
                <a:latin typeface="Helvetica" panose="020B0604020202020204" pitchFamily="34" charset="0"/>
              </a:rPr>
              <a:t>William Herschel was exploring the question of how much heat was contained by the different colours of visible light. He devised and experiment where he used a glass prism to separate sunlight into it's rainbow of </a:t>
            </a:r>
            <a:r>
              <a:rPr lang="en-GB" b="0" i="0" dirty="0" err="1">
                <a:solidFill>
                  <a:srgbClr val="000000"/>
                </a:solidFill>
                <a:effectLst/>
                <a:latin typeface="Helvetica" panose="020B0604020202020204" pitchFamily="34" charset="0"/>
              </a:rPr>
              <a:t>colors</a:t>
            </a:r>
            <a:r>
              <a:rPr lang="en-GB" b="0" i="0" dirty="0">
                <a:solidFill>
                  <a:srgbClr val="000000"/>
                </a:solidFill>
                <a:effectLst/>
                <a:latin typeface="Helvetica" panose="020B0604020202020204" pitchFamily="34" charset="0"/>
              </a:rPr>
              <a:t>. Then, he placed a thermometer under each </a:t>
            </a:r>
            <a:r>
              <a:rPr lang="en-GB" b="0" i="0" dirty="0" err="1">
                <a:solidFill>
                  <a:srgbClr val="000000"/>
                </a:solidFill>
                <a:effectLst/>
                <a:latin typeface="Helvetica" panose="020B0604020202020204" pitchFamily="34" charset="0"/>
              </a:rPr>
              <a:t>color</a:t>
            </a:r>
            <a:r>
              <a:rPr lang="en-GB" b="0" i="0" dirty="0">
                <a:solidFill>
                  <a:srgbClr val="000000"/>
                </a:solidFill>
                <a:effectLst/>
                <a:latin typeface="Helvetica" panose="020B0604020202020204" pitchFamily="34" charset="0"/>
              </a:rPr>
              <a:t>, with one extra thermometer just beyond the red light of the spectrum. He found that the thermometer that was seemingly out of the light had the highest temperature. Thus, he discovered infrared light.</a:t>
            </a:r>
          </a:p>
          <a:p>
            <a:r>
              <a:rPr lang="en-IE" b="0" i="0" dirty="0">
                <a:solidFill>
                  <a:srgbClr val="202122"/>
                </a:solidFill>
                <a:effectLst/>
                <a:latin typeface="Arial" panose="020B0604020202020204" pitchFamily="34" charset="0"/>
              </a:rPr>
              <a:t>James Clerk Maxwell</a:t>
            </a:r>
            <a:r>
              <a:rPr lang="en-GB" b="0" i="0" dirty="0">
                <a:solidFill>
                  <a:srgbClr val="202122"/>
                </a:solidFill>
                <a:effectLst/>
                <a:latin typeface="Arial" panose="020B0604020202020204" pitchFamily="34" charset="0"/>
              </a:rPr>
              <a:t> equations </a:t>
            </a:r>
            <a:r>
              <a:rPr lang="en-GB" b="0" i="0" dirty="0">
                <a:solidFill>
                  <a:srgbClr val="000000"/>
                </a:solidFill>
                <a:effectLst/>
                <a:latin typeface="Times New Roman" panose="02020603050405020304" pitchFamily="18" charset="0"/>
              </a:rPr>
              <a:t>developed a scientific theory to explain electromagnetic waves and</a:t>
            </a:r>
            <a:r>
              <a:rPr lang="en-GB" b="0" i="0" dirty="0">
                <a:solidFill>
                  <a:srgbClr val="202122"/>
                </a:solidFill>
                <a:effectLst/>
                <a:latin typeface="Arial" panose="020B0604020202020204" pitchFamily="34" charset="0"/>
              </a:rPr>
              <a:t> successfully unified theories of light and electromagnetism, which is one of the great unifications in physics. </a:t>
            </a:r>
            <a:r>
              <a:rPr lang="en-GB" b="1" i="0" dirty="0">
                <a:solidFill>
                  <a:srgbClr val="000000"/>
                </a:solidFill>
                <a:effectLst/>
                <a:latin typeface="Times New Roman" panose="02020603050405020304" pitchFamily="18" charset="0"/>
              </a:rPr>
              <a:t>Heinrich Hertz</a:t>
            </a:r>
            <a:r>
              <a:rPr lang="en-GB" b="0" i="0" dirty="0">
                <a:solidFill>
                  <a:srgbClr val="000000"/>
                </a:solidFill>
                <a:effectLst/>
                <a:latin typeface="Times New Roman" panose="02020603050405020304" pitchFamily="18" charset="0"/>
              </a:rPr>
              <a:t>, a German physicist, applied Maxwell's theories to the production and reception of radio waves. The unit of frequency of a radio wave -- one cycle per second -- is named the hertz, in </a:t>
            </a:r>
            <a:r>
              <a:rPr lang="en-GB" b="0" i="0" dirty="0" err="1">
                <a:solidFill>
                  <a:srgbClr val="000000"/>
                </a:solidFill>
                <a:effectLst/>
                <a:latin typeface="Times New Roman" panose="02020603050405020304" pitchFamily="18" charset="0"/>
              </a:rPr>
              <a:t>honor</a:t>
            </a:r>
            <a:r>
              <a:rPr lang="en-GB" b="0" i="0" dirty="0">
                <a:solidFill>
                  <a:srgbClr val="000000"/>
                </a:solidFill>
                <a:effectLst/>
                <a:latin typeface="Times New Roman" panose="02020603050405020304" pitchFamily="18" charset="0"/>
              </a:rPr>
              <a:t> of Heinrich Hertz.</a:t>
            </a:r>
            <a:endParaRPr lang="en-IE" dirty="0"/>
          </a:p>
        </p:txBody>
      </p:sp>
      <p:sp>
        <p:nvSpPr>
          <p:cNvPr id="4" name="Slide Number Placeholder 3"/>
          <p:cNvSpPr>
            <a:spLocks noGrp="1"/>
          </p:cNvSpPr>
          <p:nvPr>
            <p:ph type="sldNum" sz="quarter" idx="5"/>
          </p:nvPr>
        </p:nvSpPr>
        <p:spPr/>
        <p:txBody>
          <a:bodyPr/>
          <a:lstStyle/>
          <a:p>
            <a:fld id="{0A32CB5E-C7AB-4744-96A6-927D83746E94}" type="slidenum">
              <a:rPr lang="en-US" smtClean="0"/>
              <a:t>3</a:t>
            </a:fld>
            <a:endParaRPr lang="en-US"/>
          </a:p>
        </p:txBody>
      </p:sp>
    </p:spTree>
    <p:extLst>
      <p:ext uri="{BB962C8B-B14F-4D97-AF65-F5344CB8AC3E}">
        <p14:creationId xmlns:p14="http://schemas.microsoft.com/office/powerpoint/2010/main" val="20031048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lgn="l">
              <a:buFont typeface="Arial" panose="020B0604020202020204" pitchFamily="34" charset="0"/>
              <a:buChar char="•"/>
            </a:pPr>
            <a:r>
              <a:rPr lang="en-US" sz="1200" dirty="0">
                <a:solidFill>
                  <a:srgbClr val="000000"/>
                </a:solidFill>
              </a:rPr>
              <a:t>A Wireless LAN (WLAN) is a type of wireless network that is commonly used in homes, offices, and campus environments.</a:t>
            </a:r>
          </a:p>
          <a:p>
            <a:pPr marL="342900" indent="-342900" algn="l">
              <a:buFont typeface="Arial" panose="020B0604020202020204" pitchFamily="34" charset="0"/>
              <a:buChar char="•"/>
            </a:pPr>
            <a:r>
              <a:rPr lang="en-US" sz="1200" dirty="0">
                <a:solidFill>
                  <a:srgbClr val="000000"/>
                </a:solidFill>
              </a:rPr>
              <a:t>WLANs make mobility possible within the home and business environments.</a:t>
            </a:r>
          </a:p>
          <a:p>
            <a:pPr marL="342900" indent="-342900" algn="l">
              <a:buFont typeface="Arial" panose="020B0604020202020204" pitchFamily="34" charset="0"/>
              <a:buChar char="•"/>
            </a:pPr>
            <a:r>
              <a:rPr lang="en-US" sz="1200" dirty="0">
                <a:solidFill>
                  <a:srgbClr val="000000"/>
                </a:solidFill>
              </a:rPr>
              <a:t>Wireless infrastructures adapt to rapidly changing needs and technologies</a:t>
            </a:r>
            <a:endParaRPr lang="en-IE" dirty="0"/>
          </a:p>
        </p:txBody>
      </p:sp>
      <p:sp>
        <p:nvSpPr>
          <p:cNvPr id="4" name="Slide Number Placeholder 3"/>
          <p:cNvSpPr>
            <a:spLocks noGrp="1"/>
          </p:cNvSpPr>
          <p:nvPr>
            <p:ph type="sldNum" sz="quarter" idx="5"/>
          </p:nvPr>
        </p:nvSpPr>
        <p:spPr/>
        <p:txBody>
          <a:bodyPr/>
          <a:lstStyle/>
          <a:p>
            <a:fld id="{0A32CB5E-C7AB-4744-96A6-927D83746E94}" type="slidenum">
              <a:rPr lang="en-US" smtClean="0"/>
              <a:t>4</a:t>
            </a:fld>
            <a:endParaRPr lang="en-US"/>
          </a:p>
        </p:txBody>
      </p:sp>
    </p:spTree>
    <p:extLst>
      <p:ext uri="{BB962C8B-B14F-4D97-AF65-F5344CB8AC3E}">
        <p14:creationId xmlns:p14="http://schemas.microsoft.com/office/powerpoint/2010/main" val="14784499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9863" lvl="1" indent="-169863">
              <a:lnSpc>
                <a:spcPct val="100000"/>
              </a:lnSpc>
              <a:spcAft>
                <a:spcPts val="600"/>
              </a:spcAft>
              <a:buSzPct val="90000"/>
              <a:buFont typeface="Arial" panose="020B0604020202020204" pitchFamily="34" charset="0"/>
              <a:buChar char="•"/>
            </a:pPr>
            <a:r>
              <a:rPr lang="en-US" sz="1200" b="1" dirty="0">
                <a:solidFill>
                  <a:srgbClr val="000000"/>
                </a:solidFill>
              </a:rPr>
              <a:t>Wireless Personal-Area Network (WPAN) </a:t>
            </a:r>
            <a:r>
              <a:rPr lang="en-US" sz="1200" dirty="0">
                <a:solidFill>
                  <a:srgbClr val="000000"/>
                </a:solidFill>
              </a:rPr>
              <a:t>– Low power and short-range (20-30ft or 6-9 meters). Based on IEEE 802.15 standard and 2.4 GHz frequency. Bluetooth and Zigbee are WPAN examples.</a:t>
            </a:r>
          </a:p>
          <a:p>
            <a:pPr marL="169863" lvl="1" indent="-169863">
              <a:lnSpc>
                <a:spcPct val="100000"/>
              </a:lnSpc>
              <a:spcAft>
                <a:spcPts val="600"/>
              </a:spcAft>
              <a:buSzPct val="90000"/>
              <a:buFont typeface="Arial" panose="020B0604020202020204" pitchFamily="34" charset="0"/>
              <a:buChar char="•"/>
            </a:pPr>
            <a:r>
              <a:rPr lang="en-US" sz="1200" b="1" dirty="0">
                <a:solidFill>
                  <a:srgbClr val="000000"/>
                </a:solidFill>
              </a:rPr>
              <a:t>Wireless LAN (WLAN) </a:t>
            </a:r>
            <a:r>
              <a:rPr lang="en-US" sz="1200" dirty="0">
                <a:solidFill>
                  <a:srgbClr val="000000"/>
                </a:solidFill>
              </a:rPr>
              <a:t>– Medium sized networks up to about 300 feet. Based on IEEE 802.11 standard and 2.4 or 5.0 GHz frequency.</a:t>
            </a:r>
          </a:p>
          <a:p>
            <a:pPr marL="169863" lvl="1" indent="-169863">
              <a:lnSpc>
                <a:spcPct val="100000"/>
              </a:lnSpc>
              <a:spcAft>
                <a:spcPts val="600"/>
              </a:spcAft>
              <a:buSzPct val="90000"/>
              <a:buFont typeface="Arial" panose="020B0604020202020204" pitchFamily="34" charset="0"/>
              <a:buChar char="•"/>
            </a:pPr>
            <a:r>
              <a:rPr lang="en-US" sz="1200" b="1" dirty="0">
                <a:solidFill>
                  <a:srgbClr val="000000"/>
                </a:solidFill>
              </a:rPr>
              <a:t>Wireless MAN (WMAN) </a:t>
            </a:r>
            <a:r>
              <a:rPr lang="en-US" sz="1200" dirty="0">
                <a:solidFill>
                  <a:srgbClr val="000000"/>
                </a:solidFill>
              </a:rPr>
              <a:t>– Large geographic area such as city or district. Uses specific licensed frequencies.</a:t>
            </a:r>
          </a:p>
          <a:p>
            <a:pPr marL="169863" lvl="1" indent="-169863">
              <a:lnSpc>
                <a:spcPct val="100000"/>
              </a:lnSpc>
              <a:spcAft>
                <a:spcPts val="600"/>
              </a:spcAft>
              <a:buSzPct val="90000"/>
              <a:buFont typeface="Arial" panose="020B0604020202020204" pitchFamily="34" charset="0"/>
              <a:buChar char="•"/>
            </a:pPr>
            <a:r>
              <a:rPr lang="en-US" sz="1200" b="1" dirty="0">
                <a:solidFill>
                  <a:srgbClr val="000000"/>
                </a:solidFill>
              </a:rPr>
              <a:t>Wireless WAN (WWAN)</a:t>
            </a:r>
            <a:r>
              <a:rPr lang="en-US" sz="1200" dirty="0">
                <a:solidFill>
                  <a:srgbClr val="000000"/>
                </a:solidFill>
              </a:rPr>
              <a:t> – Extensive geographic area for national or global communication. Uses specific licensed frequencies.</a:t>
            </a:r>
          </a:p>
          <a:p>
            <a:endParaRPr lang="en-IE" dirty="0"/>
          </a:p>
        </p:txBody>
      </p:sp>
      <p:sp>
        <p:nvSpPr>
          <p:cNvPr id="4" name="Slide Number Placeholder 3"/>
          <p:cNvSpPr>
            <a:spLocks noGrp="1"/>
          </p:cNvSpPr>
          <p:nvPr>
            <p:ph type="sldNum" sz="quarter" idx="5"/>
          </p:nvPr>
        </p:nvSpPr>
        <p:spPr/>
        <p:txBody>
          <a:bodyPr/>
          <a:lstStyle/>
          <a:p>
            <a:fld id="{0A32CB5E-C7AB-4744-96A6-927D83746E94}" type="slidenum">
              <a:rPr lang="en-US" smtClean="0"/>
              <a:t>6</a:t>
            </a:fld>
            <a:endParaRPr lang="en-US"/>
          </a:p>
        </p:txBody>
      </p:sp>
    </p:spTree>
    <p:extLst>
      <p:ext uri="{BB962C8B-B14F-4D97-AF65-F5344CB8AC3E}">
        <p14:creationId xmlns:p14="http://schemas.microsoft.com/office/powerpoint/2010/main" val="12455599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lnSpc>
                <a:spcPct val="85000"/>
              </a:lnSpc>
              <a:spcBef>
                <a:spcPct val="30000"/>
              </a:spcBef>
              <a:spcAft>
                <a:spcPts val="300"/>
              </a:spcAft>
              <a:buSzPct val="90000"/>
            </a:pPr>
            <a:r>
              <a:rPr lang="en-US" sz="1200" dirty="0">
                <a:solidFill>
                  <a:srgbClr val="000000"/>
                </a:solidFill>
              </a:rPr>
              <a:t>2.4 GHz (UHF) – 802.11b/g/n/ax</a:t>
            </a:r>
          </a:p>
          <a:p>
            <a:pPr lvl="1">
              <a:lnSpc>
                <a:spcPct val="85000"/>
              </a:lnSpc>
              <a:spcBef>
                <a:spcPct val="30000"/>
              </a:spcBef>
              <a:spcAft>
                <a:spcPts val="300"/>
              </a:spcAft>
              <a:buSzPct val="90000"/>
            </a:pPr>
            <a:r>
              <a:rPr lang="en-US" sz="1200" dirty="0">
                <a:solidFill>
                  <a:srgbClr val="000000"/>
                </a:solidFill>
              </a:rPr>
              <a:t>5 GHz (SHF) – 802.11a/n/ac/ax</a:t>
            </a:r>
          </a:p>
          <a:p>
            <a:endParaRPr lang="en-IE" dirty="0"/>
          </a:p>
        </p:txBody>
      </p:sp>
      <p:sp>
        <p:nvSpPr>
          <p:cNvPr id="4" name="Slide Number Placeholder 3"/>
          <p:cNvSpPr>
            <a:spLocks noGrp="1"/>
          </p:cNvSpPr>
          <p:nvPr>
            <p:ph type="sldNum" sz="quarter" idx="5"/>
          </p:nvPr>
        </p:nvSpPr>
        <p:spPr/>
        <p:txBody>
          <a:bodyPr/>
          <a:lstStyle/>
          <a:p>
            <a:fld id="{0A32CB5E-C7AB-4744-96A6-927D83746E94}" type="slidenum">
              <a:rPr lang="en-US" smtClean="0"/>
              <a:t>8</a:t>
            </a:fld>
            <a:endParaRPr lang="en-US"/>
          </a:p>
        </p:txBody>
      </p:sp>
    </p:spTree>
    <p:extLst>
      <p:ext uri="{BB962C8B-B14F-4D97-AF65-F5344CB8AC3E}">
        <p14:creationId xmlns:p14="http://schemas.microsoft.com/office/powerpoint/2010/main" val="9472285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device in the </a:t>
            </a:r>
            <a:r>
              <a:rPr lang="en-GB" b="1" dirty="0"/>
              <a:t>Broadcaster role</a:t>
            </a:r>
            <a:r>
              <a:rPr lang="en-GB" dirty="0"/>
              <a:t> transmits data to nearby devices without establishing a </a:t>
            </a:r>
            <a:r>
              <a:rPr lang="en-GB" dirty="0" err="1"/>
              <a:t>connection.Commonly</a:t>
            </a:r>
            <a:r>
              <a:rPr lang="en-GB" dirty="0"/>
              <a:t> used for applications like advertisements or beaconing (e.g., sending periodic messages about location or product information).</a:t>
            </a:r>
          </a:p>
          <a:p>
            <a:r>
              <a:rPr lang="en-GB" dirty="0"/>
              <a:t>A device in the </a:t>
            </a:r>
            <a:r>
              <a:rPr lang="en-GB" b="1" dirty="0"/>
              <a:t>Observer role</a:t>
            </a:r>
            <a:r>
              <a:rPr lang="en-GB" dirty="0"/>
              <a:t> listens for broadcasted data from </a:t>
            </a:r>
            <a:r>
              <a:rPr lang="en-GB" dirty="0" err="1"/>
              <a:t>Broadcasters.It</a:t>
            </a:r>
            <a:r>
              <a:rPr lang="en-GB" dirty="0"/>
              <a:t> does not initiate or establish a connection. Smartphones scanning for nearby Bluetooth beacons.</a:t>
            </a:r>
          </a:p>
          <a:p>
            <a:r>
              <a:rPr lang="en-GB" dirty="0"/>
              <a:t>A device in the </a:t>
            </a:r>
            <a:r>
              <a:rPr lang="en-GB" b="1" dirty="0"/>
              <a:t>Peripheral role</a:t>
            </a:r>
            <a:r>
              <a:rPr lang="en-GB" dirty="0"/>
              <a:t> advertises its availability for a connection and acts as a "slave" in the connection when a </a:t>
            </a:r>
            <a:r>
              <a:rPr lang="en-GB" b="1" dirty="0"/>
              <a:t>Central</a:t>
            </a:r>
            <a:r>
              <a:rPr lang="en-GB" dirty="0"/>
              <a:t> device connects to it.</a:t>
            </a:r>
          </a:p>
          <a:p>
            <a:r>
              <a:rPr lang="en-GB" dirty="0"/>
              <a:t>A device in the </a:t>
            </a:r>
            <a:r>
              <a:rPr lang="en-GB" b="1" dirty="0"/>
              <a:t>Central role</a:t>
            </a:r>
            <a:r>
              <a:rPr lang="en-GB" dirty="0"/>
              <a:t> initiates connections with Peripherals and acts as the "master" in the connection.</a:t>
            </a:r>
            <a:endParaRPr lang="en-IE" dirty="0"/>
          </a:p>
        </p:txBody>
      </p:sp>
      <p:sp>
        <p:nvSpPr>
          <p:cNvPr id="4" name="Slide Number Placeholder 3"/>
          <p:cNvSpPr>
            <a:spLocks noGrp="1"/>
          </p:cNvSpPr>
          <p:nvPr>
            <p:ph type="sldNum" sz="quarter" idx="5"/>
          </p:nvPr>
        </p:nvSpPr>
        <p:spPr/>
        <p:txBody>
          <a:bodyPr/>
          <a:lstStyle/>
          <a:p>
            <a:fld id="{0A32CB5E-C7AB-4744-96A6-927D83746E94}" type="slidenum">
              <a:rPr lang="en-US" smtClean="0"/>
              <a:t>18</a:t>
            </a:fld>
            <a:endParaRPr lang="en-US"/>
          </a:p>
        </p:txBody>
      </p:sp>
    </p:spTree>
    <p:extLst>
      <p:ext uri="{BB962C8B-B14F-4D97-AF65-F5344CB8AC3E}">
        <p14:creationId xmlns:p14="http://schemas.microsoft.com/office/powerpoint/2010/main" val="15095526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0A32CB5E-C7AB-4744-96A6-927D83746E94}" type="slidenum">
              <a:rPr lang="en-US" smtClean="0"/>
              <a:t>19</a:t>
            </a:fld>
            <a:endParaRPr lang="en-US"/>
          </a:p>
        </p:txBody>
      </p:sp>
    </p:spTree>
    <p:extLst>
      <p:ext uri="{BB962C8B-B14F-4D97-AF65-F5344CB8AC3E}">
        <p14:creationId xmlns:p14="http://schemas.microsoft.com/office/powerpoint/2010/main" val="22303491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Bluetooth Devices are radio frequency devices designed to use the 2.4 to 2.48 GHz frequency band known as the ISM band. </a:t>
            </a:r>
          </a:p>
          <a:p>
            <a:r>
              <a:rPr lang="en-GB" sz="1200" b="0" i="0" kern="1200" dirty="0">
                <a:solidFill>
                  <a:schemeClr val="tx1"/>
                </a:solidFill>
                <a:effectLst/>
                <a:latin typeface="+mn-lt"/>
                <a:ea typeface="+mn-ea"/>
                <a:cs typeface="+mn-cs"/>
              </a:rPr>
              <a:t>Bluetooth devices share this band with other devices</a:t>
            </a:r>
          </a:p>
          <a:p>
            <a:r>
              <a:rPr lang="en-GB" sz="1200" b="0" i="0" kern="1200" dirty="0">
                <a:solidFill>
                  <a:schemeClr val="tx1"/>
                </a:solidFill>
                <a:effectLst/>
                <a:latin typeface="+mn-lt"/>
                <a:ea typeface="+mn-ea"/>
                <a:cs typeface="+mn-cs"/>
              </a:rPr>
              <a:t>Frequency Hopping is a technique where when a link is formed the devices are synchronized to change channels together many times a second.</a:t>
            </a:r>
          </a:p>
          <a:p>
            <a:r>
              <a:rPr lang="en-GB" sz="1200" b="0" i="0" kern="1200" dirty="0">
                <a:solidFill>
                  <a:schemeClr val="tx1"/>
                </a:solidFill>
                <a:effectLst/>
                <a:latin typeface="+mn-lt"/>
                <a:ea typeface="+mn-ea"/>
                <a:cs typeface="+mn-cs"/>
              </a:rPr>
              <a:t>devices also use </a:t>
            </a:r>
            <a:r>
              <a:rPr lang="en-GB" sz="1200" b="0" i="0" u="none" strike="noStrike" kern="1200" dirty="0">
                <a:solidFill>
                  <a:schemeClr val="tx1"/>
                </a:solidFill>
                <a:effectLst/>
                <a:latin typeface="+mn-lt"/>
                <a:ea typeface="+mn-ea"/>
                <a:cs typeface="+mn-cs"/>
                <a:hlinkClick r:id="rId3"/>
              </a:rPr>
              <a:t>AFH, an adaptive form of frequency hopping</a:t>
            </a:r>
            <a:r>
              <a:rPr lang="en-GB" sz="1200" b="0" i="0" kern="1200" dirty="0">
                <a:solidFill>
                  <a:schemeClr val="tx1"/>
                </a:solidFill>
                <a:effectLst/>
                <a:latin typeface="+mn-lt"/>
                <a:ea typeface="+mn-ea"/>
                <a:cs typeface="+mn-cs"/>
              </a:rPr>
              <a:t>  by adapting the hop sequence to avoid channels in use by other devices operating in the same ISM band. </a:t>
            </a:r>
            <a:endParaRPr lang="en-IE" dirty="0"/>
          </a:p>
        </p:txBody>
      </p:sp>
      <p:sp>
        <p:nvSpPr>
          <p:cNvPr id="4" name="Slide Number Placeholder 3"/>
          <p:cNvSpPr>
            <a:spLocks noGrp="1"/>
          </p:cNvSpPr>
          <p:nvPr>
            <p:ph type="sldNum" sz="quarter" idx="5"/>
          </p:nvPr>
        </p:nvSpPr>
        <p:spPr/>
        <p:txBody>
          <a:bodyPr/>
          <a:lstStyle/>
          <a:p>
            <a:fld id="{0A32CB5E-C7AB-4744-96A6-927D83746E94}" type="slidenum">
              <a:rPr lang="en-US" smtClean="0"/>
              <a:t>24</a:t>
            </a:fld>
            <a:endParaRPr lang="en-US" dirty="0"/>
          </a:p>
        </p:txBody>
      </p:sp>
    </p:spTree>
    <p:extLst>
      <p:ext uri="{BB962C8B-B14F-4D97-AF65-F5344CB8AC3E}">
        <p14:creationId xmlns:p14="http://schemas.microsoft.com/office/powerpoint/2010/main" val="28106352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3/5/2026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3/5/2026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3/5/2026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image" Target="../media/image2.jpg"/><Relationship Id="rId7" Type="http://schemas.openxmlformats.org/officeDocument/2006/relationships/image" Target="../media/image4.gif"/><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hyperlink" Target="https://creativecommons.org/licenses/by-sa/3.0/" TargetMode="External"/><Relationship Id="rId4" Type="http://schemas.openxmlformats.org/officeDocument/2006/relationships/hyperlink" Target="https://astronomy.stackexchange.com/questions/24010/whats-the-rationale-behind-the-false-colours-in-solar-observation-photographs"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eltamiz.com/elcedazo/2008/08/31/am-fm-y-otras-modulaciones-del-monton/" TargetMode="External"/><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hyperlink" Target="https://creativecommons.org/licenses/by-nc-nd/3.0/"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onecommunityglobal.org/remote-internet-setup/" TargetMode="External"/><Relationship Id="rId7" Type="http://schemas.openxmlformats.org/officeDocument/2006/relationships/image" Target="../media/image11.png"/><Relationship Id="rId2" Type="http://schemas.openxmlformats.org/officeDocument/2006/relationships/image" Target="../media/image9.jpg"/><Relationship Id="rId1" Type="http://schemas.openxmlformats.org/officeDocument/2006/relationships/slideLayout" Target="../slideLayouts/slideLayout2.xml"/><Relationship Id="rId6" Type="http://schemas.openxmlformats.org/officeDocument/2006/relationships/hyperlink" Target="https://creativecommons.org/licenses/by/3.0/" TargetMode="External"/><Relationship Id="rId5" Type="http://schemas.openxmlformats.org/officeDocument/2006/relationships/hyperlink" Target="https://en.wikipedia.org/wiki/Alvarion" TargetMode="External"/><Relationship Id="rId4" Type="http://schemas.openxmlformats.org/officeDocument/2006/relationships/image" Target="../media/image10.jpg"/></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3.png"/><Relationship Id="rId7" Type="http://schemas.openxmlformats.org/officeDocument/2006/relationships/diagramColors" Target="../diagrams/colors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9.emf"/><Relationship Id="rId4" Type="http://schemas.openxmlformats.org/officeDocument/2006/relationships/image" Target="../media/image28.emf"/></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developer.bluetooth.org/gatt/services/Pages/ServicesHome.aspx"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developer.bluetooth.org/gatt/characteristics/Pages/CharacteristicViewer.aspx?u=org.bluetooth.characteristic.heart_rate_measurement.xml" TargetMode="External"/><Relationship Id="rId2" Type="http://schemas.openxmlformats.org/officeDocument/2006/relationships/hyperlink" Target="https://developer.bluetooth.org/gatt/characteristics/Pages/CharacteristicsHome.aspx"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cs typeface="Calibri Light"/>
              </a:rPr>
              <a:t>Wireless Network Protocols</a:t>
            </a:r>
            <a:br>
              <a:rPr lang="en-US" dirty="0">
                <a:cs typeface="Calibri Light"/>
              </a:rPr>
            </a:br>
            <a:r>
              <a:rPr lang="en-US" dirty="0">
                <a:cs typeface="Calibri Light"/>
              </a:rPr>
              <a:t>BLE</a:t>
            </a:r>
            <a:endParaRPr lang="en-US" dirty="0"/>
          </a:p>
        </p:txBody>
      </p:sp>
      <p:sp>
        <p:nvSpPr>
          <p:cNvPr id="3" name="Subtitle 2"/>
          <p:cNvSpPr>
            <a:spLocks noGrp="1"/>
          </p:cNvSpPr>
          <p:nvPr>
            <p:ph type="subTitle" idx="1"/>
          </p:nvPr>
        </p:nvSpPr>
        <p:spPr/>
        <p:txBody>
          <a:bodyPr vert="horz" lIns="91440" tIns="45720" rIns="91440" bIns="45720" rtlCol="0" anchor="t">
            <a:normAutofit/>
          </a:bodyPr>
          <a:lstStyle/>
          <a:p>
            <a:r>
              <a:rPr lang="en-US" dirty="0">
                <a:cs typeface="Calibri"/>
              </a:rPr>
              <a:t>Dr. Frank Walsh</a:t>
            </a:r>
          </a:p>
          <a:p>
            <a:r>
              <a:rPr lang="en-US" dirty="0">
                <a:cs typeface="Calibri"/>
              </a:rPr>
              <a:t>Dr. Kumar </a:t>
            </a:r>
            <a:r>
              <a:rPr lang="en-US" dirty="0" err="1">
                <a:cs typeface="Calibri"/>
              </a:rPr>
              <a:t>Yelamarthi</a:t>
            </a:r>
            <a:endParaRPr lang="en-US" dirty="0">
              <a:cs typeface="Calibri"/>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E6E41-823D-4E9F-8872-8C1E9B7C82FD}"/>
              </a:ext>
            </a:extLst>
          </p:cNvPr>
          <p:cNvSpPr>
            <a:spLocks noGrp="1"/>
          </p:cNvSpPr>
          <p:nvPr>
            <p:ph type="title"/>
          </p:nvPr>
        </p:nvSpPr>
        <p:spPr/>
        <p:txBody>
          <a:bodyPr/>
          <a:lstStyle/>
          <a:p>
            <a:r>
              <a:rPr lang="en-US">
                <a:cs typeface="Calibri Light"/>
              </a:rPr>
              <a:t>Wireless Network Protocols &amp; IoT</a:t>
            </a:r>
            <a:endParaRPr lang="en-US"/>
          </a:p>
        </p:txBody>
      </p:sp>
      <p:sp>
        <p:nvSpPr>
          <p:cNvPr id="3" name="Content Placeholder 2">
            <a:extLst>
              <a:ext uri="{FF2B5EF4-FFF2-40B4-BE49-F238E27FC236}">
                <a16:creationId xmlns:a16="http://schemas.microsoft.com/office/drawing/2014/main" id="{685F5F4C-027F-423C-B6BE-6993DEB744BE}"/>
              </a:ext>
            </a:extLst>
          </p:cNvPr>
          <p:cNvSpPr>
            <a:spLocks noGrp="1"/>
          </p:cNvSpPr>
          <p:nvPr>
            <p:ph idx="1"/>
          </p:nvPr>
        </p:nvSpPr>
        <p:spPr>
          <a:xfrm>
            <a:off x="838200" y="1825625"/>
            <a:ext cx="7251940" cy="3977527"/>
          </a:xfrm>
        </p:spPr>
        <p:txBody>
          <a:bodyPr vert="horz" lIns="91440" tIns="45720" rIns="91440" bIns="45720" rtlCol="0" anchor="t">
            <a:normAutofit/>
          </a:bodyPr>
          <a:lstStyle/>
          <a:p>
            <a:r>
              <a:rPr lang="en-US" dirty="0">
                <a:cs typeface="Calibri"/>
              </a:rPr>
              <a:t>Vital enabler for Internet of Things</a:t>
            </a:r>
          </a:p>
          <a:p>
            <a:pPr lvl="1"/>
            <a:r>
              <a:rPr lang="en-US" dirty="0">
                <a:cs typeface="Calibri"/>
              </a:rPr>
              <a:t>Vast majority of IoT solutions will include one or more wireless technologies</a:t>
            </a:r>
          </a:p>
          <a:p>
            <a:r>
              <a:rPr lang="en-US" dirty="0">
                <a:cs typeface="Calibri"/>
              </a:rPr>
              <a:t>Wireless enabled devices/wearables are a major reason for explosion in connected devices.</a:t>
            </a:r>
          </a:p>
          <a:p>
            <a:pPr marL="0" indent="0">
              <a:buNone/>
            </a:pPr>
            <a:r>
              <a:rPr lang="it-IT" dirty="0"/>
              <a:t>Global mobile network data traffic:</a:t>
            </a:r>
            <a:br>
              <a:rPr lang="it-IT" dirty="0"/>
            </a:br>
            <a:r>
              <a:rPr lang="en-GB" b="1" dirty="0"/>
              <a:t>End of 2020:</a:t>
            </a:r>
            <a:r>
              <a:rPr lang="en-GB" dirty="0"/>
              <a:t> 		</a:t>
            </a:r>
            <a:r>
              <a:rPr lang="en-GB" b="1" dirty="0"/>
              <a:t>49 exabytes/month </a:t>
            </a:r>
            <a:br>
              <a:rPr lang="en-GB" b="1" dirty="0"/>
            </a:br>
            <a:r>
              <a:rPr lang="en-GB" b="1" dirty="0"/>
              <a:t>Forecast for 2026:</a:t>
            </a:r>
            <a:r>
              <a:rPr lang="en-GB" dirty="0"/>
              <a:t> 		</a:t>
            </a:r>
            <a:r>
              <a:rPr lang="en-GB" b="1" dirty="0"/>
              <a:t>237 EB/month</a:t>
            </a:r>
          </a:p>
          <a:p>
            <a:pPr marL="0" indent="0">
              <a:buNone/>
            </a:pPr>
            <a:endParaRPr lang="en-US" dirty="0">
              <a:cs typeface="Calibri"/>
            </a:endParaRPr>
          </a:p>
        </p:txBody>
      </p:sp>
      <p:pic>
        <p:nvPicPr>
          <p:cNvPr id="6" name="Picture 6">
            <a:extLst>
              <a:ext uri="{FF2B5EF4-FFF2-40B4-BE49-F238E27FC236}">
                <a16:creationId xmlns:a16="http://schemas.microsoft.com/office/drawing/2014/main" id="{B9B07EBB-50B6-4BCE-90D5-8750ABBCBA64}"/>
              </a:ext>
            </a:extLst>
          </p:cNvPr>
          <p:cNvPicPr>
            <a:picLocks noChangeAspect="1"/>
          </p:cNvPicPr>
          <p:nvPr/>
        </p:nvPicPr>
        <p:blipFill>
          <a:blip r:embed="rId2"/>
          <a:stretch>
            <a:fillRect/>
          </a:stretch>
        </p:blipFill>
        <p:spPr>
          <a:xfrm>
            <a:off x="8103079" y="2058119"/>
            <a:ext cx="2743200" cy="2971800"/>
          </a:xfrm>
          <a:prstGeom prst="rect">
            <a:avLst/>
          </a:prstGeom>
        </p:spPr>
      </p:pic>
      <p:sp>
        <p:nvSpPr>
          <p:cNvPr id="5" name="TextBox 4">
            <a:extLst>
              <a:ext uri="{FF2B5EF4-FFF2-40B4-BE49-F238E27FC236}">
                <a16:creationId xmlns:a16="http://schemas.microsoft.com/office/drawing/2014/main" id="{484BC20B-64AC-D8EA-99DC-547612710855}"/>
              </a:ext>
            </a:extLst>
          </p:cNvPr>
          <p:cNvSpPr txBox="1"/>
          <p:nvPr/>
        </p:nvSpPr>
        <p:spPr>
          <a:xfrm>
            <a:off x="996416" y="5622407"/>
            <a:ext cx="10779101" cy="369332"/>
          </a:xfrm>
          <a:prstGeom prst="rect">
            <a:avLst/>
          </a:prstGeom>
          <a:noFill/>
        </p:spPr>
        <p:txBody>
          <a:bodyPr wrap="square">
            <a:spAutoFit/>
          </a:bodyPr>
          <a:lstStyle/>
          <a:p>
            <a:r>
              <a:rPr lang="en-IE" b="1" dirty="0"/>
              <a:t>1 EB = 1,000 petabytes (PB) = 1,000,000 terabytes (TB) = 1,000,000,000 gigabytes (GB)</a:t>
            </a:r>
            <a:r>
              <a:rPr lang="en-IE" dirty="0"/>
              <a:t> </a:t>
            </a:r>
          </a:p>
        </p:txBody>
      </p:sp>
    </p:spTree>
    <p:extLst>
      <p:ext uri="{BB962C8B-B14F-4D97-AF65-F5344CB8AC3E}">
        <p14:creationId xmlns:p14="http://schemas.microsoft.com/office/powerpoint/2010/main" val="3472640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B9A53-68E3-486C-9088-569B37CE057D}"/>
              </a:ext>
            </a:extLst>
          </p:cNvPr>
          <p:cNvSpPr>
            <a:spLocks noGrp="1"/>
          </p:cNvSpPr>
          <p:nvPr>
            <p:ph type="title"/>
          </p:nvPr>
        </p:nvSpPr>
        <p:spPr>
          <a:xfrm>
            <a:off x="456183" y="236280"/>
            <a:ext cx="10376658" cy="1325563"/>
          </a:xfrm>
        </p:spPr>
        <p:txBody>
          <a:bodyPr/>
          <a:lstStyle/>
          <a:p>
            <a:r>
              <a:rPr lang="en-IE" dirty="0"/>
              <a:t>QI – the Electromagnetic Spectrum</a:t>
            </a:r>
          </a:p>
        </p:txBody>
      </p:sp>
      <p:pic>
        <p:nvPicPr>
          <p:cNvPr id="9" name="Content Placeholder 8" descr="A picture containing timeline&#10;&#10;Description automatically generated">
            <a:extLst>
              <a:ext uri="{FF2B5EF4-FFF2-40B4-BE49-F238E27FC236}">
                <a16:creationId xmlns:a16="http://schemas.microsoft.com/office/drawing/2014/main" id="{1D130C45-AE97-4519-8713-02B4BE7E1295}"/>
              </a:ext>
            </a:extLst>
          </p:cNvPr>
          <p:cNvPicPr>
            <a:picLocks noGrp="1" noChangeAspect="1"/>
          </p:cNvPicPr>
          <p:nvPr>
            <p:ph idx="1"/>
          </p:nvPr>
        </p:nvPicPr>
        <p:blipFill>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1347843" y="1746998"/>
            <a:ext cx="6998389" cy="4562950"/>
          </a:xfrm>
        </p:spPr>
      </p:pic>
      <p:sp>
        <p:nvSpPr>
          <p:cNvPr id="10" name="TextBox 9">
            <a:extLst>
              <a:ext uri="{FF2B5EF4-FFF2-40B4-BE49-F238E27FC236}">
                <a16:creationId xmlns:a16="http://schemas.microsoft.com/office/drawing/2014/main" id="{0CBFF1F1-6492-47B5-B01D-35F76324B58C}"/>
              </a:ext>
            </a:extLst>
          </p:cNvPr>
          <p:cNvSpPr txBox="1"/>
          <p:nvPr/>
        </p:nvSpPr>
        <p:spPr>
          <a:xfrm>
            <a:off x="2377068" y="6648022"/>
            <a:ext cx="6673831" cy="230832"/>
          </a:xfrm>
          <a:prstGeom prst="rect">
            <a:avLst/>
          </a:prstGeom>
          <a:noFill/>
        </p:spPr>
        <p:txBody>
          <a:bodyPr wrap="square" rtlCol="0">
            <a:spAutoFit/>
          </a:bodyPr>
          <a:lstStyle/>
          <a:p>
            <a:r>
              <a:rPr lang="en-IE" sz="900">
                <a:hlinkClick r:id="rId4" tooltip="https://astronomy.stackexchange.com/questions/24010/whats-the-rationale-behind-the-false-colours-in-solar-observation-photographs"/>
              </a:rPr>
              <a:t>This Photo</a:t>
            </a:r>
            <a:r>
              <a:rPr lang="en-IE" sz="900"/>
              <a:t> by Unknown Author is licensed under </a:t>
            </a:r>
            <a:r>
              <a:rPr lang="en-IE" sz="900">
                <a:hlinkClick r:id="rId5" tooltip="https://creativecommons.org/licenses/by-sa/3.0/"/>
              </a:rPr>
              <a:t>CC BY-SA</a:t>
            </a:r>
            <a:endParaRPr lang="en-IE" sz="900" dirty="0"/>
          </a:p>
        </p:txBody>
      </p:sp>
      <p:pic>
        <p:nvPicPr>
          <p:cNvPr id="1026" name="Picture 2" descr="Illustration of William Herschel with his experiment that enabled the discovery of infrared light">
            <a:extLst>
              <a:ext uri="{FF2B5EF4-FFF2-40B4-BE49-F238E27FC236}">
                <a16:creationId xmlns:a16="http://schemas.microsoft.com/office/drawing/2014/main" id="{1E0587AF-25F2-4192-84D1-7E06B8B84E1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35970" y="1746998"/>
            <a:ext cx="2160545" cy="2751094"/>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8F1A14C-898A-44FE-BF8A-52487FE3248F}"/>
              </a:ext>
            </a:extLst>
          </p:cNvPr>
          <p:cNvSpPr txBox="1"/>
          <p:nvPr/>
        </p:nvSpPr>
        <p:spPr>
          <a:xfrm>
            <a:off x="849086" y="6253638"/>
            <a:ext cx="10480609" cy="369332"/>
          </a:xfrm>
          <a:prstGeom prst="rect">
            <a:avLst/>
          </a:prstGeom>
          <a:noFill/>
        </p:spPr>
        <p:txBody>
          <a:bodyPr wrap="square">
            <a:spAutoFit/>
          </a:bodyPr>
          <a:lstStyle/>
          <a:p>
            <a:r>
              <a:rPr lang="en-IE" dirty="0"/>
              <a:t>https://imagine.gsfc.nasa.gov/science/toolbox/history_multiwavelength1.html</a:t>
            </a:r>
          </a:p>
        </p:txBody>
      </p:sp>
      <p:pic>
        <p:nvPicPr>
          <p:cNvPr id="3" name="Picture 2" descr="A portrait of James Clerk Maxwell">
            <a:extLst>
              <a:ext uri="{FF2B5EF4-FFF2-40B4-BE49-F238E27FC236}">
                <a16:creationId xmlns:a16="http://schemas.microsoft.com/office/drawing/2014/main" id="{C9E87617-A0C8-49A6-9ED9-FB3AFB83F87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51224" y="4524666"/>
            <a:ext cx="1665018" cy="17726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einrich Hertz">
            <a:extLst>
              <a:ext uri="{FF2B5EF4-FFF2-40B4-BE49-F238E27FC236}">
                <a16:creationId xmlns:a16="http://schemas.microsoft.com/office/drawing/2014/main" id="{6BC1DCFB-9F7E-4F99-BECD-35663E7ED37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90555" y="4609505"/>
            <a:ext cx="1275333" cy="17004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23549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B413F-C8AE-481F-83F7-2C92E8C18E00}"/>
              </a:ext>
            </a:extLst>
          </p:cNvPr>
          <p:cNvSpPr>
            <a:spLocks noGrp="1"/>
          </p:cNvSpPr>
          <p:nvPr>
            <p:ph type="title"/>
          </p:nvPr>
        </p:nvSpPr>
        <p:spPr/>
        <p:txBody>
          <a:bodyPr/>
          <a:lstStyle/>
          <a:p>
            <a:r>
              <a:rPr lang="en-US">
                <a:cs typeface="Calibri Light"/>
              </a:rPr>
              <a:t>Wireless Advantages</a:t>
            </a:r>
            <a:endParaRPr lang="en-US"/>
          </a:p>
        </p:txBody>
      </p:sp>
      <p:sp>
        <p:nvSpPr>
          <p:cNvPr id="3" name="Content Placeholder 2">
            <a:extLst>
              <a:ext uri="{FF2B5EF4-FFF2-40B4-BE49-F238E27FC236}">
                <a16:creationId xmlns:a16="http://schemas.microsoft.com/office/drawing/2014/main" id="{71C5B0CC-88A1-49EF-A903-DE1CC9AB47C1}"/>
              </a:ext>
            </a:extLst>
          </p:cNvPr>
          <p:cNvSpPr>
            <a:spLocks noGrp="1"/>
          </p:cNvSpPr>
          <p:nvPr>
            <p:ph idx="1"/>
          </p:nvPr>
        </p:nvSpPr>
        <p:spPr/>
        <p:txBody>
          <a:bodyPr vert="horz" lIns="91440" tIns="45720" rIns="91440" bIns="45720" rtlCol="0" anchor="t">
            <a:normAutofit/>
          </a:bodyPr>
          <a:lstStyle/>
          <a:p>
            <a:r>
              <a:rPr lang="en-US" dirty="0">
                <a:cs typeface="Calibri"/>
              </a:rPr>
              <a:t>Look – no wires!</a:t>
            </a:r>
          </a:p>
          <a:p>
            <a:r>
              <a:rPr lang="en-US" dirty="0">
                <a:cs typeface="Calibri"/>
              </a:rPr>
              <a:t>Mobility</a:t>
            </a:r>
          </a:p>
          <a:p>
            <a:r>
              <a:rPr lang="en-US" dirty="0">
                <a:cs typeface="Calibri"/>
              </a:rPr>
              <a:t>Deployment</a:t>
            </a:r>
          </a:p>
          <a:p>
            <a:r>
              <a:rPr lang="en-US" dirty="0">
                <a:cs typeface="Calibri"/>
              </a:rPr>
              <a:t>Productivity</a:t>
            </a:r>
          </a:p>
          <a:p>
            <a:r>
              <a:rPr lang="en-US" dirty="0">
                <a:cs typeface="Calibri"/>
              </a:rPr>
              <a:t>Convenience</a:t>
            </a:r>
          </a:p>
          <a:p>
            <a:endParaRPr lang="en-US" dirty="0">
              <a:cs typeface="Calibri"/>
            </a:endParaRPr>
          </a:p>
        </p:txBody>
      </p:sp>
      <p:pic>
        <p:nvPicPr>
          <p:cNvPr id="4" name="Picture 4" descr="A circuit board&#10;&#10;Description generated with high confidence">
            <a:extLst>
              <a:ext uri="{FF2B5EF4-FFF2-40B4-BE49-F238E27FC236}">
                <a16:creationId xmlns:a16="http://schemas.microsoft.com/office/drawing/2014/main" id="{ECA2D7DA-CABD-4433-9A25-C504E0AD97B7}"/>
              </a:ext>
            </a:extLst>
          </p:cNvPr>
          <p:cNvPicPr>
            <a:picLocks noChangeAspect="1"/>
          </p:cNvPicPr>
          <p:nvPr/>
        </p:nvPicPr>
        <p:blipFill>
          <a:blip r:embed="rId3"/>
          <a:stretch>
            <a:fillRect/>
          </a:stretch>
        </p:blipFill>
        <p:spPr>
          <a:xfrm>
            <a:off x="6008388" y="1781086"/>
            <a:ext cx="5480469" cy="3640886"/>
          </a:xfrm>
          <a:prstGeom prst="rect">
            <a:avLst/>
          </a:prstGeom>
        </p:spPr>
      </p:pic>
    </p:spTree>
    <p:extLst>
      <p:ext uri="{BB962C8B-B14F-4D97-AF65-F5344CB8AC3E}">
        <p14:creationId xmlns:p14="http://schemas.microsoft.com/office/powerpoint/2010/main" val="3194183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F4C0B10B-D2C4-4A54-AFAD-3D27DF88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B6BADB90-C74B-40D6-86DC-503F65FCE8D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26" name="Freeform 44">
              <a:extLst>
                <a:ext uri="{FF2B5EF4-FFF2-40B4-BE49-F238E27FC236}">
                  <a16:creationId xmlns:a16="http://schemas.microsoft.com/office/drawing/2014/main" id="{6559431D-1886-4AE0-9B87-9AD2ECAB843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45">
              <a:extLst>
                <a:ext uri="{FF2B5EF4-FFF2-40B4-BE49-F238E27FC236}">
                  <a16:creationId xmlns:a16="http://schemas.microsoft.com/office/drawing/2014/main" id="{373850A5-B04A-4FCD-9E73-EE322167FB3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46">
              <a:extLst>
                <a:ext uri="{FF2B5EF4-FFF2-40B4-BE49-F238E27FC236}">
                  <a16:creationId xmlns:a16="http://schemas.microsoft.com/office/drawing/2014/main" id="{82C18C67-80FA-4738-AA53-0AF2419F98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47">
              <a:extLst>
                <a:ext uri="{FF2B5EF4-FFF2-40B4-BE49-F238E27FC236}">
                  <a16:creationId xmlns:a16="http://schemas.microsoft.com/office/drawing/2014/main" id="{48543B1A-8BF5-4C63-8404-41B2EA70B3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Rectangle 29">
              <a:extLst>
                <a:ext uri="{FF2B5EF4-FFF2-40B4-BE49-F238E27FC236}">
                  <a16:creationId xmlns:a16="http://schemas.microsoft.com/office/drawing/2014/main" id="{92DF5096-E051-498C-A3ED-CBA77A813AA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00485077-B81D-48FE-A271-5585387F1FDD}"/>
              </a:ext>
            </a:extLst>
          </p:cNvPr>
          <p:cNvSpPr>
            <a:spLocks noGrp="1"/>
          </p:cNvSpPr>
          <p:nvPr>
            <p:ph type="title"/>
          </p:nvPr>
        </p:nvSpPr>
        <p:spPr>
          <a:xfrm>
            <a:off x="1047280" y="759805"/>
            <a:ext cx="10306520" cy="1325563"/>
          </a:xfrm>
        </p:spPr>
        <p:txBody>
          <a:bodyPr>
            <a:normAutofit/>
          </a:bodyPr>
          <a:lstStyle/>
          <a:p>
            <a:r>
              <a:rPr lang="en-US" sz="4000">
                <a:solidFill>
                  <a:srgbClr val="FFFFFF"/>
                </a:solidFill>
                <a:cs typeface="Calibri Light"/>
              </a:rPr>
              <a:t>Problems</a:t>
            </a:r>
            <a:endParaRPr lang="en-US" sz="4000">
              <a:solidFill>
                <a:srgbClr val="FFFFFF"/>
              </a:solidFill>
            </a:endParaRPr>
          </a:p>
        </p:txBody>
      </p:sp>
      <p:sp>
        <p:nvSpPr>
          <p:cNvPr id="3" name="Content Placeholder 2">
            <a:extLst>
              <a:ext uri="{FF2B5EF4-FFF2-40B4-BE49-F238E27FC236}">
                <a16:creationId xmlns:a16="http://schemas.microsoft.com/office/drawing/2014/main" id="{F4488E63-B745-4769-89B0-FC769F04F9DF}"/>
              </a:ext>
            </a:extLst>
          </p:cNvPr>
          <p:cNvSpPr>
            <a:spLocks noGrp="1"/>
          </p:cNvSpPr>
          <p:nvPr>
            <p:ph idx="1"/>
          </p:nvPr>
        </p:nvSpPr>
        <p:spPr>
          <a:xfrm>
            <a:off x="1424904" y="2494450"/>
            <a:ext cx="5003888" cy="4055640"/>
          </a:xfrm>
        </p:spPr>
        <p:txBody>
          <a:bodyPr vert="horz" lIns="91440" tIns="45720" rIns="91440" bIns="45720" rtlCol="0">
            <a:noAutofit/>
          </a:bodyPr>
          <a:lstStyle/>
          <a:p>
            <a:pPr>
              <a:buNone/>
            </a:pPr>
            <a:r>
              <a:rPr lang="en-US" sz="1600" b="1" dirty="0">
                <a:cs typeface="Calibri"/>
              </a:rPr>
              <a:t>Physical differences from wired link ….</a:t>
            </a:r>
          </a:p>
          <a:p>
            <a:pPr lvl="1">
              <a:buFont typeface="Arial"/>
              <a:buChar char="•"/>
            </a:pPr>
            <a:r>
              <a:rPr lang="en-US" sz="1600" i="1" dirty="0">
                <a:cs typeface="Calibri"/>
              </a:rPr>
              <a:t>decreased signal strength: </a:t>
            </a:r>
            <a:r>
              <a:rPr lang="en-US" sz="1600" dirty="0">
                <a:cs typeface="Calibri"/>
              </a:rPr>
              <a:t>radio signal attenuates as it propagates through matter (path loss)</a:t>
            </a:r>
          </a:p>
          <a:p>
            <a:pPr lvl="1">
              <a:buFont typeface="Arial"/>
              <a:buChar char="•"/>
            </a:pPr>
            <a:r>
              <a:rPr lang="en-US" sz="1600" i="1" dirty="0">
                <a:cs typeface="Calibri"/>
              </a:rPr>
              <a:t>interference from other sources: </a:t>
            </a:r>
            <a:r>
              <a:rPr lang="en-US" sz="1600" dirty="0">
                <a:cs typeface="Calibri"/>
              </a:rPr>
              <a:t>standardized wireless network frequencies (e.g., 2.4 GHz) shared by other devices (e.g., phone); devices (motors) interfere as well</a:t>
            </a:r>
          </a:p>
          <a:p>
            <a:pPr lvl="1">
              <a:buFont typeface="Arial"/>
              <a:buChar char="•"/>
            </a:pPr>
            <a:r>
              <a:rPr lang="en-US" sz="1600" i="1" dirty="0">
                <a:cs typeface="Calibri"/>
              </a:rPr>
              <a:t>multipath propagation: </a:t>
            </a:r>
            <a:r>
              <a:rPr lang="en-US" sz="1600" dirty="0">
                <a:cs typeface="Calibri"/>
              </a:rPr>
              <a:t>radio signal reflects off objects ground, arriving at destination at slightly different times</a:t>
            </a:r>
          </a:p>
          <a:p>
            <a:pPr>
              <a:buFont typeface="Arial"/>
              <a:buChar char="•"/>
            </a:pPr>
            <a:r>
              <a:rPr lang="en-US" sz="1600" dirty="0">
                <a:cs typeface="Calibri"/>
              </a:rPr>
              <a:t>make communication across (even a point to point) wireless link </a:t>
            </a:r>
            <a:r>
              <a:rPr lang="en-US" altLang="ja-JP" sz="1600" dirty="0">
                <a:cs typeface="Calibri"/>
              </a:rPr>
              <a:t> </a:t>
            </a:r>
            <a:r>
              <a:rPr lang="ja-JP" altLang="en-US" sz="1600" dirty="0">
                <a:cs typeface="Calibri"/>
              </a:rPr>
              <a:t>“</a:t>
            </a:r>
            <a:r>
              <a:rPr lang="en-US" sz="1600" dirty="0">
                <a:cs typeface="Calibri"/>
              </a:rPr>
              <a:t>difficult</a:t>
            </a:r>
            <a:r>
              <a:rPr lang="ja-JP" altLang="en-US" sz="1600" dirty="0">
                <a:cs typeface="Calibri"/>
              </a:rPr>
              <a:t>” </a:t>
            </a:r>
            <a:r>
              <a:rPr lang="en-IE" altLang="ja-JP" sz="1600" dirty="0">
                <a:cs typeface="Calibri"/>
              </a:rPr>
              <a:t>compared to wired link</a:t>
            </a:r>
            <a:endParaRPr lang="en-US" altLang="ja-JP" sz="1600" dirty="0">
              <a:cs typeface="Calibri"/>
            </a:endParaRPr>
          </a:p>
          <a:p>
            <a:pPr>
              <a:buFont typeface="Arial"/>
              <a:buChar char="•"/>
            </a:pPr>
            <a:r>
              <a:rPr lang="en-US" sz="1600" dirty="0">
                <a:cs typeface="Calibri"/>
              </a:rPr>
              <a:t>Security</a:t>
            </a:r>
          </a:p>
          <a:p>
            <a:pPr>
              <a:buFont typeface="Arial"/>
              <a:buChar char="•"/>
            </a:pPr>
            <a:r>
              <a:rPr lang="en-US" sz="1600" dirty="0">
                <a:cs typeface="Calibri"/>
              </a:rPr>
              <a:t>Speed</a:t>
            </a:r>
            <a:endParaRPr lang="en-US" sz="1600" dirty="0"/>
          </a:p>
        </p:txBody>
      </p:sp>
      <p:pic>
        <p:nvPicPr>
          <p:cNvPr id="8" name="Picture 7" descr="Chart, line chart&#10;&#10;Description automatically generated">
            <a:extLst>
              <a:ext uri="{FF2B5EF4-FFF2-40B4-BE49-F238E27FC236}">
                <a16:creationId xmlns:a16="http://schemas.microsoft.com/office/drawing/2014/main" id="{D65E5DA9-312C-4DF9-A574-303DC9D6F5FD}"/>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230" r="-4" b="-4"/>
          <a:stretch/>
        </p:blipFill>
        <p:spPr>
          <a:xfrm>
            <a:off x="7455506" y="3498980"/>
            <a:ext cx="3445790" cy="2556768"/>
          </a:xfrm>
          <a:prstGeom prst="rect">
            <a:avLst/>
          </a:prstGeom>
        </p:spPr>
      </p:pic>
      <p:sp>
        <p:nvSpPr>
          <p:cNvPr id="9" name="TextBox 8">
            <a:extLst>
              <a:ext uri="{FF2B5EF4-FFF2-40B4-BE49-F238E27FC236}">
                <a16:creationId xmlns:a16="http://schemas.microsoft.com/office/drawing/2014/main" id="{B9F57637-D235-4F26-A9D6-D404044E06DE}"/>
              </a:ext>
            </a:extLst>
          </p:cNvPr>
          <p:cNvSpPr txBox="1"/>
          <p:nvPr/>
        </p:nvSpPr>
        <p:spPr>
          <a:xfrm>
            <a:off x="8441969" y="5855693"/>
            <a:ext cx="2459327" cy="200055"/>
          </a:xfrm>
          <a:prstGeom prst="rect">
            <a:avLst/>
          </a:prstGeom>
          <a:solidFill>
            <a:srgbClr val="000000"/>
          </a:solidFill>
        </p:spPr>
        <p:txBody>
          <a:bodyPr wrap="none" rtlCol="0">
            <a:spAutoFit/>
          </a:bodyPr>
          <a:lstStyle/>
          <a:p>
            <a:pPr algn="r">
              <a:spcAft>
                <a:spcPts val="600"/>
              </a:spcAft>
            </a:pPr>
            <a:r>
              <a:rPr lang="en-IE" sz="700">
                <a:solidFill>
                  <a:srgbClr val="FFFFFF"/>
                </a:solidFill>
                <a:hlinkClick r:id="rId3" tooltip="http://eltamiz.com/elcedazo/2008/08/31/am-fm-y-otras-modulaciones-del-monton/">
                  <a:extLst>
                    <a:ext uri="{A12FA001-AC4F-418D-AE19-62706E023703}">
                      <ahyp:hlinkClr xmlns:ahyp="http://schemas.microsoft.com/office/drawing/2018/hyperlinkcolor" val="tx"/>
                    </a:ext>
                  </a:extLst>
                </a:hlinkClick>
              </a:rPr>
              <a:t>This Photo</a:t>
            </a:r>
            <a:r>
              <a:rPr lang="en-IE" sz="700">
                <a:solidFill>
                  <a:srgbClr val="FFFFFF"/>
                </a:solidFill>
              </a:rPr>
              <a:t> by Unknown Author is licensed under </a:t>
            </a:r>
            <a:r>
              <a:rPr lang="en-IE" sz="700">
                <a:solidFill>
                  <a:srgbClr val="FFFFFF"/>
                </a:solidFill>
                <a:hlinkClick r:id="rId4" tooltip="https://creativecommons.org/licenses/by-nc-nd/3.0/">
                  <a:extLst>
                    <a:ext uri="{A12FA001-AC4F-418D-AE19-62706E023703}">
                      <ahyp:hlinkClr xmlns:ahyp="http://schemas.microsoft.com/office/drawing/2018/hyperlinkcolor" val="tx"/>
                    </a:ext>
                  </a:extLst>
                </a:hlinkClick>
              </a:rPr>
              <a:t>CC BY-NC-ND</a:t>
            </a:r>
            <a:endParaRPr lang="en-IE" sz="700">
              <a:solidFill>
                <a:srgbClr val="FFFFFF"/>
              </a:solidFill>
            </a:endParaRPr>
          </a:p>
        </p:txBody>
      </p:sp>
    </p:spTree>
    <p:extLst>
      <p:ext uri="{BB962C8B-B14F-4D97-AF65-F5344CB8AC3E}">
        <p14:creationId xmlns:p14="http://schemas.microsoft.com/office/powerpoint/2010/main" val="4189445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214F3-AEA2-47E4-BEEF-0751B347EED9}"/>
              </a:ext>
            </a:extLst>
          </p:cNvPr>
          <p:cNvSpPr>
            <a:spLocks noGrp="1"/>
          </p:cNvSpPr>
          <p:nvPr>
            <p:ph type="title"/>
          </p:nvPr>
        </p:nvSpPr>
        <p:spPr/>
        <p:txBody>
          <a:bodyPr/>
          <a:lstStyle/>
          <a:p>
            <a:r>
              <a:rPr lang="en-US">
                <a:cs typeface="Calibri Light"/>
              </a:rPr>
              <a:t>Wireless Networks Classification</a:t>
            </a:r>
            <a:endParaRPr lang="en-US"/>
          </a:p>
        </p:txBody>
      </p:sp>
      <p:sp>
        <p:nvSpPr>
          <p:cNvPr id="3" name="Content Placeholder 2">
            <a:extLst>
              <a:ext uri="{FF2B5EF4-FFF2-40B4-BE49-F238E27FC236}">
                <a16:creationId xmlns:a16="http://schemas.microsoft.com/office/drawing/2014/main" id="{E6A99D9E-81AE-479A-8417-3F49F89B9F48}"/>
              </a:ext>
            </a:extLst>
          </p:cNvPr>
          <p:cNvSpPr>
            <a:spLocks noGrp="1"/>
          </p:cNvSpPr>
          <p:nvPr>
            <p:ph idx="1"/>
          </p:nvPr>
        </p:nvSpPr>
        <p:spPr/>
        <p:txBody>
          <a:bodyPr vert="horz" lIns="91440" tIns="45720" rIns="91440" bIns="45720" rtlCol="0" anchor="t">
            <a:normAutofit/>
          </a:bodyPr>
          <a:lstStyle/>
          <a:p>
            <a:r>
              <a:rPr lang="en-US">
                <a:cs typeface="Calibri"/>
              </a:rPr>
              <a:t>Wireless technologies can be classified </a:t>
            </a:r>
            <a:r>
              <a:rPr lang="en-US" b="1">
                <a:cs typeface="Calibri"/>
              </a:rPr>
              <a:t>broadly</a:t>
            </a:r>
            <a:r>
              <a:rPr lang="en-US">
                <a:cs typeface="Calibri"/>
              </a:rPr>
              <a:t> according to network type:</a:t>
            </a:r>
            <a:endParaRPr lang="en-US"/>
          </a:p>
        </p:txBody>
      </p:sp>
      <p:pic>
        <p:nvPicPr>
          <p:cNvPr id="4" name="Picture 4" descr="A screenshot of a cell phone&#10;&#10;Description generated with very high confidence">
            <a:extLst>
              <a:ext uri="{FF2B5EF4-FFF2-40B4-BE49-F238E27FC236}">
                <a16:creationId xmlns:a16="http://schemas.microsoft.com/office/drawing/2014/main" id="{1536BEB4-DD4C-42C7-952E-31BE6BEE48DD}"/>
              </a:ext>
            </a:extLst>
          </p:cNvPr>
          <p:cNvPicPr>
            <a:picLocks noChangeAspect="1"/>
          </p:cNvPicPr>
          <p:nvPr/>
        </p:nvPicPr>
        <p:blipFill>
          <a:blip r:embed="rId3"/>
          <a:stretch>
            <a:fillRect/>
          </a:stretch>
        </p:blipFill>
        <p:spPr>
          <a:xfrm>
            <a:off x="1072552" y="2714472"/>
            <a:ext cx="10377576" cy="3772563"/>
          </a:xfrm>
          <a:prstGeom prst="rect">
            <a:avLst/>
          </a:prstGeom>
        </p:spPr>
      </p:pic>
      <p:sp>
        <p:nvSpPr>
          <p:cNvPr id="6" name="Rectangle: Rounded Corners 5">
            <a:extLst>
              <a:ext uri="{FF2B5EF4-FFF2-40B4-BE49-F238E27FC236}">
                <a16:creationId xmlns:a16="http://schemas.microsoft.com/office/drawing/2014/main" id="{851D64DD-4A4E-4575-B03C-8386D6044C7E}"/>
              </a:ext>
            </a:extLst>
          </p:cNvPr>
          <p:cNvSpPr/>
          <p:nvPr/>
        </p:nvSpPr>
        <p:spPr>
          <a:xfrm>
            <a:off x="1339969" y="3007743"/>
            <a:ext cx="2783456"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cs typeface="Calibri"/>
              </a:rPr>
              <a:t>We'll focus in these Areas</a:t>
            </a:r>
            <a:endParaRPr lang="en-US"/>
          </a:p>
        </p:txBody>
      </p:sp>
      <p:cxnSp>
        <p:nvCxnSpPr>
          <p:cNvPr id="7" name="Straight Arrow Connector 6">
            <a:extLst>
              <a:ext uri="{FF2B5EF4-FFF2-40B4-BE49-F238E27FC236}">
                <a16:creationId xmlns:a16="http://schemas.microsoft.com/office/drawing/2014/main" id="{01BF674F-FDEC-4ED7-AAEE-5B9C15F01EBF}"/>
              </a:ext>
            </a:extLst>
          </p:cNvPr>
          <p:cNvCxnSpPr/>
          <p:nvPr/>
        </p:nvCxnSpPr>
        <p:spPr>
          <a:xfrm>
            <a:off x="2921479" y="3697856"/>
            <a:ext cx="6018362" cy="150387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8" name="Straight Arrow Connector 7">
            <a:extLst>
              <a:ext uri="{FF2B5EF4-FFF2-40B4-BE49-F238E27FC236}">
                <a16:creationId xmlns:a16="http://schemas.microsoft.com/office/drawing/2014/main" id="{0D94D15A-BBEA-4861-8D2B-DAF6B6E7B2A1}"/>
              </a:ext>
            </a:extLst>
          </p:cNvPr>
          <p:cNvCxnSpPr>
            <a:cxnSpLocks/>
          </p:cNvCxnSpPr>
          <p:nvPr/>
        </p:nvCxnSpPr>
        <p:spPr>
          <a:xfrm>
            <a:off x="2145101" y="3697856"/>
            <a:ext cx="310551" cy="154700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9" name="Rectangle: Rounded Corners 8">
            <a:extLst>
              <a:ext uri="{FF2B5EF4-FFF2-40B4-BE49-F238E27FC236}">
                <a16:creationId xmlns:a16="http://schemas.microsoft.com/office/drawing/2014/main" id="{86B3793F-04F0-42E1-9185-9A0712462095}"/>
              </a:ext>
            </a:extLst>
          </p:cNvPr>
          <p:cNvSpPr/>
          <p:nvPr/>
        </p:nvSpPr>
        <p:spPr>
          <a:xfrm>
            <a:off x="994912" y="5193101"/>
            <a:ext cx="2754701" cy="1101305"/>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B3A7B90B-C6C4-4BF1-B9A8-1CEC26EB2649}"/>
              </a:ext>
            </a:extLst>
          </p:cNvPr>
          <p:cNvSpPr/>
          <p:nvPr/>
        </p:nvSpPr>
        <p:spPr>
          <a:xfrm>
            <a:off x="8787440" y="5193100"/>
            <a:ext cx="2524664" cy="1101305"/>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13983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D4993743-B10A-433C-9996-3035D2C3A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45">
            <a:extLst>
              <a:ext uri="{FF2B5EF4-FFF2-40B4-BE49-F238E27FC236}">
                <a16:creationId xmlns:a16="http://schemas.microsoft.com/office/drawing/2014/main" id="{BB3B8946-A0AA-42D4-8A24-639DC6EA17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46">
            <a:extLst>
              <a:ext uri="{FF2B5EF4-FFF2-40B4-BE49-F238E27FC236}">
                <a16:creationId xmlns:a16="http://schemas.microsoft.com/office/drawing/2014/main" id="{AB1038E6-06EF-4DCB-B52E-D3825C50F7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47">
            <a:extLst>
              <a:ext uri="{FF2B5EF4-FFF2-40B4-BE49-F238E27FC236}">
                <a16:creationId xmlns:a16="http://schemas.microsoft.com/office/drawing/2014/main" id="{5C7EF35C-8B7D-4026-8F09-8B2B225057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44">
            <a:extLst>
              <a:ext uri="{FF2B5EF4-FFF2-40B4-BE49-F238E27FC236}">
                <a16:creationId xmlns:a16="http://schemas.microsoft.com/office/drawing/2014/main" id="{5F24A71D-C0A9-49AC-B2D1-5A9EA2BD38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348538"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Rectangle 23">
            <a:extLst>
              <a:ext uri="{FF2B5EF4-FFF2-40B4-BE49-F238E27FC236}">
                <a16:creationId xmlns:a16="http://schemas.microsoft.com/office/drawing/2014/main" id="{14280C55-570C-4284-9850-B2BA33DB67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7033095"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94E0CEDF-3928-4E3B-93F5-19A098CD0273}"/>
              </a:ext>
            </a:extLst>
          </p:cNvPr>
          <p:cNvSpPr>
            <a:spLocks noGrp="1"/>
          </p:cNvSpPr>
          <p:nvPr>
            <p:ph type="title"/>
          </p:nvPr>
        </p:nvSpPr>
        <p:spPr>
          <a:xfrm>
            <a:off x="964760" y="804328"/>
            <a:ext cx="6091312" cy="1205821"/>
          </a:xfrm>
        </p:spPr>
        <p:txBody>
          <a:bodyPr>
            <a:normAutofit/>
          </a:bodyPr>
          <a:lstStyle/>
          <a:p>
            <a:r>
              <a:rPr lang="en-IE" sz="4000">
                <a:solidFill>
                  <a:srgbClr val="FEFFFF"/>
                </a:solidFill>
              </a:rPr>
              <a:t>Wireless Technologies</a:t>
            </a:r>
          </a:p>
        </p:txBody>
      </p:sp>
      <p:sp>
        <p:nvSpPr>
          <p:cNvPr id="3" name="Content Placeholder 2">
            <a:extLst>
              <a:ext uri="{FF2B5EF4-FFF2-40B4-BE49-F238E27FC236}">
                <a16:creationId xmlns:a16="http://schemas.microsoft.com/office/drawing/2014/main" id="{C09E41DA-8F6A-49B3-A85C-84DF06CC5D83}"/>
              </a:ext>
            </a:extLst>
          </p:cNvPr>
          <p:cNvSpPr>
            <a:spLocks noGrp="1"/>
          </p:cNvSpPr>
          <p:nvPr>
            <p:ph idx="1"/>
          </p:nvPr>
        </p:nvSpPr>
        <p:spPr>
          <a:xfrm>
            <a:off x="1282189" y="2494450"/>
            <a:ext cx="5773883" cy="3563159"/>
          </a:xfrm>
        </p:spPr>
        <p:txBody>
          <a:bodyPr>
            <a:normAutofit fontScale="92500" lnSpcReduction="10000"/>
          </a:bodyPr>
          <a:lstStyle/>
          <a:p>
            <a:pPr marL="0" lvl="1" indent="0">
              <a:spcAft>
                <a:spcPts val="600"/>
              </a:spcAft>
              <a:buSzPct val="90000"/>
              <a:buNone/>
            </a:pPr>
            <a:r>
              <a:rPr lang="en-US" sz="1100" b="1" dirty="0" err="1"/>
              <a:t>WiFi</a:t>
            </a:r>
            <a:r>
              <a:rPr lang="en-US" sz="1100" b="1" dirty="0"/>
              <a:t> - </a:t>
            </a:r>
            <a:r>
              <a:rPr lang="en-GB" sz="1100" dirty="0"/>
              <a:t>family of wireless network protocols, based on the IEEE 802.11  standards (1998)</a:t>
            </a:r>
            <a:endParaRPr lang="en-US" sz="1100" dirty="0"/>
          </a:p>
          <a:p>
            <a:pPr marL="0" lvl="1" indent="0">
              <a:spcAft>
                <a:spcPts val="600"/>
              </a:spcAft>
              <a:buSzPct val="90000"/>
              <a:buNone/>
            </a:pPr>
            <a:r>
              <a:rPr lang="en-US" sz="1100" b="1" dirty="0"/>
              <a:t>Bluetooth </a:t>
            </a:r>
            <a:r>
              <a:rPr lang="en-US" sz="1100" dirty="0"/>
              <a:t>– IEEE WPAN standard used for device pairing up to 100m  distance.</a:t>
            </a:r>
          </a:p>
          <a:p>
            <a:pPr marL="242888" lvl="2">
              <a:spcAft>
                <a:spcPts val="600"/>
              </a:spcAft>
              <a:buSzPct val="90000"/>
              <a:buFont typeface="Arial" panose="020B0604020202020204" pitchFamily="34" charset="0"/>
              <a:buChar char="•"/>
            </a:pPr>
            <a:r>
              <a:rPr lang="en-US" sz="1100" dirty="0"/>
              <a:t>Bluetooth Low Energy (BLE) – Supports mesh topology to large scale network devices.</a:t>
            </a:r>
          </a:p>
          <a:p>
            <a:pPr marL="242888" lvl="2">
              <a:spcAft>
                <a:spcPts val="600"/>
              </a:spcAft>
              <a:buSzPct val="90000"/>
              <a:buFont typeface="Arial" panose="020B0604020202020204" pitchFamily="34" charset="0"/>
              <a:buChar char="•"/>
            </a:pPr>
            <a:r>
              <a:rPr lang="en-US" sz="1100" dirty="0"/>
              <a:t>Bluetooth Basic Rate/Enhanced Rate (BR/EDR) – Supports point-to-point topologies and is optimized for audio streaming.</a:t>
            </a:r>
          </a:p>
          <a:p>
            <a:pPr marL="0" lvl="1" indent="0">
              <a:spcAft>
                <a:spcPts val="600"/>
              </a:spcAft>
              <a:buSzPct val="90000"/>
              <a:buNone/>
            </a:pPr>
            <a:r>
              <a:rPr lang="en-US" sz="1100" b="1" dirty="0"/>
              <a:t>WiMAX (Worldwide Interoperability for Microwave Access) </a:t>
            </a:r>
            <a:r>
              <a:rPr lang="en-US" sz="1100" dirty="0"/>
              <a:t>– Alternative broadband wired internet connections. IEEE 802.16 WLAN standard for up 30 miles (50 km).</a:t>
            </a:r>
          </a:p>
          <a:p>
            <a:pPr marL="0" lvl="1" indent="0">
              <a:spcAft>
                <a:spcPts val="600"/>
              </a:spcAft>
              <a:buSzPct val="90000"/>
              <a:buNone/>
            </a:pPr>
            <a:r>
              <a:rPr lang="en-US" sz="1100" b="1" dirty="0"/>
              <a:t>Cellular Broadband </a:t>
            </a:r>
            <a:r>
              <a:rPr lang="en-US" sz="1100" dirty="0"/>
              <a:t>– Carry both voice and data. Used by phones, automobiles, tablets, and laptops.</a:t>
            </a:r>
          </a:p>
          <a:p>
            <a:pPr marL="242888" lvl="2">
              <a:spcAft>
                <a:spcPts val="600"/>
              </a:spcAft>
              <a:buSzPct val="90000"/>
              <a:buFont typeface="Arial" panose="020B0604020202020204" pitchFamily="34" charset="0"/>
              <a:buChar char="•"/>
            </a:pPr>
            <a:r>
              <a:rPr lang="en-US" sz="1100" dirty="0"/>
              <a:t>Global System of Mobile (GSM) – Internationally recognized</a:t>
            </a:r>
          </a:p>
          <a:p>
            <a:pPr marL="242888" lvl="2">
              <a:spcAft>
                <a:spcPts val="600"/>
              </a:spcAft>
              <a:buSzPct val="90000"/>
              <a:buFont typeface="Arial" panose="020B0604020202020204" pitchFamily="34" charset="0"/>
              <a:buChar char="•"/>
            </a:pPr>
            <a:r>
              <a:rPr lang="en-US" sz="1100" dirty="0"/>
              <a:t>3G,4G,5G</a:t>
            </a:r>
          </a:p>
          <a:p>
            <a:pPr marL="14288" lvl="2" indent="0">
              <a:spcAft>
                <a:spcPts val="600"/>
              </a:spcAft>
              <a:buSzPct val="90000"/>
              <a:buNone/>
            </a:pPr>
            <a:r>
              <a:rPr lang="en-US" sz="1100" b="1" dirty="0"/>
              <a:t>Satellite Broadband </a:t>
            </a:r>
            <a:r>
              <a:rPr lang="en-US" sz="1100" dirty="0"/>
              <a:t>– Uses directional satellite dish aligned with satellite in geostationary orbit. Needs clear line of site. Typically used in rural locations where cable/DSL are unavailable.#</a:t>
            </a:r>
          </a:p>
          <a:p>
            <a:pPr marL="14288" lvl="2" indent="0">
              <a:spcAft>
                <a:spcPts val="600"/>
              </a:spcAft>
              <a:buSzPct val="90000"/>
              <a:buNone/>
            </a:pPr>
            <a:r>
              <a:rPr lang="en-US" sz="1100" b="1" dirty="0"/>
              <a:t>Low Power Wide Area Networks(LPWAN), Narrowband (NB) IoT</a:t>
            </a:r>
          </a:p>
          <a:p>
            <a:pPr marL="185738" lvl="2" indent="-171450">
              <a:spcAft>
                <a:spcPts val="600"/>
              </a:spcAft>
              <a:buSzPct val="90000"/>
            </a:pPr>
            <a:r>
              <a:rPr lang="en-GB" sz="1050" b="0" i="0" dirty="0">
                <a:solidFill>
                  <a:srgbClr val="202122"/>
                </a:solidFill>
                <a:effectLst/>
                <a:latin typeface="Arial" panose="020B0604020202020204" pitchFamily="34" charset="0"/>
              </a:rPr>
              <a:t> long-range communications at a low </a:t>
            </a:r>
            <a:r>
              <a:rPr lang="en-GB" sz="1050" b="0" i="0" dirty="0" err="1">
                <a:solidFill>
                  <a:srgbClr val="202122"/>
                </a:solidFill>
                <a:effectLst/>
                <a:latin typeface="Arial" panose="020B0604020202020204" pitchFamily="34" charset="0"/>
              </a:rPr>
              <a:t>bandwith</a:t>
            </a:r>
            <a:endParaRPr lang="en-GB" sz="1050" dirty="0">
              <a:solidFill>
                <a:srgbClr val="202122"/>
              </a:solidFill>
              <a:latin typeface="Arial" panose="020B0604020202020204" pitchFamily="34" charset="0"/>
            </a:endParaRPr>
          </a:p>
          <a:p>
            <a:pPr marL="185738" lvl="2" indent="-171450">
              <a:spcAft>
                <a:spcPts val="600"/>
              </a:spcAft>
              <a:buSzPct val="90000"/>
            </a:pPr>
            <a:r>
              <a:rPr lang="en-GB" sz="1050" dirty="0">
                <a:solidFill>
                  <a:srgbClr val="202122"/>
                </a:solidFill>
                <a:latin typeface="Arial" panose="020B0604020202020204" pitchFamily="34" charset="0"/>
              </a:rPr>
              <a:t>Sigfox, LORA, Vodafone NB-IoT</a:t>
            </a:r>
            <a:endParaRPr lang="en-US" sz="1100" dirty="0"/>
          </a:p>
          <a:p>
            <a:pPr marL="0" lvl="1" indent="0">
              <a:spcAft>
                <a:spcPts val="600"/>
              </a:spcAft>
              <a:buSzPct val="90000"/>
              <a:buNone/>
            </a:pPr>
            <a:endParaRPr lang="en-US" sz="1100" b="1" dirty="0"/>
          </a:p>
          <a:p>
            <a:endParaRPr lang="en-IE" sz="1100" dirty="0"/>
          </a:p>
        </p:txBody>
      </p:sp>
      <p:pic>
        <p:nvPicPr>
          <p:cNvPr id="5" name="Picture 4" descr="Diagram, engineering drawing&#10;&#10;Description automatically generated">
            <a:extLst>
              <a:ext uri="{FF2B5EF4-FFF2-40B4-BE49-F238E27FC236}">
                <a16:creationId xmlns:a16="http://schemas.microsoft.com/office/drawing/2014/main" id="{F1996FA6-78A4-4A96-933D-4E6AC6C76CC3}"/>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815744" y="2174721"/>
            <a:ext cx="4278291" cy="1336965"/>
          </a:xfrm>
          <a:prstGeom prst="rect">
            <a:avLst/>
          </a:prstGeom>
        </p:spPr>
      </p:pic>
      <p:pic>
        <p:nvPicPr>
          <p:cNvPr id="8" name="Picture 7" descr="A sign on the side of a building&#10;&#10;Description automatically generated">
            <a:extLst>
              <a:ext uri="{FF2B5EF4-FFF2-40B4-BE49-F238E27FC236}">
                <a16:creationId xmlns:a16="http://schemas.microsoft.com/office/drawing/2014/main" id="{0BC7284F-7978-49FA-B5D2-DAF7515EA904}"/>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8437936" y="3646582"/>
            <a:ext cx="2875087" cy="2757470"/>
          </a:xfrm>
          <a:prstGeom prst="rect">
            <a:avLst/>
          </a:prstGeom>
        </p:spPr>
      </p:pic>
      <p:sp>
        <p:nvSpPr>
          <p:cNvPr id="6" name="TextBox 5">
            <a:extLst>
              <a:ext uri="{FF2B5EF4-FFF2-40B4-BE49-F238E27FC236}">
                <a16:creationId xmlns:a16="http://schemas.microsoft.com/office/drawing/2014/main" id="{B5A4B763-5C64-4AE1-9D45-DE80DDD98FF0}"/>
              </a:ext>
            </a:extLst>
          </p:cNvPr>
          <p:cNvSpPr txBox="1"/>
          <p:nvPr/>
        </p:nvSpPr>
        <p:spPr>
          <a:xfrm>
            <a:off x="8885499" y="6463355"/>
            <a:ext cx="2186816" cy="200055"/>
          </a:xfrm>
          <a:prstGeom prst="rect">
            <a:avLst/>
          </a:prstGeom>
          <a:solidFill>
            <a:srgbClr val="000000"/>
          </a:solidFill>
        </p:spPr>
        <p:txBody>
          <a:bodyPr wrap="none" rtlCol="0">
            <a:spAutoFit/>
          </a:bodyPr>
          <a:lstStyle/>
          <a:p>
            <a:pPr algn="r">
              <a:spcAft>
                <a:spcPts val="600"/>
              </a:spcAft>
            </a:pPr>
            <a:r>
              <a:rPr lang="en-IE" sz="700">
                <a:solidFill>
                  <a:srgbClr val="FFFFFF"/>
                </a:solidFill>
                <a:hlinkClick r:id="rId3" tooltip="https://www.onecommunityglobal.org/remote-internet-setup/">
                  <a:extLst>
                    <a:ext uri="{A12FA001-AC4F-418D-AE19-62706E023703}">
                      <ahyp:hlinkClr xmlns:ahyp="http://schemas.microsoft.com/office/drawing/2018/hyperlinkcolor" val="tx"/>
                    </a:ext>
                  </a:extLst>
                </a:hlinkClick>
              </a:rPr>
              <a:t>This Photo</a:t>
            </a:r>
            <a:r>
              <a:rPr lang="en-IE" sz="700">
                <a:solidFill>
                  <a:srgbClr val="FFFFFF"/>
                </a:solidFill>
              </a:rPr>
              <a:t> by Unknown Author is licensed under </a:t>
            </a:r>
            <a:r>
              <a:rPr lang="en-IE" sz="700">
                <a:solidFill>
                  <a:srgbClr val="FFFFFF"/>
                </a:solidFill>
                <a:hlinkClick r:id="rId6" tooltip="https://creativecommons.org/licenses/by/3.0/">
                  <a:extLst>
                    <a:ext uri="{A12FA001-AC4F-418D-AE19-62706E023703}">
                      <ahyp:hlinkClr xmlns:ahyp="http://schemas.microsoft.com/office/drawing/2018/hyperlinkcolor" val="tx"/>
                    </a:ext>
                  </a:extLst>
                </a:hlinkClick>
              </a:rPr>
              <a:t>CC BY</a:t>
            </a:r>
            <a:endParaRPr lang="en-IE" sz="700">
              <a:solidFill>
                <a:srgbClr val="FFFFFF"/>
              </a:solidFill>
            </a:endParaRPr>
          </a:p>
        </p:txBody>
      </p:sp>
      <p:pic>
        <p:nvPicPr>
          <p:cNvPr id="1026" name="Picture 2">
            <a:extLst>
              <a:ext uri="{FF2B5EF4-FFF2-40B4-BE49-F238E27FC236}">
                <a16:creationId xmlns:a16="http://schemas.microsoft.com/office/drawing/2014/main" id="{E080E4D3-5989-4CAB-A00D-4A7D4410064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82851" y="453948"/>
            <a:ext cx="1562100" cy="1266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4864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A screenshot of a cell phone&#10;&#10;Description generated with very high confidence">
            <a:extLst>
              <a:ext uri="{FF2B5EF4-FFF2-40B4-BE49-F238E27FC236}">
                <a16:creationId xmlns:a16="http://schemas.microsoft.com/office/drawing/2014/main" id="{8EB1050B-5F7B-428E-8682-62A6E7A4986F}"/>
              </a:ext>
            </a:extLst>
          </p:cNvPr>
          <p:cNvPicPr>
            <a:picLocks noChangeAspect="1"/>
          </p:cNvPicPr>
          <p:nvPr/>
        </p:nvPicPr>
        <p:blipFill>
          <a:blip r:embed="rId3"/>
          <a:stretch>
            <a:fillRect/>
          </a:stretch>
        </p:blipFill>
        <p:spPr>
          <a:xfrm>
            <a:off x="1439687" y="3005137"/>
            <a:ext cx="7601376" cy="3987295"/>
          </a:xfrm>
          <a:prstGeom prst="rect">
            <a:avLst/>
          </a:prstGeom>
        </p:spPr>
      </p:pic>
      <p:sp>
        <p:nvSpPr>
          <p:cNvPr id="2" name="Title 1">
            <a:extLst>
              <a:ext uri="{FF2B5EF4-FFF2-40B4-BE49-F238E27FC236}">
                <a16:creationId xmlns:a16="http://schemas.microsoft.com/office/drawing/2014/main" id="{303EFE70-94FE-4F99-983B-5F8C24C0A70E}"/>
              </a:ext>
            </a:extLst>
          </p:cNvPr>
          <p:cNvSpPr>
            <a:spLocks noGrp="1"/>
          </p:cNvSpPr>
          <p:nvPr>
            <p:ph type="title"/>
          </p:nvPr>
        </p:nvSpPr>
        <p:spPr>
          <a:xfrm>
            <a:off x="838200" y="77578"/>
            <a:ext cx="10515600" cy="1325563"/>
          </a:xfrm>
        </p:spPr>
        <p:txBody>
          <a:bodyPr/>
          <a:lstStyle/>
          <a:p>
            <a:r>
              <a:rPr lang="en-US" b="1" dirty="0">
                <a:cs typeface="Calibri Light"/>
              </a:rPr>
              <a:t>ISM Wireless Bands</a:t>
            </a:r>
            <a:endParaRPr lang="en-US" b="1" dirty="0"/>
          </a:p>
        </p:txBody>
      </p:sp>
      <p:sp>
        <p:nvSpPr>
          <p:cNvPr id="3" name="Content Placeholder 2">
            <a:extLst>
              <a:ext uri="{FF2B5EF4-FFF2-40B4-BE49-F238E27FC236}">
                <a16:creationId xmlns:a16="http://schemas.microsoft.com/office/drawing/2014/main" id="{89E36C2A-E3FF-401D-89AC-4E3688F3BC2E}"/>
              </a:ext>
            </a:extLst>
          </p:cNvPr>
          <p:cNvSpPr>
            <a:spLocks noGrp="1"/>
          </p:cNvSpPr>
          <p:nvPr>
            <p:ph idx="1"/>
          </p:nvPr>
        </p:nvSpPr>
        <p:spPr>
          <a:xfrm>
            <a:off x="680049" y="1207399"/>
            <a:ext cx="10515600" cy="5027073"/>
          </a:xfrm>
        </p:spPr>
        <p:txBody>
          <a:bodyPr vert="horz" lIns="91440" tIns="45720" rIns="91440" bIns="45720" rtlCol="0" anchor="t">
            <a:normAutofit/>
          </a:bodyPr>
          <a:lstStyle/>
          <a:p>
            <a:r>
              <a:rPr lang="en-US" dirty="0">
                <a:cs typeface="Calibri"/>
              </a:rPr>
              <a:t>A region of electromagnetic spectrum is reserved for use by Industrial, Scientific, and Medical (ISM) groups</a:t>
            </a:r>
          </a:p>
          <a:p>
            <a:r>
              <a:rPr lang="en-US" dirty="0">
                <a:cs typeface="Calibri"/>
              </a:rPr>
              <a:t>These frequencies are not licensed to specific carriers</a:t>
            </a:r>
            <a:endParaRPr lang="en-US" dirty="0"/>
          </a:p>
          <a:p>
            <a:pPr lvl="1"/>
            <a:r>
              <a:rPr lang="en-US" dirty="0">
                <a:cs typeface="Calibri"/>
              </a:rPr>
              <a:t>are broadly available for products, and are used for LANs and PANs</a:t>
            </a:r>
          </a:p>
        </p:txBody>
      </p:sp>
    </p:spTree>
    <p:extLst>
      <p:ext uri="{BB962C8B-B14F-4D97-AF65-F5344CB8AC3E}">
        <p14:creationId xmlns:p14="http://schemas.microsoft.com/office/powerpoint/2010/main" val="2628851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964BE-39A8-A40A-F79A-759FB311ECA2}"/>
              </a:ext>
            </a:extLst>
          </p:cNvPr>
          <p:cNvSpPr>
            <a:spLocks noGrp="1"/>
          </p:cNvSpPr>
          <p:nvPr>
            <p:ph type="title"/>
          </p:nvPr>
        </p:nvSpPr>
        <p:spPr/>
        <p:txBody>
          <a:bodyPr/>
          <a:lstStyle/>
          <a:p>
            <a:r>
              <a:rPr lang="en-IE" dirty="0"/>
              <a:t>6 GHz Spectrum Allocation</a:t>
            </a:r>
          </a:p>
        </p:txBody>
      </p:sp>
      <p:sp>
        <p:nvSpPr>
          <p:cNvPr id="3" name="Content Placeholder 2">
            <a:extLst>
              <a:ext uri="{FF2B5EF4-FFF2-40B4-BE49-F238E27FC236}">
                <a16:creationId xmlns:a16="http://schemas.microsoft.com/office/drawing/2014/main" id="{BD8E136B-DD57-DA9C-9D22-E61047AD2CF6}"/>
              </a:ext>
            </a:extLst>
          </p:cNvPr>
          <p:cNvSpPr>
            <a:spLocks noGrp="1"/>
          </p:cNvSpPr>
          <p:nvPr>
            <p:ph idx="1"/>
          </p:nvPr>
        </p:nvSpPr>
        <p:spPr>
          <a:xfrm>
            <a:off x="838200" y="1825625"/>
            <a:ext cx="5576560" cy="4351338"/>
          </a:xfrm>
        </p:spPr>
        <p:txBody>
          <a:bodyPr>
            <a:normAutofit fontScale="77500" lnSpcReduction="20000"/>
          </a:bodyPr>
          <a:lstStyle/>
          <a:p>
            <a:r>
              <a:rPr lang="en-GB" dirty="0"/>
              <a:t>Traditional ISM bands (2.4 GHz and 5 GHz) are crowded due to widespread use by Wi-Fi, Bluetooth, Zigbee, and other technologies.</a:t>
            </a:r>
          </a:p>
          <a:p>
            <a:r>
              <a:rPr lang="en-GB" dirty="0"/>
              <a:t>In</a:t>
            </a:r>
            <a:r>
              <a:rPr lang="en-GB" b="1" dirty="0"/>
              <a:t> 2020: </a:t>
            </a:r>
            <a:r>
              <a:rPr lang="en-GB" dirty="0"/>
              <a:t> the FCC opened up a par of the 6 GHz range (5.925–7.125 GHz) for unlicensed use, enabling technologies like Wi-Fi 6E.</a:t>
            </a:r>
          </a:p>
          <a:p>
            <a:pPr lvl="1"/>
            <a:r>
              <a:rPr lang="en-GB" dirty="0"/>
              <a:t>EU has also adopted a similar change</a:t>
            </a:r>
          </a:p>
          <a:p>
            <a:r>
              <a:rPr lang="en-GB" dirty="0"/>
              <a:t>Not officially part of ISM, </a:t>
            </a:r>
          </a:p>
          <a:p>
            <a:pPr lvl="1"/>
            <a:r>
              <a:rPr lang="en-GB" dirty="0"/>
              <a:t>New authorised unlicensed spectrum specifically for communication technologies like Wi-Fi</a:t>
            </a:r>
          </a:p>
          <a:p>
            <a:r>
              <a:rPr lang="en-GB" dirty="0"/>
              <a:t>Advantages:</a:t>
            </a:r>
            <a:endParaRPr lang="en-IE" dirty="0"/>
          </a:p>
          <a:p>
            <a:pPr lvl="1"/>
            <a:r>
              <a:rPr lang="en-IE" dirty="0"/>
              <a:t>Wider channels – higher speeds possible</a:t>
            </a:r>
          </a:p>
          <a:p>
            <a:pPr lvl="1"/>
            <a:r>
              <a:rPr lang="en-IE" dirty="0"/>
              <a:t>Low interference</a:t>
            </a:r>
            <a:endParaRPr lang="en-GB" dirty="0"/>
          </a:p>
        </p:txBody>
      </p:sp>
      <p:pic>
        <p:nvPicPr>
          <p:cNvPr id="5" name="Picture 4">
            <a:extLst>
              <a:ext uri="{FF2B5EF4-FFF2-40B4-BE49-F238E27FC236}">
                <a16:creationId xmlns:a16="http://schemas.microsoft.com/office/drawing/2014/main" id="{40EA0697-B0F1-BFA6-9C1B-52F9BC2B8375}"/>
              </a:ext>
            </a:extLst>
          </p:cNvPr>
          <p:cNvPicPr>
            <a:picLocks noChangeAspect="1"/>
          </p:cNvPicPr>
          <p:nvPr/>
        </p:nvPicPr>
        <p:blipFill>
          <a:blip r:embed="rId2"/>
          <a:stretch>
            <a:fillRect/>
          </a:stretch>
        </p:blipFill>
        <p:spPr>
          <a:xfrm>
            <a:off x="6528966" y="1690688"/>
            <a:ext cx="4578585" cy="1397072"/>
          </a:xfrm>
          <a:prstGeom prst="rect">
            <a:avLst/>
          </a:prstGeom>
        </p:spPr>
      </p:pic>
      <p:pic>
        <p:nvPicPr>
          <p:cNvPr id="7" name="Picture 6">
            <a:extLst>
              <a:ext uri="{FF2B5EF4-FFF2-40B4-BE49-F238E27FC236}">
                <a16:creationId xmlns:a16="http://schemas.microsoft.com/office/drawing/2014/main" id="{BD454259-2C6C-68C7-2107-80FC394CFC89}"/>
              </a:ext>
            </a:extLst>
          </p:cNvPr>
          <p:cNvPicPr>
            <a:picLocks noChangeAspect="1"/>
          </p:cNvPicPr>
          <p:nvPr/>
        </p:nvPicPr>
        <p:blipFill>
          <a:blip r:embed="rId3"/>
          <a:stretch>
            <a:fillRect/>
          </a:stretch>
        </p:blipFill>
        <p:spPr>
          <a:xfrm>
            <a:off x="6735847" y="3560459"/>
            <a:ext cx="4236954" cy="1862397"/>
          </a:xfrm>
          <a:prstGeom prst="rect">
            <a:avLst/>
          </a:prstGeom>
        </p:spPr>
      </p:pic>
    </p:spTree>
    <p:extLst>
      <p:ext uri="{BB962C8B-B14F-4D97-AF65-F5344CB8AC3E}">
        <p14:creationId xmlns:p14="http://schemas.microsoft.com/office/powerpoint/2010/main" val="37540975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7B428-DFDB-4071-82E6-FB93935E42D0}"/>
              </a:ext>
            </a:extLst>
          </p:cNvPr>
          <p:cNvSpPr>
            <a:spLocks noGrp="1"/>
          </p:cNvSpPr>
          <p:nvPr>
            <p:ph type="title"/>
          </p:nvPr>
        </p:nvSpPr>
        <p:spPr>
          <a:xfrm>
            <a:off x="556532" y="643467"/>
            <a:ext cx="11210925" cy="744836"/>
          </a:xfrm>
          <a:solidFill>
            <a:schemeClr val="bg2"/>
          </a:solidFill>
        </p:spPr>
        <p:txBody>
          <a:bodyPr vert="horz" lIns="91440" tIns="45720" rIns="91440" bIns="45720" rtlCol="0" anchor="ctr">
            <a:normAutofit/>
          </a:bodyPr>
          <a:lstStyle/>
          <a:p>
            <a:pPr algn="ctr"/>
            <a:r>
              <a:rPr lang="en-US" sz="3200" kern="1200" dirty="0">
                <a:latin typeface="+mj-lt"/>
                <a:ea typeface="+mj-ea"/>
                <a:cs typeface="+mj-cs"/>
              </a:rPr>
              <a:t>Wireless Technologies Comparison</a:t>
            </a:r>
            <a:endParaRPr lang="en-US" sz="3200" kern="1200" dirty="0">
              <a:latin typeface="+mj-lt"/>
              <a:cs typeface="Calibri Light"/>
            </a:endParaRPr>
          </a:p>
        </p:txBody>
      </p:sp>
      <p:sp>
        <p:nvSpPr>
          <p:cNvPr id="34" name="Oval 33">
            <a:extLst>
              <a:ext uri="{FF2B5EF4-FFF2-40B4-BE49-F238E27FC236}">
                <a16:creationId xmlns:a16="http://schemas.microsoft.com/office/drawing/2014/main" id="{300C00CF-029D-41C4-8D7C-0464D4BC18E7}"/>
              </a:ext>
            </a:extLst>
          </p:cNvPr>
          <p:cNvSpPr/>
          <p:nvPr/>
        </p:nvSpPr>
        <p:spPr>
          <a:xfrm>
            <a:off x="3424556" y="4544971"/>
            <a:ext cx="1152179" cy="93138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pic>
        <p:nvPicPr>
          <p:cNvPr id="7" name="Picture 7" descr="A close up of a logo&#10;&#10;Description generated with high confidence">
            <a:extLst>
              <a:ext uri="{FF2B5EF4-FFF2-40B4-BE49-F238E27FC236}">
                <a16:creationId xmlns:a16="http://schemas.microsoft.com/office/drawing/2014/main" id="{3CAB9502-6C23-4BB7-9CD4-2BF66768E932}"/>
              </a:ext>
            </a:extLst>
          </p:cNvPr>
          <p:cNvPicPr>
            <a:picLocks noGrp="1" noChangeAspect="1"/>
          </p:cNvPicPr>
          <p:nvPr>
            <p:ph idx="1"/>
          </p:nvPr>
        </p:nvPicPr>
        <p:blipFill>
          <a:blip r:embed="rId2"/>
          <a:stretch>
            <a:fillRect/>
          </a:stretch>
        </p:blipFill>
        <p:spPr>
          <a:xfrm>
            <a:off x="1892061" y="1681833"/>
            <a:ext cx="7415841" cy="4960825"/>
          </a:xfrm>
          <a:prstGeom prst="rect">
            <a:avLst/>
          </a:prstGeom>
        </p:spPr>
      </p:pic>
      <p:sp>
        <p:nvSpPr>
          <p:cNvPr id="3" name="Rectangle: Rounded Corners 2">
            <a:extLst>
              <a:ext uri="{FF2B5EF4-FFF2-40B4-BE49-F238E27FC236}">
                <a16:creationId xmlns:a16="http://schemas.microsoft.com/office/drawing/2014/main" id="{7CF42F54-826C-4936-972D-A5936467EC38}"/>
              </a:ext>
            </a:extLst>
          </p:cNvPr>
          <p:cNvSpPr/>
          <p:nvPr/>
        </p:nvSpPr>
        <p:spPr>
          <a:xfrm>
            <a:off x="3654725" y="4948687"/>
            <a:ext cx="1302588" cy="1130060"/>
          </a:xfrm>
          <a:prstGeom prst="roundRect">
            <a:avLst/>
          </a:prstGeom>
          <a:noFill/>
          <a:ln w="571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C6D385BD-699C-49B2-9C76-9FC0A8D4E226}"/>
              </a:ext>
            </a:extLst>
          </p:cNvPr>
          <p:cNvSpPr/>
          <p:nvPr/>
        </p:nvSpPr>
        <p:spPr>
          <a:xfrm>
            <a:off x="4488611" y="1972573"/>
            <a:ext cx="1302588" cy="1130060"/>
          </a:xfrm>
          <a:prstGeom prst="roundRect">
            <a:avLst/>
          </a:prstGeom>
          <a:noFill/>
          <a:ln w="571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936108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26EE4FD-480F-42A5-9FEB-DA630457CF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5">
            <a:extLst>
              <a:ext uri="{FF2B5EF4-FFF2-40B4-BE49-F238E27FC236}">
                <a16:creationId xmlns:a16="http://schemas.microsoft.com/office/drawing/2014/main" id="{A187062F-BE14-42FC-B06A-607DB23849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842688" y="1766812"/>
            <a:ext cx="822493" cy="4232692"/>
          </a:xfrm>
          <a:custGeom>
            <a:avLst/>
            <a:gdLst>
              <a:gd name="T0" fmla="*/ 491 w 491"/>
              <a:gd name="T1" fmla="*/ 2247 h 2732"/>
              <a:gd name="T2" fmla="*/ 0 w 491"/>
              <a:gd name="T3" fmla="*/ 2732 h 2732"/>
              <a:gd name="T4" fmla="*/ 0 w 491"/>
              <a:gd name="T5" fmla="*/ 486 h 2732"/>
              <a:gd name="T6" fmla="*/ 491 w 491"/>
              <a:gd name="T7" fmla="*/ 0 h 2732"/>
              <a:gd name="T8" fmla="*/ 491 w 491"/>
              <a:gd name="T9" fmla="*/ 2247 h 2732"/>
            </a:gdLst>
            <a:ahLst/>
            <a:cxnLst>
              <a:cxn ang="0">
                <a:pos x="T0" y="T1"/>
              </a:cxn>
              <a:cxn ang="0">
                <a:pos x="T2" y="T3"/>
              </a:cxn>
              <a:cxn ang="0">
                <a:pos x="T4" y="T5"/>
              </a:cxn>
              <a:cxn ang="0">
                <a:pos x="T6" y="T7"/>
              </a:cxn>
              <a:cxn ang="0">
                <a:pos x="T8" y="T9"/>
              </a:cxn>
            </a:cxnLst>
            <a:rect l="0" t="0" r="r" b="b"/>
            <a:pathLst>
              <a:path w="491" h="2732">
                <a:moveTo>
                  <a:pt x="491" y="2247"/>
                </a:moveTo>
                <a:lnTo>
                  <a:pt x="0" y="2732"/>
                </a:lnTo>
                <a:lnTo>
                  <a:pt x="0" y="486"/>
                </a:lnTo>
                <a:lnTo>
                  <a:pt x="491" y="0"/>
                </a:lnTo>
                <a:lnTo>
                  <a:pt x="491" y="224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
            <a:extLst>
              <a:ext uri="{FF2B5EF4-FFF2-40B4-BE49-F238E27FC236}">
                <a16:creationId xmlns:a16="http://schemas.microsoft.com/office/drawing/2014/main" id="{731FE21B-2A45-4BF5-8B03-E12341988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842689" y="1423780"/>
            <a:ext cx="687754" cy="3820236"/>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7">
            <a:extLst>
              <a:ext uri="{FF2B5EF4-FFF2-40B4-BE49-F238E27FC236}">
                <a16:creationId xmlns:a16="http://schemas.microsoft.com/office/drawing/2014/main" id="{2DC5A94D-79ED-48F5-9DC5-96CBB507CE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1183243" y="1239381"/>
            <a:ext cx="347200" cy="3699705"/>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Rectangle 8">
            <a:extLst>
              <a:ext uri="{FF2B5EF4-FFF2-40B4-BE49-F238E27FC236}">
                <a16:creationId xmlns:a16="http://schemas.microsoft.com/office/drawing/2014/main" id="{93A3D4BE-AF25-4F9A-9C29-1145CCE24A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1183242" y="1230651"/>
            <a:ext cx="10208658" cy="3531073"/>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84750BB8-76D9-4C7D-96F6-CD513C7E368E}"/>
              </a:ext>
            </a:extLst>
          </p:cNvPr>
          <p:cNvSpPr>
            <a:spLocks noGrp="1"/>
          </p:cNvSpPr>
          <p:nvPr>
            <p:ph type="title"/>
          </p:nvPr>
        </p:nvSpPr>
        <p:spPr>
          <a:xfrm>
            <a:off x="1870997" y="1607809"/>
            <a:ext cx="9236026" cy="2876680"/>
          </a:xfrm>
        </p:spPr>
        <p:txBody>
          <a:bodyPr vert="horz" lIns="91440" tIns="45720" rIns="91440" bIns="45720" rtlCol="0" anchor="b">
            <a:normAutofit/>
          </a:bodyPr>
          <a:lstStyle/>
          <a:p>
            <a:r>
              <a:rPr lang="en-US" sz="6600" kern="1200">
                <a:solidFill>
                  <a:srgbClr val="FFFFFF"/>
                </a:solidFill>
                <a:latin typeface="+mj-lt"/>
                <a:ea typeface="+mj-ea"/>
                <a:cs typeface="+mj-cs"/>
              </a:rPr>
              <a:t>Bluetooth/BLE</a:t>
            </a:r>
          </a:p>
        </p:txBody>
      </p:sp>
      <p:sp>
        <p:nvSpPr>
          <p:cNvPr id="3" name="Text Placeholder 2">
            <a:extLst>
              <a:ext uri="{FF2B5EF4-FFF2-40B4-BE49-F238E27FC236}">
                <a16:creationId xmlns:a16="http://schemas.microsoft.com/office/drawing/2014/main" id="{BFD29B01-78A9-4874-8AEB-FBE3F1F95E5A}"/>
              </a:ext>
            </a:extLst>
          </p:cNvPr>
          <p:cNvSpPr>
            <a:spLocks noGrp="1"/>
          </p:cNvSpPr>
          <p:nvPr>
            <p:ph type="body" idx="1"/>
          </p:nvPr>
        </p:nvSpPr>
        <p:spPr>
          <a:xfrm>
            <a:off x="1987499" y="4810308"/>
            <a:ext cx="9003022" cy="1076551"/>
          </a:xfrm>
        </p:spPr>
        <p:txBody>
          <a:bodyPr vert="horz" lIns="91440" tIns="45720" rIns="91440" bIns="45720" rtlCol="0">
            <a:normAutofit/>
          </a:bodyPr>
          <a:lstStyle/>
          <a:p>
            <a:endParaRPr lang="en-US" sz="2400" kern="1200">
              <a:solidFill>
                <a:schemeClr val="tx1"/>
              </a:solidFill>
              <a:latin typeface="+mn-lt"/>
              <a:ea typeface="+mn-ea"/>
              <a:cs typeface="+mn-cs"/>
            </a:endParaRPr>
          </a:p>
        </p:txBody>
      </p:sp>
    </p:spTree>
    <p:extLst>
      <p:ext uri="{BB962C8B-B14F-4D97-AF65-F5344CB8AC3E}">
        <p14:creationId xmlns:p14="http://schemas.microsoft.com/office/powerpoint/2010/main" val="19516314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E0328-83D7-4F8F-88C1-5341F5E2015E}"/>
              </a:ext>
            </a:extLst>
          </p:cNvPr>
          <p:cNvSpPr>
            <a:spLocks noGrp="1"/>
          </p:cNvSpPr>
          <p:nvPr>
            <p:ph type="title"/>
          </p:nvPr>
        </p:nvSpPr>
        <p:spPr>
          <a:xfrm>
            <a:off x="838200" y="365125"/>
            <a:ext cx="10515600" cy="1325563"/>
          </a:xfrm>
        </p:spPr>
        <p:txBody>
          <a:bodyPr/>
          <a:lstStyle/>
          <a:p>
            <a:r>
              <a:rPr lang="en-US">
                <a:cs typeface="Calibri Light"/>
              </a:rPr>
              <a:t>Personal Area Networks (PANs)</a:t>
            </a:r>
            <a:endParaRPr lang="en-US"/>
          </a:p>
        </p:txBody>
      </p:sp>
      <p:sp>
        <p:nvSpPr>
          <p:cNvPr id="3" name="Content Placeholder 2">
            <a:extLst>
              <a:ext uri="{FF2B5EF4-FFF2-40B4-BE49-F238E27FC236}">
                <a16:creationId xmlns:a16="http://schemas.microsoft.com/office/drawing/2014/main" id="{C575725B-9358-4E8F-944B-45F8B27DF1A5}"/>
              </a:ext>
            </a:extLst>
          </p:cNvPr>
          <p:cNvSpPr>
            <a:spLocks noGrp="1"/>
          </p:cNvSpPr>
          <p:nvPr>
            <p:ph idx="1"/>
          </p:nvPr>
        </p:nvSpPr>
        <p:spPr>
          <a:xfrm>
            <a:off x="838200" y="1825625"/>
            <a:ext cx="6461185" cy="4351338"/>
          </a:xfrm>
        </p:spPr>
        <p:txBody>
          <a:bodyPr vert="horz" lIns="91440" tIns="45720" rIns="91440" bIns="45720" rtlCol="0" anchor="t">
            <a:normAutofit fontScale="92500" lnSpcReduction="10000"/>
          </a:bodyPr>
          <a:lstStyle/>
          <a:p>
            <a:r>
              <a:rPr lang="en-US">
                <a:cs typeface="Calibri"/>
              </a:rPr>
              <a:t>A PAN technology provides communication over a short distance</a:t>
            </a:r>
            <a:endParaRPr lang="en-US"/>
          </a:p>
          <a:p>
            <a:r>
              <a:rPr lang="en-US">
                <a:cs typeface="Calibri"/>
              </a:rPr>
              <a:t>It is intended for use with devices that are owned and operated by a single user. For example</a:t>
            </a:r>
          </a:p>
          <a:p>
            <a:pPr lvl="1"/>
            <a:r>
              <a:rPr lang="en-US">
                <a:cs typeface="Calibri"/>
              </a:rPr>
              <a:t>between a wireless headset and a cell phone</a:t>
            </a:r>
          </a:p>
          <a:p>
            <a:pPr lvl="1"/>
            <a:r>
              <a:rPr lang="en-US">
                <a:cs typeface="Calibri"/>
              </a:rPr>
              <a:t>between a computer and a nearby wireless mouse or keyboard</a:t>
            </a:r>
          </a:p>
          <a:p>
            <a:r>
              <a:rPr lang="en-US">
                <a:cs typeface="Calibri"/>
              </a:rPr>
              <a:t>Several standards</a:t>
            </a:r>
          </a:p>
          <a:p>
            <a:pPr lvl="1"/>
            <a:r>
              <a:rPr lang="en-US">
                <a:cs typeface="Calibri"/>
              </a:rPr>
              <a:t>Frequencies dedicated to Industrial, Scientific and Medical (ISM) band</a:t>
            </a:r>
          </a:p>
          <a:p>
            <a:pPr lvl="1"/>
            <a:r>
              <a:rPr lang="en-US">
                <a:cs typeface="Calibri"/>
              </a:rPr>
              <a:t>Bluetooth, Near Field Comms(NFC) </a:t>
            </a:r>
          </a:p>
        </p:txBody>
      </p:sp>
      <p:pic>
        <p:nvPicPr>
          <p:cNvPr id="4" name="Picture 4" descr="A close up of a remote control&#10;&#10;Description generated with high confidence">
            <a:extLst>
              <a:ext uri="{FF2B5EF4-FFF2-40B4-BE49-F238E27FC236}">
                <a16:creationId xmlns:a16="http://schemas.microsoft.com/office/drawing/2014/main" id="{F94C13D7-8E1C-4424-9460-90D744899014}"/>
              </a:ext>
            </a:extLst>
          </p:cNvPr>
          <p:cNvPicPr>
            <a:picLocks noChangeAspect="1"/>
          </p:cNvPicPr>
          <p:nvPr/>
        </p:nvPicPr>
        <p:blipFill>
          <a:blip r:embed="rId2"/>
          <a:stretch>
            <a:fillRect/>
          </a:stretch>
        </p:blipFill>
        <p:spPr>
          <a:xfrm>
            <a:off x="7781300" y="2280513"/>
            <a:ext cx="4046062" cy="2925982"/>
          </a:xfrm>
          <a:prstGeom prst="rect">
            <a:avLst/>
          </a:prstGeom>
        </p:spPr>
      </p:pic>
    </p:spTree>
    <p:extLst>
      <p:ext uri="{BB962C8B-B14F-4D97-AF65-F5344CB8AC3E}">
        <p14:creationId xmlns:p14="http://schemas.microsoft.com/office/powerpoint/2010/main" val="3725416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41E70-207C-464B-942A-B167821A67AD}"/>
              </a:ext>
            </a:extLst>
          </p:cNvPr>
          <p:cNvSpPr>
            <a:spLocks noGrp="1"/>
          </p:cNvSpPr>
          <p:nvPr>
            <p:ph type="title"/>
          </p:nvPr>
        </p:nvSpPr>
        <p:spPr/>
        <p:txBody>
          <a:bodyPr/>
          <a:lstStyle/>
          <a:p>
            <a:r>
              <a:rPr lang="en-US">
                <a:cs typeface="Calibri Light"/>
              </a:rPr>
              <a:t>Bluetooth</a:t>
            </a:r>
            <a:endParaRPr lang="en-US"/>
          </a:p>
        </p:txBody>
      </p:sp>
      <p:sp>
        <p:nvSpPr>
          <p:cNvPr id="3" name="Content Placeholder 2">
            <a:extLst>
              <a:ext uri="{FF2B5EF4-FFF2-40B4-BE49-F238E27FC236}">
                <a16:creationId xmlns:a16="http://schemas.microsoft.com/office/drawing/2014/main" id="{487A0B3C-084E-4469-A7E9-42B26E82D3E1}"/>
              </a:ext>
            </a:extLst>
          </p:cNvPr>
          <p:cNvSpPr>
            <a:spLocks noGrp="1"/>
          </p:cNvSpPr>
          <p:nvPr>
            <p:ph idx="1"/>
          </p:nvPr>
        </p:nvSpPr>
        <p:spPr/>
        <p:txBody>
          <a:bodyPr vert="horz" lIns="91440" tIns="45720" rIns="91440" bIns="45720" rtlCol="0" anchor="t">
            <a:normAutofit/>
          </a:bodyPr>
          <a:lstStyle/>
          <a:p>
            <a:r>
              <a:rPr lang="en-US">
                <a:cs typeface="Calibri"/>
              </a:rPr>
              <a:t>Used for short distance data exchanging, such as Personal Area Network  </a:t>
            </a:r>
          </a:p>
          <a:p>
            <a:r>
              <a:rPr lang="en-US">
                <a:cs typeface="Calibri"/>
              </a:rPr>
              <a:t>RF from 2.4 to 2.485 GHz</a:t>
            </a:r>
            <a:endParaRPr lang="en-US"/>
          </a:p>
          <a:p>
            <a:r>
              <a:rPr lang="en-US">
                <a:cs typeface="Calibri"/>
              </a:rPr>
              <a:t>Originally invented by Ericsson (a telecom vendor) in 1994</a:t>
            </a:r>
            <a:endParaRPr lang="en-US"/>
          </a:p>
          <a:p>
            <a:r>
              <a:rPr lang="en-US">
                <a:cs typeface="Calibri"/>
              </a:rPr>
              <a:t>Now managed by the Bluetooth Special Interest Group (SIG)</a:t>
            </a:r>
            <a:endParaRPr lang="en-US"/>
          </a:p>
          <a:p>
            <a:r>
              <a:rPr lang="en-US">
                <a:cs typeface="Calibri"/>
              </a:rPr>
              <a:t>Frequency hopping spread spectrum (FHSS)</a:t>
            </a:r>
            <a:endParaRPr lang="en-US"/>
          </a:p>
          <a:p>
            <a:r>
              <a:rPr lang="en-US">
                <a:cs typeface="Calibri"/>
              </a:rPr>
              <a:t>16000+ SIG member companies</a:t>
            </a:r>
            <a:endParaRPr lang="en-US"/>
          </a:p>
          <a:p>
            <a:r>
              <a:rPr lang="en-US">
                <a:cs typeface="Calibri"/>
              </a:rPr>
              <a:t>Billions of products shipped</a:t>
            </a:r>
            <a:endParaRPr lang="en-US"/>
          </a:p>
        </p:txBody>
      </p:sp>
      <p:sp>
        <p:nvSpPr>
          <p:cNvPr id="4" name="TextBox 3">
            <a:extLst>
              <a:ext uri="{FF2B5EF4-FFF2-40B4-BE49-F238E27FC236}">
                <a16:creationId xmlns:a16="http://schemas.microsoft.com/office/drawing/2014/main" id="{C129D2F9-FB8E-454B-B804-1EB9AEABAAAF}"/>
              </a:ext>
            </a:extLst>
          </p:cNvPr>
          <p:cNvSpPr txBox="1"/>
          <p:nvPr/>
        </p:nvSpPr>
        <p:spPr>
          <a:xfrm>
            <a:off x="5214256" y="306613"/>
            <a:ext cx="5287306" cy="92333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cs typeface="Calibri"/>
              </a:rPr>
              <a:t>QI: </a:t>
            </a:r>
            <a:r>
              <a:rPr lang="en-US">
                <a:cs typeface="Calibri"/>
              </a:rPr>
              <a:t>The name "Bluetooth" comes from 10th century Danish king who united  Danish tribes into a single kingdom.</a:t>
            </a:r>
          </a:p>
        </p:txBody>
      </p:sp>
      <p:pic>
        <p:nvPicPr>
          <p:cNvPr id="6" name="Picture 6" descr="A picture containing clipart&#10;&#10;Description generated with very high confidence">
            <a:extLst>
              <a:ext uri="{FF2B5EF4-FFF2-40B4-BE49-F238E27FC236}">
                <a16:creationId xmlns:a16="http://schemas.microsoft.com/office/drawing/2014/main" id="{A234FDC5-A760-4496-A79D-EAA0820E0F65}"/>
              </a:ext>
            </a:extLst>
          </p:cNvPr>
          <p:cNvPicPr>
            <a:picLocks noChangeAspect="1"/>
          </p:cNvPicPr>
          <p:nvPr/>
        </p:nvPicPr>
        <p:blipFill>
          <a:blip r:embed="rId2"/>
          <a:stretch>
            <a:fillRect/>
          </a:stretch>
        </p:blipFill>
        <p:spPr>
          <a:xfrm>
            <a:off x="8528200" y="4242220"/>
            <a:ext cx="1734808" cy="2341712"/>
          </a:xfrm>
          <a:prstGeom prst="rect">
            <a:avLst/>
          </a:prstGeom>
        </p:spPr>
      </p:pic>
      <p:pic>
        <p:nvPicPr>
          <p:cNvPr id="7" name="Picture 7" descr="A picture containing object, watch&#10;&#10;Description generated with very high confidence">
            <a:extLst>
              <a:ext uri="{FF2B5EF4-FFF2-40B4-BE49-F238E27FC236}">
                <a16:creationId xmlns:a16="http://schemas.microsoft.com/office/drawing/2014/main" id="{ECCC6CE0-D8C1-425C-8F92-125B28E202B4}"/>
              </a:ext>
            </a:extLst>
          </p:cNvPr>
          <p:cNvPicPr>
            <a:picLocks noChangeAspect="1"/>
          </p:cNvPicPr>
          <p:nvPr/>
        </p:nvPicPr>
        <p:blipFill>
          <a:blip r:embed="rId3"/>
          <a:stretch>
            <a:fillRect/>
          </a:stretch>
        </p:blipFill>
        <p:spPr>
          <a:xfrm>
            <a:off x="8803168" y="1034362"/>
            <a:ext cx="1343025" cy="504825"/>
          </a:xfrm>
          <a:prstGeom prst="rect">
            <a:avLst/>
          </a:prstGeom>
        </p:spPr>
      </p:pic>
    </p:spTree>
    <p:extLst>
      <p:ext uri="{BB962C8B-B14F-4D97-AF65-F5344CB8AC3E}">
        <p14:creationId xmlns:p14="http://schemas.microsoft.com/office/powerpoint/2010/main" val="3954597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1" name="Picture 2" descr="Image result for Bluetooth classic">
            <a:extLst>
              <a:ext uri="{FF2B5EF4-FFF2-40B4-BE49-F238E27FC236}">
                <a16:creationId xmlns:a16="http://schemas.microsoft.com/office/drawing/2014/main" id="{7F21DA98-56AA-42D2-8034-D44EB7672CB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9712" y="1660850"/>
            <a:ext cx="11287028" cy="47105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F880E0C-4A9B-4A14-A2B9-D8CC3BA3C149}"/>
              </a:ext>
            </a:extLst>
          </p:cNvPr>
          <p:cNvSpPr>
            <a:spLocks noGrp="1"/>
          </p:cNvSpPr>
          <p:nvPr>
            <p:ph type="title"/>
          </p:nvPr>
        </p:nvSpPr>
        <p:spPr>
          <a:xfrm>
            <a:off x="556532" y="643467"/>
            <a:ext cx="11210925" cy="744836"/>
          </a:xfrm>
        </p:spPr>
        <p:style>
          <a:lnRef idx="2">
            <a:schemeClr val="dk1"/>
          </a:lnRef>
          <a:fillRef idx="1">
            <a:schemeClr val="lt1"/>
          </a:fillRef>
          <a:effectRef idx="0">
            <a:schemeClr val="dk1"/>
          </a:effectRef>
          <a:fontRef idx="minor">
            <a:schemeClr val="dk1"/>
          </a:fontRef>
        </p:style>
        <p:txBody>
          <a:bodyPr vert="horz" lIns="91440" tIns="45720" rIns="91440" bIns="45720" rtlCol="0" anchor="ctr">
            <a:normAutofit/>
          </a:bodyPr>
          <a:lstStyle/>
          <a:p>
            <a:pPr algn="ctr"/>
            <a:r>
              <a:rPr lang="en-US" sz="3200">
                <a:solidFill>
                  <a:schemeClr val="tx1"/>
                </a:solidFill>
                <a:ea typeface="+mj-ea"/>
                <a:cs typeface="Calibri"/>
              </a:rPr>
              <a:t>Bluetooth Classification</a:t>
            </a:r>
          </a:p>
        </p:txBody>
      </p:sp>
    </p:spTree>
    <p:extLst>
      <p:ext uri="{BB962C8B-B14F-4D97-AF65-F5344CB8AC3E}">
        <p14:creationId xmlns:p14="http://schemas.microsoft.com/office/powerpoint/2010/main" val="11152381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Image result for Bluetooth classic">
            <a:extLst>
              <a:ext uri="{FF2B5EF4-FFF2-40B4-BE49-F238E27FC236}">
                <a16:creationId xmlns:a16="http://schemas.microsoft.com/office/drawing/2014/main" id="{48F27AFE-B771-4A26-B7A8-774F3605E0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61082" y="1840893"/>
            <a:ext cx="3026664" cy="3026664"/>
          </a:xfrm>
          <a:prstGeom prst="rect">
            <a:avLst/>
          </a:prstGeom>
          <a:noFill/>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0F820B1-E03F-4ABB-8610-9134CDE91F28}"/>
              </a:ext>
            </a:extLst>
          </p:cNvPr>
          <p:cNvSpPr>
            <a:spLocks noGrp="1"/>
          </p:cNvSpPr>
          <p:nvPr>
            <p:ph type="title"/>
          </p:nvPr>
        </p:nvSpPr>
        <p:spPr>
          <a:xfrm>
            <a:off x="648929" y="629266"/>
            <a:ext cx="6422849" cy="1676603"/>
          </a:xfrm>
        </p:spPr>
        <p:txBody>
          <a:bodyPr>
            <a:normAutofit/>
          </a:bodyPr>
          <a:lstStyle/>
          <a:p>
            <a:r>
              <a:rPr lang="en-IE"/>
              <a:t>Bluetooth “classic”</a:t>
            </a:r>
          </a:p>
        </p:txBody>
      </p:sp>
      <p:sp>
        <p:nvSpPr>
          <p:cNvPr id="3" name="Content Placeholder 2">
            <a:extLst>
              <a:ext uri="{FF2B5EF4-FFF2-40B4-BE49-F238E27FC236}">
                <a16:creationId xmlns:a16="http://schemas.microsoft.com/office/drawing/2014/main" id="{0A3702EE-8EB8-4BB1-9E06-3D19EAD3AF87}"/>
              </a:ext>
            </a:extLst>
          </p:cNvPr>
          <p:cNvSpPr>
            <a:spLocks noGrp="1"/>
          </p:cNvSpPr>
          <p:nvPr>
            <p:ph idx="1"/>
          </p:nvPr>
        </p:nvSpPr>
        <p:spPr>
          <a:xfrm>
            <a:off x="648931" y="2438400"/>
            <a:ext cx="6422848" cy="3785419"/>
          </a:xfrm>
        </p:spPr>
        <p:txBody>
          <a:bodyPr vert="horz" lIns="91440" tIns="45720" rIns="91440" bIns="45720" rtlCol="0" anchor="t">
            <a:noAutofit/>
          </a:bodyPr>
          <a:lstStyle/>
          <a:p>
            <a:r>
              <a:rPr lang="en-SG" dirty="0"/>
              <a:t>The “conventional” Bluetooth </a:t>
            </a:r>
            <a:endParaRPr lang="en-SG" dirty="0">
              <a:cs typeface="Calibri"/>
            </a:endParaRPr>
          </a:p>
          <a:p>
            <a:r>
              <a:rPr lang="en-SG" dirty="0"/>
              <a:t>Operates in 2.4GHz</a:t>
            </a:r>
            <a:endParaRPr lang="en-SG" dirty="0">
              <a:cs typeface="Calibri"/>
            </a:endParaRPr>
          </a:p>
          <a:p>
            <a:r>
              <a:rPr lang="en-SG" dirty="0"/>
              <a:t>Range: 1m - 100m (10m typical)</a:t>
            </a:r>
            <a:endParaRPr lang="en-SG" dirty="0">
              <a:cs typeface="Calibri"/>
            </a:endParaRPr>
          </a:p>
          <a:p>
            <a:r>
              <a:rPr lang="en-SG" dirty="0"/>
              <a:t>Connection-oriented: audio, file transfer, networking</a:t>
            </a:r>
            <a:endParaRPr lang="en-SG" dirty="0">
              <a:cs typeface="Calibri"/>
            </a:endParaRPr>
          </a:p>
          <a:p>
            <a:r>
              <a:rPr lang="en-SG" dirty="0"/>
              <a:t>Reasonably fast data rate: </a:t>
            </a:r>
            <a:r>
              <a:rPr lang="en-SG" b="1" kern="1200" dirty="0">
                <a:latin typeface="+mn-lt"/>
                <a:ea typeface="+mn-ea"/>
                <a:cs typeface="+mn-cs"/>
              </a:rPr>
              <a:t>2.1</a:t>
            </a:r>
            <a:r>
              <a:rPr lang="en-SG" dirty="0"/>
              <a:t> Mbps</a:t>
            </a:r>
            <a:endParaRPr lang="en-SG" dirty="0">
              <a:cs typeface="Calibri"/>
            </a:endParaRPr>
          </a:p>
          <a:p>
            <a:r>
              <a:rPr lang="en-SG" dirty="0"/>
              <a:t>Power consumption:  </a:t>
            </a:r>
            <a:endParaRPr lang="en-SG" dirty="0">
              <a:cs typeface="Calibri"/>
            </a:endParaRPr>
          </a:p>
          <a:p>
            <a:pPr marL="457200" lvl="1" indent="0">
              <a:buNone/>
            </a:pPr>
            <a:r>
              <a:rPr lang="en-SG" sz="2800" dirty="0"/>
              <a:t>&lt; </a:t>
            </a:r>
            <a:r>
              <a:rPr lang="en-SG" sz="2800" dirty="0" err="1"/>
              <a:t>Wifi</a:t>
            </a:r>
            <a:r>
              <a:rPr lang="en-SG" sz="2800" dirty="0"/>
              <a:t> &lt; 3G,4G,5G</a:t>
            </a:r>
            <a:endParaRPr lang="en-SG" sz="2800" dirty="0">
              <a:cs typeface="Calibri"/>
            </a:endParaRPr>
          </a:p>
          <a:p>
            <a:pPr marL="0" indent="0">
              <a:buNone/>
            </a:pPr>
            <a:endParaRPr lang="en-IE" sz="2000" dirty="0"/>
          </a:p>
        </p:txBody>
      </p:sp>
    </p:spTree>
    <p:extLst>
      <p:ext uri="{BB962C8B-B14F-4D97-AF65-F5344CB8AC3E}">
        <p14:creationId xmlns:p14="http://schemas.microsoft.com/office/powerpoint/2010/main" val="2658639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Image result for bluetooth low energy logo">
            <a:extLst>
              <a:ext uri="{FF2B5EF4-FFF2-40B4-BE49-F238E27FC236}">
                <a16:creationId xmlns:a16="http://schemas.microsoft.com/office/drawing/2014/main" id="{F2483A78-94F2-437C-9190-8D70E2C7EA6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61082" y="2858609"/>
            <a:ext cx="3026664" cy="991232"/>
          </a:xfrm>
          <a:prstGeom prst="rect">
            <a:avLst/>
          </a:prstGeom>
          <a:noFill/>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06A4576-B177-4D1A-B93E-867C93DCB89A}"/>
              </a:ext>
            </a:extLst>
          </p:cNvPr>
          <p:cNvSpPr>
            <a:spLocks noGrp="1"/>
          </p:cNvSpPr>
          <p:nvPr>
            <p:ph type="title"/>
          </p:nvPr>
        </p:nvSpPr>
        <p:spPr>
          <a:xfrm>
            <a:off x="648929" y="629266"/>
            <a:ext cx="6422849" cy="1676603"/>
          </a:xfrm>
        </p:spPr>
        <p:txBody>
          <a:bodyPr>
            <a:normAutofit/>
          </a:bodyPr>
          <a:lstStyle/>
          <a:p>
            <a:r>
              <a:rPr lang="en-IE"/>
              <a:t>Bluetooth Low Energy</a:t>
            </a:r>
          </a:p>
        </p:txBody>
      </p:sp>
      <p:sp>
        <p:nvSpPr>
          <p:cNvPr id="3" name="Content Placeholder 2">
            <a:extLst>
              <a:ext uri="{FF2B5EF4-FFF2-40B4-BE49-F238E27FC236}">
                <a16:creationId xmlns:a16="http://schemas.microsoft.com/office/drawing/2014/main" id="{3C2AB643-6481-4E6A-A56C-A8788B2D393F}"/>
              </a:ext>
            </a:extLst>
          </p:cNvPr>
          <p:cNvSpPr>
            <a:spLocks noGrp="1"/>
          </p:cNvSpPr>
          <p:nvPr>
            <p:ph idx="1"/>
          </p:nvPr>
        </p:nvSpPr>
        <p:spPr>
          <a:xfrm>
            <a:off x="648931" y="2438400"/>
            <a:ext cx="6422848" cy="3785419"/>
          </a:xfrm>
        </p:spPr>
        <p:txBody>
          <a:bodyPr vert="horz" lIns="91440" tIns="45720" rIns="91440" bIns="45720" rtlCol="0" anchor="t">
            <a:normAutofit/>
          </a:bodyPr>
          <a:lstStyle/>
          <a:p>
            <a:r>
              <a:rPr lang="en-IE" sz="2000"/>
              <a:t>"Bluetooth Smart“</a:t>
            </a:r>
          </a:p>
          <a:p>
            <a:r>
              <a:rPr lang="en-IE" sz="2000"/>
              <a:t>Light-weight subset of classic Bluetooth</a:t>
            </a:r>
            <a:endParaRPr lang="en-IE" sz="2000">
              <a:cs typeface="Calibri"/>
            </a:endParaRPr>
          </a:p>
          <a:p>
            <a:pPr lvl="1"/>
            <a:r>
              <a:rPr lang="en-IE" sz="2000"/>
              <a:t>Operates in same freq. Range</a:t>
            </a:r>
            <a:r>
              <a:rPr lang="en-IE" sz="2000">
                <a:cs typeface="Calibri"/>
              </a:rPr>
              <a:t>, </a:t>
            </a:r>
            <a:r>
              <a:rPr lang="en-SG" sz="2000">
                <a:cs typeface="Calibri"/>
              </a:rPr>
              <a:t>2.4GHz</a:t>
            </a:r>
            <a:endParaRPr lang="en-IE" sz="2000">
              <a:cs typeface="Calibri"/>
            </a:endParaRPr>
          </a:p>
          <a:p>
            <a:pPr lvl="1"/>
            <a:r>
              <a:rPr lang="en-IE" sz="2000"/>
              <a:t> introduced as part of the Bluetooth 4.0 core specification</a:t>
            </a:r>
            <a:endParaRPr lang="en-IE" sz="2000">
              <a:cs typeface="Calibri"/>
            </a:endParaRPr>
          </a:p>
          <a:p>
            <a:r>
              <a:rPr lang="en-IE" sz="2000"/>
              <a:t>Target Apps:</a:t>
            </a:r>
            <a:endParaRPr lang="en-IE" sz="2000">
              <a:cs typeface="Calibri"/>
            </a:endParaRPr>
          </a:p>
          <a:p>
            <a:pPr lvl="1"/>
            <a:r>
              <a:rPr lang="en-SG" sz="2000"/>
              <a:t>Wireless battery-powered sensors </a:t>
            </a:r>
            <a:r>
              <a:rPr lang="en-SG" sz="2000" err="1"/>
              <a:t>eg.</a:t>
            </a:r>
            <a:r>
              <a:rPr lang="en-SG" sz="2000"/>
              <a:t> heart rate, thermometer, wearables</a:t>
            </a:r>
            <a:endParaRPr lang="en-SG" sz="2000">
              <a:cs typeface="Calibri"/>
            </a:endParaRPr>
          </a:p>
          <a:p>
            <a:pPr lvl="1"/>
            <a:r>
              <a:rPr lang="en-SG" sz="2000"/>
              <a:t>Low bandwidth</a:t>
            </a:r>
            <a:r>
              <a:rPr lang="en-SG" sz="2000">
                <a:cs typeface="Calibri"/>
              </a:rPr>
              <a:t> (you won't be streaming video)</a:t>
            </a:r>
          </a:p>
          <a:p>
            <a:pPr lvl="1"/>
            <a:r>
              <a:rPr lang="en-SG" sz="2000"/>
              <a:t>Not always on, constrained devices</a:t>
            </a:r>
            <a:endParaRPr lang="en-SG" sz="2000">
              <a:cs typeface="Calibri"/>
            </a:endParaRPr>
          </a:p>
          <a:p>
            <a:pPr marL="0" indent="0">
              <a:buNone/>
            </a:pPr>
            <a:endParaRPr lang="en-SG" sz="2400">
              <a:cs typeface="Calibri"/>
            </a:endParaRPr>
          </a:p>
        </p:txBody>
      </p:sp>
      <p:sp>
        <p:nvSpPr>
          <p:cNvPr id="4" name="Rectangle: Rounded Corners 3">
            <a:extLst>
              <a:ext uri="{FF2B5EF4-FFF2-40B4-BE49-F238E27FC236}">
                <a16:creationId xmlns:a16="http://schemas.microsoft.com/office/drawing/2014/main" id="{9C5FD564-0E97-4016-9E5C-DB7E1C87C6BF}"/>
              </a:ext>
            </a:extLst>
          </p:cNvPr>
          <p:cNvSpPr/>
          <p:nvPr/>
        </p:nvSpPr>
        <p:spPr>
          <a:xfrm>
            <a:off x="6473371" y="5248728"/>
            <a:ext cx="1685471"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cs typeface="Calibri"/>
              </a:rPr>
              <a:t>All good for IoT devices!</a:t>
            </a:r>
            <a:endParaRPr lang="en-US"/>
          </a:p>
        </p:txBody>
      </p:sp>
      <p:cxnSp>
        <p:nvCxnSpPr>
          <p:cNvPr id="5" name="Straight Arrow Connector 4">
            <a:extLst>
              <a:ext uri="{FF2B5EF4-FFF2-40B4-BE49-F238E27FC236}">
                <a16:creationId xmlns:a16="http://schemas.microsoft.com/office/drawing/2014/main" id="{F6E3316C-359D-4E79-BBC0-FE2628095C36}"/>
              </a:ext>
            </a:extLst>
          </p:cNvPr>
          <p:cNvCxnSpPr/>
          <p:nvPr/>
        </p:nvCxnSpPr>
        <p:spPr>
          <a:xfrm flipH="1" flipV="1">
            <a:off x="4539343" y="5201558"/>
            <a:ext cx="1834242" cy="500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0735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29DFE-3AB5-43B6-ACF6-A0FC12D07239}"/>
              </a:ext>
            </a:extLst>
          </p:cNvPr>
          <p:cNvSpPr>
            <a:spLocks noGrp="1"/>
          </p:cNvSpPr>
          <p:nvPr>
            <p:ph type="title"/>
          </p:nvPr>
        </p:nvSpPr>
        <p:spPr/>
        <p:txBody>
          <a:bodyPr/>
          <a:lstStyle/>
          <a:p>
            <a:r>
              <a:rPr lang="en-IE"/>
              <a:t>BLE vs Classic</a:t>
            </a:r>
          </a:p>
        </p:txBody>
      </p:sp>
      <p:sp>
        <p:nvSpPr>
          <p:cNvPr id="3" name="Content Placeholder 2">
            <a:extLst>
              <a:ext uri="{FF2B5EF4-FFF2-40B4-BE49-F238E27FC236}">
                <a16:creationId xmlns:a16="http://schemas.microsoft.com/office/drawing/2014/main" id="{17881A95-FF28-4302-BCB8-A57BA10C092C}"/>
              </a:ext>
            </a:extLst>
          </p:cNvPr>
          <p:cNvSpPr>
            <a:spLocks noGrp="1"/>
          </p:cNvSpPr>
          <p:nvPr>
            <p:ph idx="1"/>
          </p:nvPr>
        </p:nvSpPr>
        <p:spPr/>
        <p:txBody>
          <a:bodyPr vert="horz" lIns="91440" tIns="45720" rIns="91440" bIns="45720" rtlCol="0" anchor="t">
            <a:normAutofit/>
          </a:bodyPr>
          <a:lstStyle/>
          <a:p>
            <a:r>
              <a:rPr lang="en-IE" dirty="0"/>
              <a:t>Bluetooth and Bluetooth Low Energy are used  for different purposes</a:t>
            </a:r>
          </a:p>
          <a:p>
            <a:r>
              <a:rPr lang="en-IE" dirty="0"/>
              <a:t>Bluetooth Classic</a:t>
            </a:r>
            <a:endParaRPr lang="en-IE" dirty="0">
              <a:cs typeface="Calibri"/>
            </a:endParaRPr>
          </a:p>
          <a:p>
            <a:pPr lvl="1"/>
            <a:r>
              <a:rPr lang="en-IE" dirty="0"/>
              <a:t>can handle a lot of data</a:t>
            </a:r>
            <a:endParaRPr lang="en-IE" dirty="0">
              <a:cs typeface="Calibri"/>
            </a:endParaRPr>
          </a:p>
          <a:p>
            <a:pPr lvl="1"/>
            <a:r>
              <a:rPr lang="en-IE" dirty="0"/>
              <a:t>consumes battery quickly</a:t>
            </a:r>
            <a:endParaRPr lang="en-IE" dirty="0">
              <a:cs typeface="Calibri"/>
            </a:endParaRPr>
          </a:p>
          <a:p>
            <a:r>
              <a:rPr lang="en-US" dirty="0"/>
              <a:t>B</a:t>
            </a:r>
            <a:r>
              <a:rPr lang="en-IE" dirty="0"/>
              <a:t>LE</a:t>
            </a:r>
            <a:endParaRPr lang="en-IE" dirty="0">
              <a:cs typeface="Calibri"/>
            </a:endParaRPr>
          </a:p>
          <a:p>
            <a:pPr lvl="1"/>
            <a:r>
              <a:rPr lang="en-IE" dirty="0"/>
              <a:t>used for applications that do not need to exchange large amounts of data</a:t>
            </a:r>
            <a:endParaRPr lang="en-IE" dirty="0">
              <a:cs typeface="Calibri"/>
            </a:endParaRPr>
          </a:p>
          <a:p>
            <a:pPr lvl="1"/>
            <a:r>
              <a:rPr lang="en-US" dirty="0"/>
              <a:t>c</a:t>
            </a:r>
            <a:r>
              <a:rPr lang="en-IE" dirty="0"/>
              <a:t>heap</a:t>
            </a:r>
            <a:endParaRPr lang="en-IE" dirty="0">
              <a:cs typeface="Calibri"/>
            </a:endParaRPr>
          </a:p>
          <a:p>
            <a:pPr lvl="1"/>
            <a:r>
              <a:rPr lang="en-US" dirty="0"/>
              <a:t>M</a:t>
            </a:r>
            <a:r>
              <a:rPr lang="en-IE" dirty="0" err="1"/>
              <a:t>arginally</a:t>
            </a:r>
            <a:r>
              <a:rPr lang="en-IE" dirty="0"/>
              <a:t> further range</a:t>
            </a:r>
            <a:endParaRPr lang="en-IE" dirty="0">
              <a:cs typeface="Calibri"/>
            </a:endParaRPr>
          </a:p>
          <a:p>
            <a:pPr lvl="1"/>
            <a:endParaRPr lang="en-IE" dirty="0"/>
          </a:p>
        </p:txBody>
      </p:sp>
    </p:spTree>
    <p:extLst>
      <p:ext uri="{BB962C8B-B14F-4D97-AF65-F5344CB8AC3E}">
        <p14:creationId xmlns:p14="http://schemas.microsoft.com/office/powerpoint/2010/main" val="1078544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2047A-CB35-4CA6-B8EC-C26935F8E2F2}"/>
              </a:ext>
            </a:extLst>
          </p:cNvPr>
          <p:cNvSpPr>
            <a:spLocks noGrp="1"/>
          </p:cNvSpPr>
          <p:nvPr>
            <p:ph type="title"/>
          </p:nvPr>
        </p:nvSpPr>
        <p:spPr/>
        <p:txBody>
          <a:bodyPr/>
          <a:lstStyle/>
          <a:p>
            <a:r>
              <a:rPr lang="en-US" dirty="0">
                <a:cs typeface="Calibri Light"/>
              </a:rPr>
              <a:t>BLE Roles</a:t>
            </a:r>
            <a:endParaRPr lang="en-US" dirty="0"/>
          </a:p>
        </p:txBody>
      </p:sp>
      <p:sp>
        <p:nvSpPr>
          <p:cNvPr id="3" name="Content Placeholder 2">
            <a:extLst>
              <a:ext uri="{FF2B5EF4-FFF2-40B4-BE49-F238E27FC236}">
                <a16:creationId xmlns:a16="http://schemas.microsoft.com/office/drawing/2014/main" id="{CF683630-2FC8-461D-9DF7-508C2C0B13D3}"/>
              </a:ext>
            </a:extLst>
          </p:cNvPr>
          <p:cNvSpPr>
            <a:spLocks noGrp="1"/>
          </p:cNvSpPr>
          <p:nvPr>
            <p:ph idx="1"/>
          </p:nvPr>
        </p:nvSpPr>
        <p:spPr/>
        <p:txBody>
          <a:bodyPr vert="horz" lIns="91440" tIns="45720" rIns="91440" bIns="45720" rtlCol="0" anchor="t">
            <a:normAutofit/>
          </a:bodyPr>
          <a:lstStyle/>
          <a:p>
            <a:r>
              <a:rPr lang="en-US" dirty="0">
                <a:cs typeface="Calibri"/>
              </a:rPr>
              <a:t>Broadcaster</a:t>
            </a:r>
          </a:p>
          <a:p>
            <a:pPr lvl="1"/>
            <a:r>
              <a:rPr lang="en-US" dirty="0">
                <a:cs typeface="Calibri"/>
              </a:rPr>
              <a:t>Transmitter only</a:t>
            </a:r>
          </a:p>
          <a:p>
            <a:r>
              <a:rPr lang="en-US" dirty="0">
                <a:cs typeface="Calibri"/>
              </a:rPr>
              <a:t>Observer</a:t>
            </a:r>
          </a:p>
          <a:p>
            <a:pPr lvl="1"/>
            <a:r>
              <a:rPr lang="en-US" dirty="0">
                <a:cs typeface="Calibri"/>
              </a:rPr>
              <a:t>Receiver only</a:t>
            </a:r>
          </a:p>
          <a:p>
            <a:r>
              <a:rPr lang="en-US" dirty="0">
                <a:cs typeface="Calibri"/>
              </a:rPr>
              <a:t>Peripheral(Slave)</a:t>
            </a:r>
          </a:p>
          <a:p>
            <a:r>
              <a:rPr lang="en-US" dirty="0">
                <a:cs typeface="Calibri"/>
              </a:rPr>
              <a:t>Central(Master)</a:t>
            </a:r>
          </a:p>
          <a:p>
            <a:pPr lvl="1"/>
            <a:r>
              <a:rPr lang="en-US" dirty="0">
                <a:cs typeface="Calibri"/>
              </a:rPr>
              <a:t>Can take multiple connections</a:t>
            </a:r>
          </a:p>
          <a:p>
            <a:pPr lvl="1"/>
            <a:r>
              <a:rPr lang="en-US" dirty="0">
                <a:cs typeface="Calibri"/>
              </a:rPr>
              <a:t>Initiates connection to peripheral</a:t>
            </a:r>
          </a:p>
          <a:p>
            <a:r>
              <a:rPr lang="en-US" dirty="0">
                <a:cs typeface="Calibri"/>
              </a:rPr>
              <a:t>One Device can have multiple roles</a:t>
            </a:r>
          </a:p>
          <a:p>
            <a:pPr lvl="1"/>
            <a:endParaRPr lang="en-US" dirty="0">
              <a:cs typeface="Calibri"/>
            </a:endParaRPr>
          </a:p>
        </p:txBody>
      </p:sp>
      <p:sp>
        <p:nvSpPr>
          <p:cNvPr id="4" name="Oval 3">
            <a:extLst>
              <a:ext uri="{FF2B5EF4-FFF2-40B4-BE49-F238E27FC236}">
                <a16:creationId xmlns:a16="http://schemas.microsoft.com/office/drawing/2014/main" id="{36BB1456-6243-4091-B093-A3D16B3372EC}"/>
              </a:ext>
            </a:extLst>
          </p:cNvPr>
          <p:cNvSpPr/>
          <p:nvPr/>
        </p:nvSpPr>
        <p:spPr>
          <a:xfrm>
            <a:off x="7335328" y="1095555"/>
            <a:ext cx="2237116" cy="104379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cs typeface="Calibri"/>
              </a:rPr>
              <a:t>Broadcaster</a:t>
            </a:r>
            <a:endParaRPr lang="en-US" dirty="0"/>
          </a:p>
        </p:txBody>
      </p:sp>
      <p:pic>
        <p:nvPicPr>
          <p:cNvPr id="5" name="Picture 5" descr="A picture containing clipart&#10;&#10;Description generated with very high confidence">
            <a:extLst>
              <a:ext uri="{FF2B5EF4-FFF2-40B4-BE49-F238E27FC236}">
                <a16:creationId xmlns:a16="http://schemas.microsoft.com/office/drawing/2014/main" id="{79A2E313-8515-4F2E-B06C-D6B461CBBFE8}"/>
              </a:ext>
            </a:extLst>
          </p:cNvPr>
          <p:cNvPicPr>
            <a:picLocks noChangeAspect="1"/>
          </p:cNvPicPr>
          <p:nvPr/>
        </p:nvPicPr>
        <p:blipFill>
          <a:blip r:embed="rId3"/>
          <a:stretch>
            <a:fillRect/>
          </a:stretch>
        </p:blipFill>
        <p:spPr>
          <a:xfrm rot="3360000">
            <a:off x="9382174" y="648772"/>
            <a:ext cx="1006236" cy="770626"/>
          </a:xfrm>
          <a:prstGeom prst="rect">
            <a:avLst/>
          </a:prstGeom>
        </p:spPr>
      </p:pic>
      <p:sp>
        <p:nvSpPr>
          <p:cNvPr id="7" name="Oval 6">
            <a:extLst>
              <a:ext uri="{FF2B5EF4-FFF2-40B4-BE49-F238E27FC236}">
                <a16:creationId xmlns:a16="http://schemas.microsoft.com/office/drawing/2014/main" id="{2338C334-B2F8-4D03-AB9C-1BA633FD648B}"/>
              </a:ext>
            </a:extLst>
          </p:cNvPr>
          <p:cNvSpPr/>
          <p:nvPr/>
        </p:nvSpPr>
        <p:spPr>
          <a:xfrm>
            <a:off x="7335327" y="2648309"/>
            <a:ext cx="2237116" cy="104379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cs typeface="Calibri"/>
              </a:rPr>
              <a:t>Observer</a:t>
            </a:r>
            <a:endParaRPr lang="en-US" dirty="0"/>
          </a:p>
        </p:txBody>
      </p:sp>
      <p:pic>
        <p:nvPicPr>
          <p:cNvPr id="8" name="Picture 5" descr="A picture containing clipart&#10;&#10;Description generated with very high confidence">
            <a:extLst>
              <a:ext uri="{FF2B5EF4-FFF2-40B4-BE49-F238E27FC236}">
                <a16:creationId xmlns:a16="http://schemas.microsoft.com/office/drawing/2014/main" id="{00643824-1DE2-438F-9C7E-5EF74822CB8A}"/>
              </a:ext>
            </a:extLst>
          </p:cNvPr>
          <p:cNvPicPr>
            <a:picLocks noChangeAspect="1"/>
          </p:cNvPicPr>
          <p:nvPr/>
        </p:nvPicPr>
        <p:blipFill>
          <a:blip r:embed="rId3"/>
          <a:stretch>
            <a:fillRect/>
          </a:stretch>
        </p:blipFill>
        <p:spPr>
          <a:xfrm rot="13980000">
            <a:off x="9333154" y="2314139"/>
            <a:ext cx="661180" cy="540588"/>
          </a:xfrm>
          <a:prstGeom prst="rect">
            <a:avLst/>
          </a:prstGeom>
        </p:spPr>
      </p:pic>
      <p:pic>
        <p:nvPicPr>
          <p:cNvPr id="9" name="Picture 5" descr="A picture containing clipart&#10;&#10;Description generated with very high confidence">
            <a:extLst>
              <a:ext uri="{FF2B5EF4-FFF2-40B4-BE49-F238E27FC236}">
                <a16:creationId xmlns:a16="http://schemas.microsoft.com/office/drawing/2014/main" id="{350FD8F7-4226-43AD-9EB3-3E3363A07325}"/>
              </a:ext>
            </a:extLst>
          </p:cNvPr>
          <p:cNvPicPr>
            <a:picLocks noChangeAspect="1"/>
          </p:cNvPicPr>
          <p:nvPr/>
        </p:nvPicPr>
        <p:blipFill>
          <a:blip r:embed="rId3"/>
          <a:stretch>
            <a:fillRect/>
          </a:stretch>
        </p:blipFill>
        <p:spPr>
          <a:xfrm rot="-3900000">
            <a:off x="9433795" y="3320554"/>
            <a:ext cx="661180" cy="540588"/>
          </a:xfrm>
          <a:prstGeom prst="rect">
            <a:avLst/>
          </a:prstGeom>
        </p:spPr>
      </p:pic>
      <p:sp>
        <p:nvSpPr>
          <p:cNvPr id="10" name="Oval 9">
            <a:extLst>
              <a:ext uri="{FF2B5EF4-FFF2-40B4-BE49-F238E27FC236}">
                <a16:creationId xmlns:a16="http://schemas.microsoft.com/office/drawing/2014/main" id="{091A8415-3683-4FCB-86C0-5B324BA0A1AA}"/>
              </a:ext>
            </a:extLst>
          </p:cNvPr>
          <p:cNvSpPr/>
          <p:nvPr/>
        </p:nvSpPr>
        <p:spPr>
          <a:xfrm>
            <a:off x="10153290" y="4531744"/>
            <a:ext cx="1475116" cy="7418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cs typeface="Calibri"/>
              </a:rPr>
              <a:t>Central</a:t>
            </a:r>
            <a:endParaRPr lang="en-US" dirty="0"/>
          </a:p>
        </p:txBody>
      </p:sp>
      <p:sp>
        <p:nvSpPr>
          <p:cNvPr id="11" name="Oval 10">
            <a:extLst>
              <a:ext uri="{FF2B5EF4-FFF2-40B4-BE49-F238E27FC236}">
                <a16:creationId xmlns:a16="http://schemas.microsoft.com/office/drawing/2014/main" id="{18EEAAA4-BFC7-4900-A52E-BCAF4793937E}"/>
              </a:ext>
            </a:extLst>
          </p:cNvPr>
          <p:cNvSpPr/>
          <p:nvPr/>
        </p:nvSpPr>
        <p:spPr>
          <a:xfrm>
            <a:off x="7047781" y="4531743"/>
            <a:ext cx="1705153" cy="7418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cs typeface="Calibri"/>
              </a:rPr>
              <a:t>Peripheral</a:t>
            </a:r>
            <a:endParaRPr lang="en-US" dirty="0"/>
          </a:p>
        </p:txBody>
      </p:sp>
      <p:sp>
        <p:nvSpPr>
          <p:cNvPr id="12" name="Arrow: Left-Right 11">
            <a:extLst>
              <a:ext uri="{FF2B5EF4-FFF2-40B4-BE49-F238E27FC236}">
                <a16:creationId xmlns:a16="http://schemas.microsoft.com/office/drawing/2014/main" id="{7047F991-BDDF-4CA7-8854-CD724CBF0DF1}"/>
              </a:ext>
            </a:extLst>
          </p:cNvPr>
          <p:cNvSpPr/>
          <p:nvPr/>
        </p:nvSpPr>
        <p:spPr>
          <a:xfrm>
            <a:off x="8852225" y="4717873"/>
            <a:ext cx="1230529" cy="369613"/>
          </a:xfrm>
          <a:prstGeom prst="leftRightArrow">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13F65407-5E84-4BB6-BFC7-5CD2AD96C937}"/>
              </a:ext>
            </a:extLst>
          </p:cNvPr>
          <p:cNvSpPr/>
          <p:nvPr/>
        </p:nvSpPr>
        <p:spPr>
          <a:xfrm>
            <a:off x="7752271" y="5911969"/>
            <a:ext cx="1705153" cy="7418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cs typeface="Calibri"/>
              </a:rPr>
              <a:t>Peripheral</a:t>
            </a:r>
            <a:endParaRPr lang="en-US" dirty="0"/>
          </a:p>
        </p:txBody>
      </p:sp>
      <p:sp>
        <p:nvSpPr>
          <p:cNvPr id="14" name="Arrow: Left-Right 13">
            <a:extLst>
              <a:ext uri="{FF2B5EF4-FFF2-40B4-BE49-F238E27FC236}">
                <a16:creationId xmlns:a16="http://schemas.microsoft.com/office/drawing/2014/main" id="{06E99E2A-E24A-4EAF-80A5-A15EE4AFEBAD}"/>
              </a:ext>
            </a:extLst>
          </p:cNvPr>
          <p:cNvSpPr/>
          <p:nvPr/>
        </p:nvSpPr>
        <p:spPr>
          <a:xfrm rot="-1800000">
            <a:off x="9240413" y="5465495"/>
            <a:ext cx="1230529" cy="369613"/>
          </a:xfrm>
          <a:prstGeom prst="leftRightArrow">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4C446CB7-D114-40E0-A78C-A6E9FDF0BFD2}"/>
              </a:ext>
            </a:extLst>
          </p:cNvPr>
          <p:cNvSpPr/>
          <p:nvPr/>
        </p:nvSpPr>
        <p:spPr>
          <a:xfrm>
            <a:off x="10483969" y="5911969"/>
            <a:ext cx="1705153" cy="7418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cs typeface="Calibri"/>
              </a:rPr>
              <a:t>Peripheral</a:t>
            </a:r>
            <a:endParaRPr lang="en-US" dirty="0"/>
          </a:p>
        </p:txBody>
      </p:sp>
      <p:sp>
        <p:nvSpPr>
          <p:cNvPr id="17" name="Arrow: Left-Right 16">
            <a:extLst>
              <a:ext uri="{FF2B5EF4-FFF2-40B4-BE49-F238E27FC236}">
                <a16:creationId xmlns:a16="http://schemas.microsoft.com/office/drawing/2014/main" id="{45D1271A-997E-4B97-A33E-50B09B704062}"/>
              </a:ext>
            </a:extLst>
          </p:cNvPr>
          <p:cNvSpPr/>
          <p:nvPr/>
        </p:nvSpPr>
        <p:spPr>
          <a:xfrm rot="15540000">
            <a:off x="10862540" y="5392891"/>
            <a:ext cx="526039" cy="369613"/>
          </a:xfrm>
          <a:prstGeom prst="leftRightArrow">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3706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7" grpId="0" animBg="1"/>
      <p:bldP spid="10" grpId="0" animBg="1"/>
      <p:bldP spid="11" grpId="0" animBg="1"/>
      <p:bldP spid="12" grpId="0" animBg="1"/>
      <p:bldP spid="13" grpId="0" animBg="1"/>
      <p:bldP spid="14" grpId="0" animBg="1"/>
      <p:bldP spid="15" grpId="0" animBg="1"/>
      <p:bldP spid="1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5F030-FC55-4ECD-98A6-77B211C00215}"/>
              </a:ext>
            </a:extLst>
          </p:cNvPr>
          <p:cNvSpPr>
            <a:spLocks noGrp="1"/>
          </p:cNvSpPr>
          <p:nvPr>
            <p:ph type="title"/>
          </p:nvPr>
        </p:nvSpPr>
        <p:spPr>
          <a:xfrm>
            <a:off x="6094105" y="802955"/>
            <a:ext cx="4977976" cy="1454051"/>
          </a:xfrm>
        </p:spPr>
        <p:txBody>
          <a:bodyPr vert="horz" lIns="91440" tIns="45720" rIns="91440" bIns="45720" rtlCol="0" anchor="ctr">
            <a:normAutofit/>
          </a:bodyPr>
          <a:lstStyle/>
          <a:p>
            <a:r>
              <a:rPr lang="en-US" kern="1200" dirty="0">
                <a:solidFill>
                  <a:srgbClr val="000000"/>
                </a:solidFill>
                <a:latin typeface="+mj-lt"/>
                <a:ea typeface="+mj-ea"/>
                <a:cs typeface="+mj-cs"/>
              </a:rPr>
              <a:t>BLE Operation Modes</a:t>
            </a:r>
          </a:p>
        </p:txBody>
      </p:sp>
      <p:pic>
        <p:nvPicPr>
          <p:cNvPr id="99" name="Picture 99">
            <a:extLst>
              <a:ext uri="{FF2B5EF4-FFF2-40B4-BE49-F238E27FC236}">
                <a16:creationId xmlns:a16="http://schemas.microsoft.com/office/drawing/2014/main" id="{F671FF60-379A-4E44-8AEF-54EDD550F872}"/>
              </a:ext>
            </a:extLst>
          </p:cNvPr>
          <p:cNvPicPr>
            <a:picLocks noChangeAspect="1"/>
          </p:cNvPicPr>
          <p:nvPr/>
        </p:nvPicPr>
        <p:blipFill>
          <a:blip r:embed="rId3"/>
          <a:stretch>
            <a:fillRect/>
          </a:stretch>
        </p:blipFill>
        <p:spPr>
          <a:xfrm>
            <a:off x="26783" y="2138153"/>
            <a:ext cx="5559642" cy="2328722"/>
          </a:xfrm>
          <a:prstGeom prst="rect">
            <a:avLst/>
          </a:prstGeom>
        </p:spPr>
      </p:pic>
      <p:graphicFrame>
        <p:nvGraphicFramePr>
          <p:cNvPr id="107" name="TextBox 97">
            <a:extLst>
              <a:ext uri="{FF2B5EF4-FFF2-40B4-BE49-F238E27FC236}">
                <a16:creationId xmlns:a16="http://schemas.microsoft.com/office/drawing/2014/main" id="{D3415EF9-52E9-4F5E-A204-36B5FAA3AC67}"/>
              </a:ext>
            </a:extLst>
          </p:cNvPr>
          <p:cNvGraphicFramePr/>
          <p:nvPr/>
        </p:nvGraphicFramePr>
        <p:xfrm>
          <a:off x="6090574" y="2421682"/>
          <a:ext cx="4977578" cy="363928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957757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7" grpId="0">
        <p:bldAsOne/>
      </p:bldGraphic>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AB06F-F758-4020-BCDD-E7A2EBB8901D}"/>
              </a:ext>
            </a:extLst>
          </p:cNvPr>
          <p:cNvSpPr>
            <a:spLocks noGrp="1"/>
          </p:cNvSpPr>
          <p:nvPr>
            <p:ph type="title"/>
          </p:nvPr>
        </p:nvSpPr>
        <p:spPr/>
        <p:txBody>
          <a:bodyPr/>
          <a:lstStyle/>
          <a:p>
            <a:r>
              <a:rPr lang="en-US" dirty="0">
                <a:cs typeface="Calibri Light"/>
              </a:rPr>
              <a:t>BLE Connections</a:t>
            </a:r>
            <a:endParaRPr lang="en-US" dirty="0"/>
          </a:p>
        </p:txBody>
      </p:sp>
      <p:sp>
        <p:nvSpPr>
          <p:cNvPr id="3" name="Content Placeholder 2">
            <a:extLst>
              <a:ext uri="{FF2B5EF4-FFF2-40B4-BE49-F238E27FC236}">
                <a16:creationId xmlns:a16="http://schemas.microsoft.com/office/drawing/2014/main" id="{C931C690-4EAA-4253-9556-5E4A6879416D}"/>
              </a:ext>
            </a:extLst>
          </p:cNvPr>
          <p:cNvSpPr>
            <a:spLocks noGrp="1"/>
          </p:cNvSpPr>
          <p:nvPr>
            <p:ph idx="1"/>
          </p:nvPr>
        </p:nvSpPr>
        <p:spPr>
          <a:xfrm>
            <a:off x="838200" y="1825625"/>
            <a:ext cx="10606314" cy="2754767"/>
          </a:xfrm>
        </p:spPr>
        <p:txBody>
          <a:bodyPr vert="horz" lIns="91440" tIns="45720" rIns="91440" bIns="45720" rtlCol="0" anchor="t">
            <a:normAutofit fontScale="85000" lnSpcReduction="10000"/>
          </a:bodyPr>
          <a:lstStyle/>
          <a:p>
            <a:r>
              <a:rPr lang="en-US" dirty="0">
                <a:cs typeface="Calibri"/>
              </a:rPr>
              <a:t>Initiating Connections</a:t>
            </a:r>
          </a:p>
          <a:p>
            <a:pPr lvl="1"/>
            <a:r>
              <a:rPr lang="en-US" sz="2600" dirty="0">
                <a:cs typeface="Calibri"/>
              </a:rPr>
              <a:t>The central is free to establish or terminate a connection </a:t>
            </a:r>
          </a:p>
          <a:p>
            <a:pPr lvl="1"/>
            <a:r>
              <a:rPr lang="en-US" sz="2600" dirty="0">
                <a:cs typeface="Calibri"/>
              </a:rPr>
              <a:t>The peripheral (the BLE device) cannot force the central to scan for BLE devices</a:t>
            </a:r>
          </a:p>
          <a:p>
            <a:r>
              <a:rPr lang="en-US" dirty="0">
                <a:cs typeface="Calibri"/>
              </a:rPr>
              <a:t>The two modes BLE uses are:</a:t>
            </a:r>
            <a:endParaRPr lang="en-US" dirty="0"/>
          </a:p>
          <a:p>
            <a:pPr lvl="1"/>
            <a:r>
              <a:rPr lang="en-US" dirty="0">
                <a:cs typeface="Calibri"/>
              </a:rPr>
              <a:t>Advertising mode : the peripheral sends out Generic Access Profile (GAP) that any device in the area can pick up; this is how central devices know that there are peripherals around.</a:t>
            </a:r>
          </a:p>
          <a:p>
            <a:pPr lvl="1"/>
            <a:r>
              <a:rPr lang="en-US" dirty="0">
                <a:cs typeface="Calibri"/>
              </a:rPr>
              <a:t>Connected mode : the peripheral and a central device establish a one-to-one conversation. This is how they can exchange complex information.</a:t>
            </a:r>
          </a:p>
          <a:p>
            <a:endParaRPr lang="en-US" dirty="0">
              <a:cs typeface="Calibri"/>
            </a:endParaRPr>
          </a:p>
        </p:txBody>
      </p:sp>
      <p:pic>
        <p:nvPicPr>
          <p:cNvPr id="4" name="Picture 4" descr="A picture containing object&#10;&#10;Description generated with high confidence">
            <a:extLst>
              <a:ext uri="{FF2B5EF4-FFF2-40B4-BE49-F238E27FC236}">
                <a16:creationId xmlns:a16="http://schemas.microsoft.com/office/drawing/2014/main" id="{F6815A39-3B31-4598-ACB6-3CD54E57DECC}"/>
              </a:ext>
            </a:extLst>
          </p:cNvPr>
          <p:cNvPicPr>
            <a:picLocks noChangeAspect="1"/>
          </p:cNvPicPr>
          <p:nvPr/>
        </p:nvPicPr>
        <p:blipFill>
          <a:blip r:embed="rId2"/>
          <a:stretch>
            <a:fillRect/>
          </a:stretch>
        </p:blipFill>
        <p:spPr>
          <a:xfrm>
            <a:off x="2819401" y="4494367"/>
            <a:ext cx="5038271" cy="1860696"/>
          </a:xfrm>
          <a:prstGeom prst="rect">
            <a:avLst/>
          </a:prstGeom>
        </p:spPr>
      </p:pic>
    </p:spTree>
    <p:extLst>
      <p:ext uri="{BB962C8B-B14F-4D97-AF65-F5344CB8AC3E}">
        <p14:creationId xmlns:p14="http://schemas.microsoft.com/office/powerpoint/2010/main" val="42935720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icrocontrollers_Advertising2.png">
            <a:extLst>
              <a:ext uri="{FF2B5EF4-FFF2-40B4-BE49-F238E27FC236}">
                <a16:creationId xmlns:a16="http://schemas.microsoft.com/office/drawing/2014/main" id="{F2B78551-B097-47F0-BF31-8D87BFAC82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1903" y="3987782"/>
            <a:ext cx="6035111" cy="126907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BAD4B28-6362-4A0F-ADCC-5C5F35504E69}"/>
              </a:ext>
            </a:extLst>
          </p:cNvPr>
          <p:cNvSpPr>
            <a:spLocks noGrp="1"/>
          </p:cNvSpPr>
          <p:nvPr>
            <p:ph type="title"/>
          </p:nvPr>
        </p:nvSpPr>
        <p:spPr>
          <a:xfrm>
            <a:off x="1024129" y="585216"/>
            <a:ext cx="5062511" cy="1499616"/>
          </a:xfrm>
          <a:solidFill>
            <a:schemeClr val="bg1"/>
          </a:solidFill>
        </p:spPr>
        <p:txBody>
          <a:bodyPr>
            <a:normAutofit/>
          </a:bodyPr>
          <a:lstStyle/>
          <a:p>
            <a:r>
              <a:rPr lang="en-IE" dirty="0"/>
              <a:t>Advertising process</a:t>
            </a:r>
            <a:endParaRPr lang="en-IE" dirty="0">
              <a:cs typeface="Calibri Light"/>
            </a:endParaRPr>
          </a:p>
        </p:txBody>
      </p:sp>
      <p:sp>
        <p:nvSpPr>
          <p:cNvPr id="3" name="Content Placeholder 2">
            <a:extLst>
              <a:ext uri="{FF2B5EF4-FFF2-40B4-BE49-F238E27FC236}">
                <a16:creationId xmlns:a16="http://schemas.microsoft.com/office/drawing/2014/main" id="{FD768AB7-08F9-47A1-A113-0673B22AA066}"/>
              </a:ext>
            </a:extLst>
          </p:cNvPr>
          <p:cNvSpPr>
            <a:spLocks noGrp="1"/>
          </p:cNvSpPr>
          <p:nvPr>
            <p:ph idx="1"/>
          </p:nvPr>
        </p:nvSpPr>
        <p:spPr>
          <a:xfrm>
            <a:off x="1024129" y="2286000"/>
            <a:ext cx="5081232" cy="3931920"/>
          </a:xfrm>
          <a:solidFill>
            <a:schemeClr val="bg1"/>
          </a:solidFill>
        </p:spPr>
        <p:txBody>
          <a:bodyPr vert="horz" lIns="91440" tIns="45720" rIns="91440" bIns="45720" rtlCol="0" anchor="t">
            <a:normAutofit/>
          </a:bodyPr>
          <a:lstStyle/>
          <a:p>
            <a:pPr marL="285750" indent="-285750"/>
            <a:r>
              <a:rPr lang="en-IE" sz="2200" dirty="0">
                <a:cs typeface="Calibri"/>
              </a:rPr>
              <a:t>Operates in 2.4 GHz Band</a:t>
            </a:r>
          </a:p>
          <a:p>
            <a:r>
              <a:rPr lang="en-IE" sz="2200" dirty="0"/>
              <a:t>Peripheral sets a specific advertising interval and transmit advertising packet</a:t>
            </a:r>
            <a:endParaRPr lang="en-IE" sz="2200" dirty="0">
              <a:cs typeface="Calibri"/>
            </a:endParaRPr>
          </a:p>
          <a:p>
            <a:pPr lvl="1"/>
            <a:r>
              <a:rPr lang="en-IE" sz="2200" dirty="0"/>
              <a:t>longer delays saves power but less responsive</a:t>
            </a:r>
            <a:endParaRPr lang="en-IE" sz="2200" dirty="0">
              <a:cs typeface="Calibri"/>
            </a:endParaRPr>
          </a:p>
          <a:p>
            <a:pPr marL="285750" indent="-285750"/>
            <a:r>
              <a:rPr lang="en-IE" sz="2200" dirty="0">
                <a:cs typeface="Calibri"/>
              </a:rPr>
              <a:t>Transmits on all advertising channels in each interval(channel 37/38/39)</a:t>
            </a:r>
          </a:p>
          <a:p>
            <a:r>
              <a:rPr lang="en-IE" sz="2200" dirty="0"/>
              <a:t>A listening device can optionally request the scan response payload, </a:t>
            </a:r>
            <a:endParaRPr lang="en-IE" sz="2200" dirty="0">
              <a:cs typeface="Calibri"/>
            </a:endParaRPr>
          </a:p>
          <a:p>
            <a:pPr lvl="1"/>
            <a:r>
              <a:rPr lang="en-IE" sz="1800" dirty="0"/>
              <a:t>peripheral will respond with the additional data.</a:t>
            </a:r>
            <a:endParaRPr lang="en-IE" sz="1800" dirty="0">
              <a:cs typeface="Calibri"/>
            </a:endParaRPr>
          </a:p>
          <a:p>
            <a:pPr marL="0" indent="0">
              <a:buNone/>
            </a:pPr>
            <a:endParaRPr lang="en-IE" sz="1800" dirty="0">
              <a:cs typeface="Calibri"/>
            </a:endParaRPr>
          </a:p>
          <a:p>
            <a:endParaRPr lang="en-IE" sz="1800" dirty="0">
              <a:cs typeface="Calibri"/>
            </a:endParaRPr>
          </a:p>
        </p:txBody>
      </p:sp>
      <p:pic>
        <p:nvPicPr>
          <p:cNvPr id="4" name="Picture 4" descr="A close up of a fence&#10;&#10;Description generated with high confidence">
            <a:extLst>
              <a:ext uri="{FF2B5EF4-FFF2-40B4-BE49-F238E27FC236}">
                <a16:creationId xmlns:a16="http://schemas.microsoft.com/office/drawing/2014/main" id="{159CCCFF-13E7-49D6-942F-07924AECAFAE}"/>
              </a:ext>
            </a:extLst>
          </p:cNvPr>
          <p:cNvPicPr>
            <a:picLocks noChangeAspect="1"/>
          </p:cNvPicPr>
          <p:nvPr/>
        </p:nvPicPr>
        <p:blipFill>
          <a:blip r:embed="rId3"/>
          <a:stretch>
            <a:fillRect/>
          </a:stretch>
        </p:blipFill>
        <p:spPr>
          <a:xfrm>
            <a:off x="6492815" y="910299"/>
            <a:ext cx="5403011" cy="2176306"/>
          </a:xfrm>
          <a:prstGeom prst="rect">
            <a:avLst/>
          </a:prstGeom>
        </p:spPr>
      </p:pic>
      <p:sp>
        <p:nvSpPr>
          <p:cNvPr id="6" name="TextBox 5">
            <a:extLst>
              <a:ext uri="{FF2B5EF4-FFF2-40B4-BE49-F238E27FC236}">
                <a16:creationId xmlns:a16="http://schemas.microsoft.com/office/drawing/2014/main" id="{EBDA0AB9-BDE8-4111-B5D9-BABEBEFD9004}"/>
              </a:ext>
            </a:extLst>
          </p:cNvPr>
          <p:cNvSpPr txBox="1"/>
          <p:nvPr/>
        </p:nvSpPr>
        <p:spPr>
          <a:xfrm>
            <a:off x="7916173" y="3351362"/>
            <a:ext cx="2743200" cy="369332"/>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t>Advertising channels</a:t>
            </a:r>
            <a:endParaRPr lang="en-US" dirty="0">
              <a:cs typeface="Calibri"/>
            </a:endParaRPr>
          </a:p>
        </p:txBody>
      </p:sp>
      <p:cxnSp>
        <p:nvCxnSpPr>
          <p:cNvPr id="7" name="Straight Arrow Connector 6">
            <a:extLst>
              <a:ext uri="{FF2B5EF4-FFF2-40B4-BE49-F238E27FC236}">
                <a16:creationId xmlns:a16="http://schemas.microsoft.com/office/drawing/2014/main" id="{B125300A-D339-405E-8D35-C77AC22B34A6}"/>
              </a:ext>
            </a:extLst>
          </p:cNvPr>
          <p:cNvCxnSpPr/>
          <p:nvPr/>
        </p:nvCxnSpPr>
        <p:spPr>
          <a:xfrm flipH="1" flipV="1">
            <a:off x="6553200" y="2369388"/>
            <a:ext cx="2119222" cy="10409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6D8D8DB3-7478-4A0A-8859-D4268D34CF54}"/>
              </a:ext>
            </a:extLst>
          </p:cNvPr>
          <p:cNvCxnSpPr>
            <a:cxnSpLocks/>
          </p:cNvCxnSpPr>
          <p:nvPr/>
        </p:nvCxnSpPr>
        <p:spPr>
          <a:xfrm flipH="1" flipV="1">
            <a:off x="8220973" y="2369387"/>
            <a:ext cx="839638" cy="9259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831B99D1-6388-4818-8CDD-79EA7F971CCC}"/>
              </a:ext>
            </a:extLst>
          </p:cNvPr>
          <p:cNvCxnSpPr>
            <a:cxnSpLocks/>
          </p:cNvCxnSpPr>
          <p:nvPr/>
        </p:nvCxnSpPr>
        <p:spPr>
          <a:xfrm flipV="1">
            <a:off x="9491932" y="2355009"/>
            <a:ext cx="2280248" cy="10121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826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7FC8C-F7AF-4B38-BB15-425310284F7F}"/>
              </a:ext>
            </a:extLst>
          </p:cNvPr>
          <p:cNvSpPr>
            <a:spLocks noGrp="1"/>
          </p:cNvSpPr>
          <p:nvPr>
            <p:ph type="title"/>
          </p:nvPr>
        </p:nvSpPr>
        <p:spPr/>
        <p:txBody>
          <a:bodyPr/>
          <a:lstStyle/>
          <a:p>
            <a:r>
              <a:rPr lang="en-US" dirty="0">
                <a:cs typeface="Calibri Light"/>
              </a:rPr>
              <a:t>Connection Process</a:t>
            </a:r>
            <a:endParaRPr lang="en-US" dirty="0"/>
          </a:p>
        </p:txBody>
      </p:sp>
      <p:sp>
        <p:nvSpPr>
          <p:cNvPr id="3" name="Content Placeholder 2">
            <a:extLst>
              <a:ext uri="{FF2B5EF4-FFF2-40B4-BE49-F238E27FC236}">
                <a16:creationId xmlns:a16="http://schemas.microsoft.com/office/drawing/2014/main" id="{45720750-3530-478D-A66C-D21C47413EF0}"/>
              </a:ext>
            </a:extLst>
          </p:cNvPr>
          <p:cNvSpPr>
            <a:spLocks noGrp="1"/>
          </p:cNvSpPr>
          <p:nvPr>
            <p:ph idx="1"/>
          </p:nvPr>
        </p:nvSpPr>
        <p:spPr>
          <a:xfrm>
            <a:off x="838200" y="1825625"/>
            <a:ext cx="10515600" cy="5027073"/>
          </a:xfrm>
        </p:spPr>
        <p:txBody>
          <a:bodyPr vert="horz" lIns="91440" tIns="45720" rIns="91440" bIns="45720" rtlCol="0" anchor="t">
            <a:normAutofit fontScale="92500" lnSpcReduction="20000"/>
          </a:bodyPr>
          <a:lstStyle/>
          <a:p>
            <a:r>
              <a:rPr lang="en-US" dirty="0">
                <a:cs typeface="Calibri"/>
              </a:rPr>
              <a:t>Initiated by central device in a specific response period</a:t>
            </a:r>
            <a:endParaRPr lang="en-US" sz="3000" dirty="0">
              <a:cs typeface="Calibri"/>
            </a:endParaRPr>
          </a:p>
          <a:p>
            <a:r>
              <a:rPr lang="en-US" sz="3000" dirty="0">
                <a:cs typeface="Calibri"/>
              </a:rPr>
              <a:t>Central can issue connection request after receiving advertisement</a:t>
            </a:r>
          </a:p>
          <a:p>
            <a:endParaRPr lang="en-US" dirty="0">
              <a:cs typeface="Calibri"/>
            </a:endParaRPr>
          </a:p>
          <a:p>
            <a:endParaRPr lang="en-US" dirty="0">
              <a:cs typeface="Calibri"/>
            </a:endParaRPr>
          </a:p>
          <a:p>
            <a:endParaRPr lang="en-US" dirty="0">
              <a:cs typeface="Calibri"/>
            </a:endParaRPr>
          </a:p>
          <a:p>
            <a:endParaRPr lang="en-US" dirty="0">
              <a:cs typeface="Calibri"/>
            </a:endParaRPr>
          </a:p>
          <a:p>
            <a:endParaRPr lang="en-US" dirty="0">
              <a:cs typeface="Calibri"/>
            </a:endParaRPr>
          </a:p>
          <a:p>
            <a:endParaRPr lang="en-US" dirty="0">
              <a:cs typeface="Calibri"/>
            </a:endParaRPr>
          </a:p>
          <a:p>
            <a:endParaRPr lang="en-US" dirty="0">
              <a:cs typeface="Calibri"/>
            </a:endParaRPr>
          </a:p>
          <a:p>
            <a:r>
              <a:rPr lang="en-US" dirty="0">
                <a:cs typeface="Calibri"/>
              </a:rPr>
              <a:t>Peripheral stops advertising after connection request (becomes a slave)</a:t>
            </a:r>
          </a:p>
          <a:p>
            <a:r>
              <a:rPr lang="en-US" dirty="0">
                <a:cs typeface="Calibri"/>
              </a:rPr>
              <a:t>Slave waits for packets from Master.</a:t>
            </a:r>
          </a:p>
          <a:p>
            <a:pPr lvl="1"/>
            <a:r>
              <a:rPr lang="en-US" dirty="0">
                <a:cs typeface="Calibri"/>
              </a:rPr>
              <a:t>When received, connection established</a:t>
            </a:r>
            <a:endParaRPr lang="en-US" sz="2600" dirty="0">
              <a:cs typeface="Calibri"/>
            </a:endParaRPr>
          </a:p>
        </p:txBody>
      </p:sp>
      <p:cxnSp>
        <p:nvCxnSpPr>
          <p:cNvPr id="4" name="Straight Arrow Connector 3">
            <a:extLst>
              <a:ext uri="{FF2B5EF4-FFF2-40B4-BE49-F238E27FC236}">
                <a16:creationId xmlns:a16="http://schemas.microsoft.com/office/drawing/2014/main" id="{94C69FA2-9213-47CF-A93C-069CEA9EF655}"/>
              </a:ext>
            </a:extLst>
          </p:cNvPr>
          <p:cNvCxnSpPr/>
          <p:nvPr/>
        </p:nvCxnSpPr>
        <p:spPr>
          <a:xfrm>
            <a:off x="1871933" y="5264988"/>
            <a:ext cx="4911305" cy="51758"/>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BE12CE44-27CF-45AF-8B07-1D75BE9BC8D7}"/>
              </a:ext>
            </a:extLst>
          </p:cNvPr>
          <p:cNvSpPr/>
          <p:nvPr/>
        </p:nvSpPr>
        <p:spPr>
          <a:xfrm>
            <a:off x="2605177" y="3108384"/>
            <a:ext cx="267419" cy="21652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cs typeface="Calibri"/>
              </a:rPr>
              <a:t>Adv</a:t>
            </a:r>
          </a:p>
          <a:p>
            <a:pPr algn="ctr"/>
            <a:r>
              <a:rPr lang="en-US" dirty="0">
                <a:cs typeface="Calibri"/>
              </a:rPr>
              <a:t>37</a:t>
            </a:r>
          </a:p>
        </p:txBody>
      </p:sp>
      <p:sp>
        <p:nvSpPr>
          <p:cNvPr id="6" name="Rectangle 5">
            <a:extLst>
              <a:ext uri="{FF2B5EF4-FFF2-40B4-BE49-F238E27FC236}">
                <a16:creationId xmlns:a16="http://schemas.microsoft.com/office/drawing/2014/main" id="{71863E93-C771-49A3-8071-CB14C26C2B18}"/>
              </a:ext>
            </a:extLst>
          </p:cNvPr>
          <p:cNvSpPr/>
          <p:nvPr/>
        </p:nvSpPr>
        <p:spPr>
          <a:xfrm>
            <a:off x="4402346" y="3108383"/>
            <a:ext cx="267419" cy="216523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cs typeface="Calibri"/>
              </a:rPr>
              <a:t>Adv</a:t>
            </a:r>
          </a:p>
          <a:p>
            <a:pPr algn="ctr"/>
            <a:r>
              <a:rPr lang="en-US" dirty="0">
                <a:cs typeface="Calibri"/>
              </a:rPr>
              <a:t>38</a:t>
            </a:r>
          </a:p>
        </p:txBody>
      </p:sp>
      <p:sp>
        <p:nvSpPr>
          <p:cNvPr id="7" name="Rectangle 6">
            <a:extLst>
              <a:ext uri="{FF2B5EF4-FFF2-40B4-BE49-F238E27FC236}">
                <a16:creationId xmlns:a16="http://schemas.microsoft.com/office/drawing/2014/main" id="{C3CD7417-948E-42F9-841A-6DFDF42AFD58}"/>
              </a:ext>
            </a:extLst>
          </p:cNvPr>
          <p:cNvSpPr/>
          <p:nvPr/>
        </p:nvSpPr>
        <p:spPr>
          <a:xfrm>
            <a:off x="4876799" y="3108382"/>
            <a:ext cx="684362" cy="216523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cs typeface="Calibri"/>
              </a:rPr>
              <a:t>Con</a:t>
            </a:r>
          </a:p>
          <a:p>
            <a:pPr algn="ctr"/>
            <a:r>
              <a:rPr lang="en-US" dirty="0">
                <a:cs typeface="Calibri"/>
              </a:rPr>
              <a:t>Req</a:t>
            </a:r>
          </a:p>
        </p:txBody>
      </p:sp>
      <p:cxnSp>
        <p:nvCxnSpPr>
          <p:cNvPr id="8" name="Straight Arrow Connector 7">
            <a:extLst>
              <a:ext uri="{FF2B5EF4-FFF2-40B4-BE49-F238E27FC236}">
                <a16:creationId xmlns:a16="http://schemas.microsoft.com/office/drawing/2014/main" id="{D1E0FCE8-4B05-46E1-901C-615493F12CD0}"/>
              </a:ext>
            </a:extLst>
          </p:cNvPr>
          <p:cNvCxnSpPr/>
          <p:nvPr/>
        </p:nvCxnSpPr>
        <p:spPr>
          <a:xfrm>
            <a:off x="2993366" y="5178723"/>
            <a:ext cx="1158815" cy="23004"/>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A15FCF6-B4E3-4450-A46C-06DCE7D8614F}"/>
              </a:ext>
            </a:extLst>
          </p:cNvPr>
          <p:cNvSpPr txBox="1"/>
          <p:nvPr/>
        </p:nvSpPr>
        <p:spPr>
          <a:xfrm>
            <a:off x="2208362" y="4817853"/>
            <a:ext cx="2743200" cy="369332"/>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t>Rx period</a:t>
            </a:r>
          </a:p>
        </p:txBody>
      </p:sp>
      <p:cxnSp>
        <p:nvCxnSpPr>
          <p:cNvPr id="10" name="Straight Arrow Connector 9">
            <a:extLst>
              <a:ext uri="{FF2B5EF4-FFF2-40B4-BE49-F238E27FC236}">
                <a16:creationId xmlns:a16="http://schemas.microsoft.com/office/drawing/2014/main" id="{185097E1-FEAC-46D0-AD99-9FDF81593FE2}"/>
              </a:ext>
            </a:extLst>
          </p:cNvPr>
          <p:cNvCxnSpPr>
            <a:cxnSpLocks/>
          </p:cNvCxnSpPr>
          <p:nvPr/>
        </p:nvCxnSpPr>
        <p:spPr>
          <a:xfrm>
            <a:off x="4776158" y="5178722"/>
            <a:ext cx="1158815" cy="23004"/>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69359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C4033-E18D-4040-9656-54B8F9147F5F}"/>
              </a:ext>
            </a:extLst>
          </p:cNvPr>
          <p:cNvSpPr>
            <a:spLocks noGrp="1"/>
          </p:cNvSpPr>
          <p:nvPr>
            <p:ph type="title"/>
          </p:nvPr>
        </p:nvSpPr>
        <p:spPr/>
        <p:txBody>
          <a:bodyPr/>
          <a:lstStyle/>
          <a:p>
            <a:r>
              <a:rPr lang="en-US" b="1" dirty="0">
                <a:latin typeface="Arial"/>
                <a:cs typeface="Arial"/>
              </a:rPr>
              <a:t>Bluetooth LE Device Address</a:t>
            </a:r>
            <a:endParaRPr lang="en-US" dirty="0">
              <a:latin typeface="Arial"/>
              <a:cs typeface="Arial"/>
            </a:endParaRPr>
          </a:p>
        </p:txBody>
      </p:sp>
      <p:sp>
        <p:nvSpPr>
          <p:cNvPr id="3" name="Content Placeholder 2">
            <a:extLst>
              <a:ext uri="{FF2B5EF4-FFF2-40B4-BE49-F238E27FC236}">
                <a16:creationId xmlns:a16="http://schemas.microsoft.com/office/drawing/2014/main" id="{5B5B21DA-25ED-4E61-8832-84C8E72B1976}"/>
              </a:ext>
            </a:extLst>
          </p:cNvPr>
          <p:cNvSpPr>
            <a:spLocks noGrp="1"/>
          </p:cNvSpPr>
          <p:nvPr>
            <p:ph idx="1"/>
          </p:nvPr>
        </p:nvSpPr>
        <p:spPr/>
        <p:txBody>
          <a:bodyPr vert="horz" lIns="91440" tIns="45720" rIns="91440" bIns="45720" rtlCol="0" anchor="t">
            <a:normAutofit lnSpcReduction="10000"/>
          </a:bodyPr>
          <a:lstStyle/>
          <a:p>
            <a:r>
              <a:rPr lang="en-US" dirty="0">
                <a:cs typeface="Calibri"/>
              </a:rPr>
              <a:t> The Bluetooth </a:t>
            </a:r>
            <a:r>
              <a:rPr lang="en-US" b="1" i="1" dirty="0">
                <a:cs typeface="Calibri"/>
              </a:rPr>
              <a:t>Device Address </a:t>
            </a:r>
            <a:r>
              <a:rPr lang="en-US" dirty="0">
                <a:cs typeface="Calibri"/>
              </a:rPr>
              <a:t>is a 48-bit (6-byte) number uniquely identifies a device among peers. </a:t>
            </a:r>
          </a:p>
          <a:p>
            <a:pPr lvl="1"/>
            <a:r>
              <a:rPr lang="en-US" dirty="0">
                <a:cs typeface="Calibri"/>
              </a:rPr>
              <a:t>Similar to an Ethernet Media Access Control (MAC) address</a:t>
            </a:r>
          </a:p>
          <a:p>
            <a:r>
              <a:rPr lang="en-US" dirty="0">
                <a:cs typeface="Calibri"/>
              </a:rPr>
              <a:t>Think of it as a unique address of a device</a:t>
            </a:r>
          </a:p>
          <a:p>
            <a:r>
              <a:rPr lang="en-US" dirty="0">
                <a:cs typeface="Calibri"/>
              </a:rPr>
              <a:t>There are two types of device addresses and one or both can be set on a device:</a:t>
            </a:r>
          </a:p>
          <a:p>
            <a:pPr lvl="1"/>
            <a:r>
              <a:rPr lang="en-US" dirty="0">
                <a:cs typeface="Calibri"/>
              </a:rPr>
              <a:t>Random Address: </a:t>
            </a:r>
          </a:p>
          <a:p>
            <a:pPr lvl="2"/>
            <a:r>
              <a:rPr lang="en-US" dirty="0">
                <a:cs typeface="Calibri"/>
              </a:rPr>
              <a:t>Random number according to the Bluetooth SIG. Can be static(can only change on power cycle) or Private(resolvable/non-resolvable)</a:t>
            </a:r>
          </a:p>
          <a:p>
            <a:pPr lvl="1"/>
            <a:r>
              <a:rPr lang="en-US" dirty="0">
                <a:cs typeface="Calibri"/>
              </a:rPr>
              <a:t>Public Address:</a:t>
            </a:r>
          </a:p>
          <a:p>
            <a:pPr lvl="2"/>
            <a:r>
              <a:rPr lang="en-US" dirty="0">
                <a:cs typeface="Calibri"/>
              </a:rPr>
              <a:t>Calculated just like IEEE Ethernet LAN address</a:t>
            </a:r>
          </a:p>
          <a:p>
            <a:pPr lvl="2"/>
            <a:endParaRPr lang="en-US" dirty="0">
              <a:cs typeface="Calibri"/>
            </a:endParaRPr>
          </a:p>
        </p:txBody>
      </p:sp>
    </p:spTree>
    <p:extLst>
      <p:ext uri="{BB962C8B-B14F-4D97-AF65-F5344CB8AC3E}">
        <p14:creationId xmlns:p14="http://schemas.microsoft.com/office/powerpoint/2010/main" val="180649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84B73-92BE-4759-8245-09653716B429}"/>
              </a:ext>
            </a:extLst>
          </p:cNvPr>
          <p:cNvSpPr>
            <a:spLocks noGrp="1"/>
          </p:cNvSpPr>
          <p:nvPr>
            <p:ph type="title"/>
          </p:nvPr>
        </p:nvSpPr>
        <p:spPr/>
        <p:txBody>
          <a:bodyPr/>
          <a:lstStyle/>
          <a:p>
            <a:r>
              <a:rPr lang="en-IE" dirty="0"/>
              <a:t>BLE – Adaptive Frequency Hopping</a:t>
            </a:r>
          </a:p>
        </p:txBody>
      </p:sp>
      <p:sp>
        <p:nvSpPr>
          <p:cNvPr id="3" name="Content Placeholder 2">
            <a:extLst>
              <a:ext uri="{FF2B5EF4-FFF2-40B4-BE49-F238E27FC236}">
                <a16:creationId xmlns:a16="http://schemas.microsoft.com/office/drawing/2014/main" id="{E1375203-B018-45B5-8CA3-6F62D643DECD}"/>
              </a:ext>
            </a:extLst>
          </p:cNvPr>
          <p:cNvSpPr>
            <a:spLocks noGrp="1"/>
          </p:cNvSpPr>
          <p:nvPr>
            <p:ph idx="1"/>
          </p:nvPr>
        </p:nvSpPr>
        <p:spPr>
          <a:xfrm>
            <a:off x="838200" y="1825625"/>
            <a:ext cx="3137170" cy="4351338"/>
          </a:xfrm>
        </p:spPr>
        <p:txBody>
          <a:bodyPr/>
          <a:lstStyle/>
          <a:p>
            <a:r>
              <a:rPr lang="en-IE" dirty="0"/>
              <a:t>Once Connected, Channel hopping pattern (from Server) used to minimise interference</a:t>
            </a:r>
          </a:p>
          <a:p>
            <a:endParaRPr lang="en-IE" dirty="0"/>
          </a:p>
        </p:txBody>
      </p:sp>
      <p:pic>
        <p:nvPicPr>
          <p:cNvPr id="4" name="Picture 3">
            <a:extLst>
              <a:ext uri="{FF2B5EF4-FFF2-40B4-BE49-F238E27FC236}">
                <a16:creationId xmlns:a16="http://schemas.microsoft.com/office/drawing/2014/main" id="{93AF7522-85D5-42DF-BE5C-2A4085577E0E}"/>
              </a:ext>
            </a:extLst>
          </p:cNvPr>
          <p:cNvPicPr>
            <a:picLocks noChangeAspect="1"/>
          </p:cNvPicPr>
          <p:nvPr/>
        </p:nvPicPr>
        <p:blipFill>
          <a:blip r:embed="rId3"/>
          <a:stretch>
            <a:fillRect/>
          </a:stretch>
        </p:blipFill>
        <p:spPr>
          <a:xfrm>
            <a:off x="3702084" y="1575070"/>
            <a:ext cx="7192895" cy="2734835"/>
          </a:xfrm>
          <a:prstGeom prst="rect">
            <a:avLst/>
          </a:prstGeom>
        </p:spPr>
      </p:pic>
      <p:pic>
        <p:nvPicPr>
          <p:cNvPr id="5" name="Picture 4">
            <a:extLst>
              <a:ext uri="{FF2B5EF4-FFF2-40B4-BE49-F238E27FC236}">
                <a16:creationId xmlns:a16="http://schemas.microsoft.com/office/drawing/2014/main" id="{99859452-0A1E-40BB-AA2A-0D52154D617E}"/>
              </a:ext>
            </a:extLst>
          </p:cNvPr>
          <p:cNvPicPr>
            <a:picLocks noChangeAspect="1"/>
          </p:cNvPicPr>
          <p:nvPr/>
        </p:nvPicPr>
        <p:blipFill>
          <a:blip r:embed="rId4"/>
          <a:stretch>
            <a:fillRect/>
          </a:stretch>
        </p:blipFill>
        <p:spPr>
          <a:xfrm>
            <a:off x="4337625" y="4414999"/>
            <a:ext cx="2108571" cy="2077876"/>
          </a:xfrm>
          <a:prstGeom prst="rect">
            <a:avLst/>
          </a:prstGeom>
        </p:spPr>
      </p:pic>
      <p:pic>
        <p:nvPicPr>
          <p:cNvPr id="6" name="Picture 5">
            <a:extLst>
              <a:ext uri="{FF2B5EF4-FFF2-40B4-BE49-F238E27FC236}">
                <a16:creationId xmlns:a16="http://schemas.microsoft.com/office/drawing/2014/main" id="{903E9129-DA82-46F8-80C7-D5E3541D2464}"/>
              </a:ext>
            </a:extLst>
          </p:cNvPr>
          <p:cNvPicPr>
            <a:picLocks noChangeAspect="1"/>
          </p:cNvPicPr>
          <p:nvPr/>
        </p:nvPicPr>
        <p:blipFill>
          <a:blip r:embed="rId5"/>
          <a:stretch>
            <a:fillRect/>
          </a:stretch>
        </p:blipFill>
        <p:spPr>
          <a:xfrm>
            <a:off x="7048476" y="4444480"/>
            <a:ext cx="2108571" cy="2048395"/>
          </a:xfrm>
          <a:prstGeom prst="rect">
            <a:avLst/>
          </a:prstGeom>
        </p:spPr>
      </p:pic>
      <p:sp>
        <p:nvSpPr>
          <p:cNvPr id="7" name="TextBox 6">
            <a:extLst>
              <a:ext uri="{FF2B5EF4-FFF2-40B4-BE49-F238E27FC236}">
                <a16:creationId xmlns:a16="http://schemas.microsoft.com/office/drawing/2014/main" id="{036BC1CA-3833-48DF-AFAA-DCACDAA576D2}"/>
              </a:ext>
            </a:extLst>
          </p:cNvPr>
          <p:cNvSpPr txBox="1"/>
          <p:nvPr/>
        </p:nvSpPr>
        <p:spPr>
          <a:xfrm>
            <a:off x="4667404" y="6413303"/>
            <a:ext cx="1428596" cy="369332"/>
          </a:xfrm>
          <a:prstGeom prst="rect">
            <a:avLst/>
          </a:prstGeom>
          <a:noFill/>
        </p:spPr>
        <p:txBody>
          <a:bodyPr wrap="none" rtlCol="0">
            <a:spAutoFit/>
          </a:bodyPr>
          <a:lstStyle/>
          <a:p>
            <a:r>
              <a:rPr lang="en-IE" dirty="0"/>
              <a:t>AFH Disabled</a:t>
            </a:r>
          </a:p>
        </p:txBody>
      </p:sp>
      <p:sp>
        <p:nvSpPr>
          <p:cNvPr id="8" name="TextBox 7">
            <a:extLst>
              <a:ext uri="{FF2B5EF4-FFF2-40B4-BE49-F238E27FC236}">
                <a16:creationId xmlns:a16="http://schemas.microsoft.com/office/drawing/2014/main" id="{4C58B26E-B06B-4629-B750-3197994C9462}"/>
              </a:ext>
            </a:extLst>
          </p:cNvPr>
          <p:cNvSpPr txBox="1"/>
          <p:nvPr/>
        </p:nvSpPr>
        <p:spPr>
          <a:xfrm>
            <a:off x="7517608" y="6413303"/>
            <a:ext cx="1377300" cy="369332"/>
          </a:xfrm>
          <a:prstGeom prst="rect">
            <a:avLst/>
          </a:prstGeom>
          <a:noFill/>
        </p:spPr>
        <p:txBody>
          <a:bodyPr wrap="none" rtlCol="0">
            <a:spAutoFit/>
          </a:bodyPr>
          <a:lstStyle/>
          <a:p>
            <a:r>
              <a:rPr lang="en-IE" dirty="0"/>
              <a:t>AFH Enabled</a:t>
            </a:r>
          </a:p>
        </p:txBody>
      </p:sp>
      <p:sp>
        <p:nvSpPr>
          <p:cNvPr id="9" name="Footer Placeholder 8">
            <a:extLst>
              <a:ext uri="{FF2B5EF4-FFF2-40B4-BE49-F238E27FC236}">
                <a16:creationId xmlns:a16="http://schemas.microsoft.com/office/drawing/2014/main" id="{F3301F56-81FB-40E2-8BD9-B96A84319D51}"/>
              </a:ext>
            </a:extLst>
          </p:cNvPr>
          <p:cNvSpPr>
            <a:spLocks noGrp="1"/>
          </p:cNvSpPr>
          <p:nvPr>
            <p:ph type="ftr" sz="quarter" idx="11"/>
          </p:nvPr>
        </p:nvSpPr>
        <p:spPr>
          <a:xfrm>
            <a:off x="-127371" y="6356350"/>
            <a:ext cx="4114800" cy="365125"/>
          </a:xfrm>
        </p:spPr>
        <p:txBody>
          <a:bodyPr/>
          <a:lstStyle/>
          <a:p>
            <a:r>
              <a:rPr lang="fr-FR" dirty="0"/>
              <a:t>Source: https://www.slideshare.net/jacopsd/bluetooth-bluetooth-low-energy-internals</a:t>
            </a:r>
            <a:endParaRPr lang="en-US" dirty="0"/>
          </a:p>
        </p:txBody>
      </p:sp>
    </p:spTree>
    <p:extLst>
      <p:ext uri="{BB962C8B-B14F-4D97-AF65-F5344CB8AC3E}">
        <p14:creationId xmlns:p14="http://schemas.microsoft.com/office/powerpoint/2010/main" val="4507883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9FBFC2C-1045-4F92-9A74-6CBF23C6361B}"/>
              </a:ext>
            </a:extLst>
          </p:cNvPr>
          <p:cNvSpPr/>
          <p:nvPr/>
        </p:nvSpPr>
        <p:spPr>
          <a:xfrm>
            <a:off x="8859328" y="1785667"/>
            <a:ext cx="3128513" cy="957532"/>
          </a:xfrm>
          <a:prstGeom prst="rect">
            <a:avLst/>
          </a:prstGeom>
          <a:ln w="571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2" name="Title 1">
            <a:extLst>
              <a:ext uri="{FF2B5EF4-FFF2-40B4-BE49-F238E27FC236}">
                <a16:creationId xmlns:a16="http://schemas.microsoft.com/office/drawing/2014/main" id="{B6EE9490-ACF8-4238-B6BC-6FDC85C69C6C}"/>
              </a:ext>
            </a:extLst>
          </p:cNvPr>
          <p:cNvSpPr>
            <a:spLocks noGrp="1"/>
          </p:cNvSpPr>
          <p:nvPr>
            <p:ph type="title"/>
          </p:nvPr>
        </p:nvSpPr>
        <p:spPr/>
        <p:txBody>
          <a:bodyPr/>
          <a:lstStyle/>
          <a:p>
            <a:r>
              <a:rPr lang="en-US" dirty="0"/>
              <a:t>GAP and GATT for BLE</a:t>
            </a:r>
            <a:endParaRPr lang="en-IE" dirty="0"/>
          </a:p>
        </p:txBody>
      </p:sp>
      <p:sp>
        <p:nvSpPr>
          <p:cNvPr id="3" name="Content Placeholder 2">
            <a:extLst>
              <a:ext uri="{FF2B5EF4-FFF2-40B4-BE49-F238E27FC236}">
                <a16:creationId xmlns:a16="http://schemas.microsoft.com/office/drawing/2014/main" id="{22354AC9-EFD5-4364-A73D-75BA36FE29A7}"/>
              </a:ext>
            </a:extLst>
          </p:cNvPr>
          <p:cNvSpPr>
            <a:spLocks noGrp="1"/>
          </p:cNvSpPr>
          <p:nvPr>
            <p:ph idx="1"/>
          </p:nvPr>
        </p:nvSpPr>
        <p:spPr/>
        <p:txBody>
          <a:bodyPr/>
          <a:lstStyle/>
          <a:p>
            <a:r>
              <a:rPr lang="en-SG" dirty="0"/>
              <a:t>Generic Access Profile (GAP) or Advertising</a:t>
            </a:r>
          </a:p>
          <a:p>
            <a:pPr lvl="1"/>
            <a:r>
              <a:rPr lang="en-SG" dirty="0"/>
              <a:t>Information advertised to central before connection</a:t>
            </a:r>
          </a:p>
          <a:p>
            <a:pPr lvl="1"/>
            <a:r>
              <a:rPr lang="en-SG" dirty="0"/>
              <a:t>Name of peripheral</a:t>
            </a:r>
          </a:p>
          <a:p>
            <a:pPr lvl="1"/>
            <a:r>
              <a:rPr lang="en-SG" dirty="0"/>
              <a:t>Is it connectable? </a:t>
            </a:r>
          </a:p>
          <a:p>
            <a:pPr lvl="1"/>
            <a:r>
              <a:rPr lang="en-SG" dirty="0"/>
              <a:t>Supported features (services)</a:t>
            </a:r>
          </a:p>
          <a:p>
            <a:r>
              <a:rPr lang="en-SG" dirty="0"/>
              <a:t>Generic Attribute Profile (GATT)</a:t>
            </a:r>
          </a:p>
          <a:p>
            <a:pPr lvl="1"/>
            <a:r>
              <a:rPr lang="en-SG" dirty="0"/>
              <a:t>How to exchange data once connected</a:t>
            </a:r>
          </a:p>
          <a:p>
            <a:pPr lvl="1"/>
            <a:r>
              <a:rPr lang="en-SG" dirty="0"/>
              <a:t>Identifies Services, Characteristics and Descriptors</a:t>
            </a:r>
          </a:p>
          <a:p>
            <a:pPr marL="0" indent="0">
              <a:buNone/>
            </a:pPr>
            <a:endParaRPr lang="en-IE" dirty="0"/>
          </a:p>
        </p:txBody>
      </p:sp>
      <p:sp>
        <p:nvSpPr>
          <p:cNvPr id="4" name="Rectangle 3">
            <a:extLst>
              <a:ext uri="{FF2B5EF4-FFF2-40B4-BE49-F238E27FC236}">
                <a16:creationId xmlns:a16="http://schemas.microsoft.com/office/drawing/2014/main" id="{C3275A3C-7CA2-4C9C-BD37-40FB561887C4}"/>
              </a:ext>
            </a:extLst>
          </p:cNvPr>
          <p:cNvSpPr/>
          <p:nvPr/>
        </p:nvSpPr>
        <p:spPr>
          <a:xfrm>
            <a:off x="8931215" y="2001328"/>
            <a:ext cx="1331342" cy="5980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cs typeface="Calibri"/>
              </a:rPr>
              <a:t>GAP</a:t>
            </a:r>
            <a:endParaRPr lang="en-US" dirty="0"/>
          </a:p>
        </p:txBody>
      </p:sp>
      <p:sp>
        <p:nvSpPr>
          <p:cNvPr id="5" name="Rectangle 4">
            <a:extLst>
              <a:ext uri="{FF2B5EF4-FFF2-40B4-BE49-F238E27FC236}">
                <a16:creationId xmlns:a16="http://schemas.microsoft.com/office/drawing/2014/main" id="{A106A0AD-E731-44B6-A178-33F172B36615}"/>
              </a:ext>
            </a:extLst>
          </p:cNvPr>
          <p:cNvSpPr/>
          <p:nvPr/>
        </p:nvSpPr>
        <p:spPr>
          <a:xfrm>
            <a:off x="10426460" y="2001327"/>
            <a:ext cx="1331342" cy="5980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cs typeface="Calibri"/>
              </a:rPr>
              <a:t>GATT</a:t>
            </a:r>
            <a:endParaRPr lang="en-US" dirty="0"/>
          </a:p>
        </p:txBody>
      </p:sp>
      <p:sp>
        <p:nvSpPr>
          <p:cNvPr id="6" name="Rectangle 5">
            <a:extLst>
              <a:ext uri="{FF2B5EF4-FFF2-40B4-BE49-F238E27FC236}">
                <a16:creationId xmlns:a16="http://schemas.microsoft.com/office/drawing/2014/main" id="{4F03A77C-8F1A-4423-AD83-9F1C0A8FEBE8}"/>
              </a:ext>
            </a:extLst>
          </p:cNvPr>
          <p:cNvSpPr/>
          <p:nvPr/>
        </p:nvSpPr>
        <p:spPr>
          <a:xfrm>
            <a:off x="8931215" y="2748951"/>
            <a:ext cx="1331342" cy="5980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cs typeface="Calibri"/>
              </a:rPr>
              <a:t>SMP</a:t>
            </a:r>
            <a:endParaRPr lang="en-US" dirty="0"/>
          </a:p>
        </p:txBody>
      </p:sp>
      <p:sp>
        <p:nvSpPr>
          <p:cNvPr id="7" name="Rectangle 6">
            <a:extLst>
              <a:ext uri="{FF2B5EF4-FFF2-40B4-BE49-F238E27FC236}">
                <a16:creationId xmlns:a16="http://schemas.microsoft.com/office/drawing/2014/main" id="{749F8A86-E204-45E9-AFEE-CAE8EA43F663}"/>
              </a:ext>
            </a:extLst>
          </p:cNvPr>
          <p:cNvSpPr/>
          <p:nvPr/>
        </p:nvSpPr>
        <p:spPr>
          <a:xfrm>
            <a:off x="10426460" y="2748950"/>
            <a:ext cx="1331342" cy="5980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cs typeface="Calibri"/>
              </a:rPr>
              <a:t>ATT</a:t>
            </a:r>
            <a:endParaRPr lang="en-US" dirty="0"/>
          </a:p>
        </p:txBody>
      </p:sp>
      <p:sp>
        <p:nvSpPr>
          <p:cNvPr id="8" name="Rectangle 7">
            <a:extLst>
              <a:ext uri="{FF2B5EF4-FFF2-40B4-BE49-F238E27FC236}">
                <a16:creationId xmlns:a16="http://schemas.microsoft.com/office/drawing/2014/main" id="{C6604255-3254-45E2-8B35-9026CF15444B}"/>
              </a:ext>
            </a:extLst>
          </p:cNvPr>
          <p:cNvSpPr/>
          <p:nvPr/>
        </p:nvSpPr>
        <p:spPr>
          <a:xfrm>
            <a:off x="8931214" y="3554081"/>
            <a:ext cx="2826587" cy="5980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cs typeface="Calibri"/>
              </a:rPr>
              <a:t>L2CAP</a:t>
            </a:r>
            <a:endParaRPr lang="en-US" dirty="0"/>
          </a:p>
        </p:txBody>
      </p:sp>
      <p:sp>
        <p:nvSpPr>
          <p:cNvPr id="9" name="Rectangle 8">
            <a:extLst>
              <a:ext uri="{FF2B5EF4-FFF2-40B4-BE49-F238E27FC236}">
                <a16:creationId xmlns:a16="http://schemas.microsoft.com/office/drawing/2014/main" id="{B8C54CF3-684E-4271-AEA2-F425D0F6A4D5}"/>
              </a:ext>
            </a:extLst>
          </p:cNvPr>
          <p:cNvSpPr/>
          <p:nvPr/>
        </p:nvSpPr>
        <p:spPr>
          <a:xfrm>
            <a:off x="8931213" y="4272948"/>
            <a:ext cx="2826587" cy="5980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cs typeface="Calibri"/>
              </a:rPr>
              <a:t>Link Layer</a:t>
            </a:r>
            <a:endParaRPr lang="en-US" dirty="0"/>
          </a:p>
        </p:txBody>
      </p:sp>
      <p:sp>
        <p:nvSpPr>
          <p:cNvPr id="10" name="Rectangle 9">
            <a:extLst>
              <a:ext uri="{FF2B5EF4-FFF2-40B4-BE49-F238E27FC236}">
                <a16:creationId xmlns:a16="http://schemas.microsoft.com/office/drawing/2014/main" id="{BF959E9C-65C4-45BF-B41E-277C33FF74B3}"/>
              </a:ext>
            </a:extLst>
          </p:cNvPr>
          <p:cNvSpPr/>
          <p:nvPr/>
        </p:nvSpPr>
        <p:spPr>
          <a:xfrm>
            <a:off x="8931212" y="4977438"/>
            <a:ext cx="2826587" cy="5980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cs typeface="Calibri"/>
              </a:rPr>
              <a:t>LE PHYSICAL</a:t>
            </a:r>
            <a:endParaRPr lang="en-US" dirty="0"/>
          </a:p>
        </p:txBody>
      </p:sp>
      <p:pic>
        <p:nvPicPr>
          <p:cNvPr id="11" name="Picture 10" descr="A picture containing clipart&#10;&#10;Description generated with very high confidence">
            <a:extLst>
              <a:ext uri="{FF2B5EF4-FFF2-40B4-BE49-F238E27FC236}">
                <a16:creationId xmlns:a16="http://schemas.microsoft.com/office/drawing/2014/main" id="{96B24741-B4CF-4DA6-ACA2-9E82D462554F}"/>
              </a:ext>
            </a:extLst>
          </p:cNvPr>
          <p:cNvPicPr>
            <a:picLocks noChangeAspect="1"/>
          </p:cNvPicPr>
          <p:nvPr/>
        </p:nvPicPr>
        <p:blipFill>
          <a:blip r:embed="rId2"/>
          <a:stretch>
            <a:fillRect/>
          </a:stretch>
        </p:blipFill>
        <p:spPr>
          <a:xfrm rot="16320000">
            <a:off x="7958816" y="4890093"/>
            <a:ext cx="1006236" cy="770626"/>
          </a:xfrm>
          <a:prstGeom prst="rect">
            <a:avLst/>
          </a:prstGeom>
        </p:spPr>
      </p:pic>
    </p:spTree>
    <p:extLst>
      <p:ext uri="{BB962C8B-B14F-4D97-AF65-F5344CB8AC3E}">
        <p14:creationId xmlns:p14="http://schemas.microsoft.com/office/powerpoint/2010/main" val="303432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8DC72-9A38-4F3E-B052-74FC1DBEF4D9}"/>
              </a:ext>
            </a:extLst>
          </p:cNvPr>
          <p:cNvSpPr>
            <a:spLocks noGrp="1"/>
          </p:cNvSpPr>
          <p:nvPr>
            <p:ph type="title"/>
          </p:nvPr>
        </p:nvSpPr>
        <p:spPr>
          <a:xfrm>
            <a:off x="648929" y="629266"/>
            <a:ext cx="6422849" cy="1676603"/>
          </a:xfrm>
        </p:spPr>
        <p:txBody>
          <a:bodyPr>
            <a:normAutofit/>
          </a:bodyPr>
          <a:lstStyle/>
          <a:p>
            <a:r>
              <a:rPr lang="en-IE" b="1" dirty="0"/>
              <a:t>Generic Access Profile (GAP)</a:t>
            </a:r>
            <a:endParaRPr lang="en-IE" dirty="0"/>
          </a:p>
        </p:txBody>
      </p:sp>
      <p:sp>
        <p:nvSpPr>
          <p:cNvPr id="3" name="Content Placeholder 2">
            <a:extLst>
              <a:ext uri="{FF2B5EF4-FFF2-40B4-BE49-F238E27FC236}">
                <a16:creationId xmlns:a16="http://schemas.microsoft.com/office/drawing/2014/main" id="{28D9F0A9-2EF9-4713-95E0-EB666EB047FA}"/>
              </a:ext>
            </a:extLst>
          </p:cNvPr>
          <p:cNvSpPr>
            <a:spLocks noGrp="1"/>
          </p:cNvSpPr>
          <p:nvPr>
            <p:ph idx="1"/>
          </p:nvPr>
        </p:nvSpPr>
        <p:spPr>
          <a:xfrm>
            <a:off x="648931" y="2438400"/>
            <a:ext cx="6422848" cy="3785419"/>
          </a:xfrm>
        </p:spPr>
        <p:txBody>
          <a:bodyPr vert="horz" lIns="91440" tIns="45720" rIns="91440" bIns="45720" rtlCol="0" anchor="t">
            <a:normAutofit lnSpcReduction="10000"/>
          </a:bodyPr>
          <a:lstStyle/>
          <a:p>
            <a:r>
              <a:rPr lang="en-IE" sz="2000" dirty="0"/>
              <a:t>GAP responsible for “device visibility.” </a:t>
            </a:r>
          </a:p>
          <a:p>
            <a:r>
              <a:rPr lang="en-IE" sz="2000" dirty="0"/>
              <a:t>Determines how two devices can (or can't) interact with each other.</a:t>
            </a:r>
            <a:endParaRPr lang="en-IE" sz="2000" dirty="0">
              <a:cs typeface="Calibri"/>
            </a:endParaRPr>
          </a:p>
          <a:p>
            <a:r>
              <a:rPr lang="en-IE" sz="2000" dirty="0">
                <a:cs typeface="Calibri"/>
              </a:rPr>
              <a:t>2 ways for a device to advertise with GAP</a:t>
            </a:r>
            <a:endParaRPr lang="en-US" sz="2000" dirty="0">
              <a:cs typeface="Calibri"/>
            </a:endParaRPr>
          </a:p>
          <a:p>
            <a:pPr lvl="1"/>
            <a:r>
              <a:rPr lang="en-IE" sz="2000" i="1" dirty="0">
                <a:cs typeface="Calibri"/>
              </a:rPr>
              <a:t>Advertising Data</a:t>
            </a:r>
            <a:r>
              <a:rPr lang="en-IE" sz="2000" dirty="0">
                <a:cs typeface="Calibri"/>
              </a:rPr>
              <a:t> payload</a:t>
            </a:r>
            <a:endParaRPr lang="en-US" sz="2000" dirty="0">
              <a:cs typeface="Calibri"/>
            </a:endParaRPr>
          </a:p>
          <a:p>
            <a:pPr lvl="1"/>
            <a:r>
              <a:rPr lang="en-IE" sz="2000" i="1" dirty="0">
                <a:cs typeface="Calibri"/>
              </a:rPr>
              <a:t>Scan Response</a:t>
            </a:r>
            <a:r>
              <a:rPr lang="en-IE" sz="2000" dirty="0">
                <a:cs typeface="Calibri"/>
              </a:rPr>
              <a:t> payload.</a:t>
            </a:r>
            <a:endParaRPr lang="en-US" sz="2000" dirty="0">
              <a:cs typeface="Calibri"/>
            </a:endParaRPr>
          </a:p>
          <a:p>
            <a:r>
              <a:rPr lang="en-IE" sz="2000" dirty="0">
                <a:cs typeface="Calibri"/>
              </a:rPr>
              <a:t>Advertising data payload is mandatory</a:t>
            </a:r>
            <a:endParaRPr lang="en-US" sz="2000" dirty="0">
              <a:cs typeface="Calibri"/>
            </a:endParaRPr>
          </a:p>
          <a:p>
            <a:r>
              <a:rPr lang="en-IE" sz="2000" dirty="0">
                <a:cs typeface="Calibri"/>
              </a:rPr>
              <a:t>Scan response payload is optional</a:t>
            </a:r>
            <a:endParaRPr lang="en-US" sz="2000" dirty="0">
              <a:cs typeface="Calibri"/>
            </a:endParaRPr>
          </a:p>
          <a:p>
            <a:pPr lvl="1"/>
            <a:r>
              <a:rPr lang="en-IE" sz="2000" dirty="0">
                <a:cs typeface="Calibri"/>
              </a:rPr>
              <a:t>allows device designers to fit more information in the advertising payload such a strings for a device name, etc.</a:t>
            </a:r>
            <a:endParaRPr lang="en-IE" dirty="0"/>
          </a:p>
          <a:p>
            <a:pPr marL="0" indent="0">
              <a:buNone/>
            </a:pPr>
            <a:endParaRPr lang="en-IE" sz="2000" dirty="0">
              <a:cs typeface="Calibri"/>
            </a:endParaRPr>
          </a:p>
        </p:txBody>
      </p:sp>
    </p:spTree>
    <p:extLst>
      <p:ext uri="{BB962C8B-B14F-4D97-AF65-F5344CB8AC3E}">
        <p14:creationId xmlns:p14="http://schemas.microsoft.com/office/powerpoint/2010/main" val="298272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microcontrollers_BroadcastTopology.png">
            <a:extLst>
              <a:ext uri="{FF2B5EF4-FFF2-40B4-BE49-F238E27FC236}">
                <a16:creationId xmlns:a16="http://schemas.microsoft.com/office/drawing/2014/main" id="{A6998707-4FDF-4654-978B-1D57441F77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4017" y="2390407"/>
            <a:ext cx="4007904" cy="207718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7972D83-0B3A-44C9-AC33-2FD656924A2E}"/>
              </a:ext>
            </a:extLst>
          </p:cNvPr>
          <p:cNvSpPr>
            <a:spLocks noGrp="1"/>
          </p:cNvSpPr>
          <p:nvPr>
            <p:ph type="title"/>
          </p:nvPr>
        </p:nvSpPr>
        <p:spPr>
          <a:xfrm>
            <a:off x="1024129" y="585216"/>
            <a:ext cx="5062511" cy="1499616"/>
          </a:xfrm>
        </p:spPr>
        <p:txBody>
          <a:bodyPr>
            <a:normAutofit/>
          </a:bodyPr>
          <a:lstStyle/>
          <a:p>
            <a:r>
              <a:rPr lang="en-IE" b="1" dirty="0"/>
              <a:t>Broadcast Network Topology</a:t>
            </a:r>
          </a:p>
        </p:txBody>
      </p:sp>
      <p:sp>
        <p:nvSpPr>
          <p:cNvPr id="3" name="Content Placeholder 2">
            <a:extLst>
              <a:ext uri="{FF2B5EF4-FFF2-40B4-BE49-F238E27FC236}">
                <a16:creationId xmlns:a16="http://schemas.microsoft.com/office/drawing/2014/main" id="{48B677A2-9599-43A0-8F6E-ECEA17525847}"/>
              </a:ext>
            </a:extLst>
          </p:cNvPr>
          <p:cNvSpPr>
            <a:spLocks noGrp="1"/>
          </p:cNvSpPr>
          <p:nvPr>
            <p:ph idx="1"/>
          </p:nvPr>
        </p:nvSpPr>
        <p:spPr>
          <a:xfrm>
            <a:off x="1024129" y="2286000"/>
            <a:ext cx="6217043" cy="3931920"/>
          </a:xfrm>
        </p:spPr>
        <p:txBody>
          <a:bodyPr vert="horz" lIns="91440" tIns="45720" rIns="91440" bIns="45720" rtlCol="0" anchor="t">
            <a:noAutofit/>
          </a:bodyPr>
          <a:lstStyle/>
          <a:p>
            <a:r>
              <a:rPr lang="en-IE" sz="2400" dirty="0"/>
              <a:t>Some devices/apps  only require advertise data.</a:t>
            </a:r>
            <a:endParaRPr lang="en-IE" sz="2400" dirty="0">
              <a:cs typeface="Calibri"/>
            </a:endParaRPr>
          </a:p>
          <a:p>
            <a:pPr lvl="1"/>
            <a:r>
              <a:rPr lang="en-IE" dirty="0"/>
              <a:t>E.g. app requires peripheral to send data to more than one device at a time.</a:t>
            </a:r>
            <a:endParaRPr lang="en-IE" dirty="0">
              <a:cs typeface="Calibri"/>
            </a:endParaRPr>
          </a:p>
          <a:p>
            <a:r>
              <a:rPr lang="en-IE" sz="2400" dirty="0"/>
              <a:t>Can include small amount of custom data in </a:t>
            </a:r>
            <a:r>
              <a:rPr lang="en-IE" sz="2400" b="1" kern="1200" dirty="0">
                <a:latin typeface="+mn-lt"/>
                <a:ea typeface="+mn-ea"/>
                <a:cs typeface="+mn-cs"/>
              </a:rPr>
              <a:t>31</a:t>
            </a:r>
            <a:r>
              <a:rPr lang="en-IE" sz="2400" dirty="0"/>
              <a:t> byte advertising or scan response payloads.</a:t>
            </a:r>
            <a:endParaRPr lang="en-IE" sz="2400" dirty="0">
              <a:cs typeface="Calibri"/>
            </a:endParaRPr>
          </a:p>
          <a:p>
            <a:r>
              <a:rPr lang="en-IE" sz="2400" dirty="0"/>
              <a:t>In this way, BLE peripheral can send data one-way to any devices in listening range</a:t>
            </a:r>
            <a:endParaRPr lang="en-IE" sz="2400" dirty="0">
              <a:cs typeface="Calibri"/>
            </a:endParaRPr>
          </a:p>
          <a:p>
            <a:pPr lvl="1"/>
            <a:r>
              <a:rPr lang="en-IE" sz="1800" dirty="0">
                <a:cs typeface="Calibri"/>
              </a:rPr>
              <a:t>BLE Beacons</a:t>
            </a:r>
          </a:p>
        </p:txBody>
      </p:sp>
    </p:spTree>
    <p:extLst>
      <p:ext uri="{BB962C8B-B14F-4D97-AF65-F5344CB8AC3E}">
        <p14:creationId xmlns:p14="http://schemas.microsoft.com/office/powerpoint/2010/main" val="20950605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C32EC-53A9-4424-AB9C-2EEC3EAF9C6B}"/>
              </a:ext>
            </a:extLst>
          </p:cNvPr>
          <p:cNvSpPr>
            <a:spLocks noGrp="1"/>
          </p:cNvSpPr>
          <p:nvPr>
            <p:ph type="title"/>
          </p:nvPr>
        </p:nvSpPr>
        <p:spPr/>
        <p:txBody>
          <a:bodyPr/>
          <a:lstStyle/>
          <a:p>
            <a:r>
              <a:rPr lang="en-IE" dirty="0"/>
              <a:t>Bluetooth Connection </a:t>
            </a:r>
          </a:p>
        </p:txBody>
      </p:sp>
      <p:sp>
        <p:nvSpPr>
          <p:cNvPr id="3" name="Content Placeholder 2">
            <a:extLst>
              <a:ext uri="{FF2B5EF4-FFF2-40B4-BE49-F238E27FC236}">
                <a16:creationId xmlns:a16="http://schemas.microsoft.com/office/drawing/2014/main" id="{EAE2A07D-F290-495D-9E18-561899568855}"/>
              </a:ext>
            </a:extLst>
          </p:cNvPr>
          <p:cNvSpPr>
            <a:spLocks noGrp="1"/>
          </p:cNvSpPr>
          <p:nvPr>
            <p:ph idx="1"/>
          </p:nvPr>
        </p:nvSpPr>
        <p:spPr/>
        <p:txBody>
          <a:bodyPr vert="horz" lIns="91440" tIns="45720" rIns="91440" bIns="45720" rtlCol="0" anchor="t">
            <a:normAutofit/>
          </a:bodyPr>
          <a:lstStyle/>
          <a:p>
            <a:r>
              <a:rPr lang="en-IE" dirty="0"/>
              <a:t>Establishing a connection between a peripheral and a central device results in 1 to 1 communication </a:t>
            </a:r>
          </a:p>
          <a:p>
            <a:pPr lvl="1"/>
            <a:r>
              <a:rPr lang="en-IE" dirty="0"/>
              <a:t>the advertising process will stop </a:t>
            </a:r>
          </a:p>
          <a:p>
            <a:pPr lvl="1"/>
            <a:r>
              <a:rPr lang="en-IE" dirty="0"/>
              <a:t>no longer be able to send advertising packets</a:t>
            </a:r>
          </a:p>
          <a:p>
            <a:r>
              <a:rPr lang="en-IE" dirty="0"/>
              <a:t>Communication in both directions </a:t>
            </a:r>
            <a:endParaRPr lang="en-IE" dirty="0">
              <a:cs typeface="Calibri"/>
            </a:endParaRPr>
          </a:p>
          <a:p>
            <a:r>
              <a:rPr lang="en-IE" b="1" dirty="0"/>
              <a:t>Must use GATT services and characteristics to communicate</a:t>
            </a:r>
          </a:p>
        </p:txBody>
      </p:sp>
    </p:spTree>
    <p:extLst>
      <p:ext uri="{BB962C8B-B14F-4D97-AF65-F5344CB8AC3E}">
        <p14:creationId xmlns:p14="http://schemas.microsoft.com/office/powerpoint/2010/main" val="2509291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C6BEC-B0AB-4B61-99CA-4CD4936E0E6C}"/>
              </a:ext>
            </a:extLst>
          </p:cNvPr>
          <p:cNvSpPr>
            <a:spLocks noGrp="1"/>
          </p:cNvSpPr>
          <p:nvPr>
            <p:ph type="title"/>
          </p:nvPr>
        </p:nvSpPr>
        <p:spPr/>
        <p:txBody>
          <a:bodyPr/>
          <a:lstStyle/>
          <a:p>
            <a:r>
              <a:rPr lang="en-US" dirty="0"/>
              <a:t>GATT Services</a:t>
            </a:r>
            <a:endParaRPr lang="en-IE" dirty="0"/>
          </a:p>
        </p:txBody>
      </p:sp>
      <p:sp>
        <p:nvSpPr>
          <p:cNvPr id="3" name="Content Placeholder 2">
            <a:extLst>
              <a:ext uri="{FF2B5EF4-FFF2-40B4-BE49-F238E27FC236}">
                <a16:creationId xmlns:a16="http://schemas.microsoft.com/office/drawing/2014/main" id="{489574E5-8C3C-451B-B7F2-C1A6D516D490}"/>
              </a:ext>
            </a:extLst>
          </p:cNvPr>
          <p:cNvSpPr>
            <a:spLocks noGrp="1"/>
          </p:cNvSpPr>
          <p:nvPr>
            <p:ph idx="1"/>
          </p:nvPr>
        </p:nvSpPr>
        <p:spPr>
          <a:xfrm>
            <a:off x="838200" y="1825625"/>
            <a:ext cx="6652098" cy="4351338"/>
          </a:xfrm>
        </p:spPr>
        <p:txBody>
          <a:bodyPr vert="horz" lIns="91440" tIns="45720" rIns="91440" bIns="45720" rtlCol="0" anchor="t">
            <a:normAutofit fontScale="92500" lnSpcReduction="10000"/>
          </a:bodyPr>
          <a:lstStyle/>
          <a:p>
            <a:r>
              <a:rPr lang="en-IE" dirty="0"/>
              <a:t>Breaks data up into logic entities</a:t>
            </a:r>
          </a:p>
          <a:p>
            <a:r>
              <a:rPr lang="en-US" dirty="0"/>
              <a:t>C</a:t>
            </a:r>
            <a:r>
              <a:rPr lang="en-IE" dirty="0" err="1"/>
              <a:t>ontains</a:t>
            </a:r>
            <a:r>
              <a:rPr lang="en-IE" dirty="0"/>
              <a:t> one or more  </a:t>
            </a:r>
            <a:r>
              <a:rPr lang="en-IE" b="1" dirty="0"/>
              <a:t>characteristics</a:t>
            </a:r>
            <a:endParaRPr lang="en-IE" b="1" dirty="0">
              <a:cs typeface="Calibri"/>
            </a:endParaRPr>
          </a:p>
          <a:p>
            <a:r>
              <a:rPr lang="en-IE" dirty="0"/>
              <a:t>Each service distinguished by unique numeric ID called a UUID</a:t>
            </a:r>
          </a:p>
          <a:p>
            <a:pPr lvl="1"/>
            <a:r>
              <a:rPr lang="en-US" dirty="0"/>
              <a:t>1</a:t>
            </a:r>
            <a:r>
              <a:rPr lang="en-IE" dirty="0"/>
              <a:t>6 bit</a:t>
            </a:r>
          </a:p>
          <a:p>
            <a:r>
              <a:rPr lang="en-IE" dirty="0"/>
              <a:t>Set of officially adopted BLE services can be seen on the </a:t>
            </a:r>
            <a:r>
              <a:rPr lang="en-IE" dirty="0">
                <a:hlinkClick r:id="rId2"/>
              </a:rPr>
              <a:t>Services</a:t>
            </a:r>
            <a:endParaRPr lang="en-IE" dirty="0"/>
          </a:p>
          <a:p>
            <a:r>
              <a:rPr lang="en-US" dirty="0"/>
              <a:t>E</a:t>
            </a:r>
            <a:r>
              <a:rPr lang="en-IE" dirty="0"/>
              <a:t>.g. official Heart rate  service</a:t>
            </a:r>
          </a:p>
          <a:p>
            <a:pPr lvl="1"/>
            <a:r>
              <a:rPr lang="en-IE" dirty="0"/>
              <a:t>service has a 16-bit UUID of 0x180D</a:t>
            </a:r>
          </a:p>
          <a:p>
            <a:pPr lvl="1"/>
            <a:r>
              <a:rPr lang="en-IE" dirty="0"/>
              <a:t>contains up to 3 characteristic</a:t>
            </a:r>
          </a:p>
          <a:p>
            <a:pPr lvl="2"/>
            <a:r>
              <a:rPr lang="en-IE" b="1" i="1" dirty="0"/>
              <a:t>Heart Rate Measurement</a:t>
            </a:r>
            <a:r>
              <a:rPr lang="en-IE" b="1" dirty="0"/>
              <a:t>, </a:t>
            </a:r>
            <a:r>
              <a:rPr lang="en-IE" b="1" i="1" dirty="0"/>
              <a:t>Body Sensor Location</a:t>
            </a:r>
            <a:r>
              <a:rPr lang="en-IE" dirty="0"/>
              <a:t> and</a:t>
            </a:r>
            <a:r>
              <a:rPr lang="en-IE" b="1" dirty="0"/>
              <a:t> </a:t>
            </a:r>
            <a:r>
              <a:rPr lang="en-IE" b="1" i="1" dirty="0"/>
              <a:t>Heart Rate Control Point</a:t>
            </a:r>
            <a:r>
              <a:rPr lang="en-IE" b="1" dirty="0"/>
              <a:t>.</a:t>
            </a:r>
          </a:p>
        </p:txBody>
      </p:sp>
      <p:sp>
        <p:nvSpPr>
          <p:cNvPr id="4" name="Rectangle: Rounded Corners 3">
            <a:extLst>
              <a:ext uri="{FF2B5EF4-FFF2-40B4-BE49-F238E27FC236}">
                <a16:creationId xmlns:a16="http://schemas.microsoft.com/office/drawing/2014/main" id="{8F5A7FEC-3687-42B6-A2B9-B21F802247D1}"/>
              </a:ext>
            </a:extLst>
          </p:cNvPr>
          <p:cNvSpPr/>
          <p:nvPr/>
        </p:nvSpPr>
        <p:spPr>
          <a:xfrm>
            <a:off x="7953555" y="1814422"/>
            <a:ext cx="3631722" cy="4724400"/>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b="1">
                <a:solidFill>
                  <a:srgbClr val="000000"/>
                </a:solidFill>
                <a:cs typeface="Calibri"/>
              </a:rPr>
              <a:t>Profile</a:t>
            </a:r>
          </a:p>
        </p:txBody>
      </p:sp>
      <p:sp>
        <p:nvSpPr>
          <p:cNvPr id="5" name="Rectangle: Rounded Corners 4">
            <a:extLst>
              <a:ext uri="{FF2B5EF4-FFF2-40B4-BE49-F238E27FC236}">
                <a16:creationId xmlns:a16="http://schemas.microsoft.com/office/drawing/2014/main" id="{3E44A629-0820-41C1-9A22-E662D8C44A39}"/>
              </a:ext>
            </a:extLst>
          </p:cNvPr>
          <p:cNvSpPr/>
          <p:nvPr/>
        </p:nvSpPr>
        <p:spPr>
          <a:xfrm>
            <a:off x="8428008" y="2504535"/>
            <a:ext cx="2783456" cy="1892061"/>
          </a:xfrm>
          <a:prstGeom prst="roundRect">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a:solidFill>
                  <a:srgbClr val="000000"/>
                </a:solidFill>
                <a:cs typeface="Calibri"/>
              </a:rPr>
              <a:t>Service 1</a:t>
            </a:r>
          </a:p>
        </p:txBody>
      </p:sp>
      <p:sp>
        <p:nvSpPr>
          <p:cNvPr id="6" name="Rectangle: Rounded Corners 5">
            <a:extLst>
              <a:ext uri="{FF2B5EF4-FFF2-40B4-BE49-F238E27FC236}">
                <a16:creationId xmlns:a16="http://schemas.microsoft.com/office/drawing/2014/main" id="{9E06F917-FFCC-46E0-8A9A-A6E64BBB6949}"/>
              </a:ext>
            </a:extLst>
          </p:cNvPr>
          <p:cNvSpPr/>
          <p:nvPr/>
        </p:nvSpPr>
        <p:spPr>
          <a:xfrm>
            <a:off x="8600537" y="3165893"/>
            <a:ext cx="2424022" cy="368061"/>
          </a:xfrm>
          <a:prstGeom prst="round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a:solidFill>
                  <a:srgbClr val="000000"/>
                </a:solidFill>
                <a:cs typeface="Calibri"/>
              </a:rPr>
              <a:t>Characteristic</a:t>
            </a:r>
          </a:p>
          <a:p>
            <a:endParaRPr lang="en-US">
              <a:solidFill>
                <a:srgbClr val="000000"/>
              </a:solidFill>
              <a:cs typeface="Calibri"/>
            </a:endParaRPr>
          </a:p>
        </p:txBody>
      </p:sp>
      <p:sp>
        <p:nvSpPr>
          <p:cNvPr id="7" name="Rectangle: Rounded Corners 6">
            <a:extLst>
              <a:ext uri="{FF2B5EF4-FFF2-40B4-BE49-F238E27FC236}">
                <a16:creationId xmlns:a16="http://schemas.microsoft.com/office/drawing/2014/main" id="{605DA14F-F00B-4BED-A51A-8079822889EC}"/>
              </a:ext>
            </a:extLst>
          </p:cNvPr>
          <p:cNvSpPr/>
          <p:nvPr/>
        </p:nvSpPr>
        <p:spPr>
          <a:xfrm>
            <a:off x="8428006" y="4761779"/>
            <a:ext cx="2783456" cy="1216325"/>
          </a:xfrm>
          <a:prstGeom prst="roundRect">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a:solidFill>
                  <a:srgbClr val="000000"/>
                </a:solidFill>
                <a:cs typeface="Calibri"/>
              </a:rPr>
              <a:t>Service 2</a:t>
            </a:r>
          </a:p>
        </p:txBody>
      </p:sp>
      <p:sp>
        <p:nvSpPr>
          <p:cNvPr id="8" name="Rectangle: Rounded Corners 7">
            <a:extLst>
              <a:ext uri="{FF2B5EF4-FFF2-40B4-BE49-F238E27FC236}">
                <a16:creationId xmlns:a16="http://schemas.microsoft.com/office/drawing/2014/main" id="{25D0D0BC-C4DE-4BBA-9EB7-EC5A412F83BE}"/>
              </a:ext>
            </a:extLst>
          </p:cNvPr>
          <p:cNvSpPr/>
          <p:nvPr/>
        </p:nvSpPr>
        <p:spPr>
          <a:xfrm>
            <a:off x="8600535" y="5250608"/>
            <a:ext cx="2424022" cy="483080"/>
          </a:xfrm>
          <a:prstGeom prst="round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a:solidFill>
                  <a:srgbClr val="000000"/>
                </a:solidFill>
                <a:cs typeface="Calibri"/>
              </a:rPr>
              <a:t>Characteristic</a:t>
            </a:r>
            <a:endParaRPr lang="en-US"/>
          </a:p>
        </p:txBody>
      </p:sp>
      <p:sp>
        <p:nvSpPr>
          <p:cNvPr id="9" name="Rectangle: Rounded Corners 8">
            <a:extLst>
              <a:ext uri="{FF2B5EF4-FFF2-40B4-BE49-F238E27FC236}">
                <a16:creationId xmlns:a16="http://schemas.microsoft.com/office/drawing/2014/main" id="{36F7E0C5-547E-4876-BD5F-41A1B926FC75}"/>
              </a:ext>
            </a:extLst>
          </p:cNvPr>
          <p:cNvSpPr/>
          <p:nvPr/>
        </p:nvSpPr>
        <p:spPr>
          <a:xfrm>
            <a:off x="8600536" y="3712232"/>
            <a:ext cx="2424022" cy="339307"/>
          </a:xfrm>
          <a:prstGeom prst="round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a:solidFill>
                  <a:srgbClr val="000000"/>
                </a:solidFill>
                <a:cs typeface="Calibri"/>
              </a:rPr>
              <a:t>Characteristic</a:t>
            </a:r>
          </a:p>
          <a:p>
            <a:endParaRPr lang="en-US">
              <a:solidFill>
                <a:srgbClr val="000000"/>
              </a:solidFill>
              <a:cs typeface="Calibri"/>
            </a:endParaRPr>
          </a:p>
        </p:txBody>
      </p:sp>
    </p:spTree>
    <p:extLst>
      <p:ext uri="{BB962C8B-B14F-4D97-AF65-F5344CB8AC3E}">
        <p14:creationId xmlns:p14="http://schemas.microsoft.com/office/powerpoint/2010/main" val="21033301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04D91-131D-40D1-9AFA-AD54933C8DE5}"/>
              </a:ext>
            </a:extLst>
          </p:cNvPr>
          <p:cNvSpPr>
            <a:spLocks noGrp="1"/>
          </p:cNvSpPr>
          <p:nvPr>
            <p:ph type="title"/>
          </p:nvPr>
        </p:nvSpPr>
        <p:spPr/>
        <p:txBody>
          <a:bodyPr/>
          <a:lstStyle/>
          <a:p>
            <a:r>
              <a:rPr lang="en-IE"/>
              <a:t>GATT Characteristics</a:t>
            </a:r>
          </a:p>
        </p:txBody>
      </p:sp>
      <p:sp>
        <p:nvSpPr>
          <p:cNvPr id="3" name="Content Placeholder 2">
            <a:extLst>
              <a:ext uri="{FF2B5EF4-FFF2-40B4-BE49-F238E27FC236}">
                <a16:creationId xmlns:a16="http://schemas.microsoft.com/office/drawing/2014/main" id="{A5FBB588-C1C2-4B7D-B38F-F3F550C6327D}"/>
              </a:ext>
            </a:extLst>
          </p:cNvPr>
          <p:cNvSpPr>
            <a:spLocks noGrp="1"/>
          </p:cNvSpPr>
          <p:nvPr>
            <p:ph idx="1"/>
          </p:nvPr>
        </p:nvSpPr>
        <p:spPr/>
        <p:txBody>
          <a:bodyPr/>
          <a:lstStyle/>
          <a:p>
            <a:r>
              <a:rPr lang="pt-BR" dirty="0"/>
              <a:t>Represents a single data point </a:t>
            </a:r>
          </a:p>
          <a:p>
            <a:r>
              <a:rPr lang="en-IE" dirty="0"/>
              <a:t>Similarly to Services, each Characteristic distinguishes itself via a pre-defined UUID</a:t>
            </a:r>
          </a:p>
          <a:p>
            <a:pPr lvl="1"/>
            <a:r>
              <a:rPr lang="en-US" dirty="0"/>
              <a:t>A</a:t>
            </a:r>
            <a:r>
              <a:rPr lang="en-IE" dirty="0" err="1"/>
              <a:t>lso</a:t>
            </a:r>
            <a:r>
              <a:rPr lang="en-IE" dirty="0"/>
              <a:t> use  </a:t>
            </a:r>
            <a:r>
              <a:rPr lang="en-IE" dirty="0">
                <a:hlinkClick r:id="rId2"/>
              </a:rPr>
              <a:t>standard characteristics defined by the Bluetooth SIG</a:t>
            </a:r>
            <a:endParaRPr lang="en-IE" dirty="0"/>
          </a:p>
          <a:p>
            <a:r>
              <a:rPr lang="en-US" dirty="0"/>
              <a:t>E</a:t>
            </a:r>
            <a:r>
              <a:rPr lang="en-IE" dirty="0"/>
              <a:t>.G Heart Rate: </a:t>
            </a:r>
          </a:p>
          <a:p>
            <a:pPr lvl="1"/>
            <a:r>
              <a:rPr lang="en-IE" dirty="0"/>
              <a:t>the </a:t>
            </a:r>
            <a:r>
              <a:rPr lang="en-IE" dirty="0">
                <a:hlinkClick r:id="rId3"/>
              </a:rPr>
              <a:t>Heart Rate Measurement characteristic</a:t>
            </a:r>
            <a:r>
              <a:rPr lang="en-IE" dirty="0"/>
              <a:t> is mandatory for the Heart Rate Service</a:t>
            </a:r>
          </a:p>
          <a:p>
            <a:pPr lvl="1"/>
            <a:r>
              <a:rPr lang="en-US" dirty="0"/>
              <a:t>Heart rate measurement has U</a:t>
            </a:r>
            <a:r>
              <a:rPr lang="en-IE" dirty="0"/>
              <a:t>UID of  0x2A37</a:t>
            </a:r>
          </a:p>
          <a:p>
            <a:r>
              <a:rPr lang="en-IE" dirty="0"/>
              <a:t>If you write apps that use BLE, </a:t>
            </a:r>
            <a:r>
              <a:rPr lang="en-IE" b="1" dirty="0"/>
              <a:t>characteristics</a:t>
            </a:r>
            <a:r>
              <a:rPr lang="en-IE" dirty="0"/>
              <a:t> are what you will be after with your BLE peripheral</a:t>
            </a:r>
          </a:p>
        </p:txBody>
      </p:sp>
    </p:spTree>
    <p:extLst>
      <p:ext uri="{BB962C8B-B14F-4D97-AF65-F5344CB8AC3E}">
        <p14:creationId xmlns:p14="http://schemas.microsoft.com/office/powerpoint/2010/main" val="2655695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6DF98-8E1E-9759-D582-3D2BAB407F63}"/>
              </a:ext>
            </a:extLst>
          </p:cNvPr>
          <p:cNvSpPr>
            <a:spLocks noGrp="1"/>
          </p:cNvSpPr>
          <p:nvPr>
            <p:ph type="title"/>
          </p:nvPr>
        </p:nvSpPr>
        <p:spPr/>
        <p:txBody>
          <a:bodyPr/>
          <a:lstStyle/>
          <a:p>
            <a:r>
              <a:rPr lang="en-GB" dirty="0"/>
              <a:t>BLE UUIDs</a:t>
            </a:r>
            <a:endParaRPr lang="en-IE" dirty="0"/>
          </a:p>
        </p:txBody>
      </p:sp>
      <p:sp>
        <p:nvSpPr>
          <p:cNvPr id="5" name="Content Placeholder 4">
            <a:extLst>
              <a:ext uri="{FF2B5EF4-FFF2-40B4-BE49-F238E27FC236}">
                <a16:creationId xmlns:a16="http://schemas.microsoft.com/office/drawing/2014/main" id="{957F40CC-300F-82C5-0B73-EAA1EFC04A17}"/>
              </a:ext>
            </a:extLst>
          </p:cNvPr>
          <p:cNvSpPr>
            <a:spLocks noGrp="1"/>
          </p:cNvSpPr>
          <p:nvPr>
            <p:ph idx="1"/>
          </p:nvPr>
        </p:nvSpPr>
        <p:spPr/>
        <p:txBody>
          <a:bodyPr>
            <a:normAutofit fontScale="92500" lnSpcReduction="10000"/>
          </a:bodyPr>
          <a:lstStyle/>
          <a:p>
            <a:r>
              <a:rPr lang="en-GB" dirty="0"/>
              <a:t>BLE characteristics are identified by 128-bit UUIDs, written as 32 hex digits in 5 groups: (</a:t>
            </a:r>
            <a:r>
              <a:rPr lang="en-GB" dirty="0" err="1"/>
              <a:t>xxxxxxxx-xxxx-xxxx-xxxx-xxxxxxxxxxxx</a:t>
            </a:r>
            <a:r>
              <a:rPr lang="en-GB" dirty="0"/>
              <a:t>).</a:t>
            </a:r>
          </a:p>
          <a:p>
            <a:r>
              <a:rPr lang="en-GB" dirty="0"/>
              <a:t>All standard GATT types use the base: 0000xxxx-0000-1000-8000-00805f9b34fb.</a:t>
            </a:r>
          </a:p>
          <a:p>
            <a:r>
              <a:rPr lang="en-GB" dirty="0"/>
              <a:t>The Heart Rate Measurement characteristic uses the 16-bit ID </a:t>
            </a:r>
            <a:r>
              <a:rPr lang="en-GB" b="1" dirty="0"/>
              <a:t>0x2A37</a:t>
            </a:r>
            <a:r>
              <a:rPr lang="en-GB" dirty="0"/>
              <a:t> defined by the Bluetooth SIG.</a:t>
            </a:r>
          </a:p>
          <a:p>
            <a:r>
              <a:rPr lang="en-GB" dirty="0"/>
              <a:t>Substitution into the base UUID: The 16-bit value 0x2A37 is inserted into </a:t>
            </a:r>
            <a:r>
              <a:rPr lang="en-GB" dirty="0" err="1"/>
              <a:t>xxxx</a:t>
            </a:r>
            <a:r>
              <a:rPr lang="en-GB" dirty="0"/>
              <a:t> → 0000</a:t>
            </a:r>
            <a:r>
              <a:rPr lang="en-GB" b="1" dirty="0"/>
              <a:t>2a37</a:t>
            </a:r>
            <a:r>
              <a:rPr lang="en-GB" dirty="0"/>
              <a:t>-0000-1000-8000-00805f9b34fb.</a:t>
            </a:r>
          </a:p>
          <a:p>
            <a:r>
              <a:rPr lang="en-GB" dirty="0"/>
              <a:t>Standard vs custom characteristics: Standard characteristics (like HR) use this base+16-bit scheme; custom/vendor characteristics use arbitrary 128-bit UUIDs outside this base.</a:t>
            </a:r>
          </a:p>
          <a:p>
            <a:endParaRPr lang="en-IE" dirty="0"/>
          </a:p>
        </p:txBody>
      </p:sp>
    </p:spTree>
    <p:extLst>
      <p:ext uri="{BB962C8B-B14F-4D97-AF65-F5344CB8AC3E}">
        <p14:creationId xmlns:p14="http://schemas.microsoft.com/office/powerpoint/2010/main" val="30623343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B51D7-600D-4F72-B5E3-F6CA357BDF84}"/>
              </a:ext>
            </a:extLst>
          </p:cNvPr>
          <p:cNvSpPr>
            <a:spLocks noGrp="1"/>
          </p:cNvSpPr>
          <p:nvPr>
            <p:ph type="title"/>
          </p:nvPr>
        </p:nvSpPr>
        <p:spPr/>
        <p:txBody>
          <a:bodyPr/>
          <a:lstStyle/>
          <a:p>
            <a:r>
              <a:rPr lang="en-US"/>
              <a:t>GATT Transactions</a:t>
            </a:r>
            <a:endParaRPr lang="en-IE"/>
          </a:p>
        </p:txBody>
      </p:sp>
      <p:sp>
        <p:nvSpPr>
          <p:cNvPr id="3" name="Content Placeholder 2">
            <a:extLst>
              <a:ext uri="{FF2B5EF4-FFF2-40B4-BE49-F238E27FC236}">
                <a16:creationId xmlns:a16="http://schemas.microsoft.com/office/drawing/2014/main" id="{F1D65A40-7985-49CB-A362-4A0CEDDB210D}"/>
              </a:ext>
            </a:extLst>
          </p:cNvPr>
          <p:cNvSpPr>
            <a:spLocks noGrp="1"/>
          </p:cNvSpPr>
          <p:nvPr>
            <p:ph idx="1"/>
          </p:nvPr>
        </p:nvSpPr>
        <p:spPr/>
        <p:txBody>
          <a:bodyPr/>
          <a:lstStyle/>
          <a:p>
            <a:endParaRPr lang="en-IE"/>
          </a:p>
        </p:txBody>
      </p:sp>
      <p:pic>
        <p:nvPicPr>
          <p:cNvPr id="8194" name="Picture 2" descr="microcontrollers_GattMasterSlaveTransactions.png">
            <a:extLst>
              <a:ext uri="{FF2B5EF4-FFF2-40B4-BE49-F238E27FC236}">
                <a16:creationId xmlns:a16="http://schemas.microsoft.com/office/drawing/2014/main" id="{A904CD74-091D-47CC-96F1-EEA6439CD5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5975" y="2476141"/>
            <a:ext cx="8020050" cy="1790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10627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microcontrollers_ConnectedTopology.png">
            <a:extLst>
              <a:ext uri="{FF2B5EF4-FFF2-40B4-BE49-F238E27FC236}">
                <a16:creationId xmlns:a16="http://schemas.microsoft.com/office/drawing/2014/main" id="{3EDEED9A-97BA-4F0D-9DCE-65B7007D45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1497" y="2297764"/>
            <a:ext cx="5068248" cy="2673636"/>
          </a:xfrm>
          <a:prstGeom prst="rect">
            <a:avLst/>
          </a:prstGeom>
          <a:noFill/>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73D7D94-9D8A-4135-908B-F2AA364793D4}"/>
              </a:ext>
            </a:extLst>
          </p:cNvPr>
          <p:cNvSpPr>
            <a:spLocks noGrp="1"/>
          </p:cNvSpPr>
          <p:nvPr>
            <p:ph type="title"/>
          </p:nvPr>
        </p:nvSpPr>
        <p:spPr>
          <a:xfrm>
            <a:off x="648929" y="629266"/>
            <a:ext cx="6422849" cy="1676603"/>
          </a:xfrm>
        </p:spPr>
        <p:txBody>
          <a:bodyPr>
            <a:normAutofit/>
          </a:bodyPr>
          <a:lstStyle/>
          <a:p>
            <a:r>
              <a:rPr lang="en-US"/>
              <a:t>BLE Connected Network Topology</a:t>
            </a:r>
            <a:endParaRPr lang="en-IE"/>
          </a:p>
        </p:txBody>
      </p:sp>
      <p:sp>
        <p:nvSpPr>
          <p:cNvPr id="3" name="Content Placeholder 2">
            <a:extLst>
              <a:ext uri="{FF2B5EF4-FFF2-40B4-BE49-F238E27FC236}">
                <a16:creationId xmlns:a16="http://schemas.microsoft.com/office/drawing/2014/main" id="{7F2CC62E-1B9D-4168-A83E-7CBEC08DA8D2}"/>
              </a:ext>
            </a:extLst>
          </p:cNvPr>
          <p:cNvSpPr>
            <a:spLocks noGrp="1"/>
          </p:cNvSpPr>
          <p:nvPr>
            <p:ph idx="1"/>
          </p:nvPr>
        </p:nvSpPr>
        <p:spPr>
          <a:xfrm>
            <a:off x="648931" y="2438400"/>
            <a:ext cx="6422848" cy="3785419"/>
          </a:xfrm>
        </p:spPr>
        <p:txBody>
          <a:bodyPr vert="horz" lIns="91440" tIns="45720" rIns="91440" bIns="45720" rtlCol="0" anchor="t">
            <a:normAutofit/>
          </a:bodyPr>
          <a:lstStyle/>
          <a:p>
            <a:r>
              <a:rPr lang="en-IE" sz="2400"/>
              <a:t>A peripheral can only be connected to one central device</a:t>
            </a:r>
            <a:endParaRPr lang="en-IE" sz="2400">
              <a:cs typeface="Calibri"/>
            </a:endParaRPr>
          </a:p>
          <a:p>
            <a:r>
              <a:rPr lang="en-US" sz="2400"/>
              <a:t>C</a:t>
            </a:r>
            <a:r>
              <a:rPr lang="en-IE" sz="2400" err="1"/>
              <a:t>ommunication</a:t>
            </a:r>
            <a:r>
              <a:rPr lang="en-IE" sz="2400"/>
              <a:t> is </a:t>
            </a:r>
            <a:r>
              <a:rPr lang="en-IE" sz="2400" b="1" kern="1200">
                <a:latin typeface="+mn-lt"/>
                <a:ea typeface="+mn-ea"/>
                <a:cs typeface="+mn-cs"/>
              </a:rPr>
              <a:t>2</a:t>
            </a:r>
            <a:r>
              <a:rPr lang="en-IE" sz="2400"/>
              <a:t> -way</a:t>
            </a:r>
            <a:endParaRPr lang="en-IE" sz="2400">
              <a:cs typeface="Calibri"/>
            </a:endParaRPr>
          </a:p>
          <a:p>
            <a:r>
              <a:rPr lang="en-IE" sz="2400"/>
              <a:t>Central device can be connected to multiple peripherals.</a:t>
            </a:r>
            <a:endParaRPr lang="en-IE" sz="2400">
              <a:cs typeface="Calibri"/>
            </a:endParaRPr>
          </a:p>
          <a:p>
            <a:r>
              <a:rPr lang="en-IE" sz="2400"/>
              <a:t>If data needs to be exchanged between two peripherals, a custom messaging system will need to be implemented</a:t>
            </a:r>
            <a:endParaRPr lang="en-IE" sz="2400">
              <a:cs typeface="Calibri"/>
            </a:endParaRPr>
          </a:p>
          <a:p>
            <a:pPr lvl="1"/>
            <a:r>
              <a:rPr lang="en-IE"/>
              <a:t>all messages pass through the central device</a:t>
            </a:r>
            <a:r>
              <a:rPr lang="en-IE" sz="2000"/>
              <a:t>.</a:t>
            </a:r>
            <a:endParaRPr lang="en-IE" sz="2000">
              <a:cs typeface="Calibri"/>
            </a:endParaRPr>
          </a:p>
        </p:txBody>
      </p:sp>
    </p:spTree>
    <p:extLst>
      <p:ext uri="{BB962C8B-B14F-4D97-AF65-F5344CB8AC3E}">
        <p14:creationId xmlns:p14="http://schemas.microsoft.com/office/powerpoint/2010/main" val="1605353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625B6-3E51-4BB9-BD4F-A7A11A4F51CE}"/>
              </a:ext>
            </a:extLst>
          </p:cNvPr>
          <p:cNvSpPr>
            <a:spLocks noGrp="1"/>
          </p:cNvSpPr>
          <p:nvPr>
            <p:ph type="title"/>
          </p:nvPr>
        </p:nvSpPr>
        <p:spPr>
          <a:xfrm>
            <a:off x="5116878" y="629266"/>
            <a:ext cx="6422849" cy="1676603"/>
          </a:xfrm>
        </p:spPr>
        <p:txBody>
          <a:bodyPr>
            <a:normAutofit/>
          </a:bodyPr>
          <a:lstStyle/>
          <a:p>
            <a:r>
              <a:rPr lang="en-IE"/>
              <a:t>What are beacons?</a:t>
            </a:r>
            <a:endParaRPr lang="en-IE" dirty="0"/>
          </a:p>
        </p:txBody>
      </p:sp>
      <p:pic>
        <p:nvPicPr>
          <p:cNvPr id="1028" name="Picture 4" descr="Image result for ble beacon">
            <a:extLst>
              <a:ext uri="{FF2B5EF4-FFF2-40B4-BE49-F238E27FC236}">
                <a16:creationId xmlns:a16="http://schemas.microsoft.com/office/drawing/2014/main" id="{1AE924C3-DBC6-4C41-A2A7-2C618502CE6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1357503" y="803049"/>
            <a:ext cx="1921002" cy="2470743"/>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ED687DD1-306D-41C1-BB70-8E68F56294B0}"/>
              </a:ext>
            </a:extLst>
          </p:cNvPr>
          <p:cNvPicPr>
            <a:picLocks noChangeAspect="1"/>
          </p:cNvPicPr>
          <p:nvPr/>
        </p:nvPicPr>
        <p:blipFill>
          <a:blip r:embed="rId3"/>
          <a:stretch>
            <a:fillRect/>
          </a:stretch>
        </p:blipFill>
        <p:spPr>
          <a:xfrm>
            <a:off x="1284731" y="3461344"/>
            <a:ext cx="2066544" cy="2438400"/>
          </a:xfrm>
          <a:prstGeom prst="rect">
            <a:avLst/>
          </a:prstGeom>
        </p:spPr>
      </p:pic>
      <p:sp>
        <p:nvSpPr>
          <p:cNvPr id="3" name="Content Placeholder 2">
            <a:extLst>
              <a:ext uri="{FF2B5EF4-FFF2-40B4-BE49-F238E27FC236}">
                <a16:creationId xmlns:a16="http://schemas.microsoft.com/office/drawing/2014/main" id="{29EF097B-426F-40AC-A9B2-5A86CAFCCD49}"/>
              </a:ext>
            </a:extLst>
          </p:cNvPr>
          <p:cNvSpPr>
            <a:spLocks noGrp="1"/>
          </p:cNvSpPr>
          <p:nvPr>
            <p:ph idx="1"/>
          </p:nvPr>
        </p:nvSpPr>
        <p:spPr>
          <a:xfrm>
            <a:off x="5116880" y="2438400"/>
            <a:ext cx="6422848" cy="3785419"/>
          </a:xfrm>
        </p:spPr>
        <p:txBody>
          <a:bodyPr>
            <a:normAutofit/>
          </a:bodyPr>
          <a:lstStyle/>
          <a:p>
            <a:r>
              <a:rPr lang="en-GB" sz="2000"/>
              <a:t>Low-cost, low-power transmitters equipped with Bluetooth Low Energy</a:t>
            </a:r>
          </a:p>
          <a:p>
            <a:r>
              <a:rPr lang="en-IE" sz="2000"/>
              <a:t>Helps mobile devices detect proximity and determine micro-location</a:t>
            </a:r>
          </a:p>
        </p:txBody>
      </p:sp>
      <p:sp>
        <p:nvSpPr>
          <p:cNvPr id="4" name="AutoShape 2" descr="Banggood IBeacons Type bluetooth 4.0 Module NRF51822 Chipset IBeacon with Silicon Case">
            <a:extLst>
              <a:ext uri="{FF2B5EF4-FFF2-40B4-BE49-F238E27FC236}">
                <a16:creationId xmlns:a16="http://schemas.microsoft.com/office/drawing/2014/main" id="{46A14742-C5AB-4E97-B8F3-5FCE4A07912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E"/>
          </a:p>
        </p:txBody>
      </p:sp>
    </p:spTree>
    <p:extLst>
      <p:ext uri="{BB962C8B-B14F-4D97-AF65-F5344CB8AC3E}">
        <p14:creationId xmlns:p14="http://schemas.microsoft.com/office/powerpoint/2010/main" val="3558692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32FA4-2798-4E73-92CF-39D3831EA9C9}"/>
              </a:ext>
            </a:extLst>
          </p:cNvPr>
          <p:cNvSpPr>
            <a:spLocks noGrp="1"/>
          </p:cNvSpPr>
          <p:nvPr>
            <p:ph type="title"/>
          </p:nvPr>
        </p:nvSpPr>
        <p:spPr/>
        <p:txBody>
          <a:bodyPr/>
          <a:lstStyle/>
          <a:p>
            <a:r>
              <a:rPr lang="en-IE" dirty="0"/>
              <a:t>BLE Beacons – How they work</a:t>
            </a:r>
          </a:p>
        </p:txBody>
      </p:sp>
      <p:sp>
        <p:nvSpPr>
          <p:cNvPr id="3" name="Content Placeholder 2">
            <a:extLst>
              <a:ext uri="{FF2B5EF4-FFF2-40B4-BE49-F238E27FC236}">
                <a16:creationId xmlns:a16="http://schemas.microsoft.com/office/drawing/2014/main" id="{CDD6A080-953E-4408-99E6-149688A0FC1A}"/>
              </a:ext>
            </a:extLst>
          </p:cNvPr>
          <p:cNvSpPr>
            <a:spLocks noGrp="1"/>
          </p:cNvSpPr>
          <p:nvPr>
            <p:ph idx="1"/>
          </p:nvPr>
        </p:nvSpPr>
        <p:spPr/>
        <p:txBody>
          <a:bodyPr/>
          <a:lstStyle/>
          <a:p>
            <a:r>
              <a:rPr lang="en-GB" dirty="0"/>
              <a:t>Beacons don’t transmit content,  they transmit a series of numbers</a:t>
            </a:r>
          </a:p>
          <a:p>
            <a:r>
              <a:rPr lang="en-GB" dirty="0"/>
              <a:t>The transmitted signal allows another device to identify it and determine the device’s proximity to the beacon</a:t>
            </a:r>
          </a:p>
          <a:p>
            <a:endParaRPr lang="en-IE" dirty="0"/>
          </a:p>
        </p:txBody>
      </p:sp>
      <p:pic>
        <p:nvPicPr>
          <p:cNvPr id="4" name="Picture 3">
            <a:extLst>
              <a:ext uri="{FF2B5EF4-FFF2-40B4-BE49-F238E27FC236}">
                <a16:creationId xmlns:a16="http://schemas.microsoft.com/office/drawing/2014/main" id="{C10CDA1C-450C-4C07-BFDA-BF6E5FBCB360}"/>
              </a:ext>
            </a:extLst>
          </p:cNvPr>
          <p:cNvPicPr>
            <a:picLocks noChangeAspect="1"/>
          </p:cNvPicPr>
          <p:nvPr/>
        </p:nvPicPr>
        <p:blipFill>
          <a:blip r:embed="rId2"/>
          <a:stretch>
            <a:fillRect/>
          </a:stretch>
        </p:blipFill>
        <p:spPr>
          <a:xfrm>
            <a:off x="1585609" y="3563464"/>
            <a:ext cx="8839200" cy="2428875"/>
          </a:xfrm>
          <a:prstGeom prst="rect">
            <a:avLst/>
          </a:prstGeom>
        </p:spPr>
      </p:pic>
    </p:spTree>
    <p:extLst>
      <p:ext uri="{BB962C8B-B14F-4D97-AF65-F5344CB8AC3E}">
        <p14:creationId xmlns:p14="http://schemas.microsoft.com/office/powerpoint/2010/main" val="14226624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46CEE-5C5B-43C5-8D08-638F1EEDC485}"/>
              </a:ext>
            </a:extLst>
          </p:cNvPr>
          <p:cNvSpPr>
            <a:spLocks noGrp="1"/>
          </p:cNvSpPr>
          <p:nvPr>
            <p:ph type="title"/>
          </p:nvPr>
        </p:nvSpPr>
        <p:spPr>
          <a:xfrm>
            <a:off x="643468" y="623392"/>
            <a:ext cx="3363974" cy="1607060"/>
          </a:xfrm>
          <a:noFill/>
          <a:ln w="19050">
            <a:solidFill>
              <a:schemeClr val="tx1"/>
            </a:solidFill>
          </a:ln>
        </p:spPr>
        <p:txBody>
          <a:bodyPr wrap="square" anchor="ctr">
            <a:normAutofit/>
          </a:bodyPr>
          <a:lstStyle/>
          <a:p>
            <a:pPr algn="ctr"/>
            <a:r>
              <a:rPr lang="en-IE" sz="2800"/>
              <a:t>Beacons</a:t>
            </a:r>
          </a:p>
        </p:txBody>
      </p:sp>
      <p:sp>
        <p:nvSpPr>
          <p:cNvPr id="3" name="Content Placeholder 2">
            <a:extLst>
              <a:ext uri="{FF2B5EF4-FFF2-40B4-BE49-F238E27FC236}">
                <a16:creationId xmlns:a16="http://schemas.microsoft.com/office/drawing/2014/main" id="{F8F6D8C7-F932-4D08-92A2-D28B5502F6CB}"/>
              </a:ext>
            </a:extLst>
          </p:cNvPr>
          <p:cNvSpPr>
            <a:spLocks noGrp="1"/>
          </p:cNvSpPr>
          <p:nvPr>
            <p:ph idx="1"/>
          </p:nvPr>
        </p:nvSpPr>
        <p:spPr>
          <a:xfrm>
            <a:off x="643468" y="2638043"/>
            <a:ext cx="3363974" cy="3415623"/>
          </a:xfrm>
        </p:spPr>
        <p:txBody>
          <a:bodyPr>
            <a:normAutofit/>
          </a:bodyPr>
          <a:lstStyle/>
          <a:p>
            <a:r>
              <a:rPr lang="en-IE" sz="2000"/>
              <a:t>Use Cases</a:t>
            </a:r>
          </a:p>
          <a:p>
            <a:pPr lvl="1"/>
            <a:r>
              <a:rPr lang="en-IE" sz="2000"/>
              <a:t>Proximity marketing</a:t>
            </a:r>
          </a:p>
          <a:p>
            <a:pPr lvl="1"/>
            <a:r>
              <a:rPr lang="en-IE" sz="2000"/>
              <a:t>Hyperlocal check-in</a:t>
            </a:r>
          </a:p>
          <a:p>
            <a:pPr lvl="1"/>
            <a:r>
              <a:rPr lang="en-IE" sz="2000"/>
              <a:t>Retargeting Ads</a:t>
            </a:r>
          </a:p>
          <a:p>
            <a:pPr lvl="1"/>
            <a:r>
              <a:rPr lang="en-IE" sz="2000"/>
              <a:t>Asset tracking</a:t>
            </a:r>
          </a:p>
          <a:p>
            <a:pPr lvl="1"/>
            <a:r>
              <a:rPr lang="en-IE" sz="2000"/>
              <a:t>Indoor navigation</a:t>
            </a:r>
          </a:p>
          <a:p>
            <a:pPr lvl="1"/>
            <a:endParaRPr lang="en-IE" sz="2000" b="1"/>
          </a:p>
          <a:p>
            <a:pPr lvl="1"/>
            <a:endParaRPr lang="en-IE" sz="2000"/>
          </a:p>
        </p:txBody>
      </p:sp>
      <p:pic>
        <p:nvPicPr>
          <p:cNvPr id="2050" name="Picture 2" descr="Image result for ble beacon">
            <a:extLst>
              <a:ext uri="{FF2B5EF4-FFF2-40B4-BE49-F238E27FC236}">
                <a16:creationId xmlns:a16="http://schemas.microsoft.com/office/drawing/2014/main" id="{AE887824-7CC1-4E08-8F1F-1FC7708588B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297763" y="1856195"/>
            <a:ext cx="6250769" cy="29847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55923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F2347-4A38-4608-996F-9EE3404B5A4A}"/>
              </a:ext>
            </a:extLst>
          </p:cNvPr>
          <p:cNvSpPr>
            <a:spLocks noGrp="1"/>
          </p:cNvSpPr>
          <p:nvPr>
            <p:ph type="title"/>
          </p:nvPr>
        </p:nvSpPr>
        <p:spPr>
          <a:xfrm>
            <a:off x="6094105" y="802955"/>
            <a:ext cx="4977976" cy="1454051"/>
          </a:xfrm>
        </p:spPr>
        <p:txBody>
          <a:bodyPr>
            <a:normAutofit/>
          </a:bodyPr>
          <a:lstStyle/>
          <a:p>
            <a:r>
              <a:rPr lang="en-IE">
                <a:solidFill>
                  <a:srgbClr val="000000"/>
                </a:solidFill>
              </a:rPr>
              <a:t>What is Eddystone?</a:t>
            </a:r>
          </a:p>
        </p:txBody>
      </p:sp>
      <p:pic>
        <p:nvPicPr>
          <p:cNvPr id="4" name="Picture 3">
            <a:extLst>
              <a:ext uri="{FF2B5EF4-FFF2-40B4-BE49-F238E27FC236}">
                <a16:creationId xmlns:a16="http://schemas.microsoft.com/office/drawing/2014/main" id="{418EA075-316E-4644-A21C-F2004563E9A3}"/>
              </a:ext>
            </a:extLst>
          </p:cNvPr>
          <p:cNvPicPr>
            <a:picLocks noChangeAspect="1"/>
          </p:cNvPicPr>
          <p:nvPr/>
        </p:nvPicPr>
        <p:blipFill rotWithShape="1">
          <a:blip r:embed="rId2">
            <a:alphaModFix/>
            <a:extLst>
              <a:ext uri="{28A0092B-C50C-407E-A947-70E740481C1C}">
                <a14:useLocalDpi xmlns:a14="http://schemas.microsoft.com/office/drawing/2010/main" val="0"/>
              </a:ext>
            </a:extLst>
          </a:blip>
          <a:srcRect l="7385" r="4603" b="1"/>
          <a:stretch/>
        </p:blipFill>
        <p:spPr>
          <a:xfrm>
            <a:off x="20" y="907231"/>
            <a:ext cx="4838021" cy="5063738"/>
          </a:xfrm>
          <a:custGeom>
            <a:avLst/>
            <a:gdLst>
              <a:gd name="connsiteX0" fmla="*/ 2306172 w 4838041"/>
              <a:gd name="connsiteY0" fmla="*/ 0 h 5063738"/>
              <a:gd name="connsiteX1" fmla="*/ 4838041 w 4838041"/>
              <a:gd name="connsiteY1" fmla="*/ 2531869 h 5063738"/>
              <a:gd name="connsiteX2" fmla="*/ 2306172 w 4838041"/>
              <a:gd name="connsiteY2" fmla="*/ 5063738 h 5063738"/>
              <a:gd name="connsiteX3" fmla="*/ 79886 w 4838041"/>
              <a:gd name="connsiteY3" fmla="*/ 3738709 h 5063738"/>
              <a:gd name="connsiteX4" fmla="*/ 0 w 4838041"/>
              <a:gd name="connsiteY4" fmla="*/ 3572876 h 5063738"/>
              <a:gd name="connsiteX5" fmla="*/ 0 w 4838041"/>
              <a:gd name="connsiteY5" fmla="*/ 1490863 h 5063738"/>
              <a:gd name="connsiteX6" fmla="*/ 79886 w 4838041"/>
              <a:gd name="connsiteY6" fmla="*/ 1325030 h 5063738"/>
              <a:gd name="connsiteX7" fmla="*/ 2306172 w 4838041"/>
              <a:gd name="connsiteY7" fmla="*/ 0 h 5063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38041" h="5063738">
                <a:moveTo>
                  <a:pt x="2306172" y="0"/>
                </a:moveTo>
                <a:cubicBezTo>
                  <a:pt x="3704485" y="0"/>
                  <a:pt x="4838041" y="1133556"/>
                  <a:pt x="4838041" y="2531869"/>
                </a:cubicBezTo>
                <a:cubicBezTo>
                  <a:pt x="4838041" y="3930182"/>
                  <a:pt x="3704485" y="5063738"/>
                  <a:pt x="2306172" y="5063738"/>
                </a:cubicBezTo>
                <a:cubicBezTo>
                  <a:pt x="1344832" y="5063738"/>
                  <a:pt x="508631" y="4527956"/>
                  <a:pt x="79886" y="3738709"/>
                </a:cubicBezTo>
                <a:lnTo>
                  <a:pt x="0" y="3572876"/>
                </a:lnTo>
                <a:lnTo>
                  <a:pt x="0" y="1490863"/>
                </a:lnTo>
                <a:lnTo>
                  <a:pt x="79886" y="1325030"/>
                </a:lnTo>
                <a:cubicBezTo>
                  <a:pt x="508631" y="535783"/>
                  <a:pt x="1344832" y="0"/>
                  <a:pt x="2306172" y="0"/>
                </a:cubicBezTo>
                <a:close/>
              </a:path>
            </a:pathLst>
          </a:custGeom>
          <a:effectLst>
            <a:softEdge rad="0"/>
          </a:effectLst>
        </p:spPr>
      </p:pic>
      <p:sp>
        <p:nvSpPr>
          <p:cNvPr id="3" name="Content Placeholder 2">
            <a:extLst>
              <a:ext uri="{FF2B5EF4-FFF2-40B4-BE49-F238E27FC236}">
                <a16:creationId xmlns:a16="http://schemas.microsoft.com/office/drawing/2014/main" id="{06F40476-1485-4692-8FF2-7C50EE943616}"/>
              </a:ext>
            </a:extLst>
          </p:cNvPr>
          <p:cNvSpPr>
            <a:spLocks noGrp="1"/>
          </p:cNvSpPr>
          <p:nvPr>
            <p:ph idx="1"/>
          </p:nvPr>
        </p:nvSpPr>
        <p:spPr>
          <a:xfrm>
            <a:off x="6090574" y="2421682"/>
            <a:ext cx="4977578" cy="3639289"/>
          </a:xfrm>
        </p:spPr>
        <p:txBody>
          <a:bodyPr anchor="ctr">
            <a:normAutofit/>
          </a:bodyPr>
          <a:lstStyle/>
          <a:p>
            <a:r>
              <a:rPr lang="en-GB" sz="2000" dirty="0">
                <a:solidFill>
                  <a:srgbClr val="000000"/>
                </a:solidFill>
              </a:rPr>
              <a:t>BLE beacon broadcast standard developed by Google</a:t>
            </a:r>
          </a:p>
          <a:p>
            <a:r>
              <a:rPr lang="en-GB" sz="2000" dirty="0">
                <a:solidFill>
                  <a:srgbClr val="000000"/>
                </a:solidFill>
              </a:rPr>
              <a:t>Cross-platform and capable of supporting Android, iOS and any platform that supports BLE beacons</a:t>
            </a:r>
          </a:p>
          <a:p>
            <a:endParaRPr lang="en-IE" sz="2000" dirty="0">
              <a:solidFill>
                <a:srgbClr val="000000"/>
              </a:solidFill>
            </a:endParaRPr>
          </a:p>
        </p:txBody>
      </p:sp>
    </p:spTree>
    <p:extLst>
      <p:ext uri="{BB962C8B-B14F-4D97-AF65-F5344CB8AC3E}">
        <p14:creationId xmlns:p14="http://schemas.microsoft.com/office/powerpoint/2010/main" val="821723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02E02-7294-4FC7-B71E-4A6F201ADB66}"/>
              </a:ext>
            </a:extLst>
          </p:cNvPr>
          <p:cNvSpPr>
            <a:spLocks noGrp="1"/>
          </p:cNvSpPr>
          <p:nvPr>
            <p:ph type="title"/>
          </p:nvPr>
        </p:nvSpPr>
        <p:spPr/>
        <p:txBody>
          <a:bodyPr/>
          <a:lstStyle/>
          <a:p>
            <a:r>
              <a:rPr lang="en-IE" dirty="0" err="1"/>
              <a:t>Eddystone</a:t>
            </a:r>
            <a:r>
              <a:rPr lang="en-IE" dirty="0"/>
              <a:t> BLE Advertisement PDU</a:t>
            </a:r>
          </a:p>
        </p:txBody>
      </p:sp>
      <p:sp>
        <p:nvSpPr>
          <p:cNvPr id="3" name="Content Placeholder 2">
            <a:extLst>
              <a:ext uri="{FF2B5EF4-FFF2-40B4-BE49-F238E27FC236}">
                <a16:creationId xmlns:a16="http://schemas.microsoft.com/office/drawing/2014/main" id="{5D84C2E2-AA44-4613-9EA8-F2DF237B01F3}"/>
              </a:ext>
            </a:extLst>
          </p:cNvPr>
          <p:cNvSpPr>
            <a:spLocks noGrp="1"/>
          </p:cNvSpPr>
          <p:nvPr>
            <p:ph idx="1"/>
          </p:nvPr>
        </p:nvSpPr>
        <p:spPr/>
        <p:txBody>
          <a:bodyPr/>
          <a:lstStyle/>
          <a:p>
            <a:endParaRPr lang="en-IE"/>
          </a:p>
        </p:txBody>
      </p:sp>
      <p:pic>
        <p:nvPicPr>
          <p:cNvPr id="1026" name="Picture 2" descr="// The Eddystone Service UUID, 0xFEAA.&#10;private static final ParcelUuid EDDYSTONE_SERVICE_UUID&#10;= ParcelUuid.fromString(&quot;000...">
            <a:extLst>
              <a:ext uri="{FF2B5EF4-FFF2-40B4-BE49-F238E27FC236}">
                <a16:creationId xmlns:a16="http://schemas.microsoft.com/office/drawing/2014/main" id="{DD61D11B-17B5-411A-B760-CFF89A8D43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5318" y="1497310"/>
            <a:ext cx="8881005" cy="49955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03291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778D1-66B2-418F-B294-DB0559F3CFAB}"/>
              </a:ext>
            </a:extLst>
          </p:cNvPr>
          <p:cNvSpPr>
            <a:spLocks noGrp="1"/>
          </p:cNvSpPr>
          <p:nvPr>
            <p:ph type="title"/>
          </p:nvPr>
        </p:nvSpPr>
        <p:spPr>
          <a:xfrm>
            <a:off x="1115568" y="548640"/>
            <a:ext cx="10168128" cy="1179576"/>
          </a:xfrm>
        </p:spPr>
        <p:txBody>
          <a:bodyPr>
            <a:normAutofit/>
          </a:bodyPr>
          <a:lstStyle/>
          <a:p>
            <a:r>
              <a:rPr lang="en-IE" sz="4000"/>
              <a:t>What is iBeacon</a:t>
            </a:r>
          </a:p>
        </p:txBody>
      </p:sp>
      <p:pic>
        <p:nvPicPr>
          <p:cNvPr id="6" name="Picture 5">
            <a:extLst>
              <a:ext uri="{FF2B5EF4-FFF2-40B4-BE49-F238E27FC236}">
                <a16:creationId xmlns:a16="http://schemas.microsoft.com/office/drawing/2014/main" id="{37109F21-886F-4C18-AD60-67368BB979B6}"/>
              </a:ext>
            </a:extLst>
          </p:cNvPr>
          <p:cNvPicPr>
            <a:picLocks noChangeAspect="1"/>
          </p:cNvPicPr>
          <p:nvPr/>
        </p:nvPicPr>
        <p:blipFill rotWithShape="1">
          <a:blip r:embed="rId2">
            <a:extLst>
              <a:ext uri="{28A0092B-C50C-407E-A947-70E740481C1C}">
                <a14:useLocalDpi xmlns:a14="http://schemas.microsoft.com/office/drawing/2010/main" val="0"/>
              </a:ext>
            </a:extLst>
          </a:blip>
          <a:srcRect r="2" b="253"/>
          <a:stretch/>
        </p:blipFill>
        <p:spPr>
          <a:xfrm>
            <a:off x="1115568" y="2478024"/>
            <a:ext cx="3035013" cy="3694176"/>
          </a:xfrm>
          <a:prstGeom prst="rect">
            <a:avLst/>
          </a:prstGeom>
        </p:spPr>
      </p:pic>
      <p:pic>
        <p:nvPicPr>
          <p:cNvPr id="3074" name="Picture 2" descr="A screen shot of a smart phone sitting on a table&#10;&#10;Description automatically generated">
            <a:extLst>
              <a:ext uri="{FF2B5EF4-FFF2-40B4-BE49-F238E27FC236}">
                <a16:creationId xmlns:a16="http://schemas.microsoft.com/office/drawing/2014/main" id="{19559714-772E-469B-97E1-727026D9C1B8}"/>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4911" r="-1" b="13955"/>
          <a:stretch/>
        </p:blipFill>
        <p:spPr bwMode="auto">
          <a:xfrm>
            <a:off x="4507437" y="2478024"/>
            <a:ext cx="3039303" cy="3694176"/>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F4704298-9712-45E8-9A9D-D11417E5D690}"/>
              </a:ext>
            </a:extLst>
          </p:cNvPr>
          <p:cNvSpPr>
            <a:spLocks noGrp="1"/>
          </p:cNvSpPr>
          <p:nvPr>
            <p:ph idx="1"/>
          </p:nvPr>
        </p:nvSpPr>
        <p:spPr>
          <a:xfrm>
            <a:off x="7903597" y="2478024"/>
            <a:ext cx="3389242" cy="3694176"/>
          </a:xfrm>
        </p:spPr>
        <p:txBody>
          <a:bodyPr anchor="ctr">
            <a:normAutofit/>
          </a:bodyPr>
          <a:lstStyle/>
          <a:p>
            <a:pPr marL="285750" indent="-285750">
              <a:buClr>
                <a:srgbClr val="29ABE2"/>
              </a:buClr>
              <a:buFont typeface="Arial"/>
              <a:buChar char="•"/>
            </a:pPr>
            <a:r>
              <a:rPr lang="en-US" sz="1800" dirty="0">
                <a:latin typeface="Museo Sans 300"/>
                <a:ea typeface="Roboto Lt" pitchFamily="2" charset="0"/>
                <a:cs typeface="Museo Sans 300"/>
              </a:rPr>
              <a:t>Apple’s beacon standard</a:t>
            </a:r>
          </a:p>
          <a:p>
            <a:pPr marL="285750" indent="-285750">
              <a:buClr>
                <a:srgbClr val="29ABE2"/>
              </a:buClr>
              <a:buFont typeface="Arial"/>
              <a:buChar char="•"/>
            </a:pPr>
            <a:r>
              <a:rPr lang="en-US" sz="1800" dirty="0">
                <a:latin typeface="Museo Sans 300"/>
                <a:ea typeface="Roboto Lt" pitchFamily="2" charset="0"/>
                <a:cs typeface="Museo Sans 300"/>
              </a:rPr>
              <a:t>Android and iOS compatible, native only for iOS</a:t>
            </a:r>
          </a:p>
          <a:p>
            <a:pPr marL="285750" indent="-285750">
              <a:buClr>
                <a:srgbClr val="29ABE2"/>
              </a:buClr>
              <a:buFont typeface="Arial"/>
              <a:buChar char="•"/>
            </a:pPr>
            <a:r>
              <a:rPr lang="en-GB" sz="1800" dirty="0">
                <a:latin typeface="Museo Sans 300"/>
                <a:ea typeface="Roboto Lt" pitchFamily="2" charset="0"/>
                <a:cs typeface="Museo Sans 300"/>
                <a:sym typeface="Open Sans"/>
              </a:rPr>
              <a:t>Broadcasts one advertising packet and a unique ID </a:t>
            </a:r>
          </a:p>
          <a:p>
            <a:pPr marL="285750" indent="-285750">
              <a:buClr>
                <a:srgbClr val="29ABE2"/>
              </a:buClr>
              <a:buFont typeface="Arial"/>
              <a:buChar char="•"/>
            </a:pPr>
            <a:r>
              <a:rPr lang="en-GB" sz="1800" dirty="0" err="1">
                <a:latin typeface="Museo Sans 300"/>
                <a:ea typeface="Roboto Lt" pitchFamily="2" charset="0"/>
                <a:cs typeface="Museo Sans 300"/>
                <a:sym typeface="Open Sans"/>
              </a:rPr>
              <a:t>Beaconstac</a:t>
            </a:r>
            <a:r>
              <a:rPr lang="en-GB" sz="1800" dirty="0">
                <a:latin typeface="Museo Sans 300"/>
                <a:ea typeface="Roboto Lt" pitchFamily="2" charset="0"/>
                <a:cs typeface="Museo Sans 300"/>
                <a:sym typeface="Open Sans"/>
              </a:rPr>
              <a:t> SDK can wake up Android apps, even if they are closed</a:t>
            </a:r>
            <a:endParaRPr lang="en-US" sz="1800" dirty="0">
              <a:latin typeface="Museo Sans 300"/>
              <a:ea typeface="Roboto Lt" pitchFamily="2" charset="0"/>
              <a:cs typeface="Museo Sans 300"/>
              <a:sym typeface="Open Sans"/>
            </a:endParaRPr>
          </a:p>
          <a:p>
            <a:endParaRPr lang="en-IE" sz="1800" dirty="0"/>
          </a:p>
        </p:txBody>
      </p:sp>
    </p:spTree>
    <p:extLst>
      <p:ext uri="{BB962C8B-B14F-4D97-AF65-F5344CB8AC3E}">
        <p14:creationId xmlns:p14="http://schemas.microsoft.com/office/powerpoint/2010/main" val="7118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D5489-E7D3-4737-BD69-381B2380AF68}"/>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BLE Power consumption</a:t>
            </a:r>
          </a:p>
        </p:txBody>
      </p:sp>
      <p:pic>
        <p:nvPicPr>
          <p:cNvPr id="4" name="Picture 4" descr="A screenshot of a cell phone&#10;&#10;Description generated with very high confidence">
            <a:extLst>
              <a:ext uri="{FF2B5EF4-FFF2-40B4-BE49-F238E27FC236}">
                <a16:creationId xmlns:a16="http://schemas.microsoft.com/office/drawing/2014/main" id="{C539DD1F-4D2C-4ED5-B75D-94B7B4325625}"/>
              </a:ext>
            </a:extLst>
          </p:cNvPr>
          <p:cNvPicPr>
            <a:picLocks noGrp="1" noChangeAspect="1"/>
          </p:cNvPicPr>
          <p:nvPr>
            <p:ph idx="1"/>
          </p:nvPr>
        </p:nvPicPr>
        <p:blipFill>
          <a:blip r:embed="rId2"/>
          <a:stretch>
            <a:fillRect/>
          </a:stretch>
        </p:blipFill>
        <p:spPr>
          <a:xfrm>
            <a:off x="3521529" y="1385586"/>
            <a:ext cx="8421913" cy="4273939"/>
          </a:xfrm>
          <a:prstGeom prst="rect">
            <a:avLst/>
          </a:prstGeom>
        </p:spPr>
      </p:pic>
    </p:spTree>
    <p:extLst>
      <p:ext uri="{BB962C8B-B14F-4D97-AF65-F5344CB8AC3E}">
        <p14:creationId xmlns:p14="http://schemas.microsoft.com/office/powerpoint/2010/main" val="306404442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2631</Words>
  <Application>Microsoft Office PowerPoint</Application>
  <PresentationFormat>Widescreen</PresentationFormat>
  <Paragraphs>300</Paragraphs>
  <Slides>40</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Arial</vt:lpstr>
      <vt:lpstr>Calibri</vt:lpstr>
      <vt:lpstr>Calibri Light</vt:lpstr>
      <vt:lpstr>Helvetica</vt:lpstr>
      <vt:lpstr>Museo Sans 300</vt:lpstr>
      <vt:lpstr>Times New Roman</vt:lpstr>
      <vt:lpstr>office theme</vt:lpstr>
      <vt:lpstr>Wireless Network Protocols BLE</vt:lpstr>
      <vt:lpstr>Wireless Network Protocols &amp; IoT</vt:lpstr>
      <vt:lpstr>QI – the Electromagnetic Spectrum</vt:lpstr>
      <vt:lpstr>Wireless Advantages</vt:lpstr>
      <vt:lpstr>Problems</vt:lpstr>
      <vt:lpstr>Wireless Networks Classification</vt:lpstr>
      <vt:lpstr>Wireless Technologies</vt:lpstr>
      <vt:lpstr>ISM Wireless Bands</vt:lpstr>
      <vt:lpstr>6 GHz Spectrum Allocation</vt:lpstr>
      <vt:lpstr>Wireless Technologies Comparison</vt:lpstr>
      <vt:lpstr>Bluetooth/BLE</vt:lpstr>
      <vt:lpstr>Personal Area Networks (PANs)</vt:lpstr>
      <vt:lpstr>Bluetooth</vt:lpstr>
      <vt:lpstr>Bluetooth Classification</vt:lpstr>
      <vt:lpstr>Bluetooth “classic”</vt:lpstr>
      <vt:lpstr>Bluetooth Low Energy</vt:lpstr>
      <vt:lpstr>BLE vs Classic</vt:lpstr>
      <vt:lpstr>BLE Roles</vt:lpstr>
      <vt:lpstr>BLE Operation Modes</vt:lpstr>
      <vt:lpstr>BLE Connections</vt:lpstr>
      <vt:lpstr>Advertising process</vt:lpstr>
      <vt:lpstr>Connection Process</vt:lpstr>
      <vt:lpstr>Bluetooth LE Device Address</vt:lpstr>
      <vt:lpstr>BLE – Adaptive Frequency Hopping</vt:lpstr>
      <vt:lpstr>GAP and GATT for BLE</vt:lpstr>
      <vt:lpstr>Generic Access Profile (GAP)</vt:lpstr>
      <vt:lpstr>Broadcast Network Topology</vt:lpstr>
      <vt:lpstr>Bluetooth Connection </vt:lpstr>
      <vt:lpstr>GATT Services</vt:lpstr>
      <vt:lpstr>GATT Characteristics</vt:lpstr>
      <vt:lpstr>BLE UUIDs</vt:lpstr>
      <vt:lpstr>GATT Transactions</vt:lpstr>
      <vt:lpstr>BLE Connected Network Topology</vt:lpstr>
      <vt:lpstr>What are beacons?</vt:lpstr>
      <vt:lpstr>BLE Beacons – How they work</vt:lpstr>
      <vt:lpstr>Beacons</vt:lpstr>
      <vt:lpstr>What is Eddystone?</vt:lpstr>
      <vt:lpstr>Eddystone BLE Advertisement PDU</vt:lpstr>
      <vt:lpstr>What is iBeacon</vt:lpstr>
      <vt:lpstr>BLE Power consumption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Wireless Network Protocols</dc:title>
  <dc:creator>Frank X Walsh</dc:creator>
  <cp:lastModifiedBy>Frank Walsh</cp:lastModifiedBy>
  <cp:revision>18</cp:revision>
  <dcterms:created xsi:type="dcterms:W3CDTF">2020-11-09T09:30:10Z</dcterms:created>
  <dcterms:modified xsi:type="dcterms:W3CDTF">2026-03-05T14:58:48Z</dcterms:modified>
</cp:coreProperties>
</file>