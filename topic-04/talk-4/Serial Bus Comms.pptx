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81" r:id="rId4"/>
    <p:sldId id="258" r:id="rId5"/>
    <p:sldId id="271" r:id="rId6"/>
    <p:sldId id="272" r:id="rId7"/>
    <p:sldId id="273" r:id="rId8"/>
    <p:sldId id="274" r:id="rId9"/>
    <p:sldId id="275" r:id="rId10"/>
    <p:sldId id="276" r:id="rId11"/>
    <p:sldId id="259" r:id="rId12"/>
    <p:sldId id="277" r:id="rId13"/>
    <p:sldId id="279" r:id="rId14"/>
    <p:sldId id="280" r:id="rId15"/>
    <p:sldId id="278" r:id="rId16"/>
    <p:sldId id="260" r:id="rId17"/>
    <p:sldId id="261" r:id="rId18"/>
    <p:sldId id="262" r:id="rId19"/>
    <p:sldId id="263" r:id="rId20"/>
    <p:sldId id="264" r:id="rId21"/>
    <p:sldId id="268" r:id="rId22"/>
    <p:sldId id="265" r:id="rId23"/>
    <p:sldId id="266" r:id="rId24"/>
    <p:sldId id="267"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3853" autoAdjust="0"/>
  </p:normalViewPr>
  <p:slideViewPr>
    <p:cSldViewPr snapToGrid="0">
      <p:cViewPr varScale="1">
        <p:scale>
          <a:sx n="103" d="100"/>
          <a:sy n="103" d="100"/>
        </p:scale>
        <p:origin x="64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9C0D8A-367A-4CB0-AD68-2068604CE614}" type="datetimeFigureOut">
              <a:rPr lang="en-IE" smtClean="0"/>
              <a:t>01/02/2024</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F7C81E-D488-4456-9F27-5AB05595BCB7}" type="slidenum">
              <a:rPr lang="en-IE" smtClean="0"/>
              <a:t>‹#›</a:t>
            </a:fld>
            <a:endParaRPr lang="en-IE"/>
          </a:p>
        </p:txBody>
      </p:sp>
    </p:spTree>
    <p:extLst>
      <p:ext uri="{BB962C8B-B14F-4D97-AF65-F5344CB8AC3E}">
        <p14:creationId xmlns:p14="http://schemas.microsoft.com/office/powerpoint/2010/main" val="2348523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sparkfun.com/products/11021"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sparkfun.com/products/11061"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3</a:t>
            </a:fld>
            <a:endParaRPr lang="en-IE"/>
          </a:p>
        </p:txBody>
      </p:sp>
    </p:spTree>
    <p:extLst>
      <p:ext uri="{BB962C8B-B14F-4D97-AF65-F5344CB8AC3E}">
        <p14:creationId xmlns:p14="http://schemas.microsoft.com/office/powerpoint/2010/main" val="3902798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latin typeface="Helvetica Neue"/>
              </a:rPr>
              <a:t>Parallel interfaces transfer multiple bits at the same time. Transmitting across eight, sixteen, or more wires. Data is transferred in huge, crashing waves of 1's and 0's.</a:t>
            </a:r>
          </a:p>
          <a:p>
            <a:r>
              <a:rPr lang="en-GB" b="0" i="0" dirty="0">
                <a:solidFill>
                  <a:srgbClr val="333333"/>
                </a:solidFill>
                <a:effectLst/>
                <a:latin typeface="Helvetica Neue"/>
              </a:rPr>
              <a:t>Serial interfaces stream their data, one single bit at a time. These interfaces can operate on as little as one wire, usually never more than four.</a:t>
            </a:r>
          </a:p>
          <a:p>
            <a:endParaRPr lang="en-GB" b="0" i="0" dirty="0">
              <a:solidFill>
                <a:srgbClr val="333333"/>
              </a:solidFill>
              <a:effectLst/>
              <a:latin typeface="Helvetica Neue"/>
            </a:endParaRPr>
          </a:p>
          <a:p>
            <a:pPr algn="l"/>
            <a:r>
              <a:rPr lang="en-GB" b="0" i="0" dirty="0">
                <a:solidFill>
                  <a:srgbClr val="333333"/>
                </a:solidFill>
                <a:effectLst/>
                <a:latin typeface="Helvetica Neue"/>
              </a:rPr>
              <a:t>Think of the two interfaces as a stream of cars: a parallel interface would be the 8+ lane mega-highway, while a serial interface is more like a two-lane rural country road. Over a set amount of time, the mega-highway potentially gets more people to their destinations, but that rural two-</a:t>
            </a:r>
            <a:r>
              <a:rPr lang="en-GB" b="0" i="0" dirty="0" err="1">
                <a:solidFill>
                  <a:srgbClr val="333333"/>
                </a:solidFill>
                <a:effectLst/>
                <a:latin typeface="Helvetica Neue"/>
              </a:rPr>
              <a:t>laner</a:t>
            </a:r>
            <a:r>
              <a:rPr lang="en-GB" b="0" i="0" dirty="0">
                <a:solidFill>
                  <a:srgbClr val="333333"/>
                </a:solidFill>
                <a:effectLst/>
                <a:latin typeface="Helvetica Neue"/>
              </a:rPr>
              <a:t> serves its purpose and costs a fraction of the funds to build.</a:t>
            </a:r>
          </a:p>
          <a:p>
            <a:pPr algn="l"/>
            <a:r>
              <a:rPr lang="en-GB" b="0" i="0" dirty="0">
                <a:solidFill>
                  <a:srgbClr val="333333"/>
                </a:solidFill>
                <a:effectLst/>
                <a:latin typeface="Helvetica Neue"/>
              </a:rPr>
              <a:t>Parallel communication certainly has its benefits. It's fast, straightforward, and relatively easy to implement. But it requires many more input/output (I/O) lines. If you've ever had to move a project from a basic </a:t>
            </a:r>
            <a:r>
              <a:rPr lang="en-GB" b="0" i="0" u="none" strike="noStrike" dirty="0">
                <a:solidFill>
                  <a:srgbClr val="E0311D"/>
                </a:solidFill>
                <a:effectLst/>
                <a:latin typeface="Helvetica Neue"/>
                <a:hlinkClick r:id="rId3"/>
              </a:rPr>
              <a:t>Arduino Uno</a:t>
            </a:r>
            <a:r>
              <a:rPr lang="en-GB" b="0" i="0" dirty="0">
                <a:solidFill>
                  <a:srgbClr val="333333"/>
                </a:solidFill>
                <a:effectLst/>
                <a:latin typeface="Helvetica Neue"/>
              </a:rPr>
              <a:t> to a </a:t>
            </a:r>
            <a:r>
              <a:rPr lang="en-GB" b="0" i="0" u="none" strike="noStrike" dirty="0">
                <a:solidFill>
                  <a:srgbClr val="E0311D"/>
                </a:solidFill>
                <a:effectLst/>
                <a:latin typeface="Helvetica Neue"/>
                <a:hlinkClick r:id="rId4"/>
              </a:rPr>
              <a:t>Mega</a:t>
            </a:r>
            <a:r>
              <a:rPr lang="en-GB" b="0" i="0" dirty="0">
                <a:solidFill>
                  <a:srgbClr val="333333"/>
                </a:solidFill>
                <a:effectLst/>
                <a:latin typeface="Helvetica Neue"/>
              </a:rPr>
              <a:t>, you know that the I/O lines on a microprocessor can be precious and few. So, we often opt for serial communication, sacrificing potential speed for pin real estate.</a:t>
            </a:r>
          </a:p>
          <a:p>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4</a:t>
            </a:fld>
            <a:endParaRPr lang="en-IE"/>
          </a:p>
        </p:txBody>
      </p:sp>
    </p:spTree>
    <p:extLst>
      <p:ext uri="{BB962C8B-B14F-4D97-AF65-F5344CB8AC3E}">
        <p14:creationId xmlns:p14="http://schemas.microsoft.com/office/powerpoint/2010/main" val="2326487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latin typeface="Helvetica Neue"/>
              </a:rPr>
              <a:t>Over the years, dozens of serial protocols have been crafted </a:t>
            </a:r>
          </a:p>
          <a:p>
            <a:r>
              <a:rPr lang="en-GB" b="0" i="0" dirty="0">
                <a:solidFill>
                  <a:srgbClr val="333333"/>
                </a:solidFill>
                <a:effectLst/>
                <a:latin typeface="Helvetica Neue"/>
              </a:rPr>
              <a:t>USB (universal </a:t>
            </a:r>
            <a:r>
              <a:rPr lang="en-GB" b="0" i="1" dirty="0">
                <a:solidFill>
                  <a:srgbClr val="333333"/>
                </a:solidFill>
                <a:effectLst/>
                <a:latin typeface="Helvetica Neue"/>
              </a:rPr>
              <a:t>serial</a:t>
            </a:r>
            <a:r>
              <a:rPr lang="en-GB" b="0" i="0" dirty="0">
                <a:solidFill>
                  <a:srgbClr val="333333"/>
                </a:solidFill>
                <a:effectLst/>
                <a:latin typeface="Helvetica Neue"/>
              </a:rPr>
              <a:t> bus), and Ethernet, are a couple of the more well-known computing serial interfaces. </a:t>
            </a:r>
          </a:p>
          <a:p>
            <a:r>
              <a:rPr lang="en-GB" b="0" i="0" dirty="0">
                <a:solidFill>
                  <a:srgbClr val="333333"/>
                </a:solidFill>
                <a:effectLst/>
                <a:latin typeface="Helvetica Neue"/>
              </a:rPr>
              <a:t>Other very common serial interfaces include SPI, I</a:t>
            </a:r>
            <a:r>
              <a:rPr lang="en-GB" b="0" i="0" baseline="30000" dirty="0">
                <a:solidFill>
                  <a:srgbClr val="333333"/>
                </a:solidFill>
                <a:effectLst/>
                <a:latin typeface="Helvetica Neue"/>
              </a:rPr>
              <a:t>2</a:t>
            </a:r>
            <a:r>
              <a:rPr lang="en-GB" b="0" i="0" dirty="0">
                <a:solidFill>
                  <a:srgbClr val="333333"/>
                </a:solidFill>
                <a:effectLst/>
                <a:latin typeface="Helvetica Neue"/>
              </a:rPr>
              <a:t>C, and the serial standard we're here to talk about today. </a:t>
            </a:r>
          </a:p>
          <a:p>
            <a:r>
              <a:rPr lang="en-GB" b="0" i="0" dirty="0">
                <a:solidFill>
                  <a:srgbClr val="333333"/>
                </a:solidFill>
                <a:effectLst/>
                <a:latin typeface="Helvetica Neue"/>
              </a:rPr>
              <a:t>Each of these serial interfaces can be sorted into one of two groups: synchronous or asynchronous.</a:t>
            </a:r>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5</a:t>
            </a:fld>
            <a:endParaRPr lang="en-IE"/>
          </a:p>
        </p:txBody>
      </p:sp>
    </p:spTree>
    <p:extLst>
      <p:ext uri="{BB962C8B-B14F-4D97-AF65-F5344CB8AC3E}">
        <p14:creationId xmlns:p14="http://schemas.microsoft.com/office/powerpoint/2010/main" val="936466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latin typeface="Helvetica Neue"/>
              </a:rPr>
              <a:t>Through the variety of these </a:t>
            </a:r>
            <a:r>
              <a:rPr lang="en-GB" b="0" i="0" dirty="0" err="1">
                <a:solidFill>
                  <a:srgbClr val="333333"/>
                </a:solidFill>
                <a:effectLst/>
                <a:latin typeface="Helvetica Neue"/>
              </a:rPr>
              <a:t>signaling</a:t>
            </a:r>
            <a:r>
              <a:rPr lang="en-GB" b="0" i="0" dirty="0">
                <a:solidFill>
                  <a:srgbClr val="333333"/>
                </a:solidFill>
                <a:effectLst/>
                <a:latin typeface="Helvetica Neue"/>
              </a:rPr>
              <a:t> mechanisms, you'll find that there's no one way to send data serially. The protocol is highly configurable. The critical part is making sure that </a:t>
            </a:r>
            <a:r>
              <a:rPr lang="en-GB" b="1" i="0" dirty="0">
                <a:solidFill>
                  <a:srgbClr val="333333"/>
                </a:solidFill>
                <a:effectLst/>
                <a:latin typeface="Helvetica Neue"/>
              </a:rPr>
              <a:t>both devices on a serial bus are configured to use the exact same protocols</a:t>
            </a:r>
            <a:r>
              <a:rPr lang="en-GB" b="0" i="0" dirty="0">
                <a:solidFill>
                  <a:srgbClr val="333333"/>
                </a:solidFill>
                <a:effectLst/>
                <a:latin typeface="Helvetica Neue"/>
              </a:rPr>
              <a:t>.</a:t>
            </a:r>
          </a:p>
          <a:p>
            <a:r>
              <a:rPr lang="en-GB" b="0" i="0" dirty="0">
                <a:solidFill>
                  <a:srgbClr val="333333"/>
                </a:solidFill>
                <a:effectLst/>
                <a:latin typeface="Helvetica Neue"/>
              </a:rPr>
              <a:t>both serial devices also have to agree on the </a:t>
            </a:r>
            <a:r>
              <a:rPr lang="en-GB" b="1" i="0" dirty="0">
                <a:solidFill>
                  <a:srgbClr val="333333"/>
                </a:solidFill>
                <a:effectLst/>
                <a:latin typeface="Helvetica Neue"/>
              </a:rPr>
              <a:t>endianness</a:t>
            </a:r>
            <a:r>
              <a:rPr lang="en-GB" b="0" i="0" dirty="0">
                <a:solidFill>
                  <a:srgbClr val="333333"/>
                </a:solidFill>
                <a:effectLst/>
                <a:latin typeface="Helvetica Neue"/>
              </a:rPr>
              <a:t> of their data. Is data sent most-significant bit (</a:t>
            </a:r>
            <a:r>
              <a:rPr lang="en-GB" b="0" i="0" dirty="0" err="1">
                <a:solidFill>
                  <a:srgbClr val="333333"/>
                </a:solidFill>
                <a:effectLst/>
                <a:latin typeface="Helvetica Neue"/>
              </a:rPr>
              <a:t>msb</a:t>
            </a:r>
            <a:r>
              <a:rPr lang="en-GB" b="0" i="0" dirty="0">
                <a:solidFill>
                  <a:srgbClr val="333333"/>
                </a:solidFill>
                <a:effectLst/>
                <a:latin typeface="Helvetica Neue"/>
              </a:rPr>
              <a:t>) to least, or vice-versa? If it's not otherwise stated, you can usually assume that data is transferred </a:t>
            </a:r>
            <a:r>
              <a:rPr lang="en-GB" b="1" i="0" dirty="0">
                <a:solidFill>
                  <a:srgbClr val="333333"/>
                </a:solidFill>
                <a:effectLst/>
                <a:latin typeface="Helvetica Neue"/>
              </a:rPr>
              <a:t>least-significant bit (</a:t>
            </a:r>
            <a:r>
              <a:rPr lang="en-GB" b="1" i="0" dirty="0" err="1">
                <a:solidFill>
                  <a:srgbClr val="333333"/>
                </a:solidFill>
                <a:effectLst/>
                <a:latin typeface="Helvetica Neue"/>
              </a:rPr>
              <a:t>lsb</a:t>
            </a:r>
            <a:r>
              <a:rPr lang="en-GB" b="1" i="0" dirty="0">
                <a:solidFill>
                  <a:srgbClr val="333333"/>
                </a:solidFill>
                <a:effectLst/>
                <a:latin typeface="Helvetica Neue"/>
              </a:rPr>
              <a:t>) first</a:t>
            </a:r>
            <a:r>
              <a:rPr lang="en-GB" b="0" i="0" dirty="0">
                <a:solidFill>
                  <a:srgbClr val="333333"/>
                </a:solidFill>
                <a:effectLst/>
                <a:latin typeface="Helvetica Neue"/>
              </a:rPr>
              <a:t>.</a:t>
            </a:r>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7</a:t>
            </a:fld>
            <a:endParaRPr lang="en-IE"/>
          </a:p>
        </p:txBody>
      </p:sp>
    </p:spTree>
    <p:extLst>
      <p:ext uri="{BB962C8B-B14F-4D97-AF65-F5344CB8AC3E}">
        <p14:creationId xmlns:p14="http://schemas.microsoft.com/office/powerpoint/2010/main" val="2434522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PlaceHolder 1"/>
          <p:cNvSpPr>
            <a:spLocks noGrp="1"/>
          </p:cNvSpPr>
          <p:nvPr>
            <p:ph type="body"/>
          </p:nvPr>
        </p:nvSpPr>
        <p:spPr>
          <a:xfrm>
            <a:off x="685800" y="4343400"/>
            <a:ext cx="5486040" cy="4114440"/>
          </a:xfrm>
          <a:prstGeom prst="rect">
            <a:avLst/>
          </a:prstGeom>
        </p:spPr>
        <p:txBody>
          <a:bodyPr/>
          <a:lstStyle/>
          <a:p>
            <a:r>
              <a:rPr lang="en-GB" sz="3200" b="0" i="0" dirty="0">
                <a:solidFill>
                  <a:srgbClr val="333333"/>
                </a:solidFill>
                <a:effectLst/>
                <a:latin typeface="Helvetica Neue"/>
              </a:rPr>
              <a:t>The final piece to this serial puzzle is finding something to both create the serial packets and control those physical hardware lines. Enter the UART.</a:t>
            </a:r>
          </a:p>
          <a:p>
            <a:r>
              <a:rPr lang="en-GB" sz="3200" b="0" i="0" dirty="0">
                <a:solidFill>
                  <a:srgbClr val="333333"/>
                </a:solidFill>
                <a:effectLst/>
                <a:latin typeface="Helvetica Neue"/>
              </a:rPr>
              <a:t>More advanced UARTs may throw their received data into a </a:t>
            </a:r>
            <a:r>
              <a:rPr lang="en-GB" sz="3200" b="1" i="0" dirty="0">
                <a:solidFill>
                  <a:srgbClr val="333333"/>
                </a:solidFill>
                <a:effectLst/>
                <a:latin typeface="Helvetica Neue"/>
              </a:rPr>
              <a:t>buffer</a:t>
            </a:r>
            <a:r>
              <a:rPr lang="en-GB" sz="3200" b="0" i="0" dirty="0">
                <a:solidFill>
                  <a:srgbClr val="333333"/>
                </a:solidFill>
                <a:effectLst/>
                <a:latin typeface="Helvetica Neue"/>
              </a:rPr>
              <a:t>, where it can stay until the microcontroller comes to get it. UARTs will usually release their buffered data on a first-in-first-out (FIFO) basis. Buffers can be as small as a few bits, or as large as thousands of bytes.</a:t>
            </a:r>
          </a:p>
          <a:p>
            <a:r>
              <a:rPr lang="en-GB" sz="4400" b="0" i="0" dirty="0">
                <a:solidFill>
                  <a:srgbClr val="333333"/>
                </a:solidFill>
                <a:effectLst/>
                <a:latin typeface="Helvetica Neue"/>
              </a:rPr>
              <a:t>If a microcontroller doesn't have a UART (or doesn't have enough), the serial interface can be </a:t>
            </a:r>
            <a:r>
              <a:rPr lang="en-GB" sz="4400" b="1" i="0" dirty="0">
                <a:solidFill>
                  <a:srgbClr val="333333"/>
                </a:solidFill>
                <a:effectLst/>
                <a:latin typeface="Helvetica Neue"/>
              </a:rPr>
              <a:t>bit-banged</a:t>
            </a:r>
            <a:r>
              <a:rPr lang="en-GB" sz="4400" b="0" i="0" dirty="0">
                <a:solidFill>
                  <a:srgbClr val="333333"/>
                </a:solidFill>
                <a:effectLst/>
                <a:latin typeface="Helvetica Neue"/>
              </a:rPr>
              <a:t> - directly controlled by the processor. </a:t>
            </a:r>
            <a:endParaRPr lang="en-GB" sz="3200" b="0" i="0" dirty="0">
              <a:solidFill>
                <a:srgbClr val="333333"/>
              </a:solidFill>
              <a:effectLst/>
              <a:latin typeface="Helvetica Neue"/>
            </a:endParaRPr>
          </a:p>
          <a:p>
            <a:endParaRPr lang="en-GB" sz="2000" b="0" strike="noStrike" spc="-1" dirty="0">
              <a:solidFill>
                <a:srgbClr val="000000"/>
              </a:solidFill>
              <a:uFill>
                <a:solidFill>
                  <a:srgbClr val="FFFFFF"/>
                </a:solidFill>
              </a:uFill>
              <a:latin typeface="Arial"/>
            </a:endParaRPr>
          </a:p>
        </p:txBody>
      </p:sp>
      <p:sp>
        <p:nvSpPr>
          <p:cNvPr id="261" name="TextShape 2"/>
          <p:cNvSpPr txBox="1"/>
          <p:nvPr/>
        </p:nvSpPr>
        <p:spPr>
          <a:xfrm>
            <a:off x="3884760" y="8685360"/>
            <a:ext cx="2971440" cy="456840"/>
          </a:xfrm>
          <a:prstGeom prst="rect">
            <a:avLst/>
          </a:prstGeom>
          <a:noFill/>
          <a:ln>
            <a:noFill/>
          </a:ln>
        </p:spPr>
        <p:txBody>
          <a:bodyPr anchor="b"/>
          <a:lstStyle/>
          <a:p>
            <a:pPr algn="r">
              <a:lnSpc>
                <a:spcPct val="100000"/>
              </a:lnSpc>
            </a:pPr>
            <a:fld id="{A694178A-FF47-48E0-9225-837F7DF22882}" type="slidenum">
              <a:rPr lang="en-GB" sz="1200" b="0" strike="noStrike" spc="-1">
                <a:solidFill>
                  <a:srgbClr val="000000"/>
                </a:solidFill>
                <a:uFill>
                  <a:solidFill>
                    <a:srgbClr val="FFFFFF"/>
                  </a:solidFill>
                </a:uFill>
                <a:latin typeface="+mn-lt"/>
                <a:ea typeface="+mn-ea"/>
              </a:rPr>
              <a:t>12</a:t>
            </a:fld>
            <a:endParaRPr lang="en-GB" sz="1400" b="0" strike="noStrike" spc="-1">
              <a:solidFill>
                <a:srgbClr val="000000"/>
              </a:solidFill>
              <a:uFill>
                <a:solidFill>
                  <a:srgbClr val="FFFFFF"/>
                </a:solidFill>
              </a:u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74151"/>
                </a:solidFill>
                <a:effectLst/>
                <a:latin typeface="Söhne"/>
              </a:rPr>
              <a:t>When you connect an Arduino to a computer via USB and program it, the serial protocol being used is typically the Universal Serial Bus (USB) protocol itself for the physical connection. However, for data transmission, it primarily uses a virtual COM (Communication) port over USB, which emulates the RS-232 serial communication standard.</a:t>
            </a:r>
            <a:endParaRPr lang="en-IE" dirty="0"/>
          </a:p>
        </p:txBody>
      </p:sp>
      <p:sp>
        <p:nvSpPr>
          <p:cNvPr id="4" name="Slide Number Placeholder 3"/>
          <p:cNvSpPr>
            <a:spLocks noGrp="1"/>
          </p:cNvSpPr>
          <p:nvPr>
            <p:ph type="sldNum" sz="quarter" idx="5"/>
          </p:nvPr>
        </p:nvSpPr>
        <p:spPr/>
        <p:txBody>
          <a:bodyPr/>
          <a:lstStyle/>
          <a:p>
            <a:fld id="{53F7C81E-D488-4456-9F27-5AB05595BCB7}" type="slidenum">
              <a:rPr lang="en-IE" smtClean="0"/>
              <a:t>14</a:t>
            </a:fld>
            <a:endParaRPr lang="en-IE"/>
          </a:p>
        </p:txBody>
      </p:sp>
    </p:spTree>
    <p:extLst>
      <p:ext uri="{BB962C8B-B14F-4D97-AF65-F5344CB8AC3E}">
        <p14:creationId xmlns:p14="http://schemas.microsoft.com/office/powerpoint/2010/main" val="388944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A5E90-3DB5-414A-AFDD-9D1CF79F0E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E7A65576-3399-4AD6-B084-16E66E1564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0E36922F-384F-4D18-BA8C-6AC97987B0B2}"/>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5" name="Footer Placeholder 4">
            <a:extLst>
              <a:ext uri="{FF2B5EF4-FFF2-40B4-BE49-F238E27FC236}">
                <a16:creationId xmlns:a16="http://schemas.microsoft.com/office/drawing/2014/main" id="{A0B7CAEC-E182-47B8-9F13-DCDD9165C68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8693FD2-8CDC-4341-856E-E797BB8BF37C}"/>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462547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D1A7A-B681-48D6-A2DB-A99A4ED58435}"/>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299059F7-2FB1-4831-8724-70671F28A4C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90A17BD-9518-4666-BC8D-991DB4C0E8A6}"/>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5" name="Footer Placeholder 4">
            <a:extLst>
              <a:ext uri="{FF2B5EF4-FFF2-40B4-BE49-F238E27FC236}">
                <a16:creationId xmlns:a16="http://schemas.microsoft.com/office/drawing/2014/main" id="{FD1BAD4D-4F64-4278-9B51-C5099926D53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F98D8D2-BD77-413E-9D13-9997B21FCE3B}"/>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3497994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77027-B591-42AD-B8B9-E2855B96D6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4E394E74-16F3-4946-B55C-3A1E8C469B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5AF2E9-2938-45CB-A40B-87D95E7ED873}"/>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5" name="Footer Placeholder 4">
            <a:extLst>
              <a:ext uri="{FF2B5EF4-FFF2-40B4-BE49-F238E27FC236}">
                <a16:creationId xmlns:a16="http://schemas.microsoft.com/office/drawing/2014/main" id="{3F454CF2-C0B5-4C63-A137-327D73853A4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C6B35EE-AF6C-4750-B711-769A3A20CF1D}"/>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128867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FABC-C3A0-47F9-BF41-640480F39C66}"/>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69EE2E9F-0531-4105-9B2D-2AD68C689E9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5EDE850E-27DC-47AF-854C-95C49870CB2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375BD970-6788-46D9-A7DB-7DA289BDD17C}"/>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6" name="Footer Placeholder 5">
            <a:extLst>
              <a:ext uri="{FF2B5EF4-FFF2-40B4-BE49-F238E27FC236}">
                <a16:creationId xmlns:a16="http://schemas.microsoft.com/office/drawing/2014/main" id="{1BD7C74E-A31F-45A5-9D74-D0337FABFA7E}"/>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50A3ADB6-215B-4E9F-8DF1-E97ED0AD30F3}"/>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1473029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68D3F-4AF9-4DC4-99D3-29F52695E2D3}"/>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BDEDB031-1580-435B-97BF-3356DD5BCB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4D9F66-76B4-4060-B681-3663EBA3BF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5764F2D1-DD7C-4515-BCCC-670BE72406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82D2860-0087-4D0B-96B6-1C1BCEC287B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04369EAF-EF81-4DBA-846D-AE705C6998C3}"/>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8" name="Footer Placeholder 7">
            <a:extLst>
              <a:ext uri="{FF2B5EF4-FFF2-40B4-BE49-F238E27FC236}">
                <a16:creationId xmlns:a16="http://schemas.microsoft.com/office/drawing/2014/main" id="{0E3FB8DD-107B-4290-ABAF-6DBF56A6C5DB}"/>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7989E5C9-C424-45B4-911C-AFFA61D351FD}"/>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71901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217B9-5E14-45CB-A1BD-7C11AE297129}"/>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45577003-3479-43FC-857E-88FA99C2B3F9}"/>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4" name="Footer Placeholder 3">
            <a:extLst>
              <a:ext uri="{FF2B5EF4-FFF2-40B4-BE49-F238E27FC236}">
                <a16:creationId xmlns:a16="http://schemas.microsoft.com/office/drawing/2014/main" id="{0CA159A4-939A-4EA9-B351-06A8CFCD1EAC}"/>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5C918B25-F131-4AA8-9FB7-92A76EA2C530}"/>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3617440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932738-9151-4B00-B146-F69DEF4D4797}"/>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3" name="Footer Placeholder 2">
            <a:extLst>
              <a:ext uri="{FF2B5EF4-FFF2-40B4-BE49-F238E27FC236}">
                <a16:creationId xmlns:a16="http://schemas.microsoft.com/office/drawing/2014/main" id="{06E9447C-F103-409D-A0F0-3D0A70E73376}"/>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03EF375A-DB83-4DBA-8A0C-BE865D345A0F}"/>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3243638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78EA9-FC3B-40DF-A706-9FE05922A2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7F8FADD8-F9DC-4858-8607-BFEFB8A4E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B0A73CD8-83C4-49ED-AA1C-8727AE40E7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E4B3AB-7ADB-4969-AF48-1B7D1AC81CF0}"/>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6" name="Footer Placeholder 5">
            <a:extLst>
              <a:ext uri="{FF2B5EF4-FFF2-40B4-BE49-F238E27FC236}">
                <a16:creationId xmlns:a16="http://schemas.microsoft.com/office/drawing/2014/main" id="{A41CF084-E050-4DA7-8DE9-92C10D5EB3EC}"/>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BF710D19-FE2C-44CE-96D6-25D5E15E2EBD}"/>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1937140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C1A78-8997-4593-AE05-D3E18A64B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E1F14134-89A2-4DA7-AEDD-D6A1432E21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DABBD9BB-3D30-4229-A293-915FBC33D5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65BA02-AF78-4A5F-9B4B-3D4C88AD3D39}"/>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6" name="Footer Placeholder 5">
            <a:extLst>
              <a:ext uri="{FF2B5EF4-FFF2-40B4-BE49-F238E27FC236}">
                <a16:creationId xmlns:a16="http://schemas.microsoft.com/office/drawing/2014/main" id="{D01C4239-81E2-4786-910E-92D691A30214}"/>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88F62699-138F-4691-B7B5-1B809EB74AF7}"/>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399300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EE6B8-AC74-4C61-BEE2-B358E890A6AF}"/>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150D4B99-781C-424D-8883-D709DE7DC22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C1FDA13A-BC27-466C-AC60-0533A3ECE4F7}"/>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5" name="Footer Placeholder 4">
            <a:extLst>
              <a:ext uri="{FF2B5EF4-FFF2-40B4-BE49-F238E27FC236}">
                <a16:creationId xmlns:a16="http://schemas.microsoft.com/office/drawing/2014/main" id="{2B10F79D-D32E-4F37-AF30-34B15BA39D7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1EAF4A70-0EB4-49FE-858E-A9C45CD7B5D3}"/>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241177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12B101-D63E-4531-AC32-C137527A85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522CB269-E9B9-48EF-9713-9128860B130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32DC8624-7FC1-403D-8901-81E0A28568EE}"/>
              </a:ext>
            </a:extLst>
          </p:cNvPr>
          <p:cNvSpPr>
            <a:spLocks noGrp="1"/>
          </p:cNvSpPr>
          <p:nvPr>
            <p:ph type="dt" sz="half" idx="10"/>
          </p:nvPr>
        </p:nvSpPr>
        <p:spPr/>
        <p:txBody>
          <a:bodyPr/>
          <a:lstStyle/>
          <a:p>
            <a:fld id="{65A75098-A21D-4A4F-97CA-F1F36A2C7EEE}" type="datetimeFigureOut">
              <a:rPr lang="en-IE" smtClean="0"/>
              <a:t>01/02/2024</a:t>
            </a:fld>
            <a:endParaRPr lang="en-IE"/>
          </a:p>
        </p:txBody>
      </p:sp>
      <p:sp>
        <p:nvSpPr>
          <p:cNvPr id="5" name="Footer Placeholder 4">
            <a:extLst>
              <a:ext uri="{FF2B5EF4-FFF2-40B4-BE49-F238E27FC236}">
                <a16:creationId xmlns:a16="http://schemas.microsoft.com/office/drawing/2014/main" id="{ADA401A9-AE20-4EE8-AF7A-487755115CBD}"/>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79C263ED-AC13-4D38-B3FA-3B3B744AF6E4}"/>
              </a:ext>
            </a:extLst>
          </p:cNvPr>
          <p:cNvSpPr>
            <a:spLocks noGrp="1"/>
          </p:cNvSpPr>
          <p:nvPr>
            <p:ph type="sldNum" sz="quarter" idx="12"/>
          </p:nvPr>
        </p:nvSpPr>
        <p:spPr/>
        <p:txBody>
          <a:bodyPr/>
          <a:lstStyle/>
          <a:p>
            <a:fld id="{C7C7D3DB-CDF3-434C-AF90-9D09D1722173}" type="slidenum">
              <a:rPr lang="en-IE" smtClean="0"/>
              <a:t>‹#›</a:t>
            </a:fld>
            <a:endParaRPr lang="en-IE"/>
          </a:p>
        </p:txBody>
      </p:sp>
    </p:spTree>
    <p:extLst>
      <p:ext uri="{BB962C8B-B14F-4D97-AF65-F5344CB8AC3E}">
        <p14:creationId xmlns:p14="http://schemas.microsoft.com/office/powerpoint/2010/main" val="1014583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3F72DD-2116-412A-9789-A12AA92B2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BDD90424-0047-4FEF-8660-FC5AFA7A17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D7896D56-838C-4BF7-88BF-D411606819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A75098-A21D-4A4F-97CA-F1F36A2C7EEE}" type="datetimeFigureOut">
              <a:rPr lang="en-IE" smtClean="0"/>
              <a:t>01/02/2024</a:t>
            </a:fld>
            <a:endParaRPr lang="en-IE"/>
          </a:p>
        </p:txBody>
      </p:sp>
      <p:sp>
        <p:nvSpPr>
          <p:cNvPr id="5" name="Footer Placeholder 4">
            <a:extLst>
              <a:ext uri="{FF2B5EF4-FFF2-40B4-BE49-F238E27FC236}">
                <a16:creationId xmlns:a16="http://schemas.microsoft.com/office/drawing/2014/main" id="{188B33EA-B689-4204-B02C-C5CB452E8A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22357FD2-9CDA-4F8E-8E35-7A5DBA445B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C7D3DB-CDF3-434C-AF90-9D09D1722173}" type="slidenum">
              <a:rPr lang="en-IE" smtClean="0"/>
              <a:t>‹#›</a:t>
            </a:fld>
            <a:endParaRPr lang="en-IE"/>
          </a:p>
        </p:txBody>
      </p:sp>
    </p:spTree>
    <p:extLst>
      <p:ext uri="{BB962C8B-B14F-4D97-AF65-F5344CB8AC3E}">
        <p14:creationId xmlns:p14="http://schemas.microsoft.com/office/powerpoint/2010/main" val="313916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creativecommons.org/licenses/by-sa/3.0/" TargetMode="External"/><Relationship Id="rId4" Type="http://schemas.openxmlformats.org/officeDocument/2006/relationships/hyperlink" Target="https://en.wikibooks.org/wiki/A-level_Computing/AQA/Paper_2/Fundamentals_of_communication_and_networking/Communication"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electronics.stackexchange.com/questions/277174/what-difference-does-the-clock-make-in-synchronous-vs-asynchronous-communication" TargetMode="External"/><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hyperlink" Target="https://creativecommons.org/licenses/by-sa/3.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954B-3901-47EE-9675-60C2FC81D6EB}"/>
              </a:ext>
            </a:extLst>
          </p:cNvPr>
          <p:cNvSpPr>
            <a:spLocks noGrp="1"/>
          </p:cNvSpPr>
          <p:nvPr>
            <p:ph type="ctrTitle"/>
          </p:nvPr>
        </p:nvSpPr>
        <p:spPr/>
        <p:txBody>
          <a:bodyPr/>
          <a:lstStyle/>
          <a:p>
            <a:r>
              <a:rPr lang="en-IE" dirty="0"/>
              <a:t>Overview of Serial Protocols</a:t>
            </a:r>
          </a:p>
        </p:txBody>
      </p:sp>
      <p:sp>
        <p:nvSpPr>
          <p:cNvPr id="3" name="Subtitle 2">
            <a:extLst>
              <a:ext uri="{FF2B5EF4-FFF2-40B4-BE49-F238E27FC236}">
                <a16:creationId xmlns:a16="http://schemas.microsoft.com/office/drawing/2014/main" id="{15A6283B-2A96-455D-85D2-A72092A1B621}"/>
              </a:ext>
            </a:extLst>
          </p:cNvPr>
          <p:cNvSpPr>
            <a:spLocks noGrp="1"/>
          </p:cNvSpPr>
          <p:nvPr>
            <p:ph type="subTitle" idx="1"/>
          </p:nvPr>
        </p:nvSpPr>
        <p:spPr/>
        <p:txBody>
          <a:bodyPr/>
          <a:lstStyle/>
          <a:p>
            <a:r>
              <a:rPr lang="en-IE"/>
              <a:t>Dr. Frank Walsh</a:t>
            </a:r>
          </a:p>
          <a:p>
            <a:r>
              <a:rPr lang="en-IE"/>
              <a:t>IoT Protocols</a:t>
            </a:r>
          </a:p>
          <a:p>
            <a:r>
              <a:rPr lang="en-IE"/>
              <a:t>WIT</a:t>
            </a:r>
            <a:endParaRPr lang="en-IE" dirty="0"/>
          </a:p>
        </p:txBody>
      </p:sp>
    </p:spTree>
    <p:extLst>
      <p:ext uri="{BB962C8B-B14F-4D97-AF65-F5344CB8AC3E}">
        <p14:creationId xmlns:p14="http://schemas.microsoft.com/office/powerpoint/2010/main" val="1993858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5061" y="-2"/>
            <a:ext cx="6876939" cy="685800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8388C2-7F77-457D-992D-7FF2FF5B9314}"/>
              </a:ext>
            </a:extLst>
          </p:cNvPr>
          <p:cNvSpPr>
            <a:spLocks noGrp="1"/>
          </p:cNvSpPr>
          <p:nvPr>
            <p:ph type="title"/>
          </p:nvPr>
        </p:nvSpPr>
        <p:spPr>
          <a:xfrm>
            <a:off x="829781" y="2745736"/>
            <a:ext cx="3698803" cy="1366528"/>
          </a:xfrm>
          <a:solidFill>
            <a:schemeClr val="bg1">
              <a:alpha val="50000"/>
            </a:schemeClr>
          </a:solidFill>
          <a:ln w="25400" cap="sq">
            <a:solidFill>
              <a:schemeClr val="tx1"/>
            </a:solidFill>
            <a:miter lim="800000"/>
          </a:ln>
        </p:spPr>
        <p:txBody>
          <a:bodyPr>
            <a:normAutofit/>
          </a:bodyPr>
          <a:lstStyle/>
          <a:p>
            <a:pPr algn="ctr"/>
            <a:r>
              <a:rPr lang="en-IE" sz="3200" dirty="0"/>
              <a:t>We’re </a:t>
            </a:r>
            <a:r>
              <a:rPr lang="en-IE" sz="3200"/>
              <a:t>focussing here</a:t>
            </a:r>
            <a:r>
              <a:rPr lang="en-IE" sz="3200" dirty="0"/>
              <a:t>…</a:t>
            </a:r>
          </a:p>
        </p:txBody>
      </p:sp>
      <p:sp>
        <p:nvSpPr>
          <p:cNvPr id="3" name="Content Placeholder 2">
            <a:extLst>
              <a:ext uri="{FF2B5EF4-FFF2-40B4-BE49-F238E27FC236}">
                <a16:creationId xmlns:a16="http://schemas.microsoft.com/office/drawing/2014/main" id="{937D5029-BA96-4D66-9F4E-4B8C17CBF5ED}"/>
              </a:ext>
            </a:extLst>
          </p:cNvPr>
          <p:cNvSpPr>
            <a:spLocks noGrp="1"/>
          </p:cNvSpPr>
          <p:nvPr>
            <p:ph idx="1"/>
          </p:nvPr>
        </p:nvSpPr>
        <p:spPr>
          <a:xfrm>
            <a:off x="6049182" y="802638"/>
            <a:ext cx="5408696" cy="5252722"/>
          </a:xfrm>
        </p:spPr>
        <p:txBody>
          <a:bodyPr anchor="ctr">
            <a:normAutofit/>
          </a:bodyPr>
          <a:lstStyle/>
          <a:p>
            <a:endParaRPr lang="en-IE" sz="2400">
              <a:solidFill>
                <a:schemeClr val="bg1"/>
              </a:solidFill>
            </a:endParaRPr>
          </a:p>
        </p:txBody>
      </p:sp>
      <p:grpSp>
        <p:nvGrpSpPr>
          <p:cNvPr id="6" name="Group 5">
            <a:extLst>
              <a:ext uri="{FF2B5EF4-FFF2-40B4-BE49-F238E27FC236}">
                <a16:creationId xmlns:a16="http://schemas.microsoft.com/office/drawing/2014/main" id="{72A65261-A40D-4F47-87F0-38C9F8344E7A}"/>
              </a:ext>
            </a:extLst>
          </p:cNvPr>
          <p:cNvGrpSpPr/>
          <p:nvPr/>
        </p:nvGrpSpPr>
        <p:grpSpPr>
          <a:xfrm>
            <a:off x="5236332" y="640083"/>
            <a:ext cx="6276250" cy="5722616"/>
            <a:chOff x="5236332" y="640083"/>
            <a:chExt cx="6276250" cy="5722616"/>
          </a:xfrm>
        </p:grpSpPr>
        <p:pic>
          <p:nvPicPr>
            <p:cNvPr id="4" name="Picture 2" descr="IoT protocols stack">
              <a:extLst>
                <a:ext uri="{FF2B5EF4-FFF2-40B4-BE49-F238E27FC236}">
                  <a16:creationId xmlns:a16="http://schemas.microsoft.com/office/drawing/2014/main" id="{5DD0FDCE-6E20-4EF3-B2DC-8CC8A295F7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016" b="2"/>
            <a:stretch/>
          </p:blipFill>
          <p:spPr bwMode="auto">
            <a:xfrm>
              <a:off x="5236332" y="640083"/>
              <a:ext cx="6276250" cy="5577838"/>
            </a:xfrm>
            <a:prstGeom prst="rect">
              <a:avLst/>
            </a:prstGeom>
            <a:noFill/>
            <a:effectLst/>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A4F1DBDF-63FC-4B7E-AA8A-4918BDB008D4}"/>
                </a:ext>
              </a:extLst>
            </p:cNvPr>
            <p:cNvSpPr/>
            <p:nvPr/>
          </p:nvSpPr>
          <p:spPr>
            <a:xfrm>
              <a:off x="7162800" y="4740812"/>
              <a:ext cx="2346960" cy="1621887"/>
            </a:xfrm>
            <a:prstGeom prst="ellipse">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grpSp>
      <p:cxnSp>
        <p:nvCxnSpPr>
          <p:cNvPr id="8" name="Straight Arrow Connector 7">
            <a:extLst>
              <a:ext uri="{FF2B5EF4-FFF2-40B4-BE49-F238E27FC236}">
                <a16:creationId xmlns:a16="http://schemas.microsoft.com/office/drawing/2014/main" id="{AEF12A3A-AF1E-4385-BAA7-125CEFC01B28}"/>
              </a:ext>
            </a:extLst>
          </p:cNvPr>
          <p:cNvCxnSpPr>
            <a:stCxn id="2" idx="3"/>
          </p:cNvCxnSpPr>
          <p:nvPr/>
        </p:nvCxnSpPr>
        <p:spPr>
          <a:xfrm>
            <a:off x="4528584" y="3429000"/>
            <a:ext cx="2824716" cy="1916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622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6"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Rectangle 29">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B62BCC98-6F0A-4E72-A9BA-CA809D4F339F}"/>
              </a:ext>
            </a:extLst>
          </p:cNvPr>
          <p:cNvSpPr>
            <a:spLocks noGrp="1"/>
          </p:cNvSpPr>
          <p:nvPr>
            <p:ph type="title"/>
          </p:nvPr>
        </p:nvSpPr>
        <p:spPr>
          <a:xfrm>
            <a:off x="1047280" y="759805"/>
            <a:ext cx="10306520" cy="1325563"/>
          </a:xfrm>
        </p:spPr>
        <p:txBody>
          <a:bodyPr>
            <a:normAutofit/>
          </a:bodyPr>
          <a:lstStyle/>
          <a:p>
            <a:r>
              <a:rPr lang="en-IE" sz="4000" dirty="0">
                <a:solidFill>
                  <a:srgbClr val="FFFFFF"/>
                </a:solidFill>
              </a:rPr>
              <a:t>Communication Protocols for Circuits: Introduction</a:t>
            </a:r>
          </a:p>
        </p:txBody>
      </p:sp>
      <p:sp>
        <p:nvSpPr>
          <p:cNvPr id="3" name="Content Placeholder 2">
            <a:extLst>
              <a:ext uri="{FF2B5EF4-FFF2-40B4-BE49-F238E27FC236}">
                <a16:creationId xmlns:a16="http://schemas.microsoft.com/office/drawing/2014/main" id="{11E81DD7-622F-4B47-A4F2-AAEF080D491E}"/>
              </a:ext>
            </a:extLst>
          </p:cNvPr>
          <p:cNvSpPr>
            <a:spLocks noGrp="1"/>
          </p:cNvSpPr>
          <p:nvPr>
            <p:ph idx="1"/>
          </p:nvPr>
        </p:nvSpPr>
        <p:spPr>
          <a:xfrm>
            <a:off x="1424904" y="2494450"/>
            <a:ext cx="4053545" cy="3563159"/>
          </a:xfrm>
        </p:spPr>
        <p:txBody>
          <a:bodyPr>
            <a:normAutofit lnSpcReduction="10000"/>
          </a:bodyPr>
          <a:lstStyle/>
          <a:p>
            <a:r>
              <a:rPr lang="en-GB" sz="1700" dirty="0"/>
              <a:t>Embedded electronics requires interlinking circuits (processors or other integrated circuits) to swap their information.</a:t>
            </a:r>
          </a:p>
          <a:p>
            <a:r>
              <a:rPr lang="en-GB" sz="1700" dirty="0"/>
              <a:t>Required to have a common communication protocol</a:t>
            </a:r>
          </a:p>
          <a:p>
            <a:r>
              <a:rPr lang="en-GB" sz="1700" dirty="0"/>
              <a:t>Lots of communication protocols developed</a:t>
            </a:r>
          </a:p>
          <a:p>
            <a:r>
              <a:rPr lang="en-GB" sz="1700" dirty="0"/>
              <a:t>Generally classified into two categories:</a:t>
            </a:r>
          </a:p>
          <a:p>
            <a:pPr lvl="1"/>
            <a:r>
              <a:rPr lang="en-GB" sz="1700" dirty="0"/>
              <a:t>Serial</a:t>
            </a:r>
          </a:p>
          <a:p>
            <a:pPr lvl="1"/>
            <a:r>
              <a:rPr lang="en-GB" sz="1700" dirty="0"/>
              <a:t>Parallel </a:t>
            </a:r>
          </a:p>
          <a:p>
            <a:r>
              <a:rPr lang="en-GB" sz="2100" dirty="0"/>
              <a:t>Serial comms often referred to as serial bus</a:t>
            </a:r>
          </a:p>
        </p:txBody>
      </p:sp>
      <p:pic>
        <p:nvPicPr>
          <p:cNvPr id="12" name="Picture 11">
            <a:extLst>
              <a:ext uri="{FF2B5EF4-FFF2-40B4-BE49-F238E27FC236}">
                <a16:creationId xmlns:a16="http://schemas.microsoft.com/office/drawing/2014/main" id="{F64E8701-7AFB-4AA8-9CA7-658F726E42CD}"/>
              </a:ext>
            </a:extLst>
          </p:cNvPr>
          <p:cNvPicPr>
            <a:picLocks noChangeAspect="1"/>
          </p:cNvPicPr>
          <p:nvPr/>
        </p:nvPicPr>
        <p:blipFill>
          <a:blip r:embed="rId3"/>
          <a:stretch>
            <a:fillRect/>
          </a:stretch>
        </p:blipFill>
        <p:spPr>
          <a:xfrm>
            <a:off x="6098892" y="3787818"/>
            <a:ext cx="4802404" cy="972487"/>
          </a:xfrm>
          <a:prstGeom prst="rect">
            <a:avLst/>
          </a:prstGeom>
        </p:spPr>
      </p:pic>
    </p:spTree>
    <p:extLst>
      <p:ext uri="{BB962C8B-B14F-4D97-AF65-F5344CB8AC3E}">
        <p14:creationId xmlns:p14="http://schemas.microsoft.com/office/powerpoint/2010/main" val="1096487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8521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ttps://upload.wikimedia.org/wikipedia/commons/a/a6/Parallel_and_Serial_Transmission.gif">
            <a:extLst>
              <a:ext uri="{FF2B5EF4-FFF2-40B4-BE49-F238E27FC236}">
                <a16:creationId xmlns:a16="http://schemas.microsoft.com/office/drawing/2014/main" id="{C52FC884-FDAF-45CC-8ACC-F8F47B8EA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4017" y="1286410"/>
            <a:ext cx="4007904" cy="4285180"/>
          </a:xfrm>
          <a:prstGeom prst="rect">
            <a:avLst/>
          </a:prstGeom>
          <a:noFill/>
          <a:extLst>
            <a:ext uri="{909E8E84-426E-40DD-AFC4-6F175D3DCCD1}">
              <a14:hiddenFill xmlns:a14="http://schemas.microsoft.com/office/drawing/2010/main">
                <a:solidFill>
                  <a:srgbClr val="FFFFFF"/>
                </a:solidFill>
              </a14:hiddenFill>
            </a:ext>
          </a:extLst>
        </p:spPr>
      </p:pic>
      <p:cxnSp>
        <p:nvCxnSpPr>
          <p:cNvPr id="73" name="Straight Connector 72"/>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A695235-10C8-4AA7-8B7E-9EE24461DCCB}"/>
              </a:ext>
            </a:extLst>
          </p:cNvPr>
          <p:cNvSpPr>
            <a:spLocks noGrp="1"/>
          </p:cNvSpPr>
          <p:nvPr>
            <p:ph type="title"/>
          </p:nvPr>
        </p:nvSpPr>
        <p:spPr>
          <a:xfrm>
            <a:off x="1024129" y="585216"/>
            <a:ext cx="5062511" cy="1499616"/>
          </a:xfrm>
        </p:spPr>
        <p:txBody>
          <a:bodyPr>
            <a:normAutofit/>
          </a:bodyPr>
          <a:lstStyle/>
          <a:p>
            <a:r>
              <a:rPr lang="en-IE" dirty="0">
                <a:solidFill>
                  <a:srgbClr val="FFFFFF"/>
                </a:solidFill>
              </a:rPr>
              <a:t>Parallel &amp; Serial</a:t>
            </a:r>
          </a:p>
        </p:txBody>
      </p:sp>
      <p:sp>
        <p:nvSpPr>
          <p:cNvPr id="3" name="Content Placeholder 2">
            <a:extLst>
              <a:ext uri="{FF2B5EF4-FFF2-40B4-BE49-F238E27FC236}">
                <a16:creationId xmlns:a16="http://schemas.microsoft.com/office/drawing/2014/main" id="{4367C3A4-755F-4F1E-A936-E02B11D039CC}"/>
              </a:ext>
            </a:extLst>
          </p:cNvPr>
          <p:cNvSpPr>
            <a:spLocks noGrp="1"/>
          </p:cNvSpPr>
          <p:nvPr>
            <p:ph idx="1"/>
          </p:nvPr>
        </p:nvSpPr>
        <p:spPr>
          <a:xfrm>
            <a:off x="1024129" y="2286000"/>
            <a:ext cx="5081232" cy="3931920"/>
          </a:xfrm>
        </p:spPr>
        <p:txBody>
          <a:bodyPr>
            <a:normAutofit fontScale="92500" lnSpcReduction="20000"/>
          </a:bodyPr>
          <a:lstStyle/>
          <a:p>
            <a:r>
              <a:rPr lang="en-IE" sz="1800" dirty="0">
                <a:solidFill>
                  <a:srgbClr val="FFFFFF"/>
                </a:solidFill>
              </a:rPr>
              <a:t>A communication system that transfers data between components inside a computer or between computers</a:t>
            </a:r>
          </a:p>
          <a:p>
            <a:r>
              <a:rPr lang="en-IE" sz="1800" dirty="0">
                <a:solidFill>
                  <a:srgbClr val="FFFFFF"/>
                </a:solidFill>
              </a:rPr>
              <a:t>Generally </a:t>
            </a:r>
            <a:r>
              <a:rPr lang="en-IE" sz="1800" b="1" kern="1200" dirty="0">
                <a:solidFill>
                  <a:srgbClr val="FFFFFF"/>
                </a:solidFill>
                <a:latin typeface="+mn-lt"/>
                <a:ea typeface="+mn-ea"/>
                <a:cs typeface="+mn-cs"/>
              </a:rPr>
              <a:t>2</a:t>
            </a:r>
            <a:r>
              <a:rPr lang="en-IE" sz="1800" dirty="0">
                <a:solidFill>
                  <a:srgbClr val="FFFFFF"/>
                </a:solidFill>
              </a:rPr>
              <a:t> types</a:t>
            </a:r>
          </a:p>
          <a:p>
            <a:pPr lvl="1"/>
            <a:r>
              <a:rPr lang="en-IE" sz="1800" dirty="0">
                <a:solidFill>
                  <a:srgbClr val="FFFFFF"/>
                </a:solidFill>
              </a:rPr>
              <a:t>Parallel</a:t>
            </a:r>
          </a:p>
          <a:p>
            <a:pPr lvl="1"/>
            <a:r>
              <a:rPr lang="en-IE" sz="1800" dirty="0">
                <a:solidFill>
                  <a:srgbClr val="FFFFFF"/>
                </a:solidFill>
              </a:rPr>
              <a:t>Serial</a:t>
            </a:r>
          </a:p>
          <a:p>
            <a:r>
              <a:rPr lang="en-IE" sz="2200" dirty="0">
                <a:solidFill>
                  <a:srgbClr val="FFFFFF"/>
                </a:solidFill>
              </a:rPr>
              <a:t>Parallel is simplest to implement but takes up a lot of hardware  ‘real estate’</a:t>
            </a:r>
          </a:p>
          <a:p>
            <a:r>
              <a:rPr lang="en-IE" sz="2200" dirty="0">
                <a:solidFill>
                  <a:srgbClr val="FFFFFF"/>
                </a:solidFill>
              </a:rPr>
              <a:t>Serial requires fewer lines to transmit data but this adds complexity. </a:t>
            </a:r>
          </a:p>
          <a:p>
            <a:pPr lvl="1"/>
            <a:r>
              <a:rPr lang="en-IE" sz="1800" dirty="0">
                <a:solidFill>
                  <a:srgbClr val="FFFFFF"/>
                </a:solidFill>
              </a:rPr>
              <a:t>Synchronous – uses clock </a:t>
            </a:r>
          </a:p>
          <a:p>
            <a:pPr lvl="1"/>
            <a:r>
              <a:rPr lang="en-IE" sz="1800" dirty="0">
                <a:solidFill>
                  <a:srgbClr val="FFFFFF"/>
                </a:solidFill>
              </a:rPr>
              <a:t>Asynchronous – no clock but speed (baud rate) agreed before transmission. </a:t>
            </a:r>
          </a:p>
          <a:p>
            <a:r>
              <a:rPr lang="en-IE" sz="2200" dirty="0">
                <a:solidFill>
                  <a:srgbClr val="FFFFFF"/>
                </a:solidFill>
              </a:rPr>
              <a:t>We’re going to look at serial communication protocols.</a:t>
            </a:r>
          </a:p>
        </p:txBody>
      </p:sp>
      <p:sp>
        <p:nvSpPr>
          <p:cNvPr id="4" name="Footer Placeholder 3">
            <a:extLst>
              <a:ext uri="{FF2B5EF4-FFF2-40B4-BE49-F238E27FC236}">
                <a16:creationId xmlns:a16="http://schemas.microsoft.com/office/drawing/2014/main" id="{4DC8FE4F-D94F-41BA-8CEF-7BD4F9BDC47F}"/>
              </a:ext>
            </a:extLst>
          </p:cNvPr>
          <p:cNvSpPr>
            <a:spLocks noGrp="1"/>
          </p:cNvSpPr>
          <p:nvPr>
            <p:ph type="ftr" sz="quarter" idx="11"/>
          </p:nvPr>
        </p:nvSpPr>
        <p:spPr/>
        <p:txBody>
          <a:bodyPr/>
          <a:lstStyle/>
          <a:p>
            <a:r>
              <a:rPr lang="fr-FR"/>
              <a:t>image: https://en.wikipedia.org/wiki/Parallel_communication#/media/File:Parallel_and_Serial_Transmission.gif</a:t>
            </a:r>
            <a:endParaRPr lang="en-IE"/>
          </a:p>
        </p:txBody>
      </p:sp>
    </p:spTree>
    <p:extLst>
      <p:ext uri="{BB962C8B-B14F-4D97-AF65-F5344CB8AC3E}">
        <p14:creationId xmlns:p14="http://schemas.microsoft.com/office/powerpoint/2010/main" val="53312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96"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Rectangle 99">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50" name="TextShape 1"/>
          <p:cNvSpPr txBox="1"/>
          <p:nvPr/>
        </p:nvSpPr>
        <p:spPr>
          <a:xfrm>
            <a:off x="1047280" y="759805"/>
            <a:ext cx="1030652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0" strike="noStrike" spc="-49">
                <a:solidFill>
                  <a:srgbClr val="FFFFFF"/>
                </a:solidFill>
                <a:uFill>
                  <a:solidFill>
                    <a:srgbClr val="FFFFFF"/>
                  </a:solidFill>
                </a:uFill>
                <a:latin typeface="+mj-lt"/>
                <a:ea typeface="+mj-ea"/>
                <a:cs typeface="+mj-cs"/>
              </a:rPr>
              <a:t>Synchronous and Asynchronous Serial</a:t>
            </a:r>
            <a:endParaRPr lang="en-US" sz="4000" b="0" strike="noStrike" spc="-1">
              <a:solidFill>
                <a:srgbClr val="FFFFFF"/>
              </a:solidFill>
              <a:uFill>
                <a:solidFill>
                  <a:srgbClr val="FFFFFF"/>
                </a:solidFill>
              </a:uFill>
              <a:latin typeface="+mj-lt"/>
              <a:ea typeface="+mj-ea"/>
              <a:cs typeface="+mj-cs"/>
            </a:endParaRPr>
          </a:p>
        </p:txBody>
      </p:sp>
      <p:sp>
        <p:nvSpPr>
          <p:cNvPr id="151" name="TextShape 2"/>
          <p:cNvSpPr txBox="1"/>
          <p:nvPr/>
        </p:nvSpPr>
        <p:spPr>
          <a:xfrm>
            <a:off x="1424904" y="2494450"/>
            <a:ext cx="4053545" cy="3563159"/>
          </a:xfrm>
          <a:prstGeom prst="rect">
            <a:avLst/>
          </a:prstGeom>
        </p:spPr>
        <p:txBody>
          <a:bodyPr vert="horz" lIns="91440" tIns="45720" rIns="91440" bIns="45720" rtlCol="0">
            <a:normAutofit fontScale="85000" lnSpcReduction="10000"/>
          </a:bodyPr>
          <a:lstStyle/>
          <a:p>
            <a:pPr marL="91440"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 Known serial interface in embedded systems</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Universal Serial Bus (USB)</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Ethernet</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UART</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SPI</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I</a:t>
            </a:r>
            <a:r>
              <a:rPr lang="en-US" sz="1200" b="0" strike="noStrike" spc="-1" baseline="30000" dirty="0">
                <a:uFill>
                  <a:solidFill>
                    <a:srgbClr val="FFFFFF"/>
                  </a:solidFill>
                </a:uFill>
              </a:rPr>
              <a:t>2</a:t>
            </a:r>
            <a:r>
              <a:rPr lang="en-US" sz="1200" b="0" strike="noStrike" spc="-1" dirty="0">
                <a:uFill>
                  <a:solidFill>
                    <a:srgbClr val="FFFFFF"/>
                  </a:solidFill>
                </a:uFill>
              </a:rPr>
              <a:t>C</a:t>
            </a:r>
          </a:p>
          <a:p>
            <a:pPr indent="-228600">
              <a:lnSpc>
                <a:spcPct val="90000"/>
              </a:lnSpc>
              <a:spcAft>
                <a:spcPts val="600"/>
              </a:spcAft>
              <a:buFont typeface="Arial" panose="020B0604020202020204" pitchFamily="34" charset="0"/>
              <a:buChar char="•"/>
            </a:pPr>
            <a:endParaRPr lang="en-US" sz="1200" b="0" strike="noStrike" spc="-1" dirty="0">
              <a:uFill>
                <a:solidFill>
                  <a:srgbClr val="FFFFFF"/>
                </a:solidFill>
              </a:uFill>
            </a:endParaRPr>
          </a:p>
          <a:p>
            <a:pPr marL="91440"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Asynchronous Serial</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Data is transferred without support from an external clock signal</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Ideal for minimizing the required wires and input-output pins.</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Examples: UART</a:t>
            </a:r>
          </a:p>
          <a:p>
            <a:pPr indent="-228600">
              <a:lnSpc>
                <a:spcPct val="90000"/>
              </a:lnSpc>
              <a:spcAft>
                <a:spcPts val="600"/>
              </a:spcAft>
              <a:buFont typeface="Arial" panose="020B0604020202020204" pitchFamily="34" charset="0"/>
              <a:buChar char="•"/>
            </a:pPr>
            <a:endParaRPr lang="en-US" sz="1200" b="0" strike="noStrike" spc="-1" dirty="0">
              <a:uFill>
                <a:solidFill>
                  <a:srgbClr val="FFFFFF"/>
                </a:solidFill>
              </a:uFill>
            </a:endParaRPr>
          </a:p>
          <a:p>
            <a:pPr marL="91440"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Synchronous Serial</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Pairs its data line with a clock signal, and all devices on serial bus share a common clock</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Faster serial transfer, but requires at least one extra wire between communicating devices</a:t>
            </a:r>
          </a:p>
          <a:p>
            <a:pPr marL="384120" lvl="1" indent="-228600">
              <a:lnSpc>
                <a:spcPct val="90000"/>
              </a:lnSpc>
              <a:spcAft>
                <a:spcPts val="600"/>
              </a:spcAft>
              <a:buClr>
                <a:srgbClr val="FFC82E"/>
              </a:buClr>
              <a:buFont typeface="Arial" panose="020B0604020202020204" pitchFamily="34" charset="0"/>
              <a:buChar char="•"/>
            </a:pPr>
            <a:r>
              <a:rPr lang="en-US" sz="1200" b="0" strike="noStrike" spc="-1" dirty="0">
                <a:uFill>
                  <a:solidFill>
                    <a:srgbClr val="FFFFFF"/>
                  </a:solidFill>
                </a:uFill>
              </a:rPr>
              <a:t>Example: SPI, I</a:t>
            </a:r>
            <a:r>
              <a:rPr lang="en-US" sz="1200" b="0" strike="noStrike" spc="-1" baseline="30000" dirty="0">
                <a:uFill>
                  <a:solidFill>
                    <a:srgbClr val="FFFFFF"/>
                  </a:solidFill>
                </a:uFill>
              </a:rPr>
              <a:t>2</a:t>
            </a:r>
            <a:r>
              <a:rPr lang="en-US" sz="1200" b="0" strike="noStrike" spc="-1" dirty="0">
                <a:uFill>
                  <a:solidFill>
                    <a:srgbClr val="FFFFFF"/>
                  </a:solidFill>
                </a:uFill>
              </a:rPr>
              <a:t>C</a:t>
            </a:r>
          </a:p>
          <a:p>
            <a:pPr indent="-228600">
              <a:lnSpc>
                <a:spcPct val="90000"/>
              </a:lnSpc>
              <a:spcAft>
                <a:spcPts val="600"/>
              </a:spcAft>
              <a:buFont typeface="Arial" panose="020B0604020202020204" pitchFamily="34" charset="0"/>
              <a:buChar char="•"/>
            </a:pPr>
            <a:endParaRPr lang="en-US" sz="800" b="0" strike="noStrike" spc="-1" dirty="0">
              <a:uFill>
                <a:solidFill>
                  <a:srgbClr val="FFFFFF"/>
                </a:solidFill>
              </a:uFill>
            </a:endParaRPr>
          </a:p>
        </p:txBody>
      </p:sp>
      <p:pic>
        <p:nvPicPr>
          <p:cNvPr id="5" name="Picture 4" descr="Diagram&#10;&#10;Description automatically generated with medium confidence">
            <a:extLst>
              <a:ext uri="{FF2B5EF4-FFF2-40B4-BE49-F238E27FC236}">
                <a16:creationId xmlns:a16="http://schemas.microsoft.com/office/drawing/2014/main" id="{20BDBF6E-2440-4BB9-8D79-2B594F59A00F}"/>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b="7250"/>
          <a:stretch/>
        </p:blipFill>
        <p:spPr>
          <a:xfrm>
            <a:off x="6098892" y="2492376"/>
            <a:ext cx="4802404" cy="3563372"/>
          </a:xfrm>
          <a:prstGeom prst="rect">
            <a:avLst/>
          </a:prstGeom>
        </p:spPr>
      </p:pic>
      <p:sp>
        <p:nvSpPr>
          <p:cNvPr id="152" name="TextShape 3"/>
          <p:cNvSpPr txBox="1"/>
          <p:nvPr/>
        </p:nvSpPr>
        <p:spPr>
          <a:xfrm>
            <a:off x="9900360" y="6459840"/>
            <a:ext cx="1311840" cy="364680"/>
          </a:xfrm>
          <a:prstGeom prst="rect">
            <a:avLst/>
          </a:prstGeom>
          <a:noFill/>
          <a:ln>
            <a:noFill/>
          </a:ln>
        </p:spPr>
        <p:txBody>
          <a:bodyPr anchor="ctr"/>
          <a:lstStyle/>
          <a:p>
            <a:pPr algn="r">
              <a:lnSpc>
                <a:spcPct val="100000"/>
              </a:lnSpc>
              <a:spcAft>
                <a:spcPts val="600"/>
              </a:spcAft>
            </a:pPr>
            <a:fld id="{76483709-B806-4E30-A489-B882FA8F3F4F}" type="slidenum">
              <a:rPr lang="en-GB" sz="1050" b="0" strike="noStrike" spc="-1">
                <a:solidFill>
                  <a:srgbClr val="FFFFFF"/>
                </a:solidFill>
                <a:uFill>
                  <a:solidFill>
                    <a:srgbClr val="FFFFFF"/>
                  </a:solidFill>
                </a:uFill>
                <a:latin typeface="Calibri"/>
              </a:rPr>
              <a:pPr algn="r">
                <a:lnSpc>
                  <a:spcPct val="100000"/>
                </a:lnSpc>
                <a:spcAft>
                  <a:spcPts val="600"/>
                </a:spcAft>
              </a:pPr>
              <a:t>5</a:t>
            </a:fld>
            <a:endParaRPr lang="en-GB" sz="1400" b="0" strike="noStrike" spc="-1">
              <a:solidFill>
                <a:srgbClr val="000000"/>
              </a:solidFill>
              <a:uFill>
                <a:solidFill>
                  <a:srgbClr val="FFFFFF"/>
                </a:solidFill>
              </a:uFill>
              <a:latin typeface="Times New Roman"/>
            </a:endParaRPr>
          </a:p>
        </p:txBody>
      </p:sp>
      <p:sp>
        <p:nvSpPr>
          <p:cNvPr id="6" name="TextBox 5">
            <a:extLst>
              <a:ext uri="{FF2B5EF4-FFF2-40B4-BE49-F238E27FC236}">
                <a16:creationId xmlns:a16="http://schemas.microsoft.com/office/drawing/2014/main" id="{CCD8E009-53FB-4348-A717-61DEC3888D53}"/>
              </a:ext>
            </a:extLst>
          </p:cNvPr>
          <p:cNvSpPr txBox="1"/>
          <p:nvPr/>
        </p:nvSpPr>
        <p:spPr>
          <a:xfrm>
            <a:off x="8594254" y="5855693"/>
            <a:ext cx="2307042"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4" tooltip="https://en.wikibooks.org/wiki/A-level_Computing/AQA/Paper_2/Fundamentals_of_communication_and_networking/Communication">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Rules of Asynchronous Serial, aka Serial</a:t>
            </a:r>
            <a:endParaRPr lang="en-US" sz="1800" b="0" strike="noStrike" spc="-1">
              <a:solidFill>
                <a:srgbClr val="000000"/>
              </a:solidFill>
              <a:uFill>
                <a:solidFill>
                  <a:srgbClr val="FFFFFF"/>
                </a:solidFill>
              </a:uFill>
              <a:latin typeface="Calibri"/>
            </a:endParaRPr>
          </a:p>
        </p:txBody>
      </p:sp>
      <p:sp>
        <p:nvSpPr>
          <p:cNvPr id="154" name="TextShape 2"/>
          <p:cNvSpPr txBox="1"/>
          <p:nvPr/>
        </p:nvSpPr>
        <p:spPr>
          <a:xfrm>
            <a:off x="232860" y="1425629"/>
            <a:ext cx="7791257" cy="482364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Number of built-in rules help ensure robust and error free data transfer</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Baud rate</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Data bits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Synchronization bits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Parity bits</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Baud rate </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Specifies how fast data is sent over a serial line. </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Usually expressed in units of bits-per-second (bps)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Determines how long the transmitter holds a serial line high/low or at what and period the receiving device samples its line</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Can be of any value, but both transmitter and receiver should have the same baud rate</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Standard baud rates are 1200, 2400, 4800, 9600, 19200, 38400, 57600, 115200</a:t>
            </a:r>
            <a:endParaRPr lang="en-US" sz="1400" b="0" strike="noStrike" spc="-1" dirty="0">
              <a:solidFill>
                <a:srgbClr val="404040"/>
              </a:solidFill>
              <a:uFill>
                <a:solidFill>
                  <a:srgbClr val="FFFFFF"/>
                </a:solidFill>
              </a:uFill>
              <a:latin typeface="Calibri"/>
            </a:endParaRPr>
          </a:p>
        </p:txBody>
      </p:sp>
      <p:sp>
        <p:nvSpPr>
          <p:cNvPr id="155" name="TextShape 3"/>
          <p:cNvSpPr txBox="1"/>
          <p:nvPr/>
        </p:nvSpPr>
        <p:spPr>
          <a:xfrm>
            <a:off x="9900360" y="6459840"/>
            <a:ext cx="1311840" cy="364680"/>
          </a:xfrm>
          <a:prstGeom prst="rect">
            <a:avLst/>
          </a:prstGeom>
          <a:noFill/>
          <a:ln>
            <a:noFill/>
          </a:ln>
        </p:spPr>
        <p:txBody>
          <a:bodyPr anchor="ctr"/>
          <a:lstStyle/>
          <a:p>
            <a:pPr algn="r">
              <a:lnSpc>
                <a:spcPct val="100000"/>
              </a:lnSpc>
            </a:pPr>
            <a:fld id="{9C3006B5-4A78-43B7-A5F7-FE040FC3C2AD}" type="slidenum">
              <a:rPr lang="en-GB" sz="1050" b="0" strike="noStrike" spc="-1">
                <a:solidFill>
                  <a:srgbClr val="FFFFFF"/>
                </a:solidFill>
                <a:uFill>
                  <a:solidFill>
                    <a:srgbClr val="FFFFFF"/>
                  </a:solidFill>
                </a:uFill>
                <a:latin typeface="Calibri"/>
              </a:rPr>
              <a:t>6</a:t>
            </a:fld>
            <a:endParaRPr lang="en-GB" sz="1400" b="0" strike="noStrike" spc="-1">
              <a:solidFill>
                <a:srgbClr val="000000"/>
              </a:solidFill>
              <a:uFill>
                <a:solidFill>
                  <a:srgbClr val="FFFFFF"/>
                </a:solidFill>
              </a:uFill>
              <a:latin typeface="Times New Roman"/>
            </a:endParaRPr>
          </a:p>
        </p:txBody>
      </p:sp>
      <p:pic>
        <p:nvPicPr>
          <p:cNvPr id="6" name="Picture 5" descr="Diagram&#10;&#10;Description automatically generated">
            <a:extLst>
              <a:ext uri="{FF2B5EF4-FFF2-40B4-BE49-F238E27FC236}">
                <a16:creationId xmlns:a16="http://schemas.microsoft.com/office/drawing/2014/main" id="{A0DC804C-7020-48D0-BB81-8CA60B20D72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86347" y="2051037"/>
            <a:ext cx="5645552" cy="2522856"/>
          </a:xfrm>
          <a:prstGeom prst="rect">
            <a:avLst/>
          </a:prstGeom>
        </p:spPr>
      </p:pic>
      <p:sp>
        <p:nvSpPr>
          <p:cNvPr id="7" name="TextBox 6">
            <a:extLst>
              <a:ext uri="{FF2B5EF4-FFF2-40B4-BE49-F238E27FC236}">
                <a16:creationId xmlns:a16="http://schemas.microsoft.com/office/drawing/2014/main" id="{AB759315-3B28-4F61-8637-A8AB3A5B1D5B}"/>
              </a:ext>
            </a:extLst>
          </p:cNvPr>
          <p:cNvSpPr txBox="1"/>
          <p:nvPr/>
        </p:nvSpPr>
        <p:spPr>
          <a:xfrm>
            <a:off x="5400095" y="5812920"/>
            <a:ext cx="3048000" cy="230832"/>
          </a:xfrm>
          <a:prstGeom prst="rect">
            <a:avLst/>
          </a:prstGeom>
          <a:noFill/>
        </p:spPr>
        <p:txBody>
          <a:bodyPr wrap="square" rtlCol="0">
            <a:spAutoFit/>
          </a:bodyPr>
          <a:lstStyle/>
          <a:p>
            <a:r>
              <a:rPr lang="en-IE" sz="900">
                <a:hlinkClick r:id="rId3" tooltip="http://electronics.stackexchange.com/questions/277174/what-difference-does-the-clock-make-in-synchronous-vs-asynchronous-communication"/>
              </a:rPr>
              <a:t>This Photo</a:t>
            </a:r>
            <a:r>
              <a:rPr lang="en-IE" sz="900"/>
              <a:t> by Unknown Author is licensed under </a:t>
            </a:r>
            <a:r>
              <a:rPr lang="en-IE" sz="900">
                <a:hlinkClick r:id="rId4" tooltip="https://creativecommons.org/licenses/by-sa/3.0/"/>
              </a:rPr>
              <a:t>CC BY-SA</a:t>
            </a:r>
            <a:endParaRPr lang="en-IE" sz="90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Data Packets in Serial transfer</a:t>
            </a:r>
            <a:endParaRPr lang="en-US" sz="1800" b="0" strike="noStrike" spc="-1">
              <a:solidFill>
                <a:srgbClr val="000000"/>
              </a:solidFill>
              <a:uFill>
                <a:solidFill>
                  <a:srgbClr val="FFFFFF"/>
                </a:solidFill>
              </a:uFill>
              <a:latin typeface="Calibri"/>
            </a:endParaRPr>
          </a:p>
        </p:txBody>
      </p:sp>
      <p:sp>
        <p:nvSpPr>
          <p:cNvPr id="157" name="TextShape 2"/>
          <p:cNvSpPr txBox="1"/>
          <p:nvPr/>
        </p:nvSpPr>
        <p:spPr>
          <a:xfrm>
            <a:off x="272880" y="1045080"/>
            <a:ext cx="11726280" cy="529920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Each block of data transmitted is actually sent in a frame of bits.</a:t>
            </a:r>
          </a:p>
          <a:p>
            <a:pPr>
              <a:lnSpc>
                <a:spcPct val="100000"/>
              </a:lnSpc>
            </a:pPr>
            <a:endParaRPr lang="en-US" sz="20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Data bits</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Amount of data in each frame can be from 5 to 9 bits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It is important to agree on </a:t>
            </a:r>
            <a:r>
              <a:rPr lang="en-US" sz="1800" b="1" u="sng" strike="noStrike" spc="-1" dirty="0">
                <a:solidFill>
                  <a:srgbClr val="404040"/>
                </a:solidFill>
                <a:uFill>
                  <a:solidFill>
                    <a:srgbClr val="FFFFFF"/>
                  </a:solidFill>
                </a:uFill>
                <a:latin typeface="Calibri"/>
              </a:rPr>
              <a:t>endianness</a:t>
            </a:r>
            <a:r>
              <a:rPr lang="en-US" sz="1800" b="0" strike="noStrike" spc="-1" dirty="0">
                <a:solidFill>
                  <a:srgbClr val="404040"/>
                </a:solidFill>
                <a:uFill>
                  <a:solidFill>
                    <a:srgbClr val="FFFFFF"/>
                  </a:solidFill>
                </a:uFill>
                <a:latin typeface="Calibri"/>
              </a:rPr>
              <a:t> (is data sent Most Significant Bit to Last Significant Bit or vice-versa?)</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If order not stated, default is LSB sent first</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Synchronization bits</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Two or three special bits are transferred along with data bits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t>
            </a:r>
            <a:r>
              <a:rPr lang="en-US" sz="1800" b="1" strike="noStrike" spc="-1" dirty="0">
                <a:solidFill>
                  <a:srgbClr val="404040"/>
                </a:solidFill>
                <a:uFill>
                  <a:solidFill>
                    <a:srgbClr val="FFFFFF"/>
                  </a:solidFill>
                </a:uFill>
                <a:latin typeface="Calibri"/>
              </a:rPr>
              <a:t>Start bit</a:t>
            </a:r>
            <a:r>
              <a:rPr lang="en-US" sz="1800" b="0" strike="noStrike" spc="-1" dirty="0">
                <a:solidFill>
                  <a:srgbClr val="404040"/>
                </a:solidFill>
                <a:uFill>
                  <a:solidFill>
                    <a:srgbClr val="FFFFFF"/>
                  </a:solidFill>
                </a:uFill>
                <a:latin typeface="Calibri"/>
              </a:rPr>
              <a:t> marks the beginning of a data packet. Usually 1 bit</a:t>
            </a:r>
            <a:endParaRPr lang="en-US" sz="1400" b="0" strike="noStrike" spc="-1" dirty="0">
              <a:solidFill>
                <a:srgbClr val="404040"/>
              </a:solidFill>
              <a:uFill>
                <a:solidFill>
                  <a:srgbClr val="FFFFFF"/>
                </a:solidFill>
              </a:uFill>
              <a:latin typeface="Calibri"/>
            </a:endParaRPr>
          </a:p>
          <a:p>
            <a:pPr marL="567000" lvl="2"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Indicated by an idle data line going from 1 to 0</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t>
            </a:r>
            <a:r>
              <a:rPr lang="en-US" sz="1800" b="1" strike="noStrike" spc="-1" dirty="0">
                <a:solidFill>
                  <a:srgbClr val="404040"/>
                </a:solidFill>
                <a:uFill>
                  <a:solidFill>
                    <a:srgbClr val="FFFFFF"/>
                  </a:solidFill>
                </a:uFill>
                <a:latin typeface="Calibri"/>
              </a:rPr>
              <a:t>Stop bit(s)</a:t>
            </a:r>
            <a:r>
              <a:rPr lang="en-US" sz="1800" b="0" strike="noStrike" spc="-1" dirty="0">
                <a:solidFill>
                  <a:srgbClr val="404040"/>
                </a:solidFill>
                <a:uFill>
                  <a:solidFill>
                    <a:srgbClr val="FFFFFF"/>
                  </a:solidFill>
                </a:uFill>
                <a:latin typeface="Calibri"/>
              </a:rPr>
              <a:t> marks the end of a data packet. Configurable to 1 or 2 bit, usually 1 bit.</a:t>
            </a:r>
            <a:endParaRPr lang="en-US" sz="1400" b="0" strike="noStrike" spc="-1" dirty="0">
              <a:solidFill>
                <a:srgbClr val="404040"/>
              </a:solidFill>
              <a:uFill>
                <a:solidFill>
                  <a:srgbClr val="FFFFFF"/>
                </a:solidFill>
              </a:uFill>
              <a:latin typeface="Calibri"/>
            </a:endParaRPr>
          </a:p>
          <a:p>
            <a:pPr marL="567000" lvl="2"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Indicated by stop bit(s) transition back to the idle state by holding the line at 1.</a:t>
            </a:r>
            <a:endParaRPr lang="en-US" sz="14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p:txBody>
      </p:sp>
      <p:sp>
        <p:nvSpPr>
          <p:cNvPr id="158" name="TextShape 3"/>
          <p:cNvSpPr txBox="1"/>
          <p:nvPr/>
        </p:nvSpPr>
        <p:spPr>
          <a:xfrm>
            <a:off x="9900360" y="6459840"/>
            <a:ext cx="1311840" cy="364680"/>
          </a:xfrm>
          <a:prstGeom prst="rect">
            <a:avLst/>
          </a:prstGeom>
          <a:noFill/>
          <a:ln>
            <a:noFill/>
          </a:ln>
        </p:spPr>
        <p:txBody>
          <a:bodyPr anchor="ctr"/>
          <a:lstStyle/>
          <a:p>
            <a:pPr algn="r">
              <a:lnSpc>
                <a:spcPct val="100000"/>
              </a:lnSpc>
            </a:pPr>
            <a:fld id="{F3579790-C13E-4D84-99C1-25C3E5B889B0}" type="slidenum">
              <a:rPr lang="en-GB" sz="1050" b="0" strike="noStrike" spc="-1">
                <a:solidFill>
                  <a:srgbClr val="FFFFFF"/>
                </a:solidFill>
                <a:uFill>
                  <a:solidFill>
                    <a:srgbClr val="FFFFFF"/>
                  </a:solidFill>
                </a:uFill>
                <a:latin typeface="Calibri"/>
              </a:rPr>
              <a:t>7</a:t>
            </a:fld>
            <a:endParaRPr lang="en-GB" sz="1400" b="0" strike="noStrike" spc="-1">
              <a:solidFill>
                <a:srgbClr val="000000"/>
              </a:solidFill>
              <a:uFill>
                <a:solidFill>
                  <a:srgbClr val="FFFFFF"/>
                </a:solidFill>
              </a:uFill>
              <a:latin typeface="Times New Roman"/>
            </a:endParaRPr>
          </a:p>
        </p:txBody>
      </p:sp>
      <p:pic>
        <p:nvPicPr>
          <p:cNvPr id="159" name="Picture 2"/>
          <p:cNvPicPr/>
          <p:nvPr/>
        </p:nvPicPr>
        <p:blipFill>
          <a:blip r:embed="rId3"/>
          <a:stretch/>
        </p:blipFill>
        <p:spPr>
          <a:xfrm>
            <a:off x="6428880" y="1453320"/>
            <a:ext cx="5678280" cy="760680"/>
          </a:xfrm>
          <a:prstGeom prst="rect">
            <a:avLst/>
          </a:prstGeom>
          <a:ln>
            <a:noFill/>
          </a:ln>
        </p:spPr>
      </p:pic>
      <p:sp>
        <p:nvSpPr>
          <p:cNvPr id="160" name="CustomShape 4"/>
          <p:cNvSpPr/>
          <p:nvPr/>
        </p:nvSpPr>
        <p:spPr>
          <a:xfrm>
            <a:off x="10391400" y="209628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pic>
        <p:nvPicPr>
          <p:cNvPr id="3" name="Picture 2">
            <a:extLst>
              <a:ext uri="{FF2B5EF4-FFF2-40B4-BE49-F238E27FC236}">
                <a16:creationId xmlns:a16="http://schemas.microsoft.com/office/drawing/2014/main" id="{DDE74B3F-EE6D-439A-9EFD-298DF8D4C601}"/>
              </a:ext>
            </a:extLst>
          </p:cNvPr>
          <p:cNvPicPr>
            <a:picLocks noChangeAspect="1"/>
          </p:cNvPicPr>
          <p:nvPr/>
        </p:nvPicPr>
        <p:blipFill>
          <a:blip r:embed="rId4"/>
          <a:stretch>
            <a:fillRect/>
          </a:stretch>
        </p:blipFill>
        <p:spPr>
          <a:xfrm>
            <a:off x="7413285" y="2823142"/>
            <a:ext cx="4105275" cy="1743075"/>
          </a:xfrm>
          <a:prstGeom prst="rect">
            <a:avLst/>
          </a:prstGeom>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Data Packets in Serial transfer</a:t>
            </a:r>
            <a:endParaRPr lang="en-US" sz="1800" b="0" strike="noStrike" spc="-1">
              <a:solidFill>
                <a:srgbClr val="000000"/>
              </a:solidFill>
              <a:uFill>
                <a:solidFill>
                  <a:srgbClr val="FFFFFF"/>
                </a:solidFill>
              </a:uFill>
              <a:latin typeface="Calibri"/>
            </a:endParaRPr>
          </a:p>
        </p:txBody>
      </p:sp>
      <p:sp>
        <p:nvSpPr>
          <p:cNvPr id="162" name="TextShape 2"/>
          <p:cNvSpPr txBox="1"/>
          <p:nvPr/>
        </p:nvSpPr>
        <p:spPr>
          <a:xfrm>
            <a:off x="272880" y="1045080"/>
            <a:ext cx="11726280" cy="529920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Parity bits </a:t>
            </a:r>
            <a:r>
              <a:rPr lang="en-US" sz="2000" b="0" i="1" strike="noStrike" spc="-1" dirty="0">
                <a:solidFill>
                  <a:srgbClr val="404040"/>
                </a:solidFill>
                <a:uFill>
                  <a:solidFill>
                    <a:srgbClr val="FFFFFF"/>
                  </a:solidFill>
                </a:uFill>
                <a:latin typeface="Calibri"/>
              </a:rPr>
              <a:t>(Optional)</a:t>
            </a:r>
            <a:endParaRPr lang="en-US" sz="20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A simple and low-level error checking method</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Options: Odd or Even parity</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Odd parity bit = 1 if the number of 1’s in data is odd</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Even parity bit = 1 if the number of 1’s in data is even</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u="sng" strike="noStrike" spc="-1" dirty="0">
                <a:solidFill>
                  <a:srgbClr val="404040"/>
                </a:solidFill>
                <a:uFill>
                  <a:solidFill>
                    <a:srgbClr val="FFFFFF"/>
                  </a:solidFill>
                </a:uFill>
                <a:latin typeface="Calibri"/>
              </a:rPr>
              <a:t>Example</a:t>
            </a:r>
            <a:r>
              <a:rPr lang="en-US" sz="2000" b="0" strike="noStrike" spc="-1" dirty="0">
                <a:solidFill>
                  <a:srgbClr val="404040"/>
                </a:solidFill>
                <a:uFill>
                  <a:solidFill>
                    <a:srgbClr val="FFFFFF"/>
                  </a:solidFill>
                </a:uFill>
                <a:latin typeface="Calibri"/>
              </a:rPr>
              <a:t>: </a:t>
            </a:r>
            <a:r>
              <a:rPr lang="en-US" sz="2000" b="0" strike="noStrike" spc="-1" dirty="0">
                <a:solidFill>
                  <a:srgbClr val="6A0032"/>
                </a:solidFill>
                <a:uFill>
                  <a:solidFill>
                    <a:srgbClr val="FFFFFF"/>
                  </a:solidFill>
                </a:uFill>
                <a:latin typeface="Calibri"/>
              </a:rPr>
              <a:t>9600 8N1 OK</a:t>
            </a:r>
            <a:endParaRPr lang="en-US" sz="20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Baud rate = </a:t>
            </a:r>
            <a:r>
              <a:rPr lang="en-US" sz="1800" b="0" strike="noStrike" spc="-1" dirty="0">
                <a:solidFill>
                  <a:srgbClr val="6A0032"/>
                </a:solidFill>
                <a:uFill>
                  <a:solidFill>
                    <a:srgbClr val="FFFFFF"/>
                  </a:solidFill>
                </a:uFill>
                <a:latin typeface="Calibri"/>
              </a:rPr>
              <a:t>9600</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Data bits = </a:t>
            </a:r>
            <a:r>
              <a:rPr lang="en-US" sz="1800" b="0" strike="noStrike" spc="-1" dirty="0">
                <a:solidFill>
                  <a:srgbClr val="6A0032"/>
                </a:solidFill>
                <a:uFill>
                  <a:solidFill>
                    <a:srgbClr val="FFFFFF"/>
                  </a:solidFill>
                </a:uFill>
                <a:latin typeface="Calibri"/>
              </a:rPr>
              <a:t>8</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Parity bits = </a:t>
            </a:r>
            <a:r>
              <a:rPr lang="en-US" sz="1800" b="0" strike="noStrike" spc="-1" dirty="0">
                <a:solidFill>
                  <a:srgbClr val="6A0032"/>
                </a:solidFill>
                <a:uFill>
                  <a:solidFill>
                    <a:srgbClr val="FFFFFF"/>
                  </a:solidFill>
                </a:uFill>
                <a:latin typeface="Calibri"/>
              </a:rPr>
              <a:t>N</a:t>
            </a:r>
            <a:r>
              <a:rPr lang="en-US" sz="1800" b="0" strike="noStrike" spc="-1" dirty="0">
                <a:solidFill>
                  <a:srgbClr val="404040"/>
                </a:solidFill>
                <a:uFill>
                  <a:solidFill>
                    <a:srgbClr val="FFFFFF"/>
                  </a:solidFill>
                </a:uFill>
                <a:latin typeface="Calibri"/>
              </a:rPr>
              <a:t>o</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Stop bits = </a:t>
            </a:r>
            <a:r>
              <a:rPr lang="en-US" sz="1800" b="0" strike="noStrike" spc="-1" dirty="0">
                <a:solidFill>
                  <a:srgbClr val="6A0032"/>
                </a:solidFill>
                <a:uFill>
                  <a:solidFill>
                    <a:srgbClr val="FFFFFF"/>
                  </a:solidFill>
                </a:uFill>
                <a:latin typeface="Calibri"/>
              </a:rPr>
              <a:t>1</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Data = </a:t>
            </a:r>
            <a:r>
              <a:rPr lang="en-US" sz="1800" b="0" strike="noStrike" spc="-1" dirty="0">
                <a:solidFill>
                  <a:srgbClr val="6A0032"/>
                </a:solidFill>
                <a:uFill>
                  <a:solidFill>
                    <a:srgbClr val="FFFFFF"/>
                  </a:solidFill>
                </a:uFill>
                <a:latin typeface="Calibri"/>
              </a:rPr>
              <a:t>OK</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O – ASCII Value = 79 = 01001111</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K – ASCII Value = 75 = 01001011</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a:p>
            <a:pPr>
              <a:lnSpc>
                <a:spcPct val="100000"/>
              </a:lnSpc>
            </a:pPr>
            <a:endParaRPr lang="en-US" sz="2000" b="0" strike="noStrike" spc="-1" dirty="0">
              <a:solidFill>
                <a:srgbClr val="404040"/>
              </a:solidFill>
              <a:uFill>
                <a:solidFill>
                  <a:srgbClr val="FFFFFF"/>
                </a:solidFill>
              </a:uFill>
              <a:latin typeface="Calibri"/>
            </a:endParaRPr>
          </a:p>
        </p:txBody>
      </p:sp>
      <p:sp>
        <p:nvSpPr>
          <p:cNvPr id="163" name="TextShape 3"/>
          <p:cNvSpPr txBox="1"/>
          <p:nvPr/>
        </p:nvSpPr>
        <p:spPr>
          <a:xfrm>
            <a:off x="9900360" y="6459840"/>
            <a:ext cx="1311840" cy="364680"/>
          </a:xfrm>
          <a:prstGeom prst="rect">
            <a:avLst/>
          </a:prstGeom>
          <a:noFill/>
          <a:ln>
            <a:noFill/>
          </a:ln>
        </p:spPr>
        <p:txBody>
          <a:bodyPr anchor="ctr"/>
          <a:lstStyle/>
          <a:p>
            <a:pPr algn="r">
              <a:lnSpc>
                <a:spcPct val="100000"/>
              </a:lnSpc>
            </a:pPr>
            <a:fld id="{763EA91A-0347-483E-BA18-89D23F96A931}" type="slidenum">
              <a:rPr lang="en-GB" sz="1050" b="0" strike="noStrike" spc="-1">
                <a:solidFill>
                  <a:srgbClr val="FFFFFF"/>
                </a:solidFill>
                <a:uFill>
                  <a:solidFill>
                    <a:srgbClr val="FFFFFF"/>
                  </a:solidFill>
                </a:uFill>
                <a:latin typeface="Calibri"/>
              </a:rPr>
              <a:t>8</a:t>
            </a:fld>
            <a:endParaRPr lang="en-GB" sz="1400" b="0" strike="noStrike" spc="-1">
              <a:solidFill>
                <a:srgbClr val="000000"/>
              </a:solidFill>
              <a:uFill>
                <a:solidFill>
                  <a:srgbClr val="FFFFFF"/>
                </a:solidFill>
              </a:uFill>
              <a:latin typeface="Times New Roman"/>
            </a:endParaRPr>
          </a:p>
        </p:txBody>
      </p:sp>
      <p:pic>
        <p:nvPicPr>
          <p:cNvPr id="164" name="Picture 2"/>
          <p:cNvPicPr/>
          <p:nvPr/>
        </p:nvPicPr>
        <p:blipFill>
          <a:blip r:embed="rId2"/>
          <a:stretch/>
        </p:blipFill>
        <p:spPr>
          <a:xfrm>
            <a:off x="6428880" y="1453320"/>
            <a:ext cx="5678280" cy="760680"/>
          </a:xfrm>
          <a:prstGeom prst="rect">
            <a:avLst/>
          </a:prstGeom>
          <a:ln>
            <a:noFill/>
          </a:ln>
        </p:spPr>
      </p:pic>
      <p:pic>
        <p:nvPicPr>
          <p:cNvPr id="165" name="Picture 2"/>
          <p:cNvPicPr/>
          <p:nvPr/>
        </p:nvPicPr>
        <p:blipFill>
          <a:blip r:embed="rId3"/>
          <a:stretch/>
        </p:blipFill>
        <p:spPr>
          <a:xfrm>
            <a:off x="4797000" y="4171680"/>
            <a:ext cx="7202160" cy="942840"/>
          </a:xfrm>
          <a:prstGeom prst="rect">
            <a:avLst/>
          </a:prstGeom>
          <a:ln>
            <a:noFill/>
          </a:ln>
        </p:spPr>
      </p:pic>
      <p:sp>
        <p:nvSpPr>
          <p:cNvPr id="166" name="CustomShape 4"/>
          <p:cNvSpPr/>
          <p:nvPr/>
        </p:nvSpPr>
        <p:spPr>
          <a:xfrm>
            <a:off x="10391400" y="209628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
        <p:nvSpPr>
          <p:cNvPr id="167" name="CustomShape 5"/>
          <p:cNvSpPr/>
          <p:nvPr/>
        </p:nvSpPr>
        <p:spPr>
          <a:xfrm>
            <a:off x="10391400" y="504864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Serial – Wiring and Hardware</a:t>
            </a:r>
            <a:endParaRPr lang="en-US" sz="1800" b="0" strike="noStrike" spc="-1">
              <a:solidFill>
                <a:srgbClr val="000000"/>
              </a:solidFill>
              <a:uFill>
                <a:solidFill>
                  <a:srgbClr val="FFFFFF"/>
                </a:solidFill>
              </a:uFill>
              <a:latin typeface="Calibri"/>
            </a:endParaRPr>
          </a:p>
        </p:txBody>
      </p:sp>
      <p:sp>
        <p:nvSpPr>
          <p:cNvPr id="169" name="TextShape 2"/>
          <p:cNvSpPr txBox="1"/>
          <p:nvPr/>
        </p:nvSpPr>
        <p:spPr>
          <a:xfrm>
            <a:off x="272880" y="1045080"/>
            <a:ext cx="11726280" cy="482364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Serial bus consists of two wires</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TX – sends data</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RX – receives data</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Interface can operate as </a:t>
            </a:r>
            <a:r>
              <a:rPr lang="en-US" sz="2000" b="1" strike="noStrike" spc="-1" dirty="0">
                <a:solidFill>
                  <a:srgbClr val="404040"/>
                </a:solidFill>
                <a:uFill>
                  <a:solidFill>
                    <a:srgbClr val="FFFFFF"/>
                  </a:solidFill>
                </a:uFill>
                <a:latin typeface="Calibri"/>
              </a:rPr>
              <a:t>full-duplex</a:t>
            </a:r>
            <a:r>
              <a:rPr lang="en-US" sz="2000" b="0" strike="noStrike" spc="-1" dirty="0">
                <a:solidFill>
                  <a:srgbClr val="404040"/>
                </a:solidFill>
                <a:uFill>
                  <a:solidFill>
                    <a:srgbClr val="FFFFFF"/>
                  </a:solidFill>
                </a:uFill>
                <a:latin typeface="Calibri"/>
              </a:rPr>
              <a:t> or </a:t>
            </a:r>
            <a:r>
              <a:rPr lang="en-US" sz="2000" b="1" strike="noStrike" spc="-1" dirty="0">
                <a:solidFill>
                  <a:srgbClr val="404040"/>
                </a:solidFill>
                <a:uFill>
                  <a:solidFill>
                    <a:srgbClr val="FFFFFF"/>
                  </a:solidFill>
                </a:uFill>
                <a:latin typeface="Calibri"/>
              </a:rPr>
              <a:t>half-duplex</a:t>
            </a:r>
            <a:endParaRPr lang="en-US" sz="20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Full duplex – both devices can send and receive simultaneously</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Half duplex – devices must take turns sending and receiving</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Some devices need only one way communication(simplex). </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Accordingly, only wire is visible</a:t>
            </a:r>
            <a:endParaRPr lang="en-US" sz="1400" b="0" strike="noStrike" spc="-1" dirty="0">
              <a:solidFill>
                <a:srgbClr val="404040"/>
              </a:solidFill>
              <a:uFill>
                <a:solidFill>
                  <a:srgbClr val="FFFFFF"/>
                </a:solidFill>
              </a:uFill>
              <a:latin typeface="Calibri"/>
            </a:endParaRPr>
          </a:p>
        </p:txBody>
      </p:sp>
      <p:sp>
        <p:nvSpPr>
          <p:cNvPr id="170" name="TextShape 3"/>
          <p:cNvSpPr txBox="1"/>
          <p:nvPr/>
        </p:nvSpPr>
        <p:spPr>
          <a:xfrm>
            <a:off x="9900360" y="6459840"/>
            <a:ext cx="1311840" cy="364680"/>
          </a:xfrm>
          <a:prstGeom prst="rect">
            <a:avLst/>
          </a:prstGeom>
          <a:noFill/>
          <a:ln>
            <a:noFill/>
          </a:ln>
        </p:spPr>
        <p:txBody>
          <a:bodyPr anchor="ctr"/>
          <a:lstStyle/>
          <a:p>
            <a:pPr algn="r">
              <a:lnSpc>
                <a:spcPct val="100000"/>
              </a:lnSpc>
            </a:pPr>
            <a:fld id="{375A4068-9708-4F72-B3CE-8E6E3637058C}" type="slidenum">
              <a:rPr lang="en-GB" sz="1050" b="0" strike="noStrike" spc="-1">
                <a:solidFill>
                  <a:srgbClr val="FFFFFF"/>
                </a:solidFill>
                <a:uFill>
                  <a:solidFill>
                    <a:srgbClr val="FFFFFF"/>
                  </a:solidFill>
                </a:uFill>
                <a:latin typeface="Calibri"/>
              </a:rPr>
              <a:t>9</a:t>
            </a:fld>
            <a:endParaRPr lang="en-GB" sz="1400" b="0" strike="noStrike" spc="-1">
              <a:solidFill>
                <a:srgbClr val="000000"/>
              </a:solidFill>
              <a:uFill>
                <a:solidFill>
                  <a:srgbClr val="FFFFFF"/>
                </a:solidFill>
              </a:uFill>
              <a:latin typeface="Times New Roman"/>
            </a:endParaRPr>
          </a:p>
        </p:txBody>
      </p:sp>
      <p:pic>
        <p:nvPicPr>
          <p:cNvPr id="171" name="Picture 2"/>
          <p:cNvPicPr/>
          <p:nvPr/>
        </p:nvPicPr>
        <p:blipFill>
          <a:blip r:embed="rId2"/>
          <a:stretch/>
        </p:blipFill>
        <p:spPr>
          <a:xfrm>
            <a:off x="8379360" y="1279080"/>
            <a:ext cx="3340800" cy="2026440"/>
          </a:xfrm>
          <a:prstGeom prst="rect">
            <a:avLst/>
          </a:prstGeom>
          <a:ln>
            <a:noFill/>
          </a:ln>
        </p:spPr>
      </p:pic>
      <p:pic>
        <p:nvPicPr>
          <p:cNvPr id="172" name="Picture 4"/>
          <p:cNvPicPr/>
          <p:nvPr/>
        </p:nvPicPr>
        <p:blipFill>
          <a:blip r:embed="rId3"/>
          <a:srcRect l="2047" t="15017" r="567" b="20000"/>
          <a:stretch/>
        </p:blipFill>
        <p:spPr>
          <a:xfrm rot="800400">
            <a:off x="5982840" y="4070520"/>
            <a:ext cx="2705760" cy="1805400"/>
          </a:xfrm>
          <a:prstGeom prst="rect">
            <a:avLst/>
          </a:prstGeom>
          <a:ln>
            <a:noFill/>
          </a:ln>
        </p:spPr>
      </p:pic>
      <p:sp>
        <p:nvSpPr>
          <p:cNvPr id="173" name="CustomShape 4"/>
          <p:cNvSpPr/>
          <p:nvPr/>
        </p:nvSpPr>
        <p:spPr>
          <a:xfrm>
            <a:off x="7226280" y="541620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 name="Picture 4"/>
          <p:cNvPicPr/>
          <p:nvPr/>
        </p:nvPicPr>
        <p:blipFill>
          <a:blip r:embed="rId2"/>
          <a:stretch/>
        </p:blipFill>
        <p:spPr>
          <a:xfrm>
            <a:off x="7455960" y="4624200"/>
            <a:ext cx="4637520" cy="1677600"/>
          </a:xfrm>
          <a:prstGeom prst="rect">
            <a:avLst/>
          </a:prstGeom>
          <a:ln>
            <a:noFill/>
          </a:ln>
        </p:spPr>
      </p:pic>
      <p:sp>
        <p:nvSpPr>
          <p:cNvPr id="175"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Serial – Hardware Implementation</a:t>
            </a:r>
            <a:endParaRPr lang="en-US" sz="1800" b="0" strike="noStrike" spc="-1">
              <a:solidFill>
                <a:srgbClr val="000000"/>
              </a:solidFill>
              <a:uFill>
                <a:solidFill>
                  <a:srgbClr val="FFFFFF"/>
                </a:solidFill>
              </a:uFill>
              <a:latin typeface="Calibri"/>
            </a:endParaRPr>
          </a:p>
        </p:txBody>
      </p:sp>
      <p:sp>
        <p:nvSpPr>
          <p:cNvPr id="176" name="TextShape 2"/>
          <p:cNvSpPr txBox="1"/>
          <p:nvPr/>
        </p:nvSpPr>
        <p:spPr>
          <a:xfrm>
            <a:off x="272880" y="1051258"/>
            <a:ext cx="11726280" cy="5257080"/>
          </a:xfrm>
          <a:prstGeom prst="rect">
            <a:avLst/>
          </a:prstGeom>
          <a:noFill/>
          <a:ln>
            <a:noFill/>
          </a:ln>
        </p:spPr>
        <p:txBody>
          <a:bodyPr lIns="0" rIns="0"/>
          <a:lstStyle/>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 Transistor-Transistor Logic (TTL)</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TTL serial signals exist between a microcontrollers’ voltage supply range (usually 0V to 3.3V or 5V)</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A signal at the VCC level indicates either an idle line, a bit of value 1, or a stop bit.</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 0V (GND) signal represents either a start bit or a data bit of value 0.</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Easier to implement in embedded systems, but susceptible to losses across long transmission lines.</a:t>
            </a:r>
            <a:endParaRPr lang="en-US" sz="14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Wingdings" charset="2"/>
              <a:buChar char=""/>
            </a:pPr>
            <a:r>
              <a:rPr lang="en-US" sz="2000" b="0" strike="noStrike" spc="-1" dirty="0">
                <a:solidFill>
                  <a:srgbClr val="404040"/>
                </a:solidFill>
                <a:uFill>
                  <a:solidFill>
                    <a:srgbClr val="FFFFFF"/>
                  </a:solidFill>
                </a:uFill>
                <a:latin typeface="Calibri"/>
              </a:rPr>
              <a:t>RS-232</a:t>
            </a: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Usually found in old computers and legacy peripherals</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Usually range between -5V to +5V, though specs allow for anything from +/- 3V to +/- 25V.</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 low voltage indicates either the idle line, a stop bit, or a data bit of value 1.</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A high voltage indicates either a start bit, or a 0-value data bit.</a:t>
            </a:r>
            <a:endParaRPr lang="en-US" sz="1400" b="0" strike="noStrike" spc="-1" dirty="0">
              <a:solidFill>
                <a:srgbClr val="404040"/>
              </a:solidFill>
              <a:uFill>
                <a:solidFill>
                  <a:srgbClr val="FFFFFF"/>
                </a:solidFill>
              </a:uFill>
              <a:latin typeface="Calibri"/>
            </a:endParaRPr>
          </a:p>
          <a:p>
            <a:pPr marL="384120" lvl="1" indent="-182520">
              <a:lnSpc>
                <a:spcPct val="100000"/>
              </a:lnSpc>
              <a:buClr>
                <a:srgbClr val="FFC82E"/>
              </a:buClr>
              <a:buFont typeface="Wingdings" charset="2"/>
              <a:buChar char=""/>
            </a:pPr>
            <a:r>
              <a:rPr lang="en-US" sz="1800" b="0" strike="noStrike" spc="-1" dirty="0">
                <a:solidFill>
                  <a:srgbClr val="404040"/>
                </a:solidFill>
                <a:uFill>
                  <a:solidFill>
                    <a:srgbClr val="FFFFFF"/>
                  </a:solidFill>
                </a:uFill>
                <a:latin typeface="Calibri"/>
              </a:rPr>
              <a:t> RS-485 is better suited to long range serial transmissions.</a:t>
            </a:r>
            <a:endParaRPr lang="en-US" sz="1400" b="0" strike="noStrike" spc="-1" dirty="0">
              <a:solidFill>
                <a:srgbClr val="404040"/>
              </a:solidFill>
              <a:uFill>
                <a:solidFill>
                  <a:srgbClr val="FFFFFF"/>
                </a:solidFill>
              </a:uFill>
              <a:latin typeface="Calibri"/>
            </a:endParaRPr>
          </a:p>
        </p:txBody>
      </p:sp>
      <p:sp>
        <p:nvSpPr>
          <p:cNvPr id="177" name="TextShape 3"/>
          <p:cNvSpPr txBox="1"/>
          <p:nvPr/>
        </p:nvSpPr>
        <p:spPr>
          <a:xfrm>
            <a:off x="9900360" y="6459840"/>
            <a:ext cx="1311840" cy="364680"/>
          </a:xfrm>
          <a:prstGeom prst="rect">
            <a:avLst/>
          </a:prstGeom>
          <a:noFill/>
          <a:ln>
            <a:noFill/>
          </a:ln>
        </p:spPr>
        <p:txBody>
          <a:bodyPr anchor="ctr"/>
          <a:lstStyle/>
          <a:p>
            <a:pPr algn="r">
              <a:lnSpc>
                <a:spcPct val="100000"/>
              </a:lnSpc>
            </a:pPr>
            <a:fld id="{789B7BB6-2AE0-4B65-9B0C-1EBC82546CF5}" type="slidenum">
              <a:rPr lang="en-GB" sz="1050" b="0" strike="noStrike" spc="-1">
                <a:solidFill>
                  <a:srgbClr val="FFFFFF"/>
                </a:solidFill>
                <a:uFill>
                  <a:solidFill>
                    <a:srgbClr val="FFFFFF"/>
                  </a:solidFill>
                </a:uFill>
                <a:latin typeface="Calibri"/>
              </a:rPr>
              <a:t>10</a:t>
            </a:fld>
            <a:endParaRPr lang="en-GB" sz="1400" b="0" strike="noStrike" spc="-1">
              <a:solidFill>
                <a:srgbClr val="000000"/>
              </a:solidFill>
              <a:uFill>
                <a:solidFill>
                  <a:srgbClr val="FFFFFF"/>
                </a:solidFill>
              </a:uFill>
              <a:latin typeface="Times New Roman"/>
            </a:endParaRPr>
          </a:p>
        </p:txBody>
      </p:sp>
      <p:pic>
        <p:nvPicPr>
          <p:cNvPr id="178" name="Picture 2"/>
          <p:cNvPicPr/>
          <p:nvPr/>
        </p:nvPicPr>
        <p:blipFill>
          <a:blip r:embed="rId3"/>
          <a:stretch/>
        </p:blipFill>
        <p:spPr>
          <a:xfrm>
            <a:off x="6780600" y="2722680"/>
            <a:ext cx="5218560" cy="950760"/>
          </a:xfrm>
          <a:prstGeom prst="rect">
            <a:avLst/>
          </a:prstGeom>
          <a:ln>
            <a:noFill/>
          </a:ln>
        </p:spPr>
      </p:pic>
      <p:sp>
        <p:nvSpPr>
          <p:cNvPr id="179" name="CustomShape 4"/>
          <p:cNvSpPr/>
          <p:nvPr/>
        </p:nvSpPr>
        <p:spPr>
          <a:xfrm>
            <a:off x="10556640" y="3673800"/>
            <a:ext cx="180036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solidFill>
            <a:srgbClr val="5073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9"/>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2" y="484632"/>
            <a:ext cx="3666744" cy="5739187"/>
          </a:xfrm>
          <a:prstGeom prst="roundRect">
            <a:avLst>
              <a:gd name="adj" fmla="val 0"/>
            </a:avLst>
          </a:prstGeom>
          <a:solidFill>
            <a:srgbClr val="FFFFFF"/>
          </a:solidFill>
          <a:ln w="9525">
            <a:solidFill>
              <a:schemeClr val="bg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40D532A-2DBE-45EC-AB34-C1FB61141C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632" y="803049"/>
            <a:ext cx="2470743" cy="2470743"/>
          </a:xfrm>
          <a:prstGeom prst="rect">
            <a:avLst/>
          </a:prstGeom>
          <a:effectLst/>
        </p:spPr>
      </p:pic>
      <p:pic>
        <p:nvPicPr>
          <p:cNvPr id="4" name="Picture 3">
            <a:extLst>
              <a:ext uri="{FF2B5EF4-FFF2-40B4-BE49-F238E27FC236}">
                <a16:creationId xmlns:a16="http://schemas.microsoft.com/office/drawing/2014/main" id="{222ED80A-82F4-4225-8360-2C993A289B0E}"/>
              </a:ext>
            </a:extLst>
          </p:cNvPr>
          <p:cNvPicPr>
            <a:picLocks noChangeAspect="1"/>
          </p:cNvPicPr>
          <p:nvPr/>
        </p:nvPicPr>
        <p:blipFill>
          <a:blip r:embed="rId3"/>
          <a:stretch>
            <a:fillRect/>
          </a:stretch>
        </p:blipFill>
        <p:spPr>
          <a:xfrm>
            <a:off x="804672" y="3856698"/>
            <a:ext cx="3026663" cy="1647692"/>
          </a:xfrm>
          <a:prstGeom prst="rect">
            <a:avLst/>
          </a:prstGeom>
        </p:spPr>
      </p:pic>
      <p:sp>
        <p:nvSpPr>
          <p:cNvPr id="2" name="Title 1">
            <a:extLst>
              <a:ext uri="{FF2B5EF4-FFF2-40B4-BE49-F238E27FC236}">
                <a16:creationId xmlns:a16="http://schemas.microsoft.com/office/drawing/2014/main" id="{E8683656-0E39-4108-89CF-43E3BAB1D981}"/>
              </a:ext>
            </a:extLst>
          </p:cNvPr>
          <p:cNvSpPr>
            <a:spLocks noGrp="1"/>
          </p:cNvSpPr>
          <p:nvPr>
            <p:ph type="title"/>
          </p:nvPr>
        </p:nvSpPr>
        <p:spPr>
          <a:xfrm>
            <a:off x="5116878" y="629266"/>
            <a:ext cx="6422849" cy="1676603"/>
          </a:xfrm>
        </p:spPr>
        <p:txBody>
          <a:bodyPr>
            <a:normAutofit/>
          </a:bodyPr>
          <a:lstStyle/>
          <a:p>
            <a:r>
              <a:rPr lang="en-IE" dirty="0"/>
              <a:t>Asynchronous Serial (RS232)</a:t>
            </a:r>
          </a:p>
        </p:txBody>
      </p:sp>
      <p:sp>
        <p:nvSpPr>
          <p:cNvPr id="3" name="Content Placeholder 2">
            <a:extLst>
              <a:ext uri="{FF2B5EF4-FFF2-40B4-BE49-F238E27FC236}">
                <a16:creationId xmlns:a16="http://schemas.microsoft.com/office/drawing/2014/main" id="{EB03EED4-A55E-4151-A17C-37BF27207503}"/>
              </a:ext>
            </a:extLst>
          </p:cNvPr>
          <p:cNvSpPr>
            <a:spLocks noGrp="1"/>
          </p:cNvSpPr>
          <p:nvPr>
            <p:ph idx="1"/>
          </p:nvPr>
        </p:nvSpPr>
        <p:spPr>
          <a:xfrm>
            <a:off x="5116880" y="2438400"/>
            <a:ext cx="6422848" cy="3785419"/>
          </a:xfrm>
        </p:spPr>
        <p:txBody>
          <a:bodyPr>
            <a:normAutofit/>
          </a:bodyPr>
          <a:lstStyle/>
          <a:p>
            <a:r>
              <a:rPr lang="en-IE" sz="2000" dirty="0"/>
              <a:t>Used for 1-to-1 communication</a:t>
            </a:r>
          </a:p>
          <a:p>
            <a:r>
              <a:rPr lang="en-IE" sz="2000" dirty="0"/>
              <a:t>Many variants, simplest just uses </a:t>
            </a:r>
            <a:r>
              <a:rPr lang="en-IE" sz="2000" b="1" kern="1200" dirty="0">
                <a:latin typeface="+mn-lt"/>
                <a:ea typeface="+mn-ea"/>
                <a:cs typeface="+mn-cs"/>
              </a:rPr>
              <a:t>2</a:t>
            </a:r>
            <a:r>
              <a:rPr lang="en-IE" sz="2000" dirty="0"/>
              <a:t> lines.</a:t>
            </a:r>
          </a:p>
          <a:p>
            <a:r>
              <a:rPr lang="en-IE" sz="2000" dirty="0"/>
              <a:t>Often used for console access to configure Network Routers</a:t>
            </a:r>
          </a:p>
          <a:p>
            <a:endParaRPr lang="en-IE" sz="2000" dirty="0"/>
          </a:p>
        </p:txBody>
      </p:sp>
    </p:spTree>
    <p:extLst>
      <p:ext uri="{BB962C8B-B14F-4D97-AF65-F5344CB8AC3E}">
        <p14:creationId xmlns:p14="http://schemas.microsoft.com/office/powerpoint/2010/main" val="3919335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extShape 1"/>
          <p:cNvSpPr txBox="1"/>
          <p:nvPr/>
        </p:nvSpPr>
        <p:spPr>
          <a:xfrm>
            <a:off x="272880" y="286560"/>
            <a:ext cx="11726280" cy="691560"/>
          </a:xfrm>
          <a:prstGeom prst="rect">
            <a:avLst/>
          </a:prstGeom>
          <a:noFill/>
          <a:ln>
            <a:noFill/>
          </a:ln>
        </p:spPr>
        <p:txBody>
          <a:bodyPr anchor="b"/>
          <a:lstStyle/>
          <a:p>
            <a:pPr>
              <a:lnSpc>
                <a:spcPct val="100000"/>
              </a:lnSpc>
            </a:pPr>
            <a:r>
              <a:rPr lang="en-US" sz="4000" b="0" strike="noStrike" spc="-49">
                <a:solidFill>
                  <a:srgbClr val="6A0032"/>
                </a:solidFill>
                <a:uFill>
                  <a:solidFill>
                    <a:srgbClr val="FFFFFF"/>
                  </a:solidFill>
                </a:uFill>
                <a:latin typeface="Cambria"/>
              </a:rPr>
              <a:t>Universal Asynchronous Receiver/Transmitter - UART</a:t>
            </a:r>
            <a:endParaRPr lang="en-US" sz="1800" b="0" strike="noStrike" spc="-1">
              <a:solidFill>
                <a:srgbClr val="000000"/>
              </a:solidFill>
              <a:uFill>
                <a:solidFill>
                  <a:srgbClr val="FFFFFF"/>
                </a:solidFill>
              </a:uFill>
              <a:latin typeface="Calibri"/>
            </a:endParaRPr>
          </a:p>
        </p:txBody>
      </p:sp>
      <p:sp>
        <p:nvSpPr>
          <p:cNvPr id="181" name="TextShape 2"/>
          <p:cNvSpPr txBox="1"/>
          <p:nvPr/>
        </p:nvSpPr>
        <p:spPr>
          <a:xfrm>
            <a:off x="272880" y="1045080"/>
            <a:ext cx="6999840" cy="5214600"/>
          </a:xfrm>
          <a:prstGeom prst="rect">
            <a:avLst/>
          </a:prstGeom>
          <a:noFill/>
          <a:ln>
            <a:noFill/>
          </a:ln>
        </p:spPr>
        <p:txBody>
          <a:bodyPr lIns="0" rIns="0"/>
          <a:lstStyle/>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 UART is a block of circuitry responsible for implementing serial communication.</a:t>
            </a:r>
          </a:p>
          <a:p>
            <a:pPr>
              <a:lnSpc>
                <a:spcPct val="100000"/>
              </a:lnSpc>
            </a:pPr>
            <a:r>
              <a:rPr lang="en-US" sz="2000" b="0" strike="noStrike" spc="-1" dirty="0">
                <a:solidFill>
                  <a:srgbClr val="404040"/>
                </a:solidFill>
                <a:uFill>
                  <a:solidFill>
                    <a:srgbClr val="FFFFFF"/>
                  </a:solidFill>
                </a:uFill>
                <a:latin typeface="Calibri"/>
              </a:rPr>
              <a:t> </a:t>
            </a:r>
          </a:p>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UART acts as an intermediary between parallel and serial interfaces.</a:t>
            </a:r>
          </a:p>
          <a:p>
            <a:pPr>
              <a:lnSpc>
                <a:spcPct val="100000"/>
              </a:lnSpc>
            </a:pPr>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 Available as standalone ICs, but generally integrated inside a microcontroller.</a:t>
            </a:r>
          </a:p>
          <a:p>
            <a:pPr>
              <a:lnSpc>
                <a:spcPct val="100000"/>
              </a:lnSpc>
            </a:pPr>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 On the transmit side, a UART must create the data packet and send it out with precise timing.</a:t>
            </a:r>
          </a:p>
          <a:p>
            <a:pPr>
              <a:lnSpc>
                <a:spcPct val="100000"/>
              </a:lnSpc>
            </a:pPr>
            <a:endParaRPr lang="en-US" sz="2000" b="0" strike="noStrike" spc="-1" dirty="0">
              <a:solidFill>
                <a:srgbClr val="404040"/>
              </a:solidFill>
              <a:uFill>
                <a:solidFill>
                  <a:srgbClr val="FFFFFF"/>
                </a:solidFill>
              </a:uFill>
              <a:latin typeface="Calibri"/>
            </a:endParaRPr>
          </a:p>
          <a:p>
            <a:pPr marL="91440" indent="-91080">
              <a:lnSpc>
                <a:spcPct val="100000"/>
              </a:lnSpc>
              <a:buClr>
                <a:srgbClr val="FFC82E"/>
              </a:buClr>
              <a:buFont typeface="Courier New"/>
              <a:buChar char="o"/>
            </a:pPr>
            <a:r>
              <a:rPr lang="en-US" sz="2000" b="0" strike="noStrike" spc="-1" dirty="0">
                <a:solidFill>
                  <a:srgbClr val="404040"/>
                </a:solidFill>
                <a:uFill>
                  <a:solidFill>
                    <a:srgbClr val="FFFFFF"/>
                  </a:solidFill>
                </a:uFill>
                <a:latin typeface="Calibri"/>
              </a:rPr>
              <a:t> On the receive side, a UART has to sample RX lines, and extract the data from the packet received</a:t>
            </a:r>
          </a:p>
        </p:txBody>
      </p:sp>
      <p:sp>
        <p:nvSpPr>
          <p:cNvPr id="182" name="TextShape 3"/>
          <p:cNvSpPr txBox="1"/>
          <p:nvPr/>
        </p:nvSpPr>
        <p:spPr>
          <a:xfrm>
            <a:off x="9900360" y="6459840"/>
            <a:ext cx="1311840" cy="364680"/>
          </a:xfrm>
          <a:prstGeom prst="rect">
            <a:avLst/>
          </a:prstGeom>
          <a:noFill/>
          <a:ln>
            <a:noFill/>
          </a:ln>
        </p:spPr>
        <p:txBody>
          <a:bodyPr anchor="ctr"/>
          <a:lstStyle/>
          <a:p>
            <a:pPr algn="r">
              <a:lnSpc>
                <a:spcPct val="100000"/>
              </a:lnSpc>
            </a:pPr>
            <a:fld id="{57C3D59D-1E64-47BD-ACE6-FFAD3FE7E115}" type="slidenum">
              <a:rPr lang="en-GB" sz="1050" b="0" strike="noStrike" spc="-1">
                <a:solidFill>
                  <a:srgbClr val="FFFFFF"/>
                </a:solidFill>
                <a:uFill>
                  <a:solidFill>
                    <a:srgbClr val="FFFFFF"/>
                  </a:solidFill>
                </a:uFill>
                <a:latin typeface="Calibri"/>
              </a:rPr>
              <a:t>12</a:t>
            </a:fld>
            <a:endParaRPr lang="en-GB" sz="1400" b="0" strike="noStrike" spc="-1">
              <a:solidFill>
                <a:srgbClr val="000000"/>
              </a:solidFill>
              <a:uFill>
                <a:solidFill>
                  <a:srgbClr val="FFFFFF"/>
                </a:solidFill>
              </a:uFill>
              <a:latin typeface="Times New Roman"/>
            </a:endParaRPr>
          </a:p>
        </p:txBody>
      </p:sp>
      <p:pic>
        <p:nvPicPr>
          <p:cNvPr id="183" name="Picture 2"/>
          <p:cNvPicPr/>
          <p:nvPr/>
        </p:nvPicPr>
        <p:blipFill>
          <a:blip r:embed="rId3"/>
          <a:stretch/>
        </p:blipFill>
        <p:spPr>
          <a:xfrm>
            <a:off x="7401600" y="1647360"/>
            <a:ext cx="4633560" cy="3521520"/>
          </a:xfrm>
          <a:prstGeom prst="rect">
            <a:avLst/>
          </a:prstGeom>
          <a:ln>
            <a:noFill/>
          </a:ln>
        </p:spPr>
      </p:pic>
      <p:sp>
        <p:nvSpPr>
          <p:cNvPr id="184" name="CustomShape 4"/>
          <p:cNvSpPr/>
          <p:nvPr/>
        </p:nvSpPr>
        <p:spPr>
          <a:xfrm>
            <a:off x="10036080" y="5169240"/>
            <a:ext cx="1442880" cy="515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GB" sz="1400" b="0" strike="noStrike" spc="-1">
                <a:solidFill>
                  <a:srgbClr val="000000"/>
                </a:solidFill>
                <a:uFill>
                  <a:solidFill>
                    <a:srgbClr val="FFFFFF"/>
                  </a:solidFill>
                </a:uFill>
                <a:latin typeface="Calibri"/>
              </a:rPr>
              <a:t>Source: Sparkfun</a:t>
            </a:r>
            <a:endParaRPr lang="en-GB" sz="1800" b="0" strike="noStrike" spc="-1">
              <a:solidFill>
                <a:srgbClr val="000000"/>
              </a:solidFill>
              <a:uFill>
                <a:solidFill>
                  <a:srgbClr val="FFFFFF"/>
                </a:solidFill>
              </a:u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0A19BDA-40B6-4DE7-81A4-6B1F1E40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45">
            <a:extLst>
              <a:ext uri="{FF2B5EF4-FFF2-40B4-BE49-F238E27FC236}">
                <a16:creationId xmlns:a16="http://schemas.microsoft.com/office/drawing/2014/main" id="{0A628AD8-1356-4BF5-8A59-3549B2C7C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46">
            <a:extLst>
              <a:ext uri="{FF2B5EF4-FFF2-40B4-BE49-F238E27FC236}">
                <a16:creationId xmlns:a16="http://schemas.microsoft.com/office/drawing/2014/main" id="{9F2E6F73-36C2-4E56-AB0C-4D6936FF5D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47">
            <a:extLst>
              <a:ext uri="{FF2B5EF4-FFF2-40B4-BE49-F238E27FC236}">
                <a16:creationId xmlns:a16="http://schemas.microsoft.com/office/drawing/2014/main" id="{8AA5DD19-98A6-4E28-999C-2C074B9CB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44">
            <a:extLst>
              <a:ext uri="{FF2B5EF4-FFF2-40B4-BE49-F238E27FC236}">
                <a16:creationId xmlns:a16="http://schemas.microsoft.com/office/drawing/2014/main" id="{5F24A71D-C0A9-49AC-B2D1-5A9EA2BD3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48538"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Rectangle 82">
            <a:extLst>
              <a:ext uri="{FF2B5EF4-FFF2-40B4-BE49-F238E27FC236}">
                <a16:creationId xmlns:a16="http://schemas.microsoft.com/office/drawing/2014/main" id="{99535B11-4A49-4A02-9CB6-3F8A60128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7033095"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F9FB80BA-CA67-4E2E-B216-B24D8FDAF325}"/>
              </a:ext>
            </a:extLst>
          </p:cNvPr>
          <p:cNvSpPr>
            <a:spLocks noGrp="1"/>
          </p:cNvSpPr>
          <p:nvPr>
            <p:ph type="title"/>
          </p:nvPr>
        </p:nvSpPr>
        <p:spPr>
          <a:xfrm>
            <a:off x="964760" y="804328"/>
            <a:ext cx="6091312" cy="1205821"/>
          </a:xfrm>
        </p:spPr>
        <p:txBody>
          <a:bodyPr>
            <a:normAutofit/>
          </a:bodyPr>
          <a:lstStyle/>
          <a:p>
            <a:r>
              <a:rPr lang="en-IE" sz="4000" dirty="0">
                <a:solidFill>
                  <a:srgbClr val="FEFFFF"/>
                </a:solidFill>
              </a:rPr>
              <a:t>Raspberry Pi Serial Communication Examples</a:t>
            </a:r>
          </a:p>
        </p:txBody>
      </p:sp>
      <p:pic>
        <p:nvPicPr>
          <p:cNvPr id="1026" name="Picture 2">
            <a:extLst>
              <a:ext uri="{FF2B5EF4-FFF2-40B4-BE49-F238E27FC236}">
                <a16:creationId xmlns:a16="http://schemas.microsoft.com/office/drawing/2014/main" id="{D82C18CD-1A3C-4126-ADB7-11131E08EB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86008" y="3499307"/>
            <a:ext cx="5376522" cy="198469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FD06936-DE7A-4ED6-B5A0-EE0A90D21429}"/>
              </a:ext>
            </a:extLst>
          </p:cNvPr>
          <p:cNvPicPr>
            <a:picLocks noChangeAspect="1"/>
          </p:cNvPicPr>
          <p:nvPr/>
        </p:nvPicPr>
        <p:blipFill>
          <a:blip r:embed="rId3"/>
          <a:stretch>
            <a:fillRect/>
          </a:stretch>
        </p:blipFill>
        <p:spPr>
          <a:xfrm>
            <a:off x="7348538" y="3917436"/>
            <a:ext cx="3340358" cy="2304848"/>
          </a:xfrm>
          <a:prstGeom prst="rect">
            <a:avLst/>
          </a:prstGeom>
        </p:spPr>
      </p:pic>
      <p:pic>
        <p:nvPicPr>
          <p:cNvPr id="1028" name="Picture 4">
            <a:extLst>
              <a:ext uri="{FF2B5EF4-FFF2-40B4-BE49-F238E27FC236}">
                <a16:creationId xmlns:a16="http://schemas.microsoft.com/office/drawing/2014/main" id="{8EA57212-F6C7-4BAB-8EAA-4D1AC4FDF00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207897" y="1912425"/>
            <a:ext cx="3340358" cy="1702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181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A7B8E-F745-4943-8DAD-24001CAE69E7}"/>
              </a:ext>
            </a:extLst>
          </p:cNvPr>
          <p:cNvSpPr>
            <a:spLocks noGrp="1"/>
          </p:cNvSpPr>
          <p:nvPr>
            <p:ph type="title"/>
          </p:nvPr>
        </p:nvSpPr>
        <p:spPr/>
        <p:txBody>
          <a:bodyPr/>
          <a:lstStyle/>
          <a:p>
            <a:r>
              <a:rPr lang="en-IE"/>
              <a:t>Demo: PySerial</a:t>
            </a:r>
            <a:endParaRPr lang="en-IE" dirty="0"/>
          </a:p>
        </p:txBody>
      </p:sp>
      <p:sp>
        <p:nvSpPr>
          <p:cNvPr id="3" name="Content Placeholder 2">
            <a:extLst>
              <a:ext uri="{FF2B5EF4-FFF2-40B4-BE49-F238E27FC236}">
                <a16:creationId xmlns:a16="http://schemas.microsoft.com/office/drawing/2014/main" id="{B4351D96-B207-448B-9A6D-B10749C58F25}"/>
              </a:ext>
            </a:extLst>
          </p:cNvPr>
          <p:cNvSpPr>
            <a:spLocks noGrp="1"/>
          </p:cNvSpPr>
          <p:nvPr>
            <p:ph idx="1"/>
          </p:nvPr>
        </p:nvSpPr>
        <p:spPr>
          <a:xfrm>
            <a:off x="838200" y="1825625"/>
            <a:ext cx="4944197" cy="4351338"/>
          </a:xfrm>
        </p:spPr>
        <p:txBody>
          <a:bodyPr/>
          <a:lstStyle/>
          <a:p>
            <a:r>
              <a:rPr lang="en-IE" dirty="0"/>
              <a:t>Serial Communication uses a hardware interface “port” in programming</a:t>
            </a:r>
          </a:p>
          <a:p>
            <a:pPr lvl="1"/>
            <a:r>
              <a:rPr lang="en-IE" dirty="0"/>
              <a:t>May need some configuration in OS </a:t>
            </a:r>
          </a:p>
          <a:p>
            <a:r>
              <a:rPr lang="en-IE" dirty="0"/>
              <a:t>Libraries to access, configure and use ports for serial comms</a:t>
            </a:r>
          </a:p>
          <a:p>
            <a:pPr lvl="1"/>
            <a:r>
              <a:rPr lang="en-GB" b="0" i="0" dirty="0">
                <a:solidFill>
                  <a:srgbClr val="3A3A3A"/>
                </a:solidFill>
                <a:effectLst/>
                <a:latin typeface="-apple-system"/>
              </a:rPr>
              <a:t>handle all the low layers for you!</a:t>
            </a:r>
            <a:endParaRPr lang="en-IE" dirty="0"/>
          </a:p>
          <a:p>
            <a:endParaRPr lang="en-IE" dirty="0"/>
          </a:p>
          <a:p>
            <a:endParaRPr lang="en-IE" dirty="0"/>
          </a:p>
          <a:p>
            <a:endParaRPr lang="en-IE" dirty="0"/>
          </a:p>
        </p:txBody>
      </p:sp>
      <p:pic>
        <p:nvPicPr>
          <p:cNvPr id="5" name="Picture 4">
            <a:extLst>
              <a:ext uri="{FF2B5EF4-FFF2-40B4-BE49-F238E27FC236}">
                <a16:creationId xmlns:a16="http://schemas.microsoft.com/office/drawing/2014/main" id="{E3161E49-BB04-4007-952F-E8F64F2E7643}"/>
              </a:ext>
            </a:extLst>
          </p:cNvPr>
          <p:cNvPicPr>
            <a:picLocks noChangeAspect="1"/>
          </p:cNvPicPr>
          <p:nvPr/>
        </p:nvPicPr>
        <p:blipFill>
          <a:blip r:embed="rId3"/>
          <a:stretch>
            <a:fillRect/>
          </a:stretch>
        </p:blipFill>
        <p:spPr>
          <a:xfrm>
            <a:off x="6264564" y="636443"/>
            <a:ext cx="4944197" cy="2696835"/>
          </a:xfrm>
          <a:prstGeom prst="rect">
            <a:avLst/>
          </a:prstGeom>
        </p:spPr>
      </p:pic>
      <p:pic>
        <p:nvPicPr>
          <p:cNvPr id="7" name="Picture 6">
            <a:extLst>
              <a:ext uri="{FF2B5EF4-FFF2-40B4-BE49-F238E27FC236}">
                <a16:creationId xmlns:a16="http://schemas.microsoft.com/office/drawing/2014/main" id="{CC616B0A-3DC3-49D3-9515-C87CD34DECA4}"/>
              </a:ext>
            </a:extLst>
          </p:cNvPr>
          <p:cNvPicPr>
            <a:picLocks noChangeAspect="1"/>
          </p:cNvPicPr>
          <p:nvPr/>
        </p:nvPicPr>
        <p:blipFill>
          <a:blip r:embed="rId4"/>
          <a:stretch>
            <a:fillRect/>
          </a:stretch>
        </p:blipFill>
        <p:spPr>
          <a:xfrm>
            <a:off x="6264564" y="3524723"/>
            <a:ext cx="5410200" cy="2428875"/>
          </a:xfrm>
          <a:prstGeom prst="rect">
            <a:avLst/>
          </a:prstGeom>
        </p:spPr>
      </p:pic>
    </p:spTree>
    <p:extLst>
      <p:ext uri="{BB962C8B-B14F-4D97-AF65-F5344CB8AC3E}">
        <p14:creationId xmlns:p14="http://schemas.microsoft.com/office/powerpoint/2010/main" val="4036838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EB139-C02F-4D97-9B46-A5DE576EB195}"/>
              </a:ext>
            </a:extLst>
          </p:cNvPr>
          <p:cNvSpPr>
            <a:spLocks noGrp="1"/>
          </p:cNvSpPr>
          <p:nvPr>
            <p:ph type="title"/>
          </p:nvPr>
        </p:nvSpPr>
        <p:spPr/>
        <p:txBody>
          <a:bodyPr/>
          <a:lstStyle/>
          <a:p>
            <a:r>
              <a:rPr lang="en-IE"/>
              <a:t>Synchronous </a:t>
            </a:r>
            <a:r>
              <a:rPr lang="en-IE" dirty="0"/>
              <a:t>Communication</a:t>
            </a:r>
          </a:p>
        </p:txBody>
      </p:sp>
      <p:sp>
        <p:nvSpPr>
          <p:cNvPr id="3" name="Text Placeholder 2">
            <a:extLst>
              <a:ext uri="{FF2B5EF4-FFF2-40B4-BE49-F238E27FC236}">
                <a16:creationId xmlns:a16="http://schemas.microsoft.com/office/drawing/2014/main" id="{04227E11-C569-441E-862C-887042473A52}"/>
              </a:ext>
            </a:extLst>
          </p:cNvPr>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672059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7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3" y="321176"/>
            <a:ext cx="717424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SD Cards.svg">
            <a:extLst>
              <a:ext uri="{FF2B5EF4-FFF2-40B4-BE49-F238E27FC236}">
                <a16:creationId xmlns:a16="http://schemas.microsoft.com/office/drawing/2014/main" id="{0B6D2820-909E-4569-9EEC-ACAB580C0B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9724" y="2828925"/>
            <a:ext cx="2242063" cy="338899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upload.wikimedia.org/wikipedia/commons/thumb/e/ed/SPI_single_slave.svg/381px-SPI_single_slave.svg.png">
            <a:extLst>
              <a:ext uri="{FF2B5EF4-FFF2-40B4-BE49-F238E27FC236}">
                <a16:creationId xmlns:a16="http://schemas.microsoft.com/office/drawing/2014/main" id="{8B77F524-63CF-4748-B134-97D6CBD2A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9551" y="818614"/>
            <a:ext cx="4042409" cy="12625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F6854D6-EC3B-4C52-A976-B4B51984647F}"/>
              </a:ext>
            </a:extLst>
          </p:cNvPr>
          <p:cNvSpPr>
            <a:spLocks noGrp="1"/>
          </p:cNvSpPr>
          <p:nvPr>
            <p:ph type="title"/>
          </p:nvPr>
        </p:nvSpPr>
        <p:spPr>
          <a:xfrm>
            <a:off x="821516" y="640263"/>
            <a:ext cx="6204984" cy="1344975"/>
          </a:xfrm>
        </p:spPr>
        <p:txBody>
          <a:bodyPr>
            <a:normAutofit/>
          </a:bodyPr>
          <a:lstStyle/>
          <a:p>
            <a:r>
              <a:rPr lang="en-IE" sz="4000" dirty="0"/>
              <a:t>Serial Peripheral Interface (SPI)</a:t>
            </a:r>
          </a:p>
        </p:txBody>
      </p:sp>
      <p:sp>
        <p:nvSpPr>
          <p:cNvPr id="3" name="Content Placeholder 2">
            <a:extLst>
              <a:ext uri="{FF2B5EF4-FFF2-40B4-BE49-F238E27FC236}">
                <a16:creationId xmlns:a16="http://schemas.microsoft.com/office/drawing/2014/main" id="{ED9F0925-9303-48D8-8547-A9181BA42EFE}"/>
              </a:ext>
            </a:extLst>
          </p:cNvPr>
          <p:cNvSpPr>
            <a:spLocks noGrp="1"/>
          </p:cNvSpPr>
          <p:nvPr>
            <p:ph idx="1"/>
          </p:nvPr>
        </p:nvSpPr>
        <p:spPr>
          <a:xfrm>
            <a:off x="821515" y="2121762"/>
            <a:ext cx="6204984" cy="3626917"/>
          </a:xfrm>
        </p:spPr>
        <p:txBody>
          <a:bodyPr>
            <a:normAutofit fontScale="92500" lnSpcReduction="20000"/>
          </a:bodyPr>
          <a:lstStyle/>
          <a:p>
            <a:r>
              <a:rPr lang="en-IE" sz="2400" dirty="0"/>
              <a:t>Master and Slave Devices</a:t>
            </a:r>
          </a:p>
          <a:p>
            <a:pPr lvl="1"/>
            <a:r>
              <a:rPr lang="en-IE" dirty="0"/>
              <a:t>One master and multiple slaves</a:t>
            </a:r>
          </a:p>
          <a:p>
            <a:r>
              <a:rPr lang="en-IE" sz="2400" dirty="0"/>
              <a:t>Used in liquid crystal displays,  SD Cards, MPC3006 ADC</a:t>
            </a:r>
          </a:p>
          <a:p>
            <a:r>
              <a:rPr lang="en-IE" sz="2400" dirty="0"/>
              <a:t>Master sets the speed</a:t>
            </a:r>
          </a:p>
          <a:p>
            <a:r>
              <a:rPr lang="en-IE" sz="2400" dirty="0"/>
              <a:t>Signals</a:t>
            </a:r>
          </a:p>
          <a:p>
            <a:pPr lvl="1"/>
            <a:r>
              <a:rPr lang="en-IE" sz="2000" dirty="0"/>
              <a:t>SCLK: Serial Clock (output from master).</a:t>
            </a:r>
          </a:p>
          <a:p>
            <a:pPr lvl="1"/>
            <a:r>
              <a:rPr lang="en-IE" sz="2000" dirty="0"/>
              <a:t>MOSI: Master Output Slave Input, or Master Out Slave In (data output from master).</a:t>
            </a:r>
          </a:p>
          <a:p>
            <a:pPr lvl="1"/>
            <a:r>
              <a:rPr lang="en-IE" sz="2000" dirty="0"/>
              <a:t>MISO: Master Input Slave Output, or Master In Slave Out (data output from slave).</a:t>
            </a:r>
          </a:p>
          <a:p>
            <a:pPr lvl="1"/>
            <a:r>
              <a:rPr lang="en-IE" sz="2000" dirty="0"/>
              <a:t>SS: Slave Select (pulling line low selects slave,  output from master).</a:t>
            </a:r>
          </a:p>
          <a:p>
            <a:endParaRPr lang="en-IE" sz="2400" dirty="0"/>
          </a:p>
        </p:txBody>
      </p:sp>
    </p:spTree>
    <p:extLst>
      <p:ext uri="{BB962C8B-B14F-4D97-AF65-F5344CB8AC3E}">
        <p14:creationId xmlns:p14="http://schemas.microsoft.com/office/powerpoint/2010/main" val="2201162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8521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https://upload.wikimedia.org/wikipedia/commons/thumb/f/fc/SPI_three_slaves.svg/363px-SPI_three_slaves.svg.png">
            <a:extLst>
              <a:ext uri="{FF2B5EF4-FFF2-40B4-BE49-F238E27FC236}">
                <a16:creationId xmlns:a16="http://schemas.microsoft.com/office/drawing/2014/main" id="{431944D7-D5B4-4B8A-953E-670C77ADD0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6540" y="60052"/>
            <a:ext cx="4007904" cy="3179824"/>
          </a:xfrm>
          <a:prstGeom prst="rect">
            <a:avLst/>
          </a:prstGeom>
          <a:noFill/>
          <a:extLst>
            <a:ext uri="{909E8E84-426E-40DD-AFC4-6F175D3DCCD1}">
              <a14:hiddenFill xmlns:a14="http://schemas.microsoft.com/office/drawing/2010/main">
                <a:solidFill>
                  <a:srgbClr val="FFFFFF"/>
                </a:solidFill>
              </a14:hiddenFill>
            </a:ext>
          </a:extLst>
        </p:spPr>
      </p:pic>
      <p:cxnSp>
        <p:nvCxnSpPr>
          <p:cNvPr id="73" name="Straight Connector 72"/>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6584EAC-2BBC-41BD-861A-96F4A467E362}"/>
              </a:ext>
            </a:extLst>
          </p:cNvPr>
          <p:cNvSpPr>
            <a:spLocks noGrp="1"/>
          </p:cNvSpPr>
          <p:nvPr>
            <p:ph type="title"/>
          </p:nvPr>
        </p:nvSpPr>
        <p:spPr>
          <a:xfrm>
            <a:off x="1024129" y="585216"/>
            <a:ext cx="5062511" cy="1499616"/>
          </a:xfrm>
        </p:spPr>
        <p:txBody>
          <a:bodyPr>
            <a:normAutofit/>
          </a:bodyPr>
          <a:lstStyle/>
          <a:p>
            <a:r>
              <a:rPr lang="en-IE">
                <a:solidFill>
                  <a:srgbClr val="FFFFFF"/>
                </a:solidFill>
              </a:rPr>
              <a:t>Serial Peripheral Interface (SPI)</a:t>
            </a:r>
          </a:p>
        </p:txBody>
      </p:sp>
      <p:sp>
        <p:nvSpPr>
          <p:cNvPr id="3" name="Content Placeholder 2">
            <a:extLst>
              <a:ext uri="{FF2B5EF4-FFF2-40B4-BE49-F238E27FC236}">
                <a16:creationId xmlns:a16="http://schemas.microsoft.com/office/drawing/2014/main" id="{CEB03728-DC7B-4AD1-B6AF-8688042E88CB}"/>
              </a:ext>
            </a:extLst>
          </p:cNvPr>
          <p:cNvSpPr>
            <a:spLocks noGrp="1"/>
          </p:cNvSpPr>
          <p:nvPr>
            <p:ph idx="1"/>
          </p:nvPr>
        </p:nvSpPr>
        <p:spPr>
          <a:xfrm>
            <a:off x="1024129" y="2286000"/>
            <a:ext cx="5081232" cy="3931920"/>
          </a:xfrm>
        </p:spPr>
        <p:txBody>
          <a:bodyPr>
            <a:normAutofit/>
          </a:bodyPr>
          <a:lstStyle/>
          <a:p>
            <a:r>
              <a:rPr lang="en-IE" sz="1800" dirty="0">
                <a:solidFill>
                  <a:srgbClr val="FFFFFF"/>
                </a:solidFill>
              </a:rPr>
              <a:t>Slave select line goes low to select slave</a:t>
            </a:r>
          </a:p>
          <a:p>
            <a:r>
              <a:rPr lang="en-IE" sz="1800" dirty="0">
                <a:solidFill>
                  <a:srgbClr val="FFFFFF"/>
                </a:solidFill>
              </a:rPr>
              <a:t> Full duplex data transmission occurs.</a:t>
            </a:r>
          </a:p>
          <a:p>
            <a:pPr lvl="1"/>
            <a:r>
              <a:rPr lang="en-IE" sz="1800" dirty="0">
                <a:solidFill>
                  <a:srgbClr val="FFFFFF"/>
                </a:solidFill>
              </a:rPr>
              <a:t>The master sends a bit on the MOSI line and the slave reads it</a:t>
            </a:r>
          </a:p>
          <a:p>
            <a:pPr lvl="1"/>
            <a:r>
              <a:rPr lang="en-IE" sz="1800" dirty="0">
                <a:solidFill>
                  <a:srgbClr val="FFFFFF"/>
                </a:solidFill>
              </a:rPr>
              <a:t>The slave sends a bit on the MISO line and the master reads it. </a:t>
            </a:r>
          </a:p>
          <a:p>
            <a:r>
              <a:rPr lang="en-IE" sz="2200" dirty="0">
                <a:solidFill>
                  <a:srgbClr val="FFFFFF"/>
                </a:solidFill>
              </a:rPr>
              <a:t>MCP3008 Analog to Digital converter uses it </a:t>
            </a:r>
          </a:p>
          <a:p>
            <a:r>
              <a:rPr lang="en-IE" sz="2200" dirty="0">
                <a:solidFill>
                  <a:srgbClr val="FFFFFF"/>
                </a:solidFill>
              </a:rPr>
              <a:t>https://www.microchip.com/wwwproducts/en/MCP3008</a:t>
            </a:r>
          </a:p>
          <a:p>
            <a:endParaRPr lang="en-IE" sz="2200" dirty="0">
              <a:solidFill>
                <a:srgbClr val="FFFFFF"/>
              </a:solidFill>
            </a:endParaRPr>
          </a:p>
          <a:p>
            <a:endParaRPr lang="en-IE" sz="1800" dirty="0">
              <a:solidFill>
                <a:srgbClr val="FFFFFF"/>
              </a:solidFill>
            </a:endParaRPr>
          </a:p>
        </p:txBody>
      </p:sp>
      <p:pic>
        <p:nvPicPr>
          <p:cNvPr id="4" name="Picture 3">
            <a:extLst>
              <a:ext uri="{FF2B5EF4-FFF2-40B4-BE49-F238E27FC236}">
                <a16:creationId xmlns:a16="http://schemas.microsoft.com/office/drawing/2014/main" id="{E8E61A9F-4243-44F3-8443-55BD8A999721}"/>
              </a:ext>
            </a:extLst>
          </p:cNvPr>
          <p:cNvPicPr>
            <a:picLocks noChangeAspect="1"/>
          </p:cNvPicPr>
          <p:nvPr/>
        </p:nvPicPr>
        <p:blipFill>
          <a:blip r:embed="rId3"/>
          <a:stretch>
            <a:fillRect/>
          </a:stretch>
        </p:blipFill>
        <p:spPr>
          <a:xfrm>
            <a:off x="7185474" y="3618125"/>
            <a:ext cx="4905723" cy="2918344"/>
          </a:xfrm>
          <a:prstGeom prst="rect">
            <a:avLst/>
          </a:prstGeom>
        </p:spPr>
      </p:pic>
    </p:spTree>
    <p:extLst>
      <p:ext uri="{BB962C8B-B14F-4D97-AF65-F5344CB8AC3E}">
        <p14:creationId xmlns:p14="http://schemas.microsoft.com/office/powerpoint/2010/main" val="212098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Rectangle 13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946169" y="481264"/>
            <a:ext cx="2212848" cy="286730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51051" y="3509435"/>
            <a:ext cx="2212848" cy="285707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0677" y="485775"/>
            <a:ext cx="2203222" cy="28627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3561" y="3511487"/>
            <a:ext cx="2783884" cy="285502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7" name="Straight Connector 146"/>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08782" y="1701532"/>
            <a:ext cx="457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100" name="Picture 4" descr="https://upload.wikimedia.org/wikipedia/commons/thumb/3/3e/I2C.svg/425px-I2C.svg.png">
            <a:extLst>
              <a:ext uri="{FF2B5EF4-FFF2-40B4-BE49-F238E27FC236}">
                <a16:creationId xmlns:a16="http://schemas.microsoft.com/office/drawing/2014/main" id="{36D21336-D4BE-46D8-853B-8AA6EDCA88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9105635" y="4503902"/>
            <a:ext cx="2459736" cy="868142"/>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I²C bus logo.svg">
            <a:extLst>
              <a:ext uri="{FF2B5EF4-FFF2-40B4-BE49-F238E27FC236}">
                <a16:creationId xmlns:a16="http://schemas.microsoft.com/office/drawing/2014/main" id="{3AF89140-A8FC-41A8-84D7-81E9C4A0FD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6715643" y="881643"/>
            <a:ext cx="1883664" cy="206654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CB73F25-2374-414C-A012-83346E87E93D}"/>
              </a:ext>
            </a:extLst>
          </p:cNvPr>
          <p:cNvSpPr>
            <a:spLocks noGrp="1"/>
          </p:cNvSpPr>
          <p:nvPr>
            <p:ph type="title"/>
          </p:nvPr>
        </p:nvSpPr>
        <p:spPr>
          <a:xfrm>
            <a:off x="838200" y="365125"/>
            <a:ext cx="4981734" cy="1212315"/>
          </a:xfrm>
        </p:spPr>
        <p:txBody>
          <a:bodyPr anchor="b">
            <a:normAutofit/>
          </a:bodyPr>
          <a:lstStyle/>
          <a:p>
            <a:r>
              <a:rPr lang="en-IE" sz="4000" dirty="0"/>
              <a:t>I²C (Inter-Integrated Circuit)</a:t>
            </a:r>
          </a:p>
        </p:txBody>
      </p:sp>
      <p:sp>
        <p:nvSpPr>
          <p:cNvPr id="3" name="Content Placeholder 2">
            <a:extLst>
              <a:ext uri="{FF2B5EF4-FFF2-40B4-BE49-F238E27FC236}">
                <a16:creationId xmlns:a16="http://schemas.microsoft.com/office/drawing/2014/main" id="{866CE05B-6C5B-44CD-A66D-C44858AF719F}"/>
              </a:ext>
            </a:extLst>
          </p:cNvPr>
          <p:cNvSpPr>
            <a:spLocks noGrp="1"/>
          </p:cNvSpPr>
          <p:nvPr>
            <p:ph idx="1"/>
          </p:nvPr>
        </p:nvSpPr>
        <p:spPr>
          <a:xfrm>
            <a:off x="838200" y="1863969"/>
            <a:ext cx="4981734" cy="4312994"/>
          </a:xfrm>
        </p:spPr>
        <p:txBody>
          <a:bodyPr>
            <a:normAutofit/>
          </a:bodyPr>
          <a:lstStyle/>
          <a:p>
            <a:r>
              <a:rPr lang="en-IE" sz="2000" dirty="0"/>
              <a:t>Also referred to as 2-wire bus.</a:t>
            </a:r>
          </a:p>
          <a:p>
            <a:pPr lvl="1"/>
            <a:r>
              <a:rPr lang="en-IE" sz="2000" dirty="0"/>
              <a:t>Clock(SCL) and Data(SDA)</a:t>
            </a:r>
          </a:p>
          <a:p>
            <a:r>
              <a:rPr lang="en-IE" sz="2000" dirty="0"/>
              <a:t>Used for connecting lower-speed devices to processors and microcontrollers</a:t>
            </a:r>
          </a:p>
          <a:p>
            <a:r>
              <a:rPr lang="en-IE" sz="2000" dirty="0"/>
              <a:t>Master-slave approach.</a:t>
            </a:r>
          </a:p>
          <a:p>
            <a:r>
              <a:rPr lang="en-IE" sz="2000" dirty="0"/>
              <a:t>Unlike SPI, uses addressing instead of physical Slave Select lines (hence only </a:t>
            </a:r>
            <a:r>
              <a:rPr lang="en-IE" sz="2000" b="1" kern="1200" dirty="0">
                <a:latin typeface="+mn-lt"/>
                <a:ea typeface="+mn-ea"/>
                <a:cs typeface="+mn-cs"/>
              </a:rPr>
              <a:t>2</a:t>
            </a:r>
            <a:r>
              <a:rPr lang="en-IE" sz="2000" dirty="0"/>
              <a:t> wires).</a:t>
            </a:r>
          </a:p>
          <a:p>
            <a:r>
              <a:rPr lang="en-IE" sz="2000" dirty="0"/>
              <a:t>Speeds: 100kbs, 400kbs, 1Mbs and 3.4Mbs</a:t>
            </a:r>
          </a:p>
        </p:txBody>
      </p:sp>
    </p:spTree>
    <p:extLst>
      <p:ext uri="{BB962C8B-B14F-4D97-AF65-F5344CB8AC3E}">
        <p14:creationId xmlns:p14="http://schemas.microsoft.com/office/powerpoint/2010/main" val="696204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Freeform: Shape 7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797" y="1690688"/>
            <a:ext cx="8711202" cy="5167312"/>
          </a:xfrm>
          <a:custGeom>
            <a:avLst/>
            <a:gdLst>
              <a:gd name="connsiteX0" fmla="*/ 0 w 8711202"/>
              <a:gd name="connsiteY0" fmla="*/ 0 h 5167312"/>
              <a:gd name="connsiteX1" fmla="*/ 7243482 w 8711202"/>
              <a:gd name="connsiteY1" fmla="*/ 0 h 5167312"/>
              <a:gd name="connsiteX2" fmla="*/ 8711202 w 8711202"/>
              <a:gd name="connsiteY2" fmla="*/ 0 h 5167312"/>
              <a:gd name="connsiteX3" fmla="*/ 8711202 w 8711202"/>
              <a:gd name="connsiteY3" fmla="*/ 5167312 h 5167312"/>
              <a:gd name="connsiteX4" fmla="*/ 7243482 w 8711202"/>
              <a:gd name="connsiteY4" fmla="*/ 5167312 h 5167312"/>
              <a:gd name="connsiteX5" fmla="*/ 221324 w 8711202"/>
              <a:gd name="connsiteY5" fmla="*/ 5167312 h 5167312"/>
              <a:gd name="connsiteX6" fmla="*/ 2615203 w 8711202"/>
              <a:gd name="connsiteY6" fmla="*/ 952 h 5167312"/>
              <a:gd name="connsiteX7" fmla="*/ 0 w 8711202"/>
              <a:gd name="connsiteY7"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1202" h="5167312">
                <a:moveTo>
                  <a:pt x="0" y="0"/>
                </a:moveTo>
                <a:lnTo>
                  <a:pt x="7243482" y="0"/>
                </a:lnTo>
                <a:lnTo>
                  <a:pt x="8711202" y="0"/>
                </a:lnTo>
                <a:lnTo>
                  <a:pt x="8711202" y="5167312"/>
                </a:lnTo>
                <a:lnTo>
                  <a:pt x="7243482" y="5167312"/>
                </a:lnTo>
                <a:lnTo>
                  <a:pt x="221324" y="5167312"/>
                </a:lnTo>
                <a:lnTo>
                  <a:pt x="2615203" y="952"/>
                </a:lnTo>
                <a:lnTo>
                  <a:pt x="0" y="95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3" name="Freeform: Shape 7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5931454" cy="5166360"/>
          </a:xfrm>
          <a:custGeom>
            <a:avLst/>
            <a:gdLst>
              <a:gd name="connsiteX0" fmla="*/ 0 w 5931454"/>
              <a:gd name="connsiteY0" fmla="*/ 0 h 5166360"/>
              <a:gd name="connsiteX1" fmla="*/ 5931454 w 5931454"/>
              <a:gd name="connsiteY1" fmla="*/ 0 h 5166360"/>
              <a:gd name="connsiteX2" fmla="*/ 3537575 w 5931454"/>
              <a:gd name="connsiteY2" fmla="*/ 5166360 h 5166360"/>
              <a:gd name="connsiteX3" fmla="*/ 0 w 5931454"/>
              <a:gd name="connsiteY3" fmla="*/ 5166360 h 5166360"/>
            </a:gdLst>
            <a:ahLst/>
            <a:cxnLst>
              <a:cxn ang="0">
                <a:pos x="connsiteX0" y="connsiteY0"/>
              </a:cxn>
              <a:cxn ang="0">
                <a:pos x="connsiteX1" y="connsiteY1"/>
              </a:cxn>
              <a:cxn ang="0">
                <a:pos x="connsiteX2" y="connsiteY2"/>
              </a:cxn>
              <a:cxn ang="0">
                <a:pos x="connsiteX3" y="connsiteY3"/>
              </a:cxn>
            </a:cxnLst>
            <a:rect l="l" t="t" r="r" b="b"/>
            <a:pathLst>
              <a:path w="5931454" h="5166360">
                <a:moveTo>
                  <a:pt x="0" y="0"/>
                </a:moveTo>
                <a:lnTo>
                  <a:pt x="5931454" y="0"/>
                </a:lnTo>
                <a:lnTo>
                  <a:pt x="3537575" y="5166360"/>
                </a:lnTo>
                <a:lnTo>
                  <a:pt x="0" y="5166360"/>
                </a:lnTo>
                <a:close/>
              </a:path>
            </a:pathLst>
          </a:custGeom>
          <a:solidFill>
            <a:schemeClr val="tx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Shape 74"/>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8805" y="-2"/>
            <a:ext cx="6013194" cy="1511304"/>
          </a:xfrm>
          <a:custGeom>
            <a:avLst/>
            <a:gdLst>
              <a:gd name="connsiteX0" fmla="*/ 4545473 w 6013194"/>
              <a:gd name="connsiteY0" fmla="*/ 0 h 1511304"/>
              <a:gd name="connsiteX1" fmla="*/ 6013194 w 6013194"/>
              <a:gd name="connsiteY1" fmla="*/ 0 h 1511304"/>
              <a:gd name="connsiteX2" fmla="*/ 6013194 w 6013194"/>
              <a:gd name="connsiteY2" fmla="*/ 1508760 h 1511304"/>
              <a:gd name="connsiteX3" fmla="*/ 4545474 w 6013194"/>
              <a:gd name="connsiteY3" fmla="*/ 1508760 h 1511304"/>
              <a:gd name="connsiteX4" fmla="*/ 4545474 w 6013194"/>
              <a:gd name="connsiteY4" fmla="*/ 1511304 h 1511304"/>
              <a:gd name="connsiteX5" fmla="*/ 0 w 6013194"/>
              <a:gd name="connsiteY5" fmla="*/ 1511304 h 1511304"/>
              <a:gd name="connsiteX6" fmla="*/ 697617 w 6013194"/>
              <a:gd name="connsiteY6" fmla="*/ 3 h 1511304"/>
              <a:gd name="connsiteX7" fmla="*/ 4545473 w 6013194"/>
              <a:gd name="connsiteY7"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3194" h="1511304">
                <a:moveTo>
                  <a:pt x="4545473" y="0"/>
                </a:moveTo>
                <a:lnTo>
                  <a:pt x="6013194" y="0"/>
                </a:lnTo>
                <a:lnTo>
                  <a:pt x="6013194" y="1508760"/>
                </a:lnTo>
                <a:lnTo>
                  <a:pt x="4545474" y="1508760"/>
                </a:lnTo>
                <a:lnTo>
                  <a:pt x="4545474" y="1511304"/>
                </a:lnTo>
                <a:lnTo>
                  <a:pt x="0" y="1511304"/>
                </a:lnTo>
                <a:lnTo>
                  <a:pt x="697617" y="3"/>
                </a:lnTo>
                <a:lnTo>
                  <a:pt x="4545473" y="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AFBC65-944D-4680-ACE6-65C77A34DC71}"/>
              </a:ext>
            </a:extLst>
          </p:cNvPr>
          <p:cNvSpPr>
            <a:spLocks noGrp="1"/>
          </p:cNvSpPr>
          <p:nvPr>
            <p:ph type="title"/>
          </p:nvPr>
        </p:nvSpPr>
        <p:spPr>
          <a:xfrm>
            <a:off x="838200" y="365126"/>
            <a:ext cx="5340605" cy="1146176"/>
          </a:xfrm>
        </p:spPr>
        <p:txBody>
          <a:bodyPr>
            <a:normAutofit/>
          </a:bodyPr>
          <a:lstStyle/>
          <a:p>
            <a:r>
              <a:rPr lang="en-IE" sz="3700" dirty="0"/>
              <a:t>I²C (Inter-Integrated Circuit)</a:t>
            </a:r>
          </a:p>
        </p:txBody>
      </p:sp>
      <p:sp>
        <p:nvSpPr>
          <p:cNvPr id="3" name="Content Placeholder 2">
            <a:extLst>
              <a:ext uri="{FF2B5EF4-FFF2-40B4-BE49-F238E27FC236}">
                <a16:creationId xmlns:a16="http://schemas.microsoft.com/office/drawing/2014/main" id="{56F68E7C-BE75-4337-BEE0-D5B1AB922418}"/>
              </a:ext>
            </a:extLst>
          </p:cNvPr>
          <p:cNvSpPr>
            <a:spLocks noGrp="1"/>
          </p:cNvSpPr>
          <p:nvPr>
            <p:ph idx="1"/>
          </p:nvPr>
        </p:nvSpPr>
        <p:spPr>
          <a:xfrm>
            <a:off x="838200" y="2173288"/>
            <a:ext cx="3603171" cy="3639684"/>
          </a:xfrm>
        </p:spPr>
        <p:txBody>
          <a:bodyPr anchor="ctr">
            <a:normAutofit fontScale="92500" lnSpcReduction="20000"/>
          </a:bodyPr>
          <a:lstStyle/>
          <a:p>
            <a:pPr marL="514350" indent="-514350">
              <a:buFont typeface="+mj-lt"/>
              <a:buAutoNum type="arabicPeriod"/>
            </a:pPr>
            <a:r>
              <a:rPr lang="en-IE" sz="1700" dirty="0">
                <a:solidFill>
                  <a:schemeClr val="bg1"/>
                </a:solidFill>
              </a:rPr>
              <a:t>SDA,SLC start high</a:t>
            </a:r>
          </a:p>
          <a:p>
            <a:pPr marL="514350" indent="-514350">
              <a:buFont typeface="+mj-lt"/>
              <a:buAutoNum type="arabicPeriod"/>
            </a:pPr>
            <a:r>
              <a:rPr lang="en-IE" sz="1700" dirty="0">
                <a:solidFill>
                  <a:schemeClr val="bg1"/>
                </a:solidFill>
              </a:rPr>
              <a:t>Master: SDA to low to signal start</a:t>
            </a:r>
          </a:p>
          <a:p>
            <a:pPr marL="514350" indent="-514350">
              <a:buFont typeface="+mj-lt"/>
              <a:buAutoNum type="arabicPeriod"/>
            </a:pPr>
            <a:r>
              <a:rPr lang="en-IE" sz="1700" dirty="0">
                <a:solidFill>
                  <a:schemeClr val="bg1"/>
                </a:solidFill>
              </a:rPr>
              <a:t>Master: Send SCL with 7 bit address followed by 0 (for write)</a:t>
            </a:r>
          </a:p>
          <a:p>
            <a:pPr marL="514350" indent="-514350">
              <a:buFont typeface="+mj-lt"/>
              <a:buAutoNum type="arabicPeriod"/>
            </a:pPr>
            <a:r>
              <a:rPr lang="en-IE" sz="1700" dirty="0">
                <a:solidFill>
                  <a:schemeClr val="bg1"/>
                </a:solidFill>
              </a:rPr>
              <a:t>Slave: pulls SDA to low for Acknowledgement</a:t>
            </a:r>
          </a:p>
          <a:p>
            <a:pPr marL="514350" indent="-514350">
              <a:buFont typeface="+mj-lt"/>
              <a:buAutoNum type="arabicPeriod"/>
            </a:pPr>
            <a:r>
              <a:rPr lang="en-IE" sz="1700" dirty="0">
                <a:solidFill>
                  <a:schemeClr val="bg1"/>
                </a:solidFill>
              </a:rPr>
              <a:t>Master: sends </a:t>
            </a:r>
            <a:r>
              <a:rPr lang="en-IE" sz="1700" b="1" kern="1200" dirty="0">
                <a:solidFill>
                  <a:schemeClr val="bg1"/>
                </a:solidFill>
                <a:latin typeface="+mn-lt"/>
                <a:ea typeface="+mn-ea"/>
                <a:cs typeface="+mn-cs"/>
              </a:rPr>
              <a:t>8</a:t>
            </a:r>
            <a:r>
              <a:rPr lang="en-IE" sz="1700" dirty="0">
                <a:solidFill>
                  <a:schemeClr val="bg1"/>
                </a:solidFill>
              </a:rPr>
              <a:t> bit data on SDA</a:t>
            </a:r>
          </a:p>
          <a:p>
            <a:pPr marL="514350" indent="-514350">
              <a:buFont typeface="+mj-lt"/>
              <a:buAutoNum type="arabicPeriod"/>
            </a:pPr>
            <a:r>
              <a:rPr lang="en-IE" sz="1700" dirty="0">
                <a:solidFill>
                  <a:schemeClr val="bg1"/>
                </a:solidFill>
              </a:rPr>
              <a:t>Slave: Acknowledgement</a:t>
            </a:r>
          </a:p>
          <a:p>
            <a:pPr marL="514350" indent="-514350">
              <a:buFont typeface="+mj-lt"/>
              <a:buAutoNum type="arabicPeriod"/>
            </a:pPr>
            <a:r>
              <a:rPr lang="en-IE" sz="1700" dirty="0">
                <a:solidFill>
                  <a:schemeClr val="bg1"/>
                </a:solidFill>
              </a:rPr>
              <a:t>All: allow SDA, when SCL is  high to Stop</a:t>
            </a:r>
          </a:p>
          <a:p>
            <a:pPr marL="514350" indent="-514350">
              <a:buFont typeface="+mj-lt"/>
              <a:buAutoNum type="arabicPeriod"/>
            </a:pPr>
            <a:endParaRPr lang="en-IE" sz="1700" dirty="0">
              <a:solidFill>
                <a:schemeClr val="bg1"/>
              </a:solidFill>
            </a:endParaRPr>
          </a:p>
          <a:p>
            <a:pPr marL="0" indent="0">
              <a:buNone/>
            </a:pPr>
            <a:r>
              <a:rPr lang="en-IE" sz="1700" dirty="0">
                <a:solidFill>
                  <a:schemeClr val="bg1"/>
                </a:solidFill>
              </a:rPr>
              <a:t>https://www.youtube.com/watch?v=qeJN_80CiMU</a:t>
            </a:r>
          </a:p>
          <a:p>
            <a:endParaRPr lang="en-IE" sz="1700" dirty="0">
              <a:solidFill>
                <a:schemeClr val="bg1"/>
              </a:solidFill>
            </a:endParaRPr>
          </a:p>
        </p:txBody>
      </p:sp>
      <p:pic>
        <p:nvPicPr>
          <p:cNvPr id="7174" name="Picture 6" descr="Image result for I2C transmission">
            <a:extLst>
              <a:ext uri="{FF2B5EF4-FFF2-40B4-BE49-F238E27FC236}">
                <a16:creationId xmlns:a16="http://schemas.microsoft.com/office/drawing/2014/main" id="{4CC0D3A3-9A86-40B0-8F7F-4DB7B4CE51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9214" y="2855998"/>
            <a:ext cx="6073843" cy="2419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8025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797" y="1690688"/>
            <a:ext cx="8711202" cy="5167312"/>
          </a:xfrm>
          <a:custGeom>
            <a:avLst/>
            <a:gdLst>
              <a:gd name="connsiteX0" fmla="*/ 0 w 8711202"/>
              <a:gd name="connsiteY0" fmla="*/ 0 h 5167312"/>
              <a:gd name="connsiteX1" fmla="*/ 7243482 w 8711202"/>
              <a:gd name="connsiteY1" fmla="*/ 0 h 5167312"/>
              <a:gd name="connsiteX2" fmla="*/ 8711202 w 8711202"/>
              <a:gd name="connsiteY2" fmla="*/ 0 h 5167312"/>
              <a:gd name="connsiteX3" fmla="*/ 8711202 w 8711202"/>
              <a:gd name="connsiteY3" fmla="*/ 5167312 h 5167312"/>
              <a:gd name="connsiteX4" fmla="*/ 7243482 w 8711202"/>
              <a:gd name="connsiteY4" fmla="*/ 5167312 h 5167312"/>
              <a:gd name="connsiteX5" fmla="*/ 221324 w 8711202"/>
              <a:gd name="connsiteY5" fmla="*/ 5167312 h 5167312"/>
              <a:gd name="connsiteX6" fmla="*/ 2615203 w 8711202"/>
              <a:gd name="connsiteY6" fmla="*/ 952 h 5167312"/>
              <a:gd name="connsiteX7" fmla="*/ 0 w 8711202"/>
              <a:gd name="connsiteY7"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1202" h="5167312">
                <a:moveTo>
                  <a:pt x="0" y="0"/>
                </a:moveTo>
                <a:lnTo>
                  <a:pt x="7243482" y="0"/>
                </a:lnTo>
                <a:lnTo>
                  <a:pt x="8711202" y="0"/>
                </a:lnTo>
                <a:lnTo>
                  <a:pt x="8711202" y="5167312"/>
                </a:lnTo>
                <a:lnTo>
                  <a:pt x="7243482" y="5167312"/>
                </a:lnTo>
                <a:lnTo>
                  <a:pt x="221324" y="5167312"/>
                </a:lnTo>
                <a:lnTo>
                  <a:pt x="2615203" y="952"/>
                </a:lnTo>
                <a:lnTo>
                  <a:pt x="0" y="95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5931454" cy="5166360"/>
          </a:xfrm>
          <a:custGeom>
            <a:avLst/>
            <a:gdLst>
              <a:gd name="connsiteX0" fmla="*/ 0 w 5931454"/>
              <a:gd name="connsiteY0" fmla="*/ 0 h 5166360"/>
              <a:gd name="connsiteX1" fmla="*/ 5931454 w 5931454"/>
              <a:gd name="connsiteY1" fmla="*/ 0 h 5166360"/>
              <a:gd name="connsiteX2" fmla="*/ 3537575 w 5931454"/>
              <a:gd name="connsiteY2" fmla="*/ 5166360 h 5166360"/>
              <a:gd name="connsiteX3" fmla="*/ 0 w 5931454"/>
              <a:gd name="connsiteY3" fmla="*/ 5166360 h 5166360"/>
            </a:gdLst>
            <a:ahLst/>
            <a:cxnLst>
              <a:cxn ang="0">
                <a:pos x="connsiteX0" y="connsiteY0"/>
              </a:cxn>
              <a:cxn ang="0">
                <a:pos x="connsiteX1" y="connsiteY1"/>
              </a:cxn>
              <a:cxn ang="0">
                <a:pos x="connsiteX2" y="connsiteY2"/>
              </a:cxn>
              <a:cxn ang="0">
                <a:pos x="connsiteX3" y="connsiteY3"/>
              </a:cxn>
            </a:cxnLst>
            <a:rect l="l" t="t" r="r" b="b"/>
            <a:pathLst>
              <a:path w="5931454" h="5166360">
                <a:moveTo>
                  <a:pt x="0" y="0"/>
                </a:moveTo>
                <a:lnTo>
                  <a:pt x="5931454" y="0"/>
                </a:lnTo>
                <a:lnTo>
                  <a:pt x="3537575" y="5166360"/>
                </a:lnTo>
                <a:lnTo>
                  <a:pt x="0" y="5166360"/>
                </a:lnTo>
                <a:close/>
              </a:path>
            </a:pathLst>
          </a:custGeom>
          <a:solidFill>
            <a:schemeClr val="tx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EEFDFA74-2595-48EB-A854-3D204BAF8D98}"/>
              </a:ext>
            </a:extLst>
          </p:cNvPr>
          <p:cNvPicPr>
            <a:picLocks noChangeAspect="1"/>
          </p:cNvPicPr>
          <p:nvPr/>
        </p:nvPicPr>
        <p:blipFill>
          <a:blip r:embed="rId2"/>
          <a:stretch>
            <a:fillRect/>
          </a:stretch>
        </p:blipFill>
        <p:spPr>
          <a:xfrm>
            <a:off x="5056185" y="3353107"/>
            <a:ext cx="7035734" cy="1514313"/>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p:spPr>
      </p:pic>
      <p:sp>
        <p:nvSpPr>
          <p:cNvPr id="22" name="Freeform: Shape 2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8805" y="-2"/>
            <a:ext cx="6013194" cy="1511304"/>
          </a:xfrm>
          <a:custGeom>
            <a:avLst/>
            <a:gdLst>
              <a:gd name="connsiteX0" fmla="*/ 4545473 w 6013194"/>
              <a:gd name="connsiteY0" fmla="*/ 0 h 1511304"/>
              <a:gd name="connsiteX1" fmla="*/ 6013194 w 6013194"/>
              <a:gd name="connsiteY1" fmla="*/ 0 h 1511304"/>
              <a:gd name="connsiteX2" fmla="*/ 6013194 w 6013194"/>
              <a:gd name="connsiteY2" fmla="*/ 1508760 h 1511304"/>
              <a:gd name="connsiteX3" fmla="*/ 4545474 w 6013194"/>
              <a:gd name="connsiteY3" fmla="*/ 1508760 h 1511304"/>
              <a:gd name="connsiteX4" fmla="*/ 4545474 w 6013194"/>
              <a:gd name="connsiteY4" fmla="*/ 1511304 h 1511304"/>
              <a:gd name="connsiteX5" fmla="*/ 0 w 6013194"/>
              <a:gd name="connsiteY5" fmla="*/ 1511304 h 1511304"/>
              <a:gd name="connsiteX6" fmla="*/ 697617 w 6013194"/>
              <a:gd name="connsiteY6" fmla="*/ 3 h 1511304"/>
              <a:gd name="connsiteX7" fmla="*/ 4545473 w 6013194"/>
              <a:gd name="connsiteY7"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3194" h="1511304">
                <a:moveTo>
                  <a:pt x="4545473" y="0"/>
                </a:moveTo>
                <a:lnTo>
                  <a:pt x="6013194" y="0"/>
                </a:lnTo>
                <a:lnTo>
                  <a:pt x="6013194" y="1508760"/>
                </a:lnTo>
                <a:lnTo>
                  <a:pt x="4545474" y="1508760"/>
                </a:lnTo>
                <a:lnTo>
                  <a:pt x="4545474" y="1511304"/>
                </a:lnTo>
                <a:lnTo>
                  <a:pt x="0" y="1511304"/>
                </a:lnTo>
                <a:lnTo>
                  <a:pt x="697617" y="3"/>
                </a:lnTo>
                <a:lnTo>
                  <a:pt x="4545473" y="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19521-EA3B-4E7F-81AA-3B5ACE65B5B4}"/>
              </a:ext>
            </a:extLst>
          </p:cNvPr>
          <p:cNvSpPr>
            <a:spLocks noGrp="1"/>
          </p:cNvSpPr>
          <p:nvPr>
            <p:ph type="title"/>
          </p:nvPr>
        </p:nvSpPr>
        <p:spPr>
          <a:xfrm>
            <a:off x="838200" y="365126"/>
            <a:ext cx="5340605" cy="1146176"/>
          </a:xfrm>
        </p:spPr>
        <p:txBody>
          <a:bodyPr>
            <a:normAutofit/>
          </a:bodyPr>
          <a:lstStyle/>
          <a:p>
            <a:r>
              <a:rPr lang="en-IE" sz="3700"/>
              <a:t>I²C (Inter-Integrated Circuit)</a:t>
            </a:r>
          </a:p>
        </p:txBody>
      </p:sp>
      <p:sp>
        <p:nvSpPr>
          <p:cNvPr id="3" name="Content Placeholder 2">
            <a:extLst>
              <a:ext uri="{FF2B5EF4-FFF2-40B4-BE49-F238E27FC236}">
                <a16:creationId xmlns:a16="http://schemas.microsoft.com/office/drawing/2014/main" id="{60D68AD3-C42C-4F8A-A8AA-8E836F81C02E}"/>
              </a:ext>
            </a:extLst>
          </p:cNvPr>
          <p:cNvSpPr>
            <a:spLocks noGrp="1"/>
          </p:cNvSpPr>
          <p:nvPr>
            <p:ph idx="1"/>
          </p:nvPr>
        </p:nvSpPr>
        <p:spPr>
          <a:xfrm>
            <a:off x="838200" y="2173288"/>
            <a:ext cx="3603171" cy="3639684"/>
          </a:xfrm>
        </p:spPr>
        <p:txBody>
          <a:bodyPr anchor="ctr">
            <a:normAutofit/>
          </a:bodyPr>
          <a:lstStyle/>
          <a:p>
            <a:r>
              <a:rPr lang="en-IE" sz="2000">
                <a:solidFill>
                  <a:schemeClr val="bg1"/>
                </a:solidFill>
              </a:rPr>
              <a:t>You can transfer multiple bytes consecutively</a:t>
            </a:r>
          </a:p>
          <a:p>
            <a:pPr marL="0" indent="0">
              <a:buNone/>
            </a:pPr>
            <a:endParaRPr lang="en-IE" sz="2000" dirty="0">
              <a:solidFill>
                <a:schemeClr val="bg1"/>
              </a:solidFill>
            </a:endParaRPr>
          </a:p>
        </p:txBody>
      </p:sp>
    </p:spTree>
    <p:extLst>
      <p:ext uri="{BB962C8B-B14F-4D97-AF65-F5344CB8AC3E}">
        <p14:creationId xmlns:p14="http://schemas.microsoft.com/office/powerpoint/2010/main" val="2528031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8521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Figure 1. The 1-Wire master/slave configuration uses a single data line plus ground reference.">
            <a:extLst>
              <a:ext uri="{FF2B5EF4-FFF2-40B4-BE49-F238E27FC236}">
                <a16:creationId xmlns:a16="http://schemas.microsoft.com/office/drawing/2014/main" id="{525F24E3-F3F7-419E-B9DF-D8E3F436B8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4017" y="2637966"/>
            <a:ext cx="4007904" cy="1582067"/>
          </a:xfrm>
          <a:prstGeom prst="rect">
            <a:avLst/>
          </a:prstGeom>
          <a:noFill/>
          <a:extLst>
            <a:ext uri="{909E8E84-426E-40DD-AFC4-6F175D3DCCD1}">
              <a14:hiddenFill xmlns:a14="http://schemas.microsoft.com/office/drawing/2010/main">
                <a:solidFill>
                  <a:srgbClr val="FFFFFF"/>
                </a:solidFill>
              </a14:hiddenFill>
            </a:ext>
          </a:extLst>
        </p:spPr>
      </p:pic>
      <p:cxnSp>
        <p:nvCxnSpPr>
          <p:cNvPr id="73" name="Straight Connector 72"/>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23311C5-2A5B-4857-9CD9-F26FD161AF13}"/>
              </a:ext>
            </a:extLst>
          </p:cNvPr>
          <p:cNvSpPr>
            <a:spLocks noGrp="1"/>
          </p:cNvSpPr>
          <p:nvPr>
            <p:ph type="title"/>
          </p:nvPr>
        </p:nvSpPr>
        <p:spPr>
          <a:xfrm>
            <a:off x="1024129" y="585216"/>
            <a:ext cx="5062511" cy="1499616"/>
          </a:xfrm>
        </p:spPr>
        <p:txBody>
          <a:bodyPr>
            <a:normAutofit/>
          </a:bodyPr>
          <a:lstStyle/>
          <a:p>
            <a:r>
              <a:rPr lang="en-IE">
                <a:solidFill>
                  <a:srgbClr val="FFFFFF"/>
                </a:solidFill>
              </a:rPr>
              <a:t>1-Wire</a:t>
            </a:r>
          </a:p>
        </p:txBody>
      </p:sp>
      <p:sp>
        <p:nvSpPr>
          <p:cNvPr id="3" name="Content Placeholder 2">
            <a:extLst>
              <a:ext uri="{FF2B5EF4-FFF2-40B4-BE49-F238E27FC236}">
                <a16:creationId xmlns:a16="http://schemas.microsoft.com/office/drawing/2014/main" id="{ABA4B14B-1BC6-4AE4-A39A-828A9889D3BD}"/>
              </a:ext>
            </a:extLst>
          </p:cNvPr>
          <p:cNvSpPr>
            <a:spLocks noGrp="1"/>
          </p:cNvSpPr>
          <p:nvPr>
            <p:ph idx="1"/>
          </p:nvPr>
        </p:nvSpPr>
        <p:spPr>
          <a:xfrm>
            <a:off x="1024129" y="2286000"/>
            <a:ext cx="5081232" cy="3931920"/>
          </a:xfrm>
        </p:spPr>
        <p:txBody>
          <a:bodyPr>
            <a:normAutofit/>
          </a:bodyPr>
          <a:lstStyle/>
          <a:p>
            <a:r>
              <a:rPr lang="en-IE" sz="1800" dirty="0">
                <a:solidFill>
                  <a:srgbClr val="FFFFFF"/>
                </a:solidFill>
              </a:rPr>
              <a:t>provides low-speed data, </a:t>
            </a:r>
            <a:r>
              <a:rPr lang="en-IE" sz="1800" dirty="0" err="1">
                <a:solidFill>
                  <a:srgbClr val="FFFFFF"/>
                </a:solidFill>
              </a:rPr>
              <a:t>signaling</a:t>
            </a:r>
            <a:r>
              <a:rPr lang="en-IE" sz="1800" dirty="0">
                <a:solidFill>
                  <a:srgbClr val="FFFFFF"/>
                </a:solidFill>
              </a:rPr>
              <a:t>, and power over a single wire.</a:t>
            </a:r>
          </a:p>
          <a:p>
            <a:r>
              <a:rPr lang="en-IE" sz="1800" dirty="0">
                <a:solidFill>
                  <a:srgbClr val="FFFFFF"/>
                </a:solidFill>
              </a:rPr>
              <a:t>Similar to I²C, but lower data rates and longer range.</a:t>
            </a:r>
          </a:p>
          <a:p>
            <a:r>
              <a:rPr lang="en-IE" sz="1800" dirty="0">
                <a:solidFill>
                  <a:srgbClr val="FFFFFF"/>
                </a:solidFill>
              </a:rPr>
              <a:t>Despite the name, you need </a:t>
            </a:r>
            <a:r>
              <a:rPr lang="en-IE" sz="1800" b="1" kern="1200" dirty="0">
                <a:solidFill>
                  <a:srgbClr val="FFFFFF"/>
                </a:solidFill>
                <a:latin typeface="+mn-lt"/>
                <a:ea typeface="+mn-ea"/>
                <a:cs typeface="+mn-cs"/>
              </a:rPr>
              <a:t>2</a:t>
            </a:r>
            <a:r>
              <a:rPr lang="en-IE" sz="1800" dirty="0">
                <a:solidFill>
                  <a:srgbClr val="FFFFFF"/>
                </a:solidFill>
              </a:rPr>
              <a:t> wires:</a:t>
            </a:r>
          </a:p>
          <a:p>
            <a:pPr lvl="1"/>
            <a:r>
              <a:rPr lang="en-IE" sz="1800" dirty="0">
                <a:solidFill>
                  <a:srgbClr val="FFFFFF"/>
                </a:solidFill>
              </a:rPr>
              <a:t>Data and ground. </a:t>
            </a:r>
          </a:p>
          <a:p>
            <a:r>
              <a:rPr lang="en-IE" sz="1800" dirty="0">
                <a:solidFill>
                  <a:srgbClr val="FFFFFF"/>
                </a:solidFill>
              </a:rPr>
              <a:t>Because there’s no power(</a:t>
            </a:r>
            <a:r>
              <a:rPr lang="en-IE" sz="1800" dirty="0" err="1">
                <a:solidFill>
                  <a:srgbClr val="FFFFFF"/>
                </a:solidFill>
              </a:rPr>
              <a:t>Vcc</a:t>
            </a:r>
            <a:r>
              <a:rPr lang="en-IE" sz="1800" dirty="0">
                <a:solidFill>
                  <a:srgbClr val="FFFFFF"/>
                </a:solidFill>
              </a:rPr>
              <a:t> line), 1-Wire devices use capacitors to store power</a:t>
            </a:r>
          </a:p>
          <a:p>
            <a:pPr lvl="1"/>
            <a:r>
              <a:rPr lang="en-IE" sz="1800" dirty="0">
                <a:solidFill>
                  <a:srgbClr val="FFFFFF"/>
                </a:solidFill>
              </a:rPr>
              <a:t>Parasitic device – takes power from bus. </a:t>
            </a:r>
          </a:p>
          <a:p>
            <a:pPr lvl="1"/>
            <a:r>
              <a:rPr lang="en-IE" sz="1800" dirty="0">
                <a:solidFill>
                  <a:srgbClr val="FFFFFF"/>
                </a:solidFill>
              </a:rPr>
              <a:t> power the device when the data line is active</a:t>
            </a:r>
          </a:p>
          <a:p>
            <a:pPr marL="0" indent="0">
              <a:buNone/>
            </a:pPr>
            <a:endParaRPr lang="en-IE" sz="1800" dirty="0">
              <a:solidFill>
                <a:srgbClr val="FFFFFF"/>
              </a:solidFill>
            </a:endParaRPr>
          </a:p>
          <a:p>
            <a:endParaRPr lang="en-IE" sz="1800" dirty="0">
              <a:solidFill>
                <a:srgbClr val="FFFFFF"/>
              </a:solidFill>
            </a:endParaRPr>
          </a:p>
        </p:txBody>
      </p:sp>
    </p:spTree>
    <p:extLst>
      <p:ext uri="{BB962C8B-B14F-4D97-AF65-F5344CB8AC3E}">
        <p14:creationId xmlns:p14="http://schemas.microsoft.com/office/powerpoint/2010/main" val="569622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ectangle 134"/>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6134677" y="303591"/>
            <a:ext cx="5735590"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https://upload.wikimedia.org/wikipedia/commons/thumb/b/bc/CAN_ISO11898-2_Network.png/1920px-CAN_ISO11898-2_Network.png">
            <a:extLst>
              <a:ext uri="{FF2B5EF4-FFF2-40B4-BE49-F238E27FC236}">
                <a16:creationId xmlns:a16="http://schemas.microsoft.com/office/drawing/2014/main" id="{9A4E4653-988A-45D1-91E1-A54B223E89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484632" y="2550223"/>
            <a:ext cx="5479322" cy="17122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5F6C6A1-2567-4D78-8856-5234B08AB36C}"/>
              </a:ext>
            </a:extLst>
          </p:cNvPr>
          <p:cNvSpPr>
            <a:spLocks noGrp="1"/>
          </p:cNvSpPr>
          <p:nvPr>
            <p:ph type="title"/>
          </p:nvPr>
        </p:nvSpPr>
        <p:spPr>
          <a:xfrm>
            <a:off x="6392598" y="640263"/>
            <a:ext cx="5221266" cy="1344975"/>
          </a:xfrm>
        </p:spPr>
        <p:txBody>
          <a:bodyPr>
            <a:normAutofit/>
          </a:bodyPr>
          <a:lstStyle/>
          <a:p>
            <a:pPr algn="ctr"/>
            <a:r>
              <a:rPr lang="en-IE" sz="4000" dirty="0"/>
              <a:t>CAN (Controller Area Network)</a:t>
            </a:r>
          </a:p>
        </p:txBody>
      </p:sp>
      <p:sp>
        <p:nvSpPr>
          <p:cNvPr id="3" name="Content Placeholder 2">
            <a:extLst>
              <a:ext uri="{FF2B5EF4-FFF2-40B4-BE49-F238E27FC236}">
                <a16:creationId xmlns:a16="http://schemas.microsoft.com/office/drawing/2014/main" id="{FED3793A-2075-4990-8D1D-AF5C13929D22}"/>
              </a:ext>
            </a:extLst>
          </p:cNvPr>
          <p:cNvSpPr>
            <a:spLocks noGrp="1"/>
          </p:cNvSpPr>
          <p:nvPr>
            <p:ph idx="1"/>
          </p:nvPr>
        </p:nvSpPr>
        <p:spPr>
          <a:xfrm>
            <a:off x="6391903" y="2121763"/>
            <a:ext cx="5235490" cy="3773010"/>
          </a:xfrm>
        </p:spPr>
        <p:txBody>
          <a:bodyPr>
            <a:normAutofit/>
          </a:bodyPr>
          <a:lstStyle/>
          <a:p>
            <a:r>
              <a:rPr lang="en-IE" sz="2000" dirty="0"/>
              <a:t>A Controller Area Network (</a:t>
            </a:r>
            <a:r>
              <a:rPr lang="en-IE" sz="2000" b="1" dirty="0"/>
              <a:t>CAN bus</a:t>
            </a:r>
            <a:r>
              <a:rPr lang="en-IE" sz="2000" dirty="0"/>
              <a:t>) allows microcontrollers and devices to communicate with each other.</a:t>
            </a:r>
          </a:p>
          <a:p>
            <a:r>
              <a:rPr lang="en-IE" sz="2000" dirty="0"/>
              <a:t>Predominantly used in Automotive</a:t>
            </a:r>
          </a:p>
          <a:p>
            <a:pPr lvl="1"/>
            <a:r>
              <a:rPr lang="en-IE" sz="2000" dirty="0"/>
              <a:t>Also in aviation/industrial</a:t>
            </a:r>
          </a:p>
          <a:p>
            <a:r>
              <a:rPr lang="en-IE" sz="2000" dirty="0"/>
              <a:t>No Master-Slave, it’s </a:t>
            </a:r>
            <a:r>
              <a:rPr lang="en-IE" sz="2000" dirty="0" err="1"/>
              <a:t>mutli</a:t>
            </a:r>
            <a:r>
              <a:rPr lang="en-IE" sz="2000" dirty="0"/>
              <a:t>-master</a:t>
            </a:r>
          </a:p>
          <a:p>
            <a:pPr lvl="1"/>
            <a:r>
              <a:rPr lang="en-IE" sz="2000" dirty="0"/>
              <a:t>Any node can initiate </a:t>
            </a:r>
            <a:r>
              <a:rPr lang="en-IE" sz="2000" dirty="0" err="1"/>
              <a:t>comms</a:t>
            </a:r>
            <a:r>
              <a:rPr lang="en-IE" sz="2000" dirty="0"/>
              <a:t>.</a:t>
            </a:r>
          </a:p>
          <a:p>
            <a:r>
              <a:rPr lang="en-IE" sz="2000" dirty="0"/>
              <a:t>All nodes are connected to each other through a two wire bus</a:t>
            </a:r>
          </a:p>
        </p:txBody>
      </p:sp>
    </p:spTree>
    <p:extLst>
      <p:ext uri="{BB962C8B-B14F-4D97-AF65-F5344CB8AC3E}">
        <p14:creationId xmlns:p14="http://schemas.microsoft.com/office/powerpoint/2010/main" val="1358717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6134677" y="303591"/>
            <a:ext cx="5735590"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http://autoditex.com/cms/user/files/CAN%20BUS%20(CONTROLLER%20AREA%20NETWORK)/index_clip_image002_0009.jpg">
            <a:extLst>
              <a:ext uri="{FF2B5EF4-FFF2-40B4-BE49-F238E27FC236}">
                <a16:creationId xmlns:a16="http://schemas.microsoft.com/office/drawing/2014/main" id="{56A9B40F-6CA4-41B5-8BE6-BCAE2E98C4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632" y="1409524"/>
            <a:ext cx="5126736" cy="388350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0AE5BE4-713A-4B91-A3D4-B3F5116CB687}"/>
              </a:ext>
            </a:extLst>
          </p:cNvPr>
          <p:cNvSpPr>
            <a:spLocks noGrp="1"/>
          </p:cNvSpPr>
          <p:nvPr>
            <p:ph type="title"/>
          </p:nvPr>
        </p:nvSpPr>
        <p:spPr>
          <a:xfrm>
            <a:off x="6392598" y="640263"/>
            <a:ext cx="5221266" cy="1344975"/>
          </a:xfrm>
        </p:spPr>
        <p:txBody>
          <a:bodyPr>
            <a:normAutofit/>
          </a:bodyPr>
          <a:lstStyle/>
          <a:p>
            <a:pPr algn="ctr"/>
            <a:r>
              <a:rPr lang="en-IE" sz="4000"/>
              <a:t>CAN (Controller Area Network)</a:t>
            </a:r>
          </a:p>
        </p:txBody>
      </p:sp>
      <p:sp>
        <p:nvSpPr>
          <p:cNvPr id="3" name="Content Placeholder 2">
            <a:extLst>
              <a:ext uri="{FF2B5EF4-FFF2-40B4-BE49-F238E27FC236}">
                <a16:creationId xmlns:a16="http://schemas.microsoft.com/office/drawing/2014/main" id="{0FFED1F3-608F-41EF-9354-15E433E1A58F}"/>
              </a:ext>
            </a:extLst>
          </p:cNvPr>
          <p:cNvSpPr>
            <a:spLocks noGrp="1"/>
          </p:cNvSpPr>
          <p:nvPr>
            <p:ph idx="1"/>
          </p:nvPr>
        </p:nvSpPr>
        <p:spPr>
          <a:xfrm>
            <a:off x="6391903" y="2121763"/>
            <a:ext cx="5235490" cy="3773010"/>
          </a:xfrm>
        </p:spPr>
        <p:txBody>
          <a:bodyPr>
            <a:normAutofit/>
          </a:bodyPr>
          <a:lstStyle/>
          <a:p>
            <a:r>
              <a:rPr lang="en-IE" sz="2000" dirty="0"/>
              <a:t>CAN reduces wiring requirements</a:t>
            </a:r>
          </a:p>
          <a:p>
            <a:r>
              <a:rPr lang="en-IE" sz="2000" dirty="0"/>
              <a:t>Robust protocol with built in fault tolerance</a:t>
            </a:r>
          </a:p>
          <a:p>
            <a:r>
              <a:rPr lang="en-IE" sz="2000" dirty="0"/>
              <a:t>Reliable</a:t>
            </a:r>
          </a:p>
          <a:p>
            <a:pPr lvl="1"/>
            <a:r>
              <a:rPr lang="en-IE" sz="2000" dirty="0"/>
              <a:t>That’s why it’s the </a:t>
            </a:r>
            <a:r>
              <a:rPr lang="en-IE" sz="2000" dirty="0" err="1"/>
              <a:t>defacto</a:t>
            </a:r>
            <a:r>
              <a:rPr lang="en-IE" sz="2000" dirty="0"/>
              <a:t> protocol in automotive</a:t>
            </a:r>
          </a:p>
          <a:p>
            <a:r>
              <a:rPr lang="en-IE" sz="2400" dirty="0"/>
              <a:t>Relatively straight forward protocol to understand….</a:t>
            </a:r>
          </a:p>
          <a:p>
            <a:endParaRPr lang="en-IE" sz="2000" dirty="0"/>
          </a:p>
        </p:txBody>
      </p:sp>
    </p:spTree>
    <p:extLst>
      <p:ext uri="{BB962C8B-B14F-4D97-AF65-F5344CB8AC3E}">
        <p14:creationId xmlns:p14="http://schemas.microsoft.com/office/powerpoint/2010/main" val="1625849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Freeform 11"/>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6801" y="1690688"/>
            <a:ext cx="7316944" cy="5167312"/>
          </a:xfrm>
          <a:custGeom>
            <a:avLst/>
            <a:gdLst>
              <a:gd name="connsiteX0" fmla="*/ 0 w 7316944"/>
              <a:gd name="connsiteY0" fmla="*/ 0 h 5167312"/>
              <a:gd name="connsiteX1" fmla="*/ 7316944 w 7316944"/>
              <a:gd name="connsiteY1" fmla="*/ 0 h 5167312"/>
              <a:gd name="connsiteX2" fmla="*/ 7316944 w 7316944"/>
              <a:gd name="connsiteY2" fmla="*/ 5167312 h 5167312"/>
              <a:gd name="connsiteX3" fmla="*/ 472697 w 7316944"/>
              <a:gd name="connsiteY3" fmla="*/ 5167312 h 5167312"/>
              <a:gd name="connsiteX4" fmla="*/ 2866576 w 7316944"/>
              <a:gd name="connsiteY4" fmla="*/ 952 h 5167312"/>
              <a:gd name="connsiteX5" fmla="*/ 0 w 7316944"/>
              <a:gd name="connsiteY5"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6944" h="5167312">
                <a:moveTo>
                  <a:pt x="0" y="0"/>
                </a:moveTo>
                <a:lnTo>
                  <a:pt x="7316944" y="0"/>
                </a:lnTo>
                <a:lnTo>
                  <a:pt x="7316944" y="5167312"/>
                </a:lnTo>
                <a:lnTo>
                  <a:pt x="472697" y="5167312"/>
                </a:lnTo>
                <a:lnTo>
                  <a:pt x="2866576" y="952"/>
                </a:lnTo>
                <a:lnTo>
                  <a:pt x="0" y="952"/>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7" name="Freeform 3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746" y="1691164"/>
            <a:ext cx="7571262" cy="5166360"/>
          </a:xfrm>
          <a:custGeom>
            <a:avLst/>
            <a:gdLst>
              <a:gd name="connsiteX0" fmla="*/ 0 w 7571262"/>
              <a:gd name="connsiteY0" fmla="*/ 5166360 h 5166360"/>
              <a:gd name="connsiteX1" fmla="*/ 7571262 w 7571262"/>
              <a:gd name="connsiteY1" fmla="*/ 5166360 h 5166360"/>
              <a:gd name="connsiteX2" fmla="*/ 5177382 w 7571262"/>
              <a:gd name="connsiteY2" fmla="*/ 0 h 5166360"/>
              <a:gd name="connsiteX3" fmla="*/ 5171159 w 7571262"/>
              <a:gd name="connsiteY3" fmla="*/ 0 h 5166360"/>
              <a:gd name="connsiteX4" fmla="*/ 3981368 w 7571262"/>
              <a:gd name="connsiteY4" fmla="*/ 0 h 5166360"/>
              <a:gd name="connsiteX5" fmla="*/ 2331323 w 7571262"/>
              <a:gd name="connsiteY5" fmla="*/ 0 h 5166360"/>
              <a:gd name="connsiteX6" fmla="*/ 0 w 7571262"/>
              <a:gd name="connsiteY6" fmla="*/ 0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71262" h="5166360">
                <a:moveTo>
                  <a:pt x="0" y="5166360"/>
                </a:moveTo>
                <a:lnTo>
                  <a:pt x="7571262" y="5166360"/>
                </a:lnTo>
                <a:lnTo>
                  <a:pt x="5177382" y="0"/>
                </a:lnTo>
                <a:lnTo>
                  <a:pt x="5171159" y="0"/>
                </a:lnTo>
                <a:lnTo>
                  <a:pt x="3981368" y="0"/>
                </a:lnTo>
                <a:lnTo>
                  <a:pt x="2331323" y="0"/>
                </a:lnTo>
                <a:lnTo>
                  <a:pt x="0"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42" name="Picture 2" descr="Certified USB.svg">
            <a:extLst>
              <a:ext uri="{FF2B5EF4-FFF2-40B4-BE49-F238E27FC236}">
                <a16:creationId xmlns:a16="http://schemas.microsoft.com/office/drawing/2014/main" id="{4733DFC8-F418-4B72-86FE-C7F7625F1C5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7858897" y="2183204"/>
            <a:ext cx="4166313" cy="1403624"/>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1DC2C0C-6CAD-4346-8BD9-0100C8DE79A5}"/>
              </a:ext>
            </a:extLst>
          </p:cNvPr>
          <p:cNvPicPr>
            <a:picLocks noChangeAspect="1"/>
          </p:cNvPicPr>
          <p:nvPr/>
        </p:nvPicPr>
        <p:blipFill>
          <a:blip r:embed="rId3"/>
          <a:stretch>
            <a:fillRect/>
          </a:stretch>
        </p:blipFill>
        <p:spPr>
          <a:xfrm>
            <a:off x="6908801" y="4307280"/>
            <a:ext cx="5116410" cy="1702072"/>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p:spPr>
      </p:pic>
      <p:sp>
        <p:nvSpPr>
          <p:cNvPr id="2" name="Title 1">
            <a:extLst>
              <a:ext uri="{FF2B5EF4-FFF2-40B4-BE49-F238E27FC236}">
                <a16:creationId xmlns:a16="http://schemas.microsoft.com/office/drawing/2014/main" id="{61CE72F8-0C88-4AB6-8E68-E1E98BBAE845}"/>
              </a:ext>
            </a:extLst>
          </p:cNvPr>
          <p:cNvSpPr>
            <a:spLocks noGrp="1"/>
          </p:cNvSpPr>
          <p:nvPr>
            <p:ph type="title"/>
          </p:nvPr>
        </p:nvSpPr>
        <p:spPr>
          <a:xfrm>
            <a:off x="838200" y="365125"/>
            <a:ext cx="10515600" cy="1325563"/>
          </a:xfrm>
        </p:spPr>
        <p:txBody>
          <a:bodyPr>
            <a:normAutofit/>
          </a:bodyPr>
          <a:lstStyle/>
          <a:p>
            <a:r>
              <a:rPr lang="en-IE" dirty="0"/>
              <a:t>Universal Serial  Bus (USB)</a:t>
            </a:r>
          </a:p>
        </p:txBody>
      </p:sp>
      <p:sp>
        <p:nvSpPr>
          <p:cNvPr id="3" name="Content Placeholder 2">
            <a:extLst>
              <a:ext uri="{FF2B5EF4-FFF2-40B4-BE49-F238E27FC236}">
                <a16:creationId xmlns:a16="http://schemas.microsoft.com/office/drawing/2014/main" id="{7E43F8CF-3374-49F9-9D5C-75D06579B504}"/>
              </a:ext>
            </a:extLst>
          </p:cNvPr>
          <p:cNvSpPr>
            <a:spLocks noGrp="1"/>
          </p:cNvSpPr>
          <p:nvPr>
            <p:ph idx="1"/>
          </p:nvPr>
        </p:nvSpPr>
        <p:spPr>
          <a:xfrm>
            <a:off x="838200" y="2015406"/>
            <a:ext cx="5097779" cy="4065986"/>
          </a:xfrm>
        </p:spPr>
        <p:txBody>
          <a:bodyPr anchor="t">
            <a:normAutofit lnSpcReduction="10000"/>
          </a:bodyPr>
          <a:lstStyle/>
          <a:p>
            <a:r>
              <a:rPr lang="en-IE" sz="1600" dirty="0">
                <a:solidFill>
                  <a:schemeClr val="bg1"/>
                </a:solidFill>
              </a:rPr>
              <a:t>USB resulted from mixture of connection methods used on PCs</a:t>
            </a:r>
          </a:p>
          <a:p>
            <a:pPr lvl="1"/>
            <a:r>
              <a:rPr lang="en-IE" sz="1600" dirty="0">
                <a:solidFill>
                  <a:schemeClr val="bg1"/>
                </a:solidFill>
              </a:rPr>
              <a:t>Serial ports (modems)</a:t>
            </a:r>
          </a:p>
          <a:p>
            <a:pPr lvl="1"/>
            <a:r>
              <a:rPr lang="en-IE" sz="1600" dirty="0">
                <a:solidFill>
                  <a:schemeClr val="bg1"/>
                </a:solidFill>
              </a:rPr>
              <a:t>Parallel ports (printers)</a:t>
            </a:r>
          </a:p>
          <a:p>
            <a:pPr lvl="1"/>
            <a:r>
              <a:rPr lang="en-IE" sz="1600" dirty="0">
                <a:solidFill>
                  <a:schemeClr val="bg1"/>
                </a:solidFill>
              </a:rPr>
              <a:t>PCI  (keyboards and Mice)</a:t>
            </a:r>
          </a:p>
          <a:p>
            <a:r>
              <a:rPr lang="en-IE" sz="1600" dirty="0">
                <a:solidFill>
                  <a:schemeClr val="bg1"/>
                </a:solidFill>
              </a:rPr>
              <a:t>Now it’s “</a:t>
            </a:r>
            <a:r>
              <a:rPr lang="en-IE" sz="1600" dirty="0" err="1">
                <a:solidFill>
                  <a:schemeClr val="bg1"/>
                </a:solidFill>
              </a:rPr>
              <a:t>defacto</a:t>
            </a:r>
            <a:r>
              <a:rPr lang="en-IE" sz="1600" dirty="0">
                <a:solidFill>
                  <a:schemeClr val="bg1"/>
                </a:solidFill>
              </a:rPr>
              <a:t>”</a:t>
            </a:r>
          </a:p>
          <a:p>
            <a:r>
              <a:rPr lang="en-IE" sz="1600" dirty="0">
                <a:solidFill>
                  <a:schemeClr val="bg1"/>
                </a:solidFill>
              </a:rPr>
              <a:t>Low speed</a:t>
            </a:r>
          </a:p>
          <a:p>
            <a:pPr lvl="1"/>
            <a:r>
              <a:rPr lang="en-IE" sz="1600" dirty="0">
                <a:solidFill>
                  <a:schemeClr val="bg1"/>
                </a:solidFill>
              </a:rPr>
              <a:t>Mice, keyboards</a:t>
            </a:r>
          </a:p>
          <a:p>
            <a:r>
              <a:rPr lang="en-IE" sz="1600" dirty="0">
                <a:solidFill>
                  <a:schemeClr val="bg1"/>
                </a:solidFill>
              </a:rPr>
              <a:t>Full speed</a:t>
            </a:r>
          </a:p>
          <a:p>
            <a:pPr lvl="1"/>
            <a:r>
              <a:rPr lang="en-IE" sz="1600" dirty="0">
                <a:solidFill>
                  <a:schemeClr val="bg1"/>
                </a:solidFill>
              </a:rPr>
              <a:t>Other devices</a:t>
            </a:r>
          </a:p>
          <a:p>
            <a:r>
              <a:rPr lang="en-IE" sz="1600" dirty="0">
                <a:solidFill>
                  <a:schemeClr val="bg1"/>
                </a:solidFill>
              </a:rPr>
              <a:t>High speed</a:t>
            </a:r>
          </a:p>
          <a:p>
            <a:pPr lvl="1"/>
            <a:r>
              <a:rPr lang="en-IE" sz="1600" dirty="0">
                <a:solidFill>
                  <a:schemeClr val="bg1"/>
                </a:solidFill>
              </a:rPr>
              <a:t>USB 2.0, media devices</a:t>
            </a:r>
          </a:p>
          <a:p>
            <a:r>
              <a:rPr lang="en-IE" sz="1600" dirty="0">
                <a:solidFill>
                  <a:schemeClr val="bg1"/>
                </a:solidFill>
              </a:rPr>
              <a:t>USB </a:t>
            </a:r>
            <a:r>
              <a:rPr lang="en-IE" sz="1600" b="1" kern="1200" dirty="0">
                <a:solidFill>
                  <a:schemeClr val="bg1"/>
                </a:solidFill>
                <a:latin typeface="+mn-lt"/>
                <a:ea typeface="+mn-ea"/>
                <a:cs typeface="+mn-cs"/>
              </a:rPr>
              <a:t>3.0…</a:t>
            </a:r>
          </a:p>
          <a:p>
            <a:r>
              <a:rPr lang="en-IE" sz="1600" dirty="0">
                <a:solidFill>
                  <a:schemeClr val="bg1"/>
                </a:solidFill>
              </a:rPr>
              <a:t>Used for all sorts of stuff!!!</a:t>
            </a:r>
          </a:p>
          <a:p>
            <a:endParaRPr lang="en-IE" sz="1600" dirty="0">
              <a:solidFill>
                <a:schemeClr val="bg1"/>
              </a:solidFill>
            </a:endParaRPr>
          </a:p>
        </p:txBody>
      </p:sp>
    </p:spTree>
    <p:extLst>
      <p:ext uri="{BB962C8B-B14F-4D97-AF65-F5344CB8AC3E}">
        <p14:creationId xmlns:p14="http://schemas.microsoft.com/office/powerpoint/2010/main" val="2649833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ED8E-D92D-4767-ADCC-29033DE0CD2F}"/>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D52AE0DA-96FE-4BB9-BDA9-9ECEFF7C06FF}"/>
              </a:ext>
            </a:extLst>
          </p:cNvPr>
          <p:cNvSpPr>
            <a:spLocks noGrp="1"/>
          </p:cNvSpPr>
          <p:nvPr>
            <p:ph idx="1"/>
          </p:nvPr>
        </p:nvSpPr>
        <p:spPr/>
        <p:txBody>
          <a:bodyPr/>
          <a:lstStyle/>
          <a:p>
            <a:endParaRPr lang="en-IE"/>
          </a:p>
        </p:txBody>
      </p:sp>
      <p:pic>
        <p:nvPicPr>
          <p:cNvPr id="2050" name="Picture 2" descr="Image result for SPI vs i2c vs serial uart">
            <a:extLst>
              <a:ext uri="{FF2B5EF4-FFF2-40B4-BE49-F238E27FC236}">
                <a16:creationId xmlns:a16="http://schemas.microsoft.com/office/drawing/2014/main" id="{AF442E4A-4799-4BBF-8271-39DB3C821E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539" y="1623790"/>
            <a:ext cx="10431905" cy="4755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431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1216</TotalTime>
  <Words>2147</Words>
  <Application>Microsoft Office PowerPoint</Application>
  <PresentationFormat>Widescreen</PresentationFormat>
  <Paragraphs>240</Paragraphs>
  <Slides>25</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-apple-system</vt:lpstr>
      <vt:lpstr>Arial</vt:lpstr>
      <vt:lpstr>Calibri</vt:lpstr>
      <vt:lpstr>Calibri Light</vt:lpstr>
      <vt:lpstr>Cambria</vt:lpstr>
      <vt:lpstr>Courier New</vt:lpstr>
      <vt:lpstr>Helvetica Neue</vt:lpstr>
      <vt:lpstr>Söhne</vt:lpstr>
      <vt:lpstr>Times New Roman</vt:lpstr>
      <vt:lpstr>Wingdings</vt:lpstr>
      <vt:lpstr>Office Theme</vt:lpstr>
      <vt:lpstr>Overview of Serial Protocols</vt:lpstr>
      <vt:lpstr>We’re focussing here…</vt:lpstr>
      <vt:lpstr>Communication Protocols for Circuits: Introduction</vt:lpstr>
      <vt:lpstr>Parallel &amp; Serial</vt:lpstr>
      <vt:lpstr>PowerPoint Presentation</vt:lpstr>
      <vt:lpstr>PowerPoint Presentation</vt:lpstr>
      <vt:lpstr>PowerPoint Presentation</vt:lpstr>
      <vt:lpstr>PowerPoint Presentation</vt:lpstr>
      <vt:lpstr>PowerPoint Presentation</vt:lpstr>
      <vt:lpstr>PowerPoint Presentation</vt:lpstr>
      <vt:lpstr>Asynchronous Serial (RS232)</vt:lpstr>
      <vt:lpstr>PowerPoint Presentation</vt:lpstr>
      <vt:lpstr>Raspberry Pi Serial Communication Examples</vt:lpstr>
      <vt:lpstr>Demo: PySerial</vt:lpstr>
      <vt:lpstr>Synchronous Communication</vt:lpstr>
      <vt:lpstr>Serial Peripheral Interface (SPI)</vt:lpstr>
      <vt:lpstr>Serial Peripheral Interface (SPI)</vt:lpstr>
      <vt:lpstr>I²C (Inter-Integrated Circuit)</vt:lpstr>
      <vt:lpstr>I²C (Inter-Integrated Circuit)</vt:lpstr>
      <vt:lpstr>I²C (Inter-Integrated Circuit)</vt:lpstr>
      <vt:lpstr>1-Wire</vt:lpstr>
      <vt:lpstr>CAN (Controller Area Network)</vt:lpstr>
      <vt:lpstr>CAN (Controller Area Network)</vt:lpstr>
      <vt:lpstr>Universal Serial  Bus (USB)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Serial Bus Comms with I2C</dc:title>
  <dc:creator>fxwalsh@wit.ie</dc:creator>
  <cp:lastModifiedBy>Frank X Walsh</cp:lastModifiedBy>
  <cp:revision>46</cp:revision>
  <dcterms:created xsi:type="dcterms:W3CDTF">2017-09-13T09:14:15Z</dcterms:created>
  <dcterms:modified xsi:type="dcterms:W3CDTF">2024-02-01T14:29:56Z</dcterms:modified>
</cp:coreProperties>
</file>