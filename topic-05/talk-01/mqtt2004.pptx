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316" r:id="rId3"/>
    <p:sldId id="288" r:id="rId4"/>
    <p:sldId id="289" r:id="rId5"/>
    <p:sldId id="287" r:id="rId6"/>
    <p:sldId id="313" r:id="rId7"/>
    <p:sldId id="314" r:id="rId8"/>
    <p:sldId id="315" r:id="rId9"/>
    <p:sldId id="282" r:id="rId10"/>
    <p:sldId id="281" r:id="rId11"/>
    <p:sldId id="322" r:id="rId12"/>
    <p:sldId id="323" r:id="rId13"/>
    <p:sldId id="325" r:id="rId14"/>
    <p:sldId id="286" r:id="rId15"/>
    <p:sldId id="280" r:id="rId16"/>
    <p:sldId id="321" r:id="rId17"/>
    <p:sldId id="294" r:id="rId18"/>
    <p:sldId id="279" r:id="rId19"/>
    <p:sldId id="324" r:id="rId20"/>
    <p:sldId id="326" r:id="rId21"/>
    <p:sldId id="1136" r:id="rId22"/>
    <p:sldId id="257" r:id="rId23"/>
    <p:sldId id="258" r:id="rId24"/>
    <p:sldId id="259" r:id="rId25"/>
    <p:sldId id="261" r:id="rId26"/>
    <p:sldId id="263" r:id="rId27"/>
    <p:sldId id="264" r:id="rId28"/>
    <p:sldId id="265" r:id="rId29"/>
    <p:sldId id="1134" r:id="rId30"/>
    <p:sldId id="113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1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76" y="3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D4F193-0B1A-45D5-B227-EC4FDC03B008}" type="datetimeFigureOut">
              <a:rPr lang="en-IE" smtClean="0"/>
              <a:t>09/02/2024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58DC8F-AF75-4556-8DF5-4C55FD00B97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32273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7A835-90E1-4574-9638-302D7C28B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44BD15-F57F-4F02-A6F9-888E6B61E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09B44-8E0E-4274-A7F6-6C5232D78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09/02/2024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40834-91BD-453D-94B8-60247D33A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9E257-B9D8-4BD8-8876-AA94ACC41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00739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D3B14-AAA4-4A60-A3BD-0B93ECCD5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8CD71-85B7-45BC-91A6-50327E94C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16802-9F02-41EA-991E-CEF667410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09/02/2024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DC9B3-2F63-4F39-AB62-74700945E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C4D47-931D-46F8-81F5-80619AFB7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84330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82A44-D296-4DF7-8F28-4C6021371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360BD-EC5C-41CF-80A7-C03FD715A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5EF77-BFD0-4BBE-91C2-67A9E7DD9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09/02/2024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ADFC4-8D46-4AA1-9D43-DBF9FFC05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014A6-3960-40A2-A5CE-37CA79182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55171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865AD-835B-41BD-8833-3F25B2E86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545C2-9C70-4FCF-85E0-8A8289CA7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70472-A53C-4D02-B38D-4771F1C2E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2C6831-19F0-4296-8AEC-09D780824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09/02/2024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D71F5-104A-4EE7-AA5C-0A22ECDF0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90C473-B102-462A-AFC0-9C2E3F261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52095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127E2-4A36-4DF2-85F1-1EB55802B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94EA4-3FB1-4A6C-B216-A739519ED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125515-4E89-41D4-ACA3-F73D8A012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425B79-7521-4E08-B7CC-4B19068BD2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51E10-8AE9-4B08-8337-D677C447FD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AF229E-09AE-4875-A403-AEA372BFA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09/02/2024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C5E421-3B5A-4E8E-926C-E198F9C17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017B84-F061-417E-9A38-5AD911069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17627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EBA12-ACD9-41F1-9AF9-D79F4B827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E0E397-4C8F-49BB-AC12-71278BD3D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09/02/2024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4296F1-5FB1-41F0-B63A-14D4BF651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693B71-4F20-4420-8A56-F49CDE5EB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09955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ABDD4A-B1C0-401C-8446-6EEC3C396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09/02/2024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4C3676-7CAD-4C8F-9668-5CC40B68A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3C601-17EA-4C4C-B6C2-5272CE37A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63225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59FC0-3E75-4FD6-B7E3-8CA16F51A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E53D7-1585-414D-AB6C-FA31A3499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BC2CAC-456D-469E-BFD1-4AA40C76C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1E3FD0-07D9-4B57-9232-69ABF0E8E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09/02/2024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76679-9C84-4242-B4D2-0E183D262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AF5323-7E26-4146-B56F-F0F37EFD3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39391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E8BC3-3B90-4EC3-A46E-5EAD66352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F4884A-7C27-4F72-86AC-3DCD1983E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171061-3629-427C-BB90-30B3431DA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E92D5-EEC5-4BB3-9E26-4884243D0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09/02/2024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761D1F-2220-47A3-86CC-1ADDF19A3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D1A670-7490-4168-B937-B14DC5BB6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79892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3ACC4-3692-44BE-82E5-58DEFE144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C24BBC-414C-4B12-87B9-A15775C321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8F25E-8900-4907-AE81-F4BE4E3CF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09/02/2024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61329-EC06-48B7-BD3D-C1A95BC3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964E2-6C4B-4A7E-B3FD-EA47900FC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94063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8CFBD3-742A-42CE-8C6C-095E807578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F5BC8C-4AC5-40D2-9EBC-4A1D354B6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D2189-D81D-40CB-BB48-ECC1EAA61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09/02/2024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85BD5-0F7A-4D4A-8C19-89540009E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6FB5B-21A4-49D4-AE4B-2F1A96301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90333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A4E485-90C0-4F04-8ECA-AD1976CF5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F6EEE-B537-4AC1-91AA-EDF2723E9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ECE90-A04C-45BD-AF90-1358A49F42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ABD58-09F1-4112-9FB1-2CAFF72B0B57}" type="datetimeFigureOut">
              <a:rPr lang="en-IE" smtClean="0"/>
              <a:t>09/02/2024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73C58-40BD-4962-B357-18F229F7BF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5B7A9-55A8-47E6-A8C1-87F2A148F4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85868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lipboard_(software)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cyber-security-encryption-security-2537786/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rp.org/journal/paperinformation.aspx?paperid=104212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/3.0/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whosting.com/blog/en/transport-layer-security-tls-works/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versity.org/wiki/Internet_Protocol_Analysis/Network_Monitoring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27BF1-4590-451C-BE54-55D23340D2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Indirect Messaging</a:t>
            </a:r>
            <a:endParaRPr lang="en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54D910-0724-4255-8AF5-63326135AD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Frank Walsh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197360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0">
            <a:extLst>
              <a:ext uri="{FF2B5EF4-FFF2-40B4-BE49-F238E27FC236}">
                <a16:creationId xmlns:a16="http://schemas.microsoft.com/office/drawing/2014/main" id="{911A6C77-6109-4F77-975B-C375615A5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12">
            <a:extLst>
              <a:ext uri="{FF2B5EF4-FFF2-40B4-BE49-F238E27FC236}">
                <a16:creationId xmlns:a16="http://schemas.microsoft.com/office/drawing/2014/main" id="{CB343D17-9934-455E-B326-2F39206BA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25" name="Freeform 44">
              <a:extLst>
                <a:ext uri="{FF2B5EF4-FFF2-40B4-BE49-F238E27FC236}">
                  <a16:creationId xmlns:a16="http://schemas.microsoft.com/office/drawing/2014/main" id="{A8AA2B63-BFCD-40D0-B2D0-CB714D70E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23203" y="635716"/>
              <a:ext cx="328612" cy="1742360"/>
            </a:xfrm>
            <a:custGeom>
              <a:avLst/>
              <a:gdLst>
                <a:gd name="T0" fmla="*/ 207 w 207"/>
                <a:gd name="T1" fmla="*/ 987 h 1114"/>
                <a:gd name="T2" fmla="*/ 0 w 207"/>
                <a:gd name="T3" fmla="*/ 1114 h 1114"/>
                <a:gd name="T4" fmla="*/ 0 w 207"/>
                <a:gd name="T5" fmla="*/ 127 h 1114"/>
                <a:gd name="T6" fmla="*/ 207 w 207"/>
                <a:gd name="T7" fmla="*/ 0 h 1114"/>
                <a:gd name="T8" fmla="*/ 207 w 207"/>
                <a:gd name="T9" fmla="*/ 987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1114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45">
              <a:extLst>
                <a:ext uri="{FF2B5EF4-FFF2-40B4-BE49-F238E27FC236}">
                  <a16:creationId xmlns:a16="http://schemas.microsoft.com/office/drawing/2014/main" id="{80834EBB-06EA-4C69-AF7A-D5A4E69D8A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1022350"/>
              <a:ext cx="709612" cy="2095501"/>
            </a:xfrm>
            <a:custGeom>
              <a:avLst/>
              <a:gdLst>
                <a:gd name="T0" fmla="*/ 447 w 447"/>
                <a:gd name="T1" fmla="*/ 1363 h 1363"/>
                <a:gd name="T2" fmla="*/ 0 w 447"/>
                <a:gd name="T3" fmla="*/ 987 h 1363"/>
                <a:gd name="T4" fmla="*/ 0 w 447"/>
                <a:gd name="T5" fmla="*/ 0 h 1363"/>
                <a:gd name="T6" fmla="*/ 447 w 447"/>
                <a:gd name="T7" fmla="*/ 376 h 1363"/>
                <a:gd name="T8" fmla="*/ 447 w 447"/>
                <a:gd name="T9" fmla="*/ 1363 h 1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1363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46">
              <a:extLst>
                <a:ext uri="{FF2B5EF4-FFF2-40B4-BE49-F238E27FC236}">
                  <a16:creationId xmlns:a16="http://schemas.microsoft.com/office/drawing/2014/main" id="{2D314EC1-63E0-43B5-9CD5-F25593B2CA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837744"/>
              <a:ext cx="403225" cy="1705431"/>
            </a:xfrm>
            <a:custGeom>
              <a:avLst/>
              <a:gdLst>
                <a:gd name="T0" fmla="*/ 254 w 254"/>
                <a:gd name="T1" fmla="*/ 987 h 1109"/>
                <a:gd name="T2" fmla="*/ 0 w 254"/>
                <a:gd name="T3" fmla="*/ 1109 h 1109"/>
                <a:gd name="T4" fmla="*/ 0 w 254"/>
                <a:gd name="T5" fmla="*/ 119 h 1109"/>
                <a:gd name="T6" fmla="*/ 254 w 254"/>
                <a:gd name="T7" fmla="*/ 0 h 1109"/>
                <a:gd name="T8" fmla="*/ 254 w 254"/>
                <a:gd name="T9" fmla="*/ 987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09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47">
              <a:extLst>
                <a:ext uri="{FF2B5EF4-FFF2-40B4-BE49-F238E27FC236}">
                  <a16:creationId xmlns:a16="http://schemas.microsoft.com/office/drawing/2014/main" id="{9577EB7D-16A7-4E05-9105-431E729665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660" y="640894"/>
              <a:ext cx="168275" cy="1713195"/>
            </a:xfrm>
            <a:custGeom>
              <a:avLst/>
              <a:gdLst>
                <a:gd name="T0" fmla="*/ 106 w 106"/>
                <a:gd name="T1" fmla="*/ 1114 h 1114"/>
                <a:gd name="T2" fmla="*/ 0 w 106"/>
                <a:gd name="T3" fmla="*/ 1005 h 1114"/>
                <a:gd name="T4" fmla="*/ 0 w 106"/>
                <a:gd name="T5" fmla="*/ 0 h 1114"/>
                <a:gd name="T6" fmla="*/ 106 w 106"/>
                <a:gd name="T7" fmla="*/ 110 h 1114"/>
                <a:gd name="T8" fmla="*/ 106 w 106"/>
                <a:gd name="T9" fmla="*/ 1114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114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C1741C3-592F-47B5-93A0-66FC0BB97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647537A-2511-4EDD-93FB-08EA32E57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Agenda </a:t>
            </a:r>
            <a:endParaRPr lang="en-IE" sz="4000">
              <a:solidFill>
                <a:srgbClr val="FFFFFF"/>
              </a:solidFill>
            </a:endParaRP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49A55D45-293A-45C8-AB00-EC1227DA26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187" b="-5"/>
          <a:stretch/>
        </p:blipFill>
        <p:spPr>
          <a:xfrm>
            <a:off x="1424902" y="2492376"/>
            <a:ext cx="3209779" cy="356337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48025-F871-4E02-90D2-C69454D78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569" y="2494450"/>
            <a:ext cx="5471529" cy="3563159"/>
          </a:xfrm>
        </p:spPr>
        <p:txBody>
          <a:bodyPr>
            <a:normAutofit/>
          </a:bodyPr>
          <a:lstStyle/>
          <a:p>
            <a:r>
              <a:rPr lang="en-IE" sz="2400" dirty="0"/>
              <a:t>Indirect Messaging</a:t>
            </a:r>
          </a:p>
          <a:p>
            <a:pPr lvl="1"/>
            <a:r>
              <a:rPr lang="en-IE" dirty="0"/>
              <a:t>MQTT</a:t>
            </a:r>
          </a:p>
          <a:p>
            <a:pPr lvl="1"/>
            <a:r>
              <a:rPr lang="en-IE" dirty="0"/>
              <a:t>MQTT Security</a:t>
            </a:r>
          </a:p>
          <a:p>
            <a:r>
              <a:rPr lang="en-IE" sz="2400" dirty="0"/>
              <a:t>Example: </a:t>
            </a:r>
          </a:p>
          <a:p>
            <a:pPr lvl="1"/>
            <a:r>
              <a:rPr lang="en-IE" sz="2000" dirty="0"/>
              <a:t>Publish Env data to broker.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1B5FBD-92F3-43B2-923C-5F45BCA2EDBE}"/>
              </a:ext>
            </a:extLst>
          </p:cNvPr>
          <p:cNvSpPr txBox="1"/>
          <p:nvPr/>
        </p:nvSpPr>
        <p:spPr>
          <a:xfrm>
            <a:off x="2327639" y="5855693"/>
            <a:ext cx="230704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s://en.wikipedia.org/wiki/Clipboard_(software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013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3411F-FC48-422F-A402-02B118FB7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Indirect Messaging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48272-9074-4AA7-A423-AC2046402B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Publish Subscribe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19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Using the “Middleman”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825625"/>
            <a:ext cx="849267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88620" lvl="1" indent="-342900">
              <a:buClr>
                <a:schemeClr val="accent1"/>
              </a:buClr>
              <a:buSzPct val="85000"/>
            </a:pPr>
            <a:r>
              <a:rPr lang="en-US" sz="2400" dirty="0"/>
              <a:t>Communication between processes using an intermediary</a:t>
            </a:r>
            <a:endParaRPr lang="en-US">
              <a:cs typeface="Calibri"/>
            </a:endParaRP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US" dirty="0"/>
              <a:t>Sender </a:t>
            </a:r>
            <a:r>
              <a:rPr lang="en-US" dirty="0">
                <a:sym typeface="Wingdings" pitchFamily="2" charset="2"/>
              </a:rPr>
              <a:t> “</a:t>
            </a:r>
            <a:r>
              <a:rPr lang="en-US" dirty="0">
                <a:solidFill>
                  <a:srgbClr val="0070C0"/>
                </a:solidFill>
              </a:rPr>
              <a:t>The middle-man”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Receiver</a:t>
            </a:r>
            <a:endParaRPr lang="en-US" dirty="0">
              <a:cs typeface="Calibri"/>
            </a:endParaRP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US" dirty="0">
                <a:sym typeface="Wingdings" pitchFamily="2" charset="2"/>
              </a:rPr>
              <a:t>No direct coupling</a:t>
            </a:r>
            <a:endParaRPr lang="en-US" dirty="0">
              <a:cs typeface="Calibri"/>
            </a:endParaRPr>
          </a:p>
          <a:p>
            <a:pPr marL="388620" lvl="1" indent="-342900">
              <a:buClr>
                <a:schemeClr val="accent1"/>
              </a:buClr>
              <a:buSzPct val="85000"/>
            </a:pPr>
            <a:r>
              <a:rPr lang="en-US" dirty="0">
                <a:sym typeface="Wingdings" pitchFamily="2" charset="2"/>
              </a:rPr>
              <a:t>Up to now, only considered Direct Coupling</a:t>
            </a:r>
            <a:endParaRPr lang="en-US" dirty="0">
              <a:cs typeface="Calibri"/>
            </a:endParaRP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US" dirty="0">
                <a:sym typeface="Wingdings" pitchFamily="2" charset="2"/>
              </a:rPr>
              <a:t>Introduces a degree of rigidity</a:t>
            </a:r>
            <a:endParaRPr lang="en-US" dirty="0">
              <a:cs typeface="Calibri"/>
            </a:endParaRPr>
          </a:p>
          <a:p>
            <a:pPr marL="388620" lvl="1" indent="-342900">
              <a:buClr>
                <a:schemeClr val="accent1"/>
              </a:buClr>
              <a:buSzPct val="85000"/>
            </a:pPr>
            <a:r>
              <a:rPr lang="en-US" dirty="0">
                <a:sym typeface="Wingdings" pitchFamily="2" charset="2"/>
              </a:rPr>
              <a:t>Consider…</a:t>
            </a:r>
            <a:endParaRPr lang="en-US" dirty="0">
              <a:cs typeface="Calibri"/>
            </a:endParaRP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US" dirty="0">
                <a:sym typeface="Wingdings" pitchFamily="2" charset="2"/>
              </a:rPr>
              <a:t>What happens if a device fails during communication in Direct Coupling?</a:t>
            </a:r>
            <a:endParaRPr lang="en-US" dirty="0">
              <a:cs typeface="Calibri"/>
            </a:endParaRP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US" dirty="0">
                <a:cs typeface="Calibri"/>
              </a:rPr>
              <a:t>What if you'd like to add</a:t>
            </a:r>
            <a:endParaRPr lang="en-US" dirty="0"/>
          </a:p>
          <a:p>
            <a:pPr marL="388620" lvl="1" indent="-342900">
              <a:buClr>
                <a:schemeClr val="accent1"/>
              </a:buClr>
              <a:buSzPct val="85000"/>
            </a:pPr>
            <a:r>
              <a:rPr lang="en-IE" dirty="0"/>
              <a:t>Two important properties of intermediary in communication</a:t>
            </a:r>
            <a:endParaRPr lang="en-IE" dirty="0">
              <a:cs typeface="Calibri"/>
            </a:endParaRP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IE" b="1" i="1"/>
              <a:t>Space uncoupling</a:t>
            </a:r>
            <a:r>
              <a:rPr lang="en-IE" i="1">
                <a:cs typeface="Calibri"/>
              </a:rPr>
              <a:t> (devices don't need to "know" about each other)</a:t>
            </a: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IE" b="1" i="1" dirty="0"/>
              <a:t>Time uncoupling</a:t>
            </a:r>
            <a:r>
              <a:rPr lang="en-IE" i="1" dirty="0">
                <a:cs typeface="Calibri"/>
              </a:rPr>
              <a:t> (devices don't need to be "available" at the same time)</a:t>
            </a:r>
            <a:endParaRPr lang="en-US" dirty="0">
              <a:cs typeface="Calibri"/>
            </a:endParaRPr>
          </a:p>
          <a:p>
            <a:pPr marL="388620" lvl="1" indent="-342900">
              <a:buClr>
                <a:schemeClr val="accent1"/>
              </a:buClr>
              <a:buSzPct val="85000"/>
            </a:pPr>
            <a:endParaRPr lang="en-US" dirty="0">
              <a:cs typeface="Calibri"/>
            </a:endParaRPr>
          </a:p>
          <a:p>
            <a:endParaRPr lang="en-IE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54545F6-4827-4A25-9DD8-CE7F42B22E71}"/>
              </a:ext>
            </a:extLst>
          </p:cNvPr>
          <p:cNvSpPr/>
          <p:nvPr/>
        </p:nvSpPr>
        <p:spPr>
          <a:xfrm>
            <a:off x="8623299" y="113937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A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BFB5F3C-72A3-4545-B673-6095924DB902}"/>
              </a:ext>
            </a:extLst>
          </p:cNvPr>
          <p:cNvSpPr/>
          <p:nvPr/>
        </p:nvSpPr>
        <p:spPr>
          <a:xfrm>
            <a:off x="10691584" y="1139369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B</a:t>
            </a:r>
            <a:endParaRPr lang="en-US" dirty="0"/>
          </a:p>
        </p:txBody>
      </p:sp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80AFD9B1-0B80-4C9A-8AC4-C788422B5BB8}"/>
              </a:ext>
            </a:extLst>
          </p:cNvPr>
          <p:cNvSpPr/>
          <p:nvPr/>
        </p:nvSpPr>
        <p:spPr>
          <a:xfrm>
            <a:off x="9606353" y="1526612"/>
            <a:ext cx="1025652" cy="130847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00EF63E-FB16-417E-B40F-4DAF270D1EB4}"/>
              </a:ext>
            </a:extLst>
          </p:cNvPr>
          <p:cNvSpPr/>
          <p:nvPr/>
        </p:nvSpPr>
        <p:spPr>
          <a:xfrm>
            <a:off x="8006442" y="2745013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A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685FA65-2633-428C-A74A-5B9E2A4EAFE3}"/>
              </a:ext>
            </a:extLst>
          </p:cNvPr>
          <p:cNvSpPr/>
          <p:nvPr/>
        </p:nvSpPr>
        <p:spPr>
          <a:xfrm>
            <a:off x="11045371" y="271779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B</a:t>
            </a:r>
            <a:endParaRPr lang="en-US" dirty="0"/>
          </a:p>
        </p:txBody>
      </p:sp>
      <p:sp>
        <p:nvSpPr>
          <p:cNvPr id="9" name="Arrow: Left-Right 8">
            <a:extLst>
              <a:ext uri="{FF2B5EF4-FFF2-40B4-BE49-F238E27FC236}">
                <a16:creationId xmlns:a16="http://schemas.microsoft.com/office/drawing/2014/main" id="{18E82F95-A715-46E3-ACD0-337660751C99}"/>
              </a:ext>
            </a:extLst>
          </p:cNvPr>
          <p:cNvSpPr/>
          <p:nvPr/>
        </p:nvSpPr>
        <p:spPr>
          <a:xfrm>
            <a:off x="8944138" y="3132255"/>
            <a:ext cx="490438" cy="130847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EE1025-3B9F-4A72-B711-7D176BE9DB10}"/>
              </a:ext>
            </a:extLst>
          </p:cNvPr>
          <p:cNvSpPr/>
          <p:nvPr/>
        </p:nvSpPr>
        <p:spPr>
          <a:xfrm>
            <a:off x="9476014" y="2935514"/>
            <a:ext cx="1014186" cy="4789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cs typeface="Calibri"/>
              </a:rPr>
              <a:t>Intermediary</a:t>
            </a:r>
            <a:endParaRPr lang="en-US" sz="1600" dirty="0">
              <a:cs typeface="Calibri"/>
            </a:endParaRPr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1F325FA0-F60A-4B3A-B78C-1C4A28F29F61}"/>
              </a:ext>
            </a:extLst>
          </p:cNvPr>
          <p:cNvSpPr/>
          <p:nvPr/>
        </p:nvSpPr>
        <p:spPr>
          <a:xfrm>
            <a:off x="10522567" y="3105040"/>
            <a:ext cx="490438" cy="130847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5F5013-4235-47F2-8B87-C2D7FC33DA8B}"/>
              </a:ext>
            </a:extLst>
          </p:cNvPr>
          <p:cNvSpPr txBox="1"/>
          <p:nvPr/>
        </p:nvSpPr>
        <p:spPr>
          <a:xfrm>
            <a:off x="8706756" y="796471"/>
            <a:ext cx="2743200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cs typeface="Calibri"/>
              </a:rPr>
              <a:t>Direct Communication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B994E9-7E7B-43B6-9BF8-D573694EB084}"/>
              </a:ext>
            </a:extLst>
          </p:cNvPr>
          <p:cNvSpPr txBox="1"/>
          <p:nvPr/>
        </p:nvSpPr>
        <p:spPr>
          <a:xfrm>
            <a:off x="8706755" y="2438399"/>
            <a:ext cx="2743200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cs typeface="Calibri"/>
              </a:rPr>
              <a:t>Indirect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968894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 result for MQTT">
            <a:extLst>
              <a:ext uri="{FF2B5EF4-FFF2-40B4-BE49-F238E27FC236}">
                <a16:creationId xmlns:a16="http://schemas.microsoft.com/office/drawing/2014/main" id="{FBB0F5CB-6430-4725-AECF-67952F3A87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2" r="16584"/>
          <a:stretch/>
        </p:blipFill>
        <p:spPr bwMode="auto">
          <a:xfrm>
            <a:off x="20" y="10"/>
            <a:ext cx="4635571" cy="685799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88442B-E82A-4B58-BEF1-B46F4F3E9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en-US" dirty="0"/>
              <a:t>MQTT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3CF6B-E412-4F47-BDB8-3683BF445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E" sz="2000" dirty="0"/>
              <a:t>MQ Telemetry Transport (MQTT)</a:t>
            </a:r>
          </a:p>
          <a:p>
            <a:r>
              <a:rPr lang="en-IE" sz="2000" dirty="0"/>
              <a:t>Telemetry</a:t>
            </a:r>
          </a:p>
          <a:p>
            <a:pPr lvl="1"/>
            <a:r>
              <a:rPr lang="en-IE" sz="2000" dirty="0"/>
              <a:t>Remote measurements</a:t>
            </a:r>
          </a:p>
          <a:p>
            <a:r>
              <a:rPr lang="en-US" sz="2000" dirty="0"/>
              <a:t>C</a:t>
            </a:r>
            <a:r>
              <a:rPr lang="en-IE" sz="2000" err="1"/>
              <a:t>reated</a:t>
            </a:r>
            <a:r>
              <a:rPr lang="en-IE" sz="2000" dirty="0"/>
              <a:t> by IBM</a:t>
            </a:r>
            <a:endParaRPr lang="en-IE" sz="2000" dirty="0">
              <a:cs typeface="Calibri"/>
            </a:endParaRPr>
          </a:p>
          <a:p>
            <a:pPr lvl="1"/>
            <a:r>
              <a:rPr lang="en-IE" sz="2000" dirty="0"/>
              <a:t>from message queueing (MQ) architecture used by IBM for service oriented networks. </a:t>
            </a:r>
            <a:endParaRPr lang="en-IE" sz="2000" dirty="0">
              <a:cs typeface="Calibri"/>
            </a:endParaRPr>
          </a:p>
          <a:p>
            <a:pPr lvl="1"/>
            <a:r>
              <a:rPr lang="en-IE" sz="2000"/>
              <a:t>Telemetry data goes from devices to a server or </a:t>
            </a:r>
            <a:r>
              <a:rPr lang="en-IE" sz="2000" dirty="0"/>
              <a:t>broker.</a:t>
            </a:r>
            <a:endParaRPr lang="en-IE" sz="2000" dirty="0">
              <a:cs typeface="Calibri"/>
            </a:endParaRPr>
          </a:p>
          <a:p>
            <a:pPr lvl="1"/>
            <a:r>
              <a:rPr lang="en-IE" sz="2000" dirty="0"/>
              <a:t>Uses a </a:t>
            </a:r>
            <a:r>
              <a:rPr lang="en-IE" sz="2000" b="1" dirty="0"/>
              <a:t>publish/subscribe</a:t>
            </a:r>
            <a:r>
              <a:rPr lang="en-IE" sz="2000" dirty="0"/>
              <a:t> mechanism.</a:t>
            </a:r>
            <a:endParaRPr lang="en-IE" sz="2000" dirty="0">
              <a:cs typeface="Calibri"/>
            </a:endParaRPr>
          </a:p>
          <a:p>
            <a:r>
              <a:rPr lang="en-US" sz="2000" dirty="0"/>
              <a:t>Lightweight both in bandwidth and code footprint</a:t>
            </a:r>
            <a:endParaRPr lang="en-IE" sz="2000" dirty="0"/>
          </a:p>
          <a:p>
            <a:endParaRPr lang="en-IE" sz="2000" b="1" dirty="0"/>
          </a:p>
          <a:p>
            <a:endParaRPr lang="en-IE" sz="2000" dirty="0"/>
          </a:p>
        </p:txBody>
      </p:sp>
    </p:spTree>
    <p:extLst>
      <p:ext uri="{BB962C8B-B14F-4D97-AF65-F5344CB8AC3E}">
        <p14:creationId xmlns:p14="http://schemas.microsoft.com/office/powerpoint/2010/main" val="3437201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Image result for MQTT">
            <a:extLst>
              <a:ext uri="{FF2B5EF4-FFF2-40B4-BE49-F238E27FC236}">
                <a16:creationId xmlns:a16="http://schemas.microsoft.com/office/drawing/2014/main" id="{57C523D5-F4B8-46D7-8FF1-65E6DA949C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4" r="-2" b="-2"/>
          <a:stretch/>
        </p:blipFill>
        <p:spPr bwMode="auto">
          <a:xfrm>
            <a:off x="4636008" y="640082"/>
            <a:ext cx="6916329" cy="5577837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3400D0-9859-4C30-A5FB-2EE02EF96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667039" cy="1676603"/>
          </a:xfrm>
        </p:spPr>
        <p:txBody>
          <a:bodyPr>
            <a:normAutofit/>
          </a:bodyPr>
          <a:lstStyle/>
          <a:p>
            <a:r>
              <a:rPr lang="en-US" sz="4100"/>
              <a:t>MQTT – publish subscribe</a:t>
            </a:r>
            <a:endParaRPr lang="en-IE" sz="41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0B847-6B22-4AF2-89CE-66DEA44ED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3667037" cy="3785419"/>
          </a:xfrm>
        </p:spPr>
        <p:txBody>
          <a:bodyPr>
            <a:normAutofit/>
          </a:bodyPr>
          <a:lstStyle/>
          <a:p>
            <a:r>
              <a:rPr lang="en-IE" sz="1800" b="1" dirty="0"/>
              <a:t>Topics/Subscriptions:</a:t>
            </a:r>
            <a:r>
              <a:rPr lang="en-IE" sz="1800" dirty="0"/>
              <a:t> Messages are published to topics.</a:t>
            </a:r>
          </a:p>
          <a:p>
            <a:pPr lvl="1"/>
            <a:r>
              <a:rPr lang="en-IE" sz="1800" dirty="0"/>
              <a:t>Clients can subscribe to a topic or a set of related topics</a:t>
            </a:r>
          </a:p>
          <a:p>
            <a:r>
              <a:rPr lang="en-IE" sz="1800" b="1" dirty="0"/>
              <a:t>Publish/Subscribe</a:t>
            </a:r>
            <a:r>
              <a:rPr lang="en-IE" sz="1800" dirty="0"/>
              <a:t>: Clients can subscribe to topics or publish to topics.</a:t>
            </a:r>
          </a:p>
        </p:txBody>
      </p:sp>
    </p:spTree>
    <p:extLst>
      <p:ext uri="{BB962C8B-B14F-4D97-AF65-F5344CB8AC3E}">
        <p14:creationId xmlns:p14="http://schemas.microsoft.com/office/powerpoint/2010/main" val="1619397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Image result for publish subscribe">
            <a:extLst>
              <a:ext uri="{FF2B5EF4-FFF2-40B4-BE49-F238E27FC236}">
                <a16:creationId xmlns:a16="http://schemas.microsoft.com/office/drawing/2014/main" id="{0371F47C-74DF-4843-A93A-CDFEC01CE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614" y="1692266"/>
            <a:ext cx="4048434" cy="2383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44F0C1-206B-4F5A-836C-65F43529C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1692" y="553999"/>
            <a:ext cx="6428964" cy="1344975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Publish Subscribe</a:t>
            </a:r>
            <a:r>
              <a:rPr lang="en-US" sz="4000" dirty="0">
                <a:cs typeface="Calibri Light"/>
              </a:rPr>
              <a:t> Process</a:t>
            </a:r>
            <a:endParaRPr lang="en-IE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BB98A-64A3-43A2-BB3A-20442B8BA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998" y="1690442"/>
            <a:ext cx="6932018" cy="466440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E" sz="2000" dirty="0"/>
              <a:t>A message is published once</a:t>
            </a:r>
            <a:r>
              <a:rPr lang="en-IE" sz="2000" dirty="0">
                <a:cs typeface="Calibri"/>
              </a:rPr>
              <a:t> by a publisher.</a:t>
            </a:r>
          </a:p>
          <a:p>
            <a:r>
              <a:rPr lang="en-IE" sz="2000" dirty="0"/>
              <a:t>Many things can receive the message. </a:t>
            </a:r>
            <a:endParaRPr lang="en-IE" sz="2000" dirty="0">
              <a:cs typeface="Calibri"/>
            </a:endParaRPr>
          </a:p>
          <a:p>
            <a:r>
              <a:rPr lang="en-IE" sz="2000" dirty="0"/>
              <a:t>The messaging service, or “broker”, provides decoupling between the producer and consumer(s)</a:t>
            </a:r>
            <a:endParaRPr lang="en-IE" sz="2000" dirty="0">
              <a:cs typeface="Calibri"/>
            </a:endParaRPr>
          </a:p>
          <a:p>
            <a:r>
              <a:rPr lang="en-IE" sz="2000" dirty="0"/>
              <a:t>A producer sends (publishes) a message (publication) on a topic (subject)</a:t>
            </a:r>
            <a:endParaRPr lang="en-IE" sz="2000" dirty="0">
              <a:cs typeface="Calibri"/>
            </a:endParaRPr>
          </a:p>
          <a:p>
            <a:r>
              <a:rPr lang="en-IE" sz="2000" dirty="0"/>
              <a:t>A consumer subscribes (makes a subscription) for messages on a topic (subject)</a:t>
            </a:r>
            <a:endParaRPr lang="en-IE" sz="2000" dirty="0">
              <a:cs typeface="Calibri"/>
            </a:endParaRPr>
          </a:p>
          <a:p>
            <a:r>
              <a:rPr lang="en-IE" sz="2000" dirty="0"/>
              <a:t>A message server / broker matches publications to subscriptions</a:t>
            </a:r>
            <a:endParaRPr lang="en-IE" sz="2000" dirty="0">
              <a:cs typeface="Calibri"/>
            </a:endParaRPr>
          </a:p>
          <a:p>
            <a:pPr lvl="1"/>
            <a:r>
              <a:rPr lang="en-IE" sz="2000" dirty="0"/>
              <a:t>If no matches the message is discarded</a:t>
            </a:r>
            <a:endParaRPr lang="en-IE" sz="2000" dirty="0">
              <a:cs typeface="Calibri"/>
            </a:endParaRPr>
          </a:p>
          <a:p>
            <a:pPr lvl="1"/>
            <a:r>
              <a:rPr lang="en-IE" sz="2000" dirty="0"/>
              <a:t>If one or more matches the message is delivered to each matching subscriber/consumer</a:t>
            </a:r>
            <a:endParaRPr lang="en-IE" sz="20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56342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312A1-B25F-4988-B69E-6CE5BC067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Publish-Subscribe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BA0B6-D0E0-4B08-ADCC-AECA1DACF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0568"/>
            <a:ext cx="10515600" cy="4566998"/>
          </a:xfrm>
        </p:spPr>
        <p:txBody>
          <a:bodyPr/>
          <a:lstStyle/>
          <a:p>
            <a:r>
              <a:rPr lang="en-IE" dirty="0"/>
              <a:t>A published messages may be </a:t>
            </a:r>
            <a:r>
              <a:rPr lang="en-IE" b="1" dirty="0"/>
              <a:t>retained</a:t>
            </a:r>
          </a:p>
          <a:p>
            <a:pPr lvl="1"/>
            <a:r>
              <a:rPr lang="en-IE" dirty="0"/>
              <a:t>A publisher can mark a message as “retained”</a:t>
            </a:r>
          </a:p>
          <a:p>
            <a:pPr lvl="1"/>
            <a:r>
              <a:rPr lang="en-IE" dirty="0"/>
              <a:t>The broker / server remembers the last known good message of a retained topic</a:t>
            </a:r>
          </a:p>
          <a:p>
            <a:pPr lvl="1"/>
            <a:r>
              <a:rPr lang="en-IE" dirty="0"/>
              <a:t>The broker / server gives the last known good message to new subscribers</a:t>
            </a:r>
          </a:p>
          <a:p>
            <a:r>
              <a:rPr lang="en-IE" dirty="0"/>
              <a:t>A Subscription can be </a:t>
            </a:r>
            <a:r>
              <a:rPr lang="en-IE" b="1" dirty="0"/>
              <a:t>durable or non-durable</a:t>
            </a:r>
          </a:p>
          <a:p>
            <a:pPr lvl="1"/>
            <a:r>
              <a:rPr lang="en-IE" dirty="0"/>
              <a:t>Durable: messages forwarded to subscriber immediately, if subscriber not connected, message is stored and forwarded when connected</a:t>
            </a:r>
          </a:p>
          <a:p>
            <a:pPr lvl="1"/>
            <a:r>
              <a:rPr lang="en-IE" dirty="0"/>
              <a:t>Non-Durable: subscription only active when subscriber is connected to the server / broker</a:t>
            </a:r>
          </a:p>
        </p:txBody>
      </p:sp>
    </p:spTree>
    <p:extLst>
      <p:ext uri="{BB962C8B-B14F-4D97-AF65-F5344CB8AC3E}">
        <p14:creationId xmlns:p14="http://schemas.microsoft.com/office/powerpoint/2010/main" val="3409765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233E3-6543-4001-A3C9-DA2FD5BD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E" dirty="0"/>
              <a:t>MQTT Characteristics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7BF80-DBF3-4957-842A-25F285E67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785" y="1696229"/>
            <a:ext cx="627059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E" dirty="0"/>
              <a:t>MQTT protocol compresses to small number of bytes</a:t>
            </a:r>
          </a:p>
          <a:p>
            <a:pPr lvl="1"/>
            <a:r>
              <a:rPr lang="en-IE" dirty="0"/>
              <a:t>Smallest  packet size 2 bytes</a:t>
            </a:r>
          </a:p>
          <a:p>
            <a:pPr lvl="1"/>
            <a:r>
              <a:rPr lang="en-IE" dirty="0"/>
              <a:t>Supports always-connected and sometimes connected</a:t>
            </a:r>
          </a:p>
          <a:p>
            <a:pPr lvl="1"/>
            <a:r>
              <a:rPr lang="en-IE" dirty="0"/>
              <a:t>Provides Session awareness</a:t>
            </a:r>
          </a:p>
          <a:p>
            <a:pPr lvl="1"/>
            <a:r>
              <a:rPr lang="en-IE" dirty="0"/>
              <a:t>“Last will and testament” enable applications to know when a client goes offline abnormally</a:t>
            </a:r>
            <a:endParaRPr lang="en-IE" dirty="0">
              <a:cs typeface="Calibri"/>
            </a:endParaRPr>
          </a:p>
          <a:p>
            <a:pPr lvl="1"/>
            <a:r>
              <a:rPr lang="en-IE" dirty="0"/>
              <a:t>Typically utilises TCP-based networks.</a:t>
            </a:r>
            <a:endParaRPr lang="en-IE" dirty="0">
              <a:cs typeface="Calibri"/>
            </a:endParaRPr>
          </a:p>
        </p:txBody>
      </p:sp>
      <p:pic>
        <p:nvPicPr>
          <p:cNvPr id="8194" name="Picture 2" descr="Image result for MQTT packet size">
            <a:extLst>
              <a:ext uri="{FF2B5EF4-FFF2-40B4-BE49-F238E27FC236}">
                <a16:creationId xmlns:a16="http://schemas.microsoft.com/office/drawing/2014/main" id="{342F0404-C02F-4429-94E5-A94D67136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3348" y="876719"/>
            <a:ext cx="4659989" cy="2558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416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0BC97-4503-4DAD-816E-97C34E777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MQTT Characteristics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4ECF7-A120-4E90-AD3A-877910361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25259" cy="4351338"/>
          </a:xfrm>
        </p:spPr>
        <p:txBody>
          <a:bodyPr/>
          <a:lstStyle/>
          <a:p>
            <a:r>
              <a:rPr lang="en-IE" dirty="0"/>
              <a:t>Three quality of service levels:</a:t>
            </a:r>
          </a:p>
          <a:p>
            <a:pPr lvl="1"/>
            <a:r>
              <a:rPr lang="en-IE" dirty="0"/>
              <a:t>0 = At most once (Best effort, No Ack),</a:t>
            </a:r>
          </a:p>
          <a:p>
            <a:pPr lvl="1"/>
            <a:r>
              <a:rPr lang="en-IE" dirty="0"/>
              <a:t>1 = At least once (</a:t>
            </a:r>
            <a:r>
              <a:rPr lang="en-IE" dirty="0" err="1"/>
              <a:t>Acked</a:t>
            </a:r>
            <a:r>
              <a:rPr lang="en-IE" dirty="0"/>
              <a:t>, retransmitted if ack not received),</a:t>
            </a:r>
          </a:p>
          <a:p>
            <a:pPr lvl="1"/>
            <a:r>
              <a:rPr lang="en-IE" dirty="0"/>
              <a:t>2 = Exactly once [Request to send (Publish), Clear-to-send</a:t>
            </a:r>
            <a:r>
              <a:rPr lang="fr-FR" dirty="0"/>
              <a:t>(</a:t>
            </a:r>
            <a:r>
              <a:rPr lang="fr-FR" dirty="0" err="1"/>
              <a:t>Pubrec</a:t>
            </a:r>
            <a:r>
              <a:rPr lang="fr-FR" dirty="0"/>
              <a:t>), message (</a:t>
            </a:r>
            <a:r>
              <a:rPr lang="fr-FR" dirty="0" err="1"/>
              <a:t>Pubrel</a:t>
            </a:r>
            <a:r>
              <a:rPr lang="fr-FR" dirty="0"/>
              <a:t>), </a:t>
            </a:r>
            <a:r>
              <a:rPr lang="fr-FR" dirty="0" err="1"/>
              <a:t>ack</a:t>
            </a:r>
            <a:r>
              <a:rPr lang="fr-FR" dirty="0"/>
              <a:t> (</a:t>
            </a:r>
            <a:r>
              <a:rPr lang="fr-FR" dirty="0" err="1"/>
              <a:t>Pubcomp</a:t>
            </a:r>
            <a:r>
              <a:rPr lang="fr-FR" dirty="0"/>
              <a:t>)]</a:t>
            </a:r>
          </a:p>
          <a:p>
            <a:endParaRPr lang="fr-F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A06377-3B66-4DC8-AF63-B154EAD12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3459" y="2098675"/>
            <a:ext cx="461010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1CB442-BFF2-4C09-A2DC-52AB52AAB49C}"/>
              </a:ext>
            </a:extLst>
          </p:cNvPr>
          <p:cNvSpPr txBox="1"/>
          <p:nvPr/>
        </p:nvSpPr>
        <p:spPr>
          <a:xfrm>
            <a:off x="6565900" y="5300662"/>
            <a:ext cx="5423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https://dzone.com/articles/internet-things-mqtt-quality</a:t>
            </a:r>
          </a:p>
        </p:txBody>
      </p:sp>
    </p:spTree>
    <p:extLst>
      <p:ext uri="{BB962C8B-B14F-4D97-AF65-F5344CB8AC3E}">
        <p14:creationId xmlns:p14="http://schemas.microsoft.com/office/powerpoint/2010/main" val="1315239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4C0B10B-D2C4-4A54-AFAD-3D27DF88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6BADB90-C74B-40D6-86DC-503F65FCE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13" name="Freeform 44">
              <a:extLst>
                <a:ext uri="{FF2B5EF4-FFF2-40B4-BE49-F238E27FC236}">
                  <a16:creationId xmlns:a16="http://schemas.microsoft.com/office/drawing/2014/main" id="{6559431D-1886-4AE0-9B87-9AD2ECAB8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23203" y="635716"/>
              <a:ext cx="328612" cy="1742360"/>
            </a:xfrm>
            <a:custGeom>
              <a:avLst/>
              <a:gdLst>
                <a:gd name="T0" fmla="*/ 207 w 207"/>
                <a:gd name="T1" fmla="*/ 987 h 1114"/>
                <a:gd name="T2" fmla="*/ 0 w 207"/>
                <a:gd name="T3" fmla="*/ 1114 h 1114"/>
                <a:gd name="T4" fmla="*/ 0 w 207"/>
                <a:gd name="T5" fmla="*/ 127 h 1114"/>
                <a:gd name="T6" fmla="*/ 207 w 207"/>
                <a:gd name="T7" fmla="*/ 0 h 1114"/>
                <a:gd name="T8" fmla="*/ 207 w 207"/>
                <a:gd name="T9" fmla="*/ 987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1114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45">
              <a:extLst>
                <a:ext uri="{FF2B5EF4-FFF2-40B4-BE49-F238E27FC236}">
                  <a16:creationId xmlns:a16="http://schemas.microsoft.com/office/drawing/2014/main" id="{373850A5-B04A-4FCD-9E73-EE322167F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1022350"/>
              <a:ext cx="709612" cy="2095501"/>
            </a:xfrm>
            <a:custGeom>
              <a:avLst/>
              <a:gdLst>
                <a:gd name="T0" fmla="*/ 447 w 447"/>
                <a:gd name="T1" fmla="*/ 1363 h 1363"/>
                <a:gd name="T2" fmla="*/ 0 w 447"/>
                <a:gd name="T3" fmla="*/ 987 h 1363"/>
                <a:gd name="T4" fmla="*/ 0 w 447"/>
                <a:gd name="T5" fmla="*/ 0 h 1363"/>
                <a:gd name="T6" fmla="*/ 447 w 447"/>
                <a:gd name="T7" fmla="*/ 376 h 1363"/>
                <a:gd name="T8" fmla="*/ 447 w 447"/>
                <a:gd name="T9" fmla="*/ 1363 h 1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1363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46">
              <a:extLst>
                <a:ext uri="{FF2B5EF4-FFF2-40B4-BE49-F238E27FC236}">
                  <a16:creationId xmlns:a16="http://schemas.microsoft.com/office/drawing/2014/main" id="{82C18C67-80FA-4738-AA53-0AF2419F98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837744"/>
              <a:ext cx="403225" cy="1705431"/>
            </a:xfrm>
            <a:custGeom>
              <a:avLst/>
              <a:gdLst>
                <a:gd name="T0" fmla="*/ 254 w 254"/>
                <a:gd name="T1" fmla="*/ 987 h 1109"/>
                <a:gd name="T2" fmla="*/ 0 w 254"/>
                <a:gd name="T3" fmla="*/ 1109 h 1109"/>
                <a:gd name="T4" fmla="*/ 0 w 254"/>
                <a:gd name="T5" fmla="*/ 119 h 1109"/>
                <a:gd name="T6" fmla="*/ 254 w 254"/>
                <a:gd name="T7" fmla="*/ 0 h 1109"/>
                <a:gd name="T8" fmla="*/ 254 w 254"/>
                <a:gd name="T9" fmla="*/ 987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09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47">
              <a:extLst>
                <a:ext uri="{FF2B5EF4-FFF2-40B4-BE49-F238E27FC236}">
                  <a16:creationId xmlns:a16="http://schemas.microsoft.com/office/drawing/2014/main" id="{48543B1A-8BF5-4C63-8404-41B2EA70B3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660" y="640894"/>
              <a:ext cx="168275" cy="1713195"/>
            </a:xfrm>
            <a:custGeom>
              <a:avLst/>
              <a:gdLst>
                <a:gd name="T0" fmla="*/ 106 w 106"/>
                <a:gd name="T1" fmla="*/ 1114 h 1114"/>
                <a:gd name="T2" fmla="*/ 0 w 106"/>
                <a:gd name="T3" fmla="*/ 1005 h 1114"/>
                <a:gd name="T4" fmla="*/ 0 w 106"/>
                <a:gd name="T5" fmla="*/ 0 h 1114"/>
                <a:gd name="T6" fmla="*/ 106 w 106"/>
                <a:gd name="T7" fmla="*/ 110 h 1114"/>
                <a:gd name="T8" fmla="*/ 106 w 106"/>
                <a:gd name="T9" fmla="*/ 1114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114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DF5096-E051-498C-A3ED-CBA77A813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8555081-9559-4E0E-91F8-C7EE655C5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>
            <a:normAutofit/>
          </a:bodyPr>
          <a:lstStyle/>
          <a:p>
            <a:r>
              <a:rPr lang="en-IE" sz="4000" dirty="0">
                <a:solidFill>
                  <a:srgbClr val="FFFFFF"/>
                </a:solidFill>
              </a:rPr>
              <a:t>MQTT Control Packets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063F4-3A19-4946-8D4D-D7B3EE099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904" y="2494450"/>
            <a:ext cx="4053545" cy="3563159"/>
          </a:xfrm>
        </p:spPr>
        <p:txBody>
          <a:bodyPr>
            <a:normAutofit/>
          </a:bodyPr>
          <a:lstStyle/>
          <a:p>
            <a:r>
              <a:rPr lang="en-GB" sz="2200" b="0" i="0">
                <a:effectLst/>
                <a:latin typeface="Arial" panose="020B0604020202020204" pitchFamily="34" charset="0"/>
              </a:rPr>
              <a:t>The MQTT protocol uses MQTT Control Packets using the Control Header.</a:t>
            </a:r>
          </a:p>
          <a:p>
            <a:r>
              <a:rPr lang="en-GB" sz="2200" b="0" i="0">
                <a:effectLst/>
                <a:latin typeface="Arial" panose="020B0604020202020204" pitchFamily="34" charset="0"/>
              </a:rPr>
              <a:t>Control Packet consists of three parts:</a:t>
            </a:r>
          </a:p>
          <a:p>
            <a:pPr lvl="1"/>
            <a:r>
              <a:rPr lang="en-GB" sz="2200" b="0" i="0">
                <a:effectLst/>
                <a:latin typeface="Arial" panose="020B0604020202020204" pitchFamily="34" charset="0"/>
              </a:rPr>
              <a:t> </a:t>
            </a:r>
            <a:r>
              <a:rPr lang="en-GB" sz="2200" b="0" i="1">
                <a:effectLst/>
                <a:latin typeface="Arial" panose="020B0604020202020204" pitchFamily="34" charset="0"/>
              </a:rPr>
              <a:t>fixed header</a:t>
            </a:r>
            <a:r>
              <a:rPr lang="en-GB" sz="2200" b="0" i="0">
                <a:effectLst/>
                <a:latin typeface="Arial" panose="020B0604020202020204" pitchFamily="34" charset="0"/>
              </a:rPr>
              <a:t>(present in all packets), </a:t>
            </a:r>
          </a:p>
          <a:p>
            <a:pPr lvl="1"/>
            <a:r>
              <a:rPr lang="en-GB" sz="2200" b="0" i="1">
                <a:effectLst/>
                <a:latin typeface="Arial" panose="020B0604020202020204" pitchFamily="34" charset="0"/>
              </a:rPr>
              <a:t>variable header</a:t>
            </a:r>
            <a:r>
              <a:rPr lang="en-GB" sz="2200" b="0" i="0">
                <a:effectLst/>
                <a:latin typeface="Arial" panose="020B0604020202020204" pitchFamily="34" charset="0"/>
              </a:rPr>
              <a:t>(optional)</a:t>
            </a:r>
          </a:p>
          <a:p>
            <a:pPr lvl="1"/>
            <a:r>
              <a:rPr lang="en-GB" sz="2200" b="0" i="1">
                <a:effectLst/>
                <a:latin typeface="Arial" panose="020B0604020202020204" pitchFamily="34" charset="0"/>
              </a:rPr>
              <a:t>Payload</a:t>
            </a:r>
            <a:r>
              <a:rPr lang="en-GB" sz="2200" b="0" i="0">
                <a:effectLst/>
                <a:latin typeface="Arial" panose="020B0604020202020204" pitchFamily="34" charset="0"/>
              </a:rPr>
              <a:t>(optional)</a:t>
            </a:r>
            <a:endParaRPr lang="en-IE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D94B1C-BDB4-42B8-9A4D-465324CBF2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65" r="18055" b="-2"/>
          <a:stretch/>
        </p:blipFill>
        <p:spPr>
          <a:xfrm>
            <a:off x="6098892" y="2492376"/>
            <a:ext cx="4802404" cy="35633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A6CCA9-4612-40EE-9121-84F63007E5F3}"/>
              </a:ext>
            </a:extLst>
          </p:cNvPr>
          <p:cNvSpPr txBox="1"/>
          <p:nvPr/>
        </p:nvSpPr>
        <p:spPr>
          <a:xfrm>
            <a:off x="149845" y="6404454"/>
            <a:ext cx="12101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https://docs.devicewise.com/Content/Products/IoT_Portal_API_Reference_Guide/MQTT_Interface/MQTT-Control-Packets.htm</a:t>
            </a:r>
          </a:p>
        </p:txBody>
      </p:sp>
    </p:spTree>
    <p:extLst>
      <p:ext uri="{BB962C8B-B14F-4D97-AF65-F5344CB8AC3E}">
        <p14:creationId xmlns:p14="http://schemas.microsoft.com/office/powerpoint/2010/main" val="1436555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19312-0C74-4ED4-A7B9-D2CA953D8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MQTT Control Packets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67918-0ABA-43D7-AE86-4186B5458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MQTT Control Packet Types</a:t>
            </a:r>
            <a:br>
              <a:rPr lang="en-IE" dirty="0"/>
            </a:br>
            <a:endParaRPr lang="en-I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3B2DB1-7781-473D-933F-D707FF14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163" y="3111500"/>
            <a:ext cx="1090612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03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D38EE57-B708-47C9-A4A4-E25F09FAB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7A28182-58A5-4DBB-8F64-BD944BCA8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13" name="Freeform 44">
              <a:extLst>
                <a:ext uri="{FF2B5EF4-FFF2-40B4-BE49-F238E27FC236}">
                  <a16:creationId xmlns:a16="http://schemas.microsoft.com/office/drawing/2014/main" id="{E4A9080E-7BA6-45FC-8677-8B9D5F4DA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23203" y="635716"/>
              <a:ext cx="328612" cy="1742360"/>
            </a:xfrm>
            <a:custGeom>
              <a:avLst/>
              <a:gdLst>
                <a:gd name="T0" fmla="*/ 207 w 207"/>
                <a:gd name="T1" fmla="*/ 987 h 1114"/>
                <a:gd name="T2" fmla="*/ 0 w 207"/>
                <a:gd name="T3" fmla="*/ 1114 h 1114"/>
                <a:gd name="T4" fmla="*/ 0 w 207"/>
                <a:gd name="T5" fmla="*/ 127 h 1114"/>
                <a:gd name="T6" fmla="*/ 207 w 207"/>
                <a:gd name="T7" fmla="*/ 0 h 1114"/>
                <a:gd name="T8" fmla="*/ 207 w 207"/>
                <a:gd name="T9" fmla="*/ 987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1114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45">
              <a:extLst>
                <a:ext uri="{FF2B5EF4-FFF2-40B4-BE49-F238E27FC236}">
                  <a16:creationId xmlns:a16="http://schemas.microsoft.com/office/drawing/2014/main" id="{2163D516-75D4-4DE0-AC27-63719125A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1022350"/>
              <a:ext cx="709612" cy="2095501"/>
            </a:xfrm>
            <a:custGeom>
              <a:avLst/>
              <a:gdLst>
                <a:gd name="T0" fmla="*/ 447 w 447"/>
                <a:gd name="T1" fmla="*/ 1363 h 1363"/>
                <a:gd name="T2" fmla="*/ 0 w 447"/>
                <a:gd name="T3" fmla="*/ 987 h 1363"/>
                <a:gd name="T4" fmla="*/ 0 w 447"/>
                <a:gd name="T5" fmla="*/ 0 h 1363"/>
                <a:gd name="T6" fmla="*/ 447 w 447"/>
                <a:gd name="T7" fmla="*/ 376 h 1363"/>
                <a:gd name="T8" fmla="*/ 447 w 447"/>
                <a:gd name="T9" fmla="*/ 1363 h 1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1363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46">
              <a:extLst>
                <a:ext uri="{FF2B5EF4-FFF2-40B4-BE49-F238E27FC236}">
                  <a16:creationId xmlns:a16="http://schemas.microsoft.com/office/drawing/2014/main" id="{E74A26A5-C23A-46D4-B0FF-155FB3834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837744"/>
              <a:ext cx="403225" cy="1705431"/>
            </a:xfrm>
            <a:custGeom>
              <a:avLst/>
              <a:gdLst>
                <a:gd name="T0" fmla="*/ 254 w 254"/>
                <a:gd name="T1" fmla="*/ 987 h 1109"/>
                <a:gd name="T2" fmla="*/ 0 w 254"/>
                <a:gd name="T3" fmla="*/ 1109 h 1109"/>
                <a:gd name="T4" fmla="*/ 0 w 254"/>
                <a:gd name="T5" fmla="*/ 119 h 1109"/>
                <a:gd name="T6" fmla="*/ 254 w 254"/>
                <a:gd name="T7" fmla="*/ 0 h 1109"/>
                <a:gd name="T8" fmla="*/ 254 w 254"/>
                <a:gd name="T9" fmla="*/ 987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09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47">
              <a:extLst>
                <a:ext uri="{FF2B5EF4-FFF2-40B4-BE49-F238E27FC236}">
                  <a16:creationId xmlns:a16="http://schemas.microsoft.com/office/drawing/2014/main" id="{08E0243F-1062-43C6-AD04-130DFF668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660" y="640894"/>
              <a:ext cx="168275" cy="1713195"/>
            </a:xfrm>
            <a:custGeom>
              <a:avLst/>
              <a:gdLst>
                <a:gd name="T0" fmla="*/ 106 w 106"/>
                <a:gd name="T1" fmla="*/ 1114 h 1114"/>
                <a:gd name="T2" fmla="*/ 0 w 106"/>
                <a:gd name="T3" fmla="*/ 1005 h 1114"/>
                <a:gd name="T4" fmla="*/ 0 w 106"/>
                <a:gd name="T5" fmla="*/ 0 h 1114"/>
                <a:gd name="T6" fmla="*/ 106 w 106"/>
                <a:gd name="T7" fmla="*/ 110 h 1114"/>
                <a:gd name="T8" fmla="*/ 106 w 106"/>
                <a:gd name="T9" fmla="*/ 1114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114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4C5517B-1B0F-47AA-93A5-3671899698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269B4D0-270A-474D-AFC1-3B5D053C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>
            <a:normAutofit/>
          </a:bodyPr>
          <a:lstStyle/>
          <a:p>
            <a:r>
              <a:rPr lang="en-IE" sz="4000">
                <a:solidFill>
                  <a:srgbClr val="FFFFFF"/>
                </a:solidFill>
              </a:rPr>
              <a:t>MQTT Last Will and Testament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EC927-225E-4097-9880-F8D42CE42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904" y="2494450"/>
            <a:ext cx="4053545" cy="3563159"/>
          </a:xfrm>
        </p:spPr>
        <p:txBody>
          <a:bodyPr>
            <a:normAutofit/>
          </a:bodyPr>
          <a:lstStyle/>
          <a:p>
            <a:r>
              <a:rPr lang="en-GB" sz="1700"/>
              <a:t>Notify other clients about an ungraceful disconnected client. </a:t>
            </a:r>
          </a:p>
          <a:p>
            <a:r>
              <a:rPr lang="en-GB" sz="1700"/>
              <a:t>Client can specify its last will message when it connects to a broker.</a:t>
            </a:r>
          </a:p>
          <a:p>
            <a:pPr lvl="1"/>
            <a:r>
              <a:rPr lang="en-GB" sz="1700"/>
              <a:t>normal MQTT message with a topic, retained message flag, QoS, and payload</a:t>
            </a:r>
          </a:p>
          <a:p>
            <a:pPr lvl="1"/>
            <a:r>
              <a:rPr lang="en-GB" sz="1700"/>
              <a:t>When an “ungraceful disconnect” occurs, the broker sends the last-will message to all subscribed clients of the last-will message topic.</a:t>
            </a:r>
          </a:p>
          <a:p>
            <a:endParaRPr lang="en-IE" sz="1700"/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69ECA277-84B1-4416-B5B7-7D617B88E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892" y="2893371"/>
            <a:ext cx="4802404" cy="276138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D1975B4-3CCC-4500-8394-3F166D7536F9}"/>
              </a:ext>
            </a:extLst>
          </p:cNvPr>
          <p:cNvSpPr txBox="1"/>
          <p:nvPr/>
        </p:nvSpPr>
        <p:spPr>
          <a:xfrm>
            <a:off x="1926803" y="6057609"/>
            <a:ext cx="929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/>
              <a:t>https://www.hivemq.com/blog/mqtt-essentials-part-9-last-will-and-testament/</a:t>
            </a:r>
          </a:p>
        </p:txBody>
      </p:sp>
    </p:spTree>
    <p:extLst>
      <p:ext uri="{BB962C8B-B14F-4D97-AF65-F5344CB8AC3E}">
        <p14:creationId xmlns:p14="http://schemas.microsoft.com/office/powerpoint/2010/main" val="2330902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Image result for hivemq">
            <a:extLst>
              <a:ext uri="{FF2B5EF4-FFF2-40B4-BE49-F238E27FC236}">
                <a16:creationId xmlns:a16="http://schemas.microsoft.com/office/drawing/2014/main" id="{ADBCBA26-B4B9-450F-814F-457C22B17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2987" y="4452055"/>
            <a:ext cx="1765864" cy="1765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osquitto">
            <a:extLst>
              <a:ext uri="{FF2B5EF4-FFF2-40B4-BE49-F238E27FC236}">
                <a16:creationId xmlns:a16="http://schemas.microsoft.com/office/drawing/2014/main" id="{0FEFF5BB-3A55-477C-BB1F-B33EF7970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401" y="306909"/>
            <a:ext cx="1785027" cy="1758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https://www.cloudmqtt.com/images/iot.png">
            <a:extLst>
              <a:ext uri="{FF2B5EF4-FFF2-40B4-BE49-F238E27FC236}">
                <a16:creationId xmlns:a16="http://schemas.microsoft.com/office/drawing/2014/main" id="{B3AC16E2-1E4A-4489-9176-06E908BE4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1545" y="2386895"/>
            <a:ext cx="3258743" cy="1743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207FB7-6E4F-47A5-88EE-A677698E6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516" y="640263"/>
            <a:ext cx="6713140" cy="1344975"/>
          </a:xfrm>
        </p:spPr>
        <p:txBody>
          <a:bodyPr>
            <a:normAutofit/>
          </a:bodyPr>
          <a:lstStyle/>
          <a:p>
            <a:r>
              <a:rPr lang="en-US" sz="4000"/>
              <a:t>MQTT is Open Source</a:t>
            </a:r>
            <a:endParaRPr lang="en-IE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F8107-B101-4E61-9184-82ADE241D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514" y="2121762"/>
            <a:ext cx="6723145" cy="36269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Lots of implementations:</a:t>
            </a:r>
          </a:p>
          <a:p>
            <a:pPr lvl="2"/>
            <a:r>
              <a:rPr lang="en-IE" sz="2400" err="1"/>
              <a:t>Mosquitto</a:t>
            </a:r>
            <a:endParaRPr lang="en-IE" sz="2400"/>
          </a:p>
          <a:p>
            <a:pPr lvl="2"/>
            <a:r>
              <a:rPr lang="en-IE" sz="2400" dirty="0"/>
              <a:t>Micro broker</a:t>
            </a:r>
          </a:p>
          <a:p>
            <a:pPr lvl="2"/>
            <a:r>
              <a:rPr lang="en-IE" sz="2400" dirty="0"/>
              <a:t>Really small message broker (RSMB): C</a:t>
            </a:r>
          </a:p>
          <a:p>
            <a:pPr lvl="2"/>
            <a:r>
              <a:rPr lang="en-US" sz="2400"/>
              <a:t>Cloud broker services</a:t>
            </a:r>
            <a:endParaRPr lang="en-IE" sz="2400" dirty="0"/>
          </a:p>
        </p:txBody>
      </p:sp>
    </p:spTree>
    <p:extLst>
      <p:ext uri="{BB962C8B-B14F-4D97-AF65-F5344CB8AC3E}">
        <p14:creationId xmlns:p14="http://schemas.microsoft.com/office/powerpoint/2010/main" val="1378384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47F88-2A19-4353-8CCE-E88B43587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E"/>
              <a:t>MQTT vs HTTP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ED32-73AB-4DAD-AEDA-3609E639A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406"/>
            <a:ext cx="11107514" cy="4065986"/>
          </a:xfrm>
        </p:spPr>
        <p:txBody>
          <a:bodyPr anchor="t">
            <a:normAutofit/>
          </a:bodyPr>
          <a:lstStyle/>
          <a:p>
            <a:r>
              <a:rPr lang="en-IE" dirty="0"/>
              <a:t>Push delivery of messages / data / events</a:t>
            </a:r>
            <a:endParaRPr lang="en-IE" dirty="0">
              <a:cs typeface="Calibri"/>
            </a:endParaRPr>
          </a:p>
          <a:p>
            <a:pPr lvl="1"/>
            <a:r>
              <a:rPr lang="en-IE" sz="2800" dirty="0"/>
              <a:t>MQTT – low latency push delivery of messages from client to server and </a:t>
            </a:r>
            <a:r>
              <a:rPr lang="en-IE" sz="2800" b="1" dirty="0"/>
              <a:t>server to client. </a:t>
            </a:r>
            <a:r>
              <a:rPr lang="en-IE" sz="2800" dirty="0"/>
              <a:t>Helps bring an event oriented architecture to the web</a:t>
            </a:r>
            <a:endParaRPr lang="en-IE" sz="2800" dirty="0">
              <a:cs typeface="Calibri"/>
            </a:endParaRPr>
          </a:p>
          <a:p>
            <a:pPr lvl="1"/>
            <a:r>
              <a:rPr lang="en-IE" sz="2800" dirty="0"/>
              <a:t>HTTP – push from client to server but poll from server to client</a:t>
            </a:r>
            <a:endParaRPr lang="en-IE" sz="2800" dirty="0">
              <a:cs typeface="Calibri"/>
            </a:endParaRPr>
          </a:p>
          <a:p>
            <a:r>
              <a:rPr lang="en-IE" dirty="0"/>
              <a:t>Reliable delivery over fragile network</a:t>
            </a:r>
            <a:endParaRPr lang="en-IE" dirty="0">
              <a:cs typeface="Calibri"/>
            </a:endParaRPr>
          </a:p>
          <a:p>
            <a:pPr lvl="1"/>
            <a:r>
              <a:rPr lang="en-IE" sz="2800" dirty="0"/>
              <a:t>MQTT will deliver message to QOS even </a:t>
            </a:r>
            <a:r>
              <a:rPr lang="en-IE" sz="2800" b="1" dirty="0"/>
              <a:t>across connection breaks</a:t>
            </a:r>
            <a:endParaRPr lang="en-IE" sz="2800" b="1" dirty="0">
              <a:cs typeface="Calibri"/>
            </a:endParaRPr>
          </a:p>
          <a:p>
            <a:pPr lvl="1"/>
            <a:r>
              <a:rPr lang="en-IE" sz="2800" dirty="0"/>
              <a:t>Decoupling and publish subscribe – </a:t>
            </a:r>
            <a:r>
              <a:rPr lang="en-IE" sz="2800" b="1" dirty="0"/>
              <a:t>one to many delivery</a:t>
            </a:r>
            <a:endParaRPr lang="en-IE" sz="2800" dirty="0"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AD3D3-C3E1-4217-AEC7-519ED9BCA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18746" y="6356350"/>
            <a:ext cx="4181571" cy="365125"/>
          </a:xfrm>
          <a:effectLst/>
        </p:spPr>
        <p:txBody>
          <a:bodyPr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IE"/>
              <a:t>http://stephendnicholas.com/archives/1217</a:t>
            </a:r>
          </a:p>
        </p:txBody>
      </p:sp>
    </p:spTree>
    <p:extLst>
      <p:ext uri="{BB962C8B-B14F-4D97-AF65-F5344CB8AC3E}">
        <p14:creationId xmlns:p14="http://schemas.microsoft.com/office/powerpoint/2010/main" val="3058836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11B66-640A-4B9D-84BD-35940EE08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MQTT vs HTTP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22D3414-829A-42E4-8C5B-27B5B29F39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9628" y="1690688"/>
            <a:ext cx="8049457" cy="371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825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D53B44DC-038F-4413-9094-5B85FDA2B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91" y="1080114"/>
            <a:ext cx="10576969" cy="4100956"/>
          </a:xfrm>
          <a:prstGeom prst="rect">
            <a:avLst/>
          </a:prstGeom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3A4E2292-8C00-45E8-8886-07A8F1604469}"/>
              </a:ext>
            </a:extLst>
          </p:cNvPr>
          <p:cNvSpPr txBox="1"/>
          <p:nvPr/>
        </p:nvSpPr>
        <p:spPr>
          <a:xfrm>
            <a:off x="2343509" y="5515154"/>
            <a:ext cx="6383547" cy="646331"/>
          </a:xfrm>
          <a:prstGeom prst="rect">
            <a:avLst/>
          </a:prstGeom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22222"/>
                </a:solidFill>
                <a:latin typeface="arial"/>
                <a:cs typeface="arial"/>
              </a:rPr>
              <a:t>  *sending and receiving 1024 messages of 1 byte each.(source: </a:t>
            </a: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https://www.ibm.com/developerworks</a:t>
            </a:r>
            <a:r>
              <a:rPr lang="en-US" dirty="0">
                <a:latin typeface="arial"/>
                <a:cs typeface="arial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964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CFFC5B-5A0B-416C-A5D9-179A11A2C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274" y="3924388"/>
            <a:ext cx="10924863" cy="2870423"/>
          </a:xfrm>
          <a:custGeom>
            <a:avLst/>
            <a:gdLst>
              <a:gd name="connsiteX0" fmla="*/ 0 w 4636009"/>
              <a:gd name="connsiteY0" fmla="*/ 0 h 5032375"/>
              <a:gd name="connsiteX1" fmla="*/ 4636009 w 4636009"/>
              <a:gd name="connsiteY1" fmla="*/ 0 h 5032375"/>
              <a:gd name="connsiteX2" fmla="*/ 4636009 w 4636009"/>
              <a:gd name="connsiteY2" fmla="*/ 5032375 h 5032375"/>
              <a:gd name="connsiteX3" fmla="*/ 0 w 4636009"/>
              <a:gd name="connsiteY3" fmla="*/ 5032375 h 5032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6009" h="5032375">
                <a:moveTo>
                  <a:pt x="0" y="0"/>
                </a:moveTo>
                <a:lnTo>
                  <a:pt x="4636009" y="0"/>
                </a:lnTo>
                <a:lnTo>
                  <a:pt x="4636009" y="5032375"/>
                </a:lnTo>
                <a:lnTo>
                  <a:pt x="0" y="5032375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0A92C1-977B-44F3-901D-4332BA8A7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E" dirty="0"/>
              <a:t>Application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DB013-5EBD-4012-8A47-F2093756E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406"/>
            <a:ext cx="10000457" cy="2125043"/>
          </a:xfrm>
        </p:spPr>
        <p:txBody>
          <a:bodyPr anchor="t">
            <a:normAutofit fontScale="92500" lnSpcReduction="20000"/>
          </a:bodyPr>
          <a:lstStyle/>
          <a:p>
            <a:r>
              <a:rPr lang="en-IE" sz="2600" dirty="0"/>
              <a:t>Home care monitoring solution</a:t>
            </a:r>
            <a:endParaRPr lang="en-IE" sz="2600" dirty="0">
              <a:cs typeface="Calibri"/>
            </a:endParaRPr>
          </a:p>
          <a:p>
            <a:pPr lvl="1"/>
            <a:r>
              <a:rPr lang="en-IE" sz="2600" dirty="0"/>
              <a:t>Home and patient instrumented with sensors.</a:t>
            </a:r>
            <a:endParaRPr lang="en-IE" sz="2600" dirty="0">
              <a:cs typeface="Calibri"/>
            </a:endParaRPr>
          </a:p>
          <a:p>
            <a:pPr lvl="2"/>
            <a:r>
              <a:rPr lang="en-IE" sz="2600" dirty="0"/>
              <a:t>E.g. door motion, blood pressure, pacemaker/defib.</a:t>
            </a:r>
            <a:endParaRPr lang="en-IE" sz="2600" dirty="0">
              <a:cs typeface="Calibri"/>
            </a:endParaRPr>
          </a:p>
          <a:p>
            <a:pPr lvl="1"/>
            <a:r>
              <a:rPr lang="en-IE" sz="2600" dirty="0"/>
              <a:t>Collected by monitoring service (broker) using MQTT</a:t>
            </a:r>
            <a:endParaRPr lang="en-IE" sz="2600" dirty="0">
              <a:cs typeface="Calibri"/>
            </a:endParaRPr>
          </a:p>
          <a:p>
            <a:pPr lvl="1"/>
            <a:r>
              <a:rPr lang="en-IE" sz="2600" dirty="0"/>
              <a:t>Subscribed by a health care service in the hospital</a:t>
            </a:r>
            <a:endParaRPr lang="en-IE" sz="2600" dirty="0">
              <a:cs typeface="Calibri"/>
            </a:endParaRPr>
          </a:p>
          <a:p>
            <a:pPr lvl="1"/>
            <a:r>
              <a:rPr lang="en-IE" dirty="0"/>
              <a:t>Alerts relations/health care profs. if anything is out-of-order</a:t>
            </a:r>
            <a:endParaRPr lang="en-IE" dirty="0">
              <a:cs typeface="Calibri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1A41AC1-C3CF-E278-80F0-23DF63988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570" y="828876"/>
            <a:ext cx="4554147" cy="102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4669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1D669-6352-4942-B289-4110E0C3C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Code Example: Python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783FEBD-F60F-A219-7E9E-87E4174F35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6746" y="2155795"/>
            <a:ext cx="5969307" cy="2267067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7C50C9-4670-46B7-9C72-5EF844554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746" y="1414463"/>
            <a:ext cx="2171700" cy="2762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286BC6-66CB-5775-581A-2BFF2FFC78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746" y="1777184"/>
            <a:ext cx="1797142" cy="2921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890CFE6-D2F6-0994-AACD-CB822D310F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746" y="4509358"/>
            <a:ext cx="4972306" cy="1390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5224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83FA1-FA13-4594-82E7-765635DC32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MQTT Security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A52642-8E5A-4CD6-A133-1BC126D8E0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Frank Walsh</a:t>
            </a:r>
          </a:p>
        </p:txBody>
      </p:sp>
    </p:spTree>
    <p:extLst>
      <p:ext uri="{BB962C8B-B14F-4D97-AF65-F5344CB8AC3E}">
        <p14:creationId xmlns:p14="http://schemas.microsoft.com/office/powerpoint/2010/main" val="6645768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F85858-5DC6-6D7B-D4CA-46901607C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Not good…..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BD4A6F-85F0-F71D-007E-9FB4E2EF44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786733"/>
            <a:ext cx="10905066" cy="417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9125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138C9-0A99-466E-81F2-3C0BC9361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IE" dirty="0"/>
              <a:t>Security in IoT</a:t>
            </a: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5D0B92E5-4A70-49C8-8B1E-3C42AC9ED6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273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F279A-C36D-47FA-864D-EFFEABE43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r>
              <a:rPr lang="en-GB" sz="1700" b="0" i="0" dirty="0">
                <a:effectLst/>
                <a:latin typeface="roboto"/>
              </a:rPr>
              <a:t>Internet of Things presents new security implementation challenges</a:t>
            </a:r>
          </a:p>
          <a:p>
            <a:pPr lvl="1"/>
            <a:r>
              <a:rPr lang="en-GB" sz="1700" b="0" i="0" dirty="0">
                <a:effectLst/>
                <a:latin typeface="roboto"/>
              </a:rPr>
              <a:t>IoT devices have limited computing power and memory capacity</a:t>
            </a:r>
            <a:endParaRPr lang="en-GB" sz="1700" dirty="0">
              <a:latin typeface="roboto"/>
            </a:endParaRPr>
          </a:p>
          <a:p>
            <a:pPr lvl="1"/>
            <a:r>
              <a:rPr lang="en-GB" sz="1700" dirty="0">
                <a:latin typeface="roboto"/>
              </a:rPr>
              <a:t>C</a:t>
            </a:r>
            <a:r>
              <a:rPr lang="en-GB" sz="1700" b="0" i="0" dirty="0">
                <a:effectLst/>
                <a:latin typeface="roboto"/>
              </a:rPr>
              <a:t>ryptographic algorithms may require more resources than constrained IoT devices possess</a:t>
            </a:r>
          </a:p>
          <a:p>
            <a:pPr lvl="1"/>
            <a:r>
              <a:rPr lang="en-GB" sz="1700" b="0" i="0" dirty="0">
                <a:effectLst/>
                <a:latin typeface="roboto"/>
              </a:rPr>
              <a:t>Critical security issues </a:t>
            </a:r>
            <a:r>
              <a:rPr lang="en-GB" sz="1700" dirty="0">
                <a:latin typeface="roboto"/>
              </a:rPr>
              <a:t>may</a:t>
            </a:r>
            <a:r>
              <a:rPr lang="en-GB" sz="1700" b="0" i="0" dirty="0">
                <a:effectLst/>
                <a:latin typeface="roboto"/>
              </a:rPr>
              <a:t> require updates to be rolled out to all devices simultaneously can be affected by unreliable networks on which many IoT devices</a:t>
            </a:r>
          </a:p>
          <a:p>
            <a:r>
              <a:rPr lang="en-GB" sz="1700" b="1" i="0" dirty="0">
                <a:effectLst/>
                <a:latin typeface="roboto"/>
              </a:rPr>
              <a:t>Security is a critical concern for developers of IoT applications.</a:t>
            </a:r>
          </a:p>
          <a:p>
            <a:pPr marL="0" indent="0">
              <a:buNone/>
            </a:pPr>
            <a:endParaRPr lang="en-IE" sz="1700" dirty="0"/>
          </a:p>
        </p:txBody>
      </p:sp>
    </p:spTree>
    <p:extLst>
      <p:ext uri="{BB962C8B-B14F-4D97-AF65-F5344CB8AC3E}">
        <p14:creationId xmlns:p14="http://schemas.microsoft.com/office/powerpoint/2010/main" val="27751028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BD6D3-653B-46B0-AB7C-28A9CDA3F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IE" sz="3600"/>
              <a:t>Security in MQTT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79726-17A7-4041-8EE4-11FA84A91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82981"/>
            <a:ext cx="4008384" cy="4393982"/>
          </a:xfrm>
        </p:spPr>
        <p:txBody>
          <a:bodyPr>
            <a:normAutofit/>
          </a:bodyPr>
          <a:lstStyle/>
          <a:p>
            <a:r>
              <a:rPr lang="en-IE" sz="1400" dirty="0"/>
              <a:t>We can take a “layered” approach over the protocol stack</a:t>
            </a:r>
          </a:p>
          <a:p>
            <a:r>
              <a:rPr lang="en-GB" sz="1400" dirty="0"/>
              <a:t>MQTT specifies only a few security mechanisms</a:t>
            </a:r>
          </a:p>
          <a:p>
            <a:r>
              <a:rPr lang="en-GB" sz="1400" dirty="0"/>
              <a:t>MQTT uses other accepted security standards at the various levels: 	</a:t>
            </a:r>
          </a:p>
          <a:p>
            <a:pPr lvl="1"/>
            <a:r>
              <a:rPr lang="en-GB" sz="1400" dirty="0" err="1"/>
              <a:t>E.g.SSL</a:t>
            </a:r>
            <a:r>
              <a:rPr lang="en-GB" sz="1400" dirty="0"/>
              <a:t>/TLS for transport security. </a:t>
            </a:r>
            <a:endParaRPr lang="en-IE" sz="1400" dirty="0"/>
          </a:p>
          <a:p>
            <a:r>
              <a:rPr lang="en-IE" sz="1400" b="1" dirty="0"/>
              <a:t>Network Layer: </a:t>
            </a:r>
            <a:r>
              <a:rPr lang="en-IE" sz="1400" dirty="0"/>
              <a:t>Use</a:t>
            </a:r>
            <a:r>
              <a:rPr lang="en-GB" sz="1400" dirty="0"/>
              <a:t> a VPN for all communication between clients and brokers. Gateway-based applications, the gateway is connected to devices on the one hand and with the broker over VPN on the other side.</a:t>
            </a:r>
          </a:p>
          <a:p>
            <a:r>
              <a:rPr lang="en-GB" sz="1400" b="1" dirty="0"/>
              <a:t>Transport Layer: </a:t>
            </a:r>
            <a:r>
              <a:rPr lang="en-IE" sz="1400" b="1" dirty="0"/>
              <a:t> </a:t>
            </a:r>
            <a:r>
              <a:rPr lang="en-IE" sz="1400" dirty="0"/>
              <a:t>TLS/SSL</a:t>
            </a:r>
          </a:p>
          <a:p>
            <a:r>
              <a:rPr lang="en-IE" sz="1400" b="1" dirty="0"/>
              <a:t>Application Layer: </a:t>
            </a:r>
            <a:r>
              <a:rPr lang="en-IE" sz="1400" dirty="0"/>
              <a:t>Authorisation using username/password provided by the Protocol</a:t>
            </a:r>
          </a:p>
        </p:txBody>
      </p:sp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205953F5-4295-4402-B8A2-88ADD046C3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11641" b="1"/>
          <a:stretch/>
        </p:blipFill>
        <p:spPr>
          <a:xfrm>
            <a:off x="5295320" y="1823140"/>
            <a:ext cx="6253212" cy="42815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E4F5CB-8BD2-416C-8314-23D181CD667B}"/>
              </a:ext>
            </a:extLst>
          </p:cNvPr>
          <p:cNvSpPr txBox="1"/>
          <p:nvPr/>
        </p:nvSpPr>
        <p:spPr>
          <a:xfrm>
            <a:off x="9361715" y="5904658"/>
            <a:ext cx="2186817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s://www.scirp.org/journal/paperinformation.aspx?paperid=1042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4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86122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44A45-E66D-4495-9784-2F00489C1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MQTT Authentication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C7213-0E2A-48FC-A392-D60B6C6F0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The MQTT protocol provides username and password fields in the CONNECT message for authentication</a:t>
            </a:r>
          </a:p>
          <a:p>
            <a:pPr lvl="1"/>
            <a:r>
              <a:rPr lang="en-GB" dirty="0"/>
              <a:t>Username is an UTF-8 encoded string. </a:t>
            </a:r>
          </a:p>
          <a:p>
            <a:pPr lvl="1"/>
            <a:r>
              <a:rPr lang="en-GB" dirty="0"/>
              <a:t>Password is binary data with a maximum of 65535 bytes.</a:t>
            </a:r>
          </a:p>
          <a:p>
            <a:r>
              <a:rPr lang="en-GB" dirty="0"/>
              <a:t>The MQTT broker evaluates credentials  and returns one of the following return codes:</a:t>
            </a:r>
          </a:p>
          <a:p>
            <a:pPr lvl="1"/>
            <a:r>
              <a:rPr lang="en-GB" dirty="0"/>
              <a:t>0 – Connection Accepted</a:t>
            </a:r>
          </a:p>
          <a:p>
            <a:pPr lvl="1"/>
            <a:r>
              <a:rPr lang="en-GB" dirty="0"/>
              <a:t>4 – Connection Refused, bad username/password</a:t>
            </a:r>
          </a:p>
          <a:p>
            <a:pPr lvl="1"/>
            <a:r>
              <a:rPr lang="en-GB" dirty="0"/>
              <a:t>5 – Connection Refused, not authorised</a:t>
            </a:r>
          </a:p>
          <a:p>
            <a:r>
              <a:rPr lang="en-GB" dirty="0"/>
              <a:t>Username/password sent as plain text - </a:t>
            </a:r>
            <a:r>
              <a:rPr lang="en-GB" b="1" dirty="0"/>
              <a:t>Secure transmission of usernames and passwords requires transport encryption</a:t>
            </a:r>
            <a:endParaRPr lang="en-IE" b="1" dirty="0"/>
          </a:p>
        </p:txBody>
      </p:sp>
    </p:spTree>
    <p:extLst>
      <p:ext uri="{BB962C8B-B14F-4D97-AF65-F5344CB8AC3E}">
        <p14:creationId xmlns:p14="http://schemas.microsoft.com/office/powerpoint/2010/main" val="33904014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62E22-ADF7-4AC9-ACD3-9F9460B62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214"/>
            <a:ext cx="10515600" cy="1481188"/>
          </a:xfrm>
        </p:spPr>
        <p:txBody>
          <a:bodyPr>
            <a:normAutofit/>
          </a:bodyPr>
          <a:lstStyle/>
          <a:p>
            <a:pPr algn="ctr"/>
            <a:r>
              <a:rPr lang="en-GB" sz="4000" dirty="0"/>
              <a:t>Transport Layer Security (TLS)</a:t>
            </a:r>
            <a:endParaRPr lang="en-IE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92307-CBB2-44B3-8ED9-E2497D41B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128"/>
            <a:ext cx="6430818" cy="4834658"/>
          </a:xfrm>
        </p:spPr>
        <p:txBody>
          <a:bodyPr>
            <a:normAutofit/>
          </a:bodyPr>
          <a:lstStyle/>
          <a:p>
            <a:r>
              <a:rPr lang="en-GB" sz="2000" dirty="0"/>
              <a:t>TLS provide a secure communication channel between a client and a server </a:t>
            </a:r>
            <a:r>
              <a:rPr lang="en-GB" sz="2000" b="1" dirty="0"/>
              <a:t>at Transport Layer.</a:t>
            </a:r>
          </a:p>
          <a:p>
            <a:r>
              <a:rPr lang="en-GB" sz="2000" dirty="0"/>
              <a:t>TLS is  a cryptographic protocol which use a handshake mechanism to negotiate various parameters to create a secure connection between the client and the server.</a:t>
            </a:r>
          </a:p>
          <a:p>
            <a:r>
              <a:rPr lang="en-GB" sz="2000" b="1" dirty="0"/>
              <a:t>Servers provide a certificate </a:t>
            </a:r>
            <a:r>
              <a:rPr lang="en-GB" sz="2000" dirty="0"/>
              <a:t>(typically issued by a trusted authority) that clients use to verify the identity of the server.</a:t>
            </a:r>
          </a:p>
          <a:p>
            <a:r>
              <a:rPr lang="en-GB" sz="2000" dirty="0"/>
              <a:t>While the additional CPU usage is typically negligible on the broker, </a:t>
            </a:r>
            <a:r>
              <a:rPr lang="en-GB" sz="2000" b="1" dirty="0"/>
              <a:t>small constrained devices are not designed for computation-intensive tasks</a:t>
            </a:r>
            <a:r>
              <a:rPr lang="en-GB" sz="2000" dirty="0"/>
              <a:t>.</a:t>
            </a:r>
          </a:p>
          <a:p>
            <a:r>
              <a:rPr lang="en-GB" sz="2000" dirty="0"/>
              <a:t>If TLS is not possible</a:t>
            </a:r>
            <a:r>
              <a:rPr lang="en-GB" sz="2000" b="1" dirty="0"/>
              <a:t>, payload encryption and at least hash or encrypt the password in the CONNECT message of your client.</a:t>
            </a:r>
            <a:endParaRPr lang="en-IE" sz="2000" b="1" dirty="0"/>
          </a:p>
        </p:txBody>
      </p:sp>
      <p:pic>
        <p:nvPicPr>
          <p:cNvPr id="5" name="Picture 4" descr="Logo, icon&#10;&#10;Description automatically generated">
            <a:extLst>
              <a:ext uri="{FF2B5EF4-FFF2-40B4-BE49-F238E27FC236}">
                <a16:creationId xmlns:a16="http://schemas.microsoft.com/office/drawing/2014/main" id="{89AF8231-1F3E-44B2-B0F1-4DA4545F6BA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3929" b="4"/>
          <a:stretch/>
        </p:blipFill>
        <p:spPr>
          <a:xfrm>
            <a:off x="7198553" y="2475203"/>
            <a:ext cx="3730372" cy="258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298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32782-E266-49EB-BE2A-31ECE1A41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IE" sz="3600"/>
              <a:t>Application Level Encryption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9452D-63F7-44F1-AED0-B2E9C6422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82981"/>
            <a:ext cx="4008384" cy="4393982"/>
          </a:xfrm>
        </p:spPr>
        <p:txBody>
          <a:bodyPr>
            <a:normAutofit/>
          </a:bodyPr>
          <a:lstStyle/>
          <a:p>
            <a:r>
              <a:rPr lang="en-GB" sz="1900"/>
              <a:t>End to End encryption between publisher and subscriber</a:t>
            </a:r>
          </a:p>
          <a:p>
            <a:r>
              <a:rPr lang="en-GB" sz="1900"/>
              <a:t>Encrypt the payload without having to configure the MQTT broker</a:t>
            </a:r>
          </a:p>
          <a:p>
            <a:pPr lvl="1"/>
            <a:r>
              <a:rPr lang="en-GB" sz="1900"/>
              <a:t>Means publisher and subscriber applications have to “know” encryption/decryption method. Has to be coded</a:t>
            </a:r>
          </a:p>
          <a:p>
            <a:r>
              <a:rPr lang="en-GB" sz="1900"/>
              <a:t>Possible alternative for constrained devices that cannot support TLS</a:t>
            </a:r>
          </a:p>
          <a:p>
            <a:r>
              <a:rPr lang="en-GB" sz="1900"/>
              <a:t>Possible (less secure) alternative for using public brokers.</a:t>
            </a:r>
          </a:p>
          <a:p>
            <a:endParaRPr lang="en-IE" sz="1900"/>
          </a:p>
        </p:txBody>
      </p:sp>
      <p:pic>
        <p:nvPicPr>
          <p:cNvPr id="5" name="Picture 4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42235E1A-6232-4569-81F2-322C53F64B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687" r="-2" b="-2"/>
          <a:stretch/>
        </p:blipFill>
        <p:spPr>
          <a:xfrm>
            <a:off x="6876324" y="1782982"/>
            <a:ext cx="3091200" cy="21165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FCB750-F621-468D-90F9-87CE4A18D1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958" y="4060406"/>
            <a:ext cx="6041935" cy="20844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78BD5C-6249-4DED-A363-FB4D7B878E7F}"/>
              </a:ext>
            </a:extLst>
          </p:cNvPr>
          <p:cNvSpPr txBox="1"/>
          <p:nvPr/>
        </p:nvSpPr>
        <p:spPr>
          <a:xfrm>
            <a:off x="7660482" y="3699485"/>
            <a:ext cx="230704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://en.wikiversity.org/wiki/Internet_Protocol_Analysis/Network_Monitor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5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IE" sz="70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C51CCA-0BF0-4BC7-A657-10B099FC02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8429" y="6265693"/>
            <a:ext cx="5200650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5481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ED936-698F-49C1-9BF8-0840B7C0F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Raspberry Pi: Creating MQTT Clients in Python: Publishing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AFA98-788D-40B4-9688-C708D9DE2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We’ll use </a:t>
            </a:r>
            <a:r>
              <a:rPr lang="en-GB" b="1" dirty="0" err="1"/>
              <a:t>Paho</a:t>
            </a:r>
            <a:r>
              <a:rPr lang="en-GB" dirty="0"/>
              <a:t> MQTT python client from Eclipse</a:t>
            </a:r>
          </a:p>
          <a:p>
            <a:r>
              <a:rPr lang="en-GB" dirty="0"/>
              <a:t>Import the </a:t>
            </a:r>
            <a:r>
              <a:rPr lang="en-GB" b="1" dirty="0"/>
              <a:t>client class </a:t>
            </a:r>
            <a:r>
              <a:rPr lang="en-GB" dirty="0"/>
              <a:t>to provide functions to publish messages and subscribe to topics on MQTT brokers</a:t>
            </a:r>
            <a:r>
              <a:rPr lang="en-IE" dirty="0"/>
              <a:t>.</a:t>
            </a:r>
          </a:p>
          <a:p>
            <a:r>
              <a:rPr lang="en-IE" dirty="0"/>
              <a:t>Create instance and connect to a broker: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CCF45C-496E-40D2-914D-EA143CF78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649" y="3936637"/>
            <a:ext cx="6178551" cy="2153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5243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12EF5-CEC4-4362-86E8-F98204B68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Raspberry Pi: Creating MQTT Clients in Python: Subscribing  Client Callback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33260-393E-4429-8CD3-72E816CEC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When the client receives messages it generate the </a:t>
            </a:r>
            <a:r>
              <a:rPr lang="en-GB" dirty="0" err="1"/>
              <a:t>on_message</a:t>
            </a:r>
            <a:r>
              <a:rPr lang="en-GB" dirty="0"/>
              <a:t> </a:t>
            </a:r>
            <a:r>
              <a:rPr lang="en-GB" dirty="0" err="1"/>
              <a:t>callback</a:t>
            </a:r>
            <a:r>
              <a:rPr lang="en-GB" dirty="0"/>
              <a:t>.</a:t>
            </a:r>
            <a:endParaRPr lang="en-IE" dirty="0"/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endParaRPr lang="en-IE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B85E00E-FD81-4102-ABCB-340C4992C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53170"/>
            <a:ext cx="184731" cy="5635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380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66DF78-B190-409F-8F33-AEDA5A79F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004" y="2930525"/>
            <a:ext cx="6381750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3196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762B6-7B99-ADED-4AB8-121B255A2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Arduino: Creating MQTT Clients in a Sketch: Publishing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21BB4-5B47-4A20-7E10-21BFA77AF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E" b="0" dirty="0">
                <a:solidFill>
                  <a:srgbClr val="728E0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IE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E" b="0" dirty="0" err="1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PubSubClient.h</a:t>
            </a:r>
            <a:r>
              <a:rPr lang="en-IE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E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E" dirty="0">
              <a:solidFill>
                <a:srgbClr val="4E5B6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E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WiFiClient</a:t>
            </a:r>
            <a:r>
              <a:rPr lang="en-IE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wifiClient</a:t>
            </a:r>
            <a:r>
              <a:rPr lang="en-IE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E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PubSubClient</a:t>
            </a:r>
            <a:r>
              <a:rPr lang="en-IE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en-IE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E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wifiClient</a:t>
            </a:r>
            <a:r>
              <a:rPr lang="en-IE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E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IE" dirty="0">
              <a:solidFill>
                <a:srgbClr val="4E5B6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E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en-IE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E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setServer</a:t>
            </a:r>
            <a:r>
              <a:rPr lang="en-IE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E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mqttServer</a:t>
            </a:r>
            <a:r>
              <a:rPr lang="en-IE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E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mqttPort</a:t>
            </a:r>
            <a:r>
              <a:rPr lang="en-IE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E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IE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E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en-IE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E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connect</a:t>
            </a:r>
            <a:r>
              <a:rPr lang="en-IE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E" dirty="0" err="1">
                <a:solidFill>
                  <a:srgbClr val="005C5F"/>
                </a:solidFill>
                <a:latin typeface="Consolas" panose="020B0609020204030204" pitchFamily="49" charset="0"/>
              </a:rPr>
              <a:t>connectionId</a:t>
            </a:r>
            <a:r>
              <a:rPr lang="en-IE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IE" dirty="0">
              <a:solidFill>
                <a:srgbClr val="434F5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en-GB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publish</a:t>
            </a:r>
            <a:r>
              <a:rPr lang="en-GB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en-GB" b="0" dirty="0" err="1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fxwalsh</a:t>
            </a:r>
            <a:r>
              <a:rPr lang="en-GB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/temperature"</a:t>
            </a:r>
            <a:r>
              <a:rPr lang="en-GB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, message</a:t>
            </a:r>
            <a:r>
              <a:rPr lang="en-GB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IE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E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endParaRPr lang="en-IE" dirty="0"/>
          </a:p>
        </p:txBody>
      </p:sp>
      <p:sp>
        <p:nvSpPr>
          <p:cNvPr id="4" name="Callout: Bent Line with Border and Accent Bar 3">
            <a:extLst>
              <a:ext uri="{FF2B5EF4-FFF2-40B4-BE49-F238E27FC236}">
                <a16:creationId xmlns:a16="http://schemas.microsoft.com/office/drawing/2014/main" id="{17F3BDD7-B786-B8B6-4EA6-C332A4BE5C67}"/>
              </a:ext>
            </a:extLst>
          </p:cNvPr>
          <p:cNvSpPr/>
          <p:nvPr/>
        </p:nvSpPr>
        <p:spPr>
          <a:xfrm>
            <a:off x="8534399" y="1399170"/>
            <a:ext cx="3406987" cy="717973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78538"/>
              <a:gd name="adj6" fmla="val -10009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Uses </a:t>
            </a:r>
            <a:r>
              <a:rPr lang="en-IE" dirty="0" err="1"/>
              <a:t>PubSubCLient</a:t>
            </a:r>
            <a:r>
              <a:rPr lang="en-IE" dirty="0"/>
              <a:t> from Arduino Library</a:t>
            </a:r>
          </a:p>
        </p:txBody>
      </p:sp>
      <p:sp>
        <p:nvSpPr>
          <p:cNvPr id="5" name="Callout: Bent Line with Border and Accent Bar 4">
            <a:extLst>
              <a:ext uri="{FF2B5EF4-FFF2-40B4-BE49-F238E27FC236}">
                <a16:creationId xmlns:a16="http://schemas.microsoft.com/office/drawing/2014/main" id="{6D49ED8F-58C8-8CB8-E8D3-C953A4577F56}"/>
              </a:ext>
            </a:extLst>
          </p:cNvPr>
          <p:cNvSpPr/>
          <p:nvPr/>
        </p:nvSpPr>
        <p:spPr>
          <a:xfrm>
            <a:off x="8849359" y="2506610"/>
            <a:ext cx="3406987" cy="717973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93632"/>
              <a:gd name="adj6" fmla="val -6152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Construct MQTT client using </a:t>
            </a:r>
            <a:r>
              <a:rPr lang="en-IE" dirty="0" err="1"/>
              <a:t>wifiClient</a:t>
            </a:r>
            <a:endParaRPr lang="en-IE" dirty="0"/>
          </a:p>
        </p:txBody>
      </p:sp>
      <p:sp>
        <p:nvSpPr>
          <p:cNvPr id="6" name="Callout: Bent Line with Border and Accent Bar 5">
            <a:extLst>
              <a:ext uri="{FF2B5EF4-FFF2-40B4-BE49-F238E27FC236}">
                <a16:creationId xmlns:a16="http://schemas.microsoft.com/office/drawing/2014/main" id="{E1ED2000-B5C2-D874-DD26-5D0A574BCD47}"/>
              </a:ext>
            </a:extLst>
          </p:cNvPr>
          <p:cNvSpPr/>
          <p:nvPr/>
        </p:nvSpPr>
        <p:spPr>
          <a:xfrm>
            <a:off x="9035626" y="3429000"/>
            <a:ext cx="3081867" cy="939800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55434"/>
              <a:gd name="adj6" fmla="val -4482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Set MQTT Server and port</a:t>
            </a:r>
          </a:p>
        </p:txBody>
      </p:sp>
      <p:sp>
        <p:nvSpPr>
          <p:cNvPr id="7" name="Callout: Bent Line with Border and Accent Bar 6">
            <a:extLst>
              <a:ext uri="{FF2B5EF4-FFF2-40B4-BE49-F238E27FC236}">
                <a16:creationId xmlns:a16="http://schemas.microsoft.com/office/drawing/2014/main" id="{C0BBCE9C-7627-8438-5AB2-5092859BDE1D}"/>
              </a:ext>
            </a:extLst>
          </p:cNvPr>
          <p:cNvSpPr/>
          <p:nvPr/>
        </p:nvSpPr>
        <p:spPr>
          <a:xfrm>
            <a:off x="8328659" y="4573217"/>
            <a:ext cx="3406987" cy="717973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34198"/>
              <a:gd name="adj6" fmla="val -6709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Create Connection</a:t>
            </a:r>
          </a:p>
        </p:txBody>
      </p:sp>
      <p:sp>
        <p:nvSpPr>
          <p:cNvPr id="8" name="Callout: Bent Line with Border and Accent Bar 7">
            <a:extLst>
              <a:ext uri="{FF2B5EF4-FFF2-40B4-BE49-F238E27FC236}">
                <a16:creationId xmlns:a16="http://schemas.microsoft.com/office/drawing/2014/main" id="{DD26B709-D31F-BC69-C593-14AEFED398D5}"/>
              </a:ext>
            </a:extLst>
          </p:cNvPr>
          <p:cNvSpPr/>
          <p:nvPr/>
        </p:nvSpPr>
        <p:spPr>
          <a:xfrm>
            <a:off x="8785013" y="6022393"/>
            <a:ext cx="3406987" cy="717973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7123"/>
              <a:gd name="adj6" fmla="val -6907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Publish message to topic!</a:t>
            </a:r>
          </a:p>
        </p:txBody>
      </p:sp>
    </p:spTree>
    <p:extLst>
      <p:ext uri="{BB962C8B-B14F-4D97-AF65-F5344CB8AC3E}">
        <p14:creationId xmlns:p14="http://schemas.microsoft.com/office/powerpoint/2010/main" val="19601696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A301F-B3E7-C6B3-6616-364154944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err="1"/>
              <a:t>Javascript</a:t>
            </a:r>
            <a:r>
              <a:rPr lang="en-IE" dirty="0"/>
              <a:t>/Node.js MQTT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41C2B-2A51-D156-A6F3-61EBA6FAE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315" y="1847544"/>
            <a:ext cx="6827152" cy="4351338"/>
          </a:xfrm>
          <a:solidFill>
            <a:schemeClr val="tx1"/>
          </a:solidFill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E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mqtt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E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mqtt</a:t>
            </a:r>
            <a:r>
              <a:rPr lang="en-I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b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E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I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mqtt</a:t>
            </a:r>
            <a:r>
              <a:rPr lang="en-IE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E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connect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E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mqtt</a:t>
            </a:r>
            <a:r>
              <a:rPr lang="en-I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://broker.emqx.io'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E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topic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</a:t>
            </a:r>
            <a:r>
              <a:rPr lang="en-IE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fxwalsh</a:t>
            </a:r>
            <a:r>
              <a:rPr lang="en-I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/temperature'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b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en-IE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E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'connect'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E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() {</a:t>
            </a:r>
          </a:p>
          <a:p>
            <a:pPr marL="0" indent="0">
              <a:buNone/>
            </a:pP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en-IE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E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subscribe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topic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E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E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I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E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`Subscribed to </a:t>
            </a:r>
            <a:r>
              <a:rPr lang="en-IE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topic</a:t>
            </a:r>
            <a:r>
              <a:rPr lang="en-IE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});</a:t>
            </a:r>
          </a:p>
          <a:p>
            <a:pPr marL="0" indent="0">
              <a:buNone/>
            </a:pP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 marL="0" indent="0">
              <a:buNone/>
            </a:pPr>
            <a:b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en-IE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E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'message'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E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topic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E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message is a buffer</a:t>
            </a:r>
            <a:endParaRPr lang="en-IE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E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IE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E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indent="0">
              <a:buNone/>
            </a:pP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276731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</TotalTime>
  <Words>1582</Words>
  <Application>Microsoft Office PowerPoint</Application>
  <PresentationFormat>Widescreen</PresentationFormat>
  <Paragraphs>191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</vt:lpstr>
      <vt:lpstr>Arial</vt:lpstr>
      <vt:lpstr>Calibri</vt:lpstr>
      <vt:lpstr>Calibri Light</vt:lpstr>
      <vt:lpstr>Consolas</vt:lpstr>
      <vt:lpstr>roboto</vt:lpstr>
      <vt:lpstr>Wingdings</vt:lpstr>
      <vt:lpstr>Office Theme</vt:lpstr>
      <vt:lpstr>Indirect Messaging</vt:lpstr>
      <vt:lpstr>Agenda </vt:lpstr>
      <vt:lpstr>Indirect Messaging</vt:lpstr>
      <vt:lpstr>Using the “Middleman”</vt:lpstr>
      <vt:lpstr>MQTT</vt:lpstr>
      <vt:lpstr>MQTT – publish subscribe</vt:lpstr>
      <vt:lpstr>Publish Subscribe Process</vt:lpstr>
      <vt:lpstr>Publish-Subscribe Characteristics</vt:lpstr>
      <vt:lpstr>MQTT Characteristics </vt:lpstr>
      <vt:lpstr>MQTT Characteristics</vt:lpstr>
      <vt:lpstr>MQTT Control Packets</vt:lpstr>
      <vt:lpstr>MQTT Control Packets</vt:lpstr>
      <vt:lpstr>MQTT Last Will and Testament</vt:lpstr>
      <vt:lpstr>MQTT is Open Source</vt:lpstr>
      <vt:lpstr>MQTT vs HTTP</vt:lpstr>
      <vt:lpstr>MQTT vs HTTP</vt:lpstr>
      <vt:lpstr>PowerPoint Presentation</vt:lpstr>
      <vt:lpstr>Application Example</vt:lpstr>
      <vt:lpstr>Code Example: Python</vt:lpstr>
      <vt:lpstr>MQTT Security</vt:lpstr>
      <vt:lpstr>Not good…..</vt:lpstr>
      <vt:lpstr>Security in IoT</vt:lpstr>
      <vt:lpstr>Security in MQTT</vt:lpstr>
      <vt:lpstr>MQTT Authentication</vt:lpstr>
      <vt:lpstr>Transport Layer Security (TLS)</vt:lpstr>
      <vt:lpstr>Application Level Encryption</vt:lpstr>
      <vt:lpstr>Raspberry Pi: Creating MQTT Clients in Python: Publishing Client</vt:lpstr>
      <vt:lpstr>Raspberry Pi: Creating MQTT Clients in Python: Subscribing  Client Callback</vt:lpstr>
      <vt:lpstr>Arduino: Creating MQTT Clients in a Sketch: Publishing Client</vt:lpstr>
      <vt:lpstr>Javascript/Node.js MQTT Client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APIs and Indirect Messaging</dc:title>
  <dc:creator>Frank X Walsh</dc:creator>
  <cp:lastModifiedBy>Frank X Walsh</cp:lastModifiedBy>
  <cp:revision>10</cp:revision>
  <dcterms:created xsi:type="dcterms:W3CDTF">2020-10-19T10:45:15Z</dcterms:created>
  <dcterms:modified xsi:type="dcterms:W3CDTF">2024-02-09T08:51:14Z</dcterms:modified>
</cp:coreProperties>
</file>