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B1F3-6117-4525-8B93-B36053161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E6AB2-14CD-4908-82B8-9543B0A1E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91D2-9BD9-4257-BEE6-69ED25CD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14FB3-CBBA-4A1D-8A29-9AAA5E43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74F5-EF5B-4BDF-AF8B-D8120E2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409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9EE4-CBDA-47FE-BABA-6033B299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7BAB1-1893-4372-943B-1B848C7CF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6CE3C-5E0C-4C63-8051-559D1214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71C28-A4A9-4DBC-9746-8A130225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C320-F40E-4B57-81E0-1E2A21D6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406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6E9E-70BE-4BB9-8F3B-81D8C66C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63D03-494F-43AF-B7BB-DC2F5871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3D5C-D731-49E8-BBD2-8EBC8082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D066F-9E7F-4689-965B-B701B300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E8D87-85AB-47C9-9ADE-A2C67C3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055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3F08-86EB-4093-9CAE-1D80F0FA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28D15-881C-430A-8E8D-47D877238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41C50-BDC8-4701-9534-1057BB45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A944F-6F18-4E6C-8F73-7C0BF375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B4E2E-AA4D-412D-8707-FE208ECB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B0FC4-CF91-4D96-81A3-F4E5D481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345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0E53-11CF-4C8F-AE8C-147A2059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4E7E2-10FE-472E-B26C-1B8F5FD5F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6B1FA-5542-4FB7-884A-D576D48F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3F563-252C-45F0-8B19-96963DAAF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5BC28-4973-4DDC-B7C3-022A951EF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2ACAC-A69C-4E9B-B4CD-00DB4BD3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7CC7A-E8C6-4F2C-8EA5-7C5398FA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1D102-41DA-4174-A28F-249F7A83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14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E853-2B9E-42B3-9C13-131DB14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82F2-020F-4DD9-AF94-3F991068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A4534-18D4-40B9-AA75-66D18070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8927E-1E54-419F-8411-1383EA13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383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103AD-6E75-477B-B462-B5442E84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E19F1-1C1A-4FE6-9832-980722AC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4150A-C688-43F1-89ED-590A19A9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252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80E9-8063-4068-B970-052E3D66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D6142-A900-4955-B004-FC5A7EFAA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54B9E-46B6-4718-A61E-3969811B7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EDC97-5EF8-48A2-B0EC-575AE522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F4237-9732-411E-BC62-5DCFF2B1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D97D7-2014-4BF8-B9DD-E8B71BE5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81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6BD5-7B93-473A-BEB1-65F628EB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27B83-9F52-4206-8C0E-8E860AB6E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4A391-0DE9-48DC-83AB-83084507B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2B6B6-9F4A-484F-9106-2BC582F2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541EF-B79C-430C-9727-8DDC89C9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4E4D9-12E5-4ECD-828D-220CCC7A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657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2D7D-25D2-4BDA-A3DA-73129929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BA86B-D982-43B5-9267-3B5A557E8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50F45-F67D-4850-911B-F84B6F05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217E-E40D-4A9C-9FB8-6908E6D5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364F-BADC-4DBA-AE54-5EDF7A93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149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1B4EC5-E66B-4F23-A6AC-343FB31BD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63DEB-EA22-4629-A877-E8EB59693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840F-B63F-49CE-8824-88EB41D7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1B0B-4832-4A9B-ACD6-2995C611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0F912-658E-407E-85E0-0348D90E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660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B8D1AA-4E37-4F51-A5B0-264A3417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22D98-35F9-407E-98F9-924029FED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11A08-8B53-4814-A911-5FFA49119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53516-A40C-46B0-9C73-65D571832B5B}" type="datetimeFigureOut">
              <a:rPr lang="en-IE" smtClean="0"/>
              <a:t>01/03/2021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BF9A1-47A5-4965-ABD6-9E45675BD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59605-6727-4EA6-92E8-87F86D38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BF8EF-7DCD-4686-9178-1A08931C53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242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yber-security-encryption-security-2537786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421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teamtreehouse.com/library/user-authentication-with-rail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hosting.com/blog/en/transport-layer-security-tls-works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ernet_Protocol_Analysis/Network_Monitor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FEA0-3F35-4E13-9B36-0938FA82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MQTT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C35D34-F0FF-4FD7-84EA-BE0ABA38F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523" y="2004707"/>
            <a:ext cx="6324600" cy="3448050"/>
          </a:xfrm>
        </p:spPr>
      </p:pic>
    </p:spTree>
    <p:extLst>
      <p:ext uri="{BB962C8B-B14F-4D97-AF65-F5344CB8AC3E}">
        <p14:creationId xmlns:p14="http://schemas.microsoft.com/office/powerpoint/2010/main" val="171522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C473-5354-468B-A06B-324BB06E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46B77-F832-43E3-BA11-6B2AFE117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927"/>
          <a:stretch/>
        </p:blipFill>
        <p:spPr>
          <a:xfrm>
            <a:off x="3015556" y="2170545"/>
            <a:ext cx="6160888" cy="4006418"/>
          </a:xfrm>
        </p:spPr>
      </p:pic>
    </p:spTree>
    <p:extLst>
      <p:ext uri="{BB962C8B-B14F-4D97-AF65-F5344CB8AC3E}">
        <p14:creationId xmlns:p14="http://schemas.microsoft.com/office/powerpoint/2010/main" val="222950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2DB4-A344-4D6C-9254-19791FF4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QoS</a:t>
            </a:r>
            <a:br>
              <a:rPr lang="en-GB" dirty="0"/>
            </a:br>
            <a:endParaRPr lang="en-IE" dirty="0"/>
          </a:p>
        </p:txBody>
      </p:sp>
      <p:pic>
        <p:nvPicPr>
          <p:cNvPr id="1026" name="Picture 2" descr="Message delivery at different QoS levels. Source: Patierno 2014, slide 8.">
            <a:extLst>
              <a:ext uri="{FF2B5EF4-FFF2-40B4-BE49-F238E27FC236}">
                <a16:creationId xmlns:a16="http://schemas.microsoft.com/office/drawing/2014/main" id="{9AF0E38C-39AA-439E-959F-DC4D11D566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98" y="1437697"/>
            <a:ext cx="725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90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FA1-FA13-4594-82E7-765635DC3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MQTT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52642-8E5A-4CD6-A133-1BC126D8E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66457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138C9-0A99-466E-81F2-3C0BC93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Security in IoT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D0B92E5-4A70-49C8-8B1E-3C42AC9ED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3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279A-C36D-47FA-864D-EFFEABE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700" b="0" i="0" dirty="0">
                <a:effectLst/>
                <a:latin typeface="roboto"/>
              </a:rPr>
              <a:t>Internet of Things presents new security implementation challenges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IoT devices have limited computing power and memory capacity</a:t>
            </a:r>
            <a:endParaRPr lang="en-GB" sz="1700" dirty="0">
              <a:latin typeface="roboto"/>
            </a:endParaRPr>
          </a:p>
          <a:p>
            <a:pPr lvl="1"/>
            <a:r>
              <a:rPr lang="en-GB" sz="1700" dirty="0">
                <a:latin typeface="roboto"/>
              </a:rPr>
              <a:t>C</a:t>
            </a:r>
            <a:r>
              <a:rPr lang="en-GB" sz="1700" b="0" i="0" dirty="0">
                <a:effectLst/>
                <a:latin typeface="roboto"/>
              </a:rPr>
              <a:t>ryptographic algorithms may require more resources than constrained IoT devices possess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Critical security issues </a:t>
            </a:r>
            <a:r>
              <a:rPr lang="en-GB" sz="1700" dirty="0">
                <a:latin typeface="roboto"/>
              </a:rPr>
              <a:t>may</a:t>
            </a:r>
            <a:r>
              <a:rPr lang="en-GB" sz="1700" b="0" i="0" dirty="0">
                <a:effectLst/>
                <a:latin typeface="roboto"/>
              </a:rPr>
              <a:t> require updates to be rolled out to all devices simultaneously can be affected by unreliable networks on which many IoT devices</a:t>
            </a:r>
          </a:p>
          <a:p>
            <a:r>
              <a:rPr lang="en-GB" sz="1700" b="1" i="0" dirty="0">
                <a:effectLst/>
                <a:latin typeface="roboto"/>
              </a:rPr>
              <a:t>Security is a critical concern for developers of IoT applications.</a:t>
            </a:r>
          </a:p>
          <a:p>
            <a:pPr marL="0" indent="0">
              <a:buNone/>
            </a:pPr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277510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BD6D3-653B-46B0-AB7C-28A9CDA3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/>
              <a:t>Security in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9726-17A7-4041-8EE4-11FA84A9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IE" sz="1600" dirty="0"/>
              <a:t>As with Web Dev, you can apply a “layered” approach over the protocol stack</a:t>
            </a:r>
          </a:p>
          <a:p>
            <a:r>
              <a:rPr lang="en-GB" sz="1600" dirty="0"/>
              <a:t>MQTT specifies only a few security mechanisms</a:t>
            </a:r>
          </a:p>
          <a:p>
            <a:r>
              <a:rPr lang="en-GB" sz="1600" dirty="0"/>
              <a:t>MQTT uses other accepted security standards at the various levels: 	</a:t>
            </a:r>
          </a:p>
          <a:p>
            <a:pPr lvl="1"/>
            <a:r>
              <a:rPr lang="en-GB" sz="1600" dirty="0" err="1"/>
              <a:t>E.g.SSL</a:t>
            </a:r>
            <a:r>
              <a:rPr lang="en-GB" sz="1600" dirty="0"/>
              <a:t>/TLS for transport security. </a:t>
            </a:r>
            <a:endParaRPr lang="en-IE" sz="1600" dirty="0"/>
          </a:p>
          <a:p>
            <a:r>
              <a:rPr lang="en-IE" sz="1600" b="1" dirty="0"/>
              <a:t>Network Layer: </a:t>
            </a:r>
            <a:r>
              <a:rPr lang="en-IE" sz="1600" dirty="0"/>
              <a:t>Use</a:t>
            </a:r>
            <a:r>
              <a:rPr lang="en-GB" sz="1600" dirty="0"/>
              <a:t> a VPN for all communication between clients and brokers. Gateway-based applications, the gateway is connected to devices on the one hand and with the broker over VPN on the other side.</a:t>
            </a:r>
          </a:p>
          <a:p>
            <a:r>
              <a:rPr lang="en-GB" sz="1600" b="1" dirty="0"/>
              <a:t>Transport Layer: </a:t>
            </a:r>
            <a:r>
              <a:rPr lang="en-IE" sz="1600" b="1" dirty="0"/>
              <a:t> </a:t>
            </a:r>
            <a:r>
              <a:rPr lang="en-IE" sz="1600" dirty="0"/>
              <a:t>TLS/SSL</a:t>
            </a:r>
          </a:p>
          <a:p>
            <a:r>
              <a:rPr lang="en-IE" sz="1600" b="1" dirty="0"/>
              <a:t>Application Layer: </a:t>
            </a:r>
            <a:r>
              <a:rPr lang="en-IE" sz="1600" dirty="0"/>
              <a:t>Authorisation using username/password provided by the Protocol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205953F5-4295-4402-B8A2-88ADD046C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41" b="1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4F5CB-8BD2-416C-8314-23D181CD667B}"/>
              </a:ext>
            </a:extLst>
          </p:cNvPr>
          <p:cNvSpPr txBox="1"/>
          <p:nvPr/>
        </p:nvSpPr>
        <p:spPr>
          <a:xfrm>
            <a:off x="9166982" y="5929035"/>
            <a:ext cx="218681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irp.org/journal/paperinformation.aspx?paperid=1042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1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4A45-E66D-4495-9784-2F00489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Authentication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213-0E2A-48FC-A392-D60B6C6F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MQTT protocol provides username and password fields in the CONNECT message for authentication</a:t>
            </a:r>
          </a:p>
          <a:p>
            <a:pPr lvl="1"/>
            <a:r>
              <a:rPr lang="en-GB" dirty="0"/>
              <a:t>Username is an UTF-8 encoded string. </a:t>
            </a:r>
          </a:p>
          <a:p>
            <a:pPr lvl="1"/>
            <a:r>
              <a:rPr lang="en-GB" dirty="0"/>
              <a:t>Password is binary data with a maximum of 65535 bytes.</a:t>
            </a:r>
          </a:p>
          <a:p>
            <a:r>
              <a:rPr lang="en-GB" dirty="0"/>
              <a:t>The MQTT broker evaluates credentials  and returns one of the following return codes:</a:t>
            </a:r>
          </a:p>
          <a:p>
            <a:pPr lvl="1"/>
            <a:r>
              <a:rPr lang="en-GB" dirty="0"/>
              <a:t>0 – Connection Accepted</a:t>
            </a:r>
          </a:p>
          <a:p>
            <a:pPr lvl="1"/>
            <a:r>
              <a:rPr lang="en-GB" dirty="0"/>
              <a:t>4 – Connection Refused, bad username/password</a:t>
            </a:r>
          </a:p>
          <a:p>
            <a:pPr lvl="1"/>
            <a:r>
              <a:rPr lang="en-GB" dirty="0"/>
              <a:t>5 – Connection Refused, not authorised</a:t>
            </a:r>
          </a:p>
          <a:p>
            <a:r>
              <a:rPr lang="en-GB" dirty="0"/>
              <a:t>Username/password sent as plain text - </a:t>
            </a:r>
            <a:r>
              <a:rPr lang="en-GB" b="1" dirty="0"/>
              <a:t>Secure transmission of usernames and passwords requires transport encryption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9040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193DC-9D81-4C65-9891-B853F9844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GB" sz="4000"/>
              <a:t>MQTT authentication/authorisation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657F-5EA0-42F7-A2ED-7248FB7D2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4066" cy="4301437"/>
          </a:xfrm>
        </p:spPr>
        <p:txBody>
          <a:bodyPr>
            <a:normAutofit/>
          </a:bodyPr>
          <a:lstStyle/>
          <a:p>
            <a:r>
              <a:rPr lang="en-GB" sz="1900" dirty="0"/>
              <a:t>Authorization specifies access rights to a resource.</a:t>
            </a:r>
          </a:p>
          <a:p>
            <a:r>
              <a:rPr lang="en-GB" sz="1900" dirty="0"/>
              <a:t>In addition to the username and password, MQTT clients provide other information that can be used for authentication.</a:t>
            </a:r>
          </a:p>
          <a:p>
            <a:pPr lvl="1"/>
            <a:r>
              <a:rPr lang="en-GB" sz="1900" dirty="0"/>
              <a:t>Client Identifier (Client ID)</a:t>
            </a:r>
          </a:p>
          <a:p>
            <a:pPr lvl="1"/>
            <a:r>
              <a:rPr lang="en-GB" sz="1900" dirty="0"/>
              <a:t>X.509 Certificate</a:t>
            </a:r>
          </a:p>
          <a:p>
            <a:r>
              <a:rPr lang="en-GB" sz="1900" dirty="0"/>
              <a:t>Without proper authorization, each authenticated client can publish and subscribe to all available topics</a:t>
            </a:r>
          </a:p>
          <a:p>
            <a:pPr lvl="1"/>
            <a:r>
              <a:rPr lang="en-GB" sz="1900" dirty="0"/>
              <a:t>Topic permissions must be implemented on the broker side.</a:t>
            </a:r>
          </a:p>
          <a:p>
            <a:r>
              <a:rPr lang="en-GB" sz="1900" dirty="0"/>
              <a:t>Permissions are configurable as follows:</a:t>
            </a:r>
          </a:p>
          <a:p>
            <a:pPr lvl="1"/>
            <a:r>
              <a:rPr lang="en-GB" sz="1900" dirty="0"/>
              <a:t>Allowed topic (exact topic or wild card topic)</a:t>
            </a:r>
          </a:p>
          <a:p>
            <a:pPr lvl="1"/>
            <a:r>
              <a:rPr lang="en-GB" sz="1900" dirty="0"/>
              <a:t>Allowed operation (publish, subscribe, both)</a:t>
            </a:r>
          </a:p>
          <a:p>
            <a:pPr lvl="1"/>
            <a:r>
              <a:rPr lang="en-GB" sz="1900" dirty="0"/>
              <a:t>Allowed quality of service level (0, 1, 2, all)</a:t>
            </a:r>
          </a:p>
          <a:p>
            <a:endParaRPr lang="en-IE" sz="1900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C23CF17-F0B8-49E2-B72C-741661D526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74" r="1066" b="-4"/>
          <a:stretch/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4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6BEC6B-5C77-412D-B45A-5B0F46F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62E22-ADF7-4AC9-ACD3-9F9460B6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GB" sz="4000"/>
              <a:t>Transport Layer Security (TLS) and Secure Sockets Layer (SSL)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307-CBB2-44B3-8ED9-E2497D41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128"/>
            <a:ext cx="6430818" cy="4834658"/>
          </a:xfrm>
        </p:spPr>
        <p:txBody>
          <a:bodyPr>
            <a:normAutofit/>
          </a:bodyPr>
          <a:lstStyle/>
          <a:p>
            <a:r>
              <a:rPr lang="en-GB" sz="2000" dirty="0"/>
              <a:t>TLS and SSL provide a secure communication channel between a client and a server </a:t>
            </a:r>
            <a:r>
              <a:rPr lang="en-GB" sz="2000" b="1" dirty="0"/>
              <a:t>at Transport Layer.</a:t>
            </a:r>
          </a:p>
          <a:p>
            <a:r>
              <a:rPr lang="en-GB" sz="2000" dirty="0"/>
              <a:t>TLS and SSL are cryptographic protocols which use a handshake mechanism to negotiate various parameters to create a secure connection between the client and the server.</a:t>
            </a:r>
          </a:p>
          <a:p>
            <a:r>
              <a:rPr lang="en-GB" sz="2000" dirty="0"/>
              <a:t>Servers provide a </a:t>
            </a:r>
            <a:r>
              <a:rPr lang="en-GB" sz="2000" b="1" dirty="0"/>
              <a:t>X509</a:t>
            </a:r>
            <a:r>
              <a:rPr lang="en-GB" sz="2000" dirty="0"/>
              <a:t> certificate (typically issued by a trusted authority) that clients use to verify the identity of the server.</a:t>
            </a:r>
          </a:p>
          <a:p>
            <a:r>
              <a:rPr lang="en-GB" sz="2000" dirty="0"/>
              <a:t>While the additional CPU usage is typically negligible on the broker, </a:t>
            </a:r>
            <a:r>
              <a:rPr lang="en-GB" sz="2000" b="1" dirty="0"/>
              <a:t>small constrained devices are not designed for computation-intensive tasks</a:t>
            </a:r>
            <a:r>
              <a:rPr lang="en-GB" sz="2000" dirty="0"/>
              <a:t>.</a:t>
            </a:r>
          </a:p>
          <a:p>
            <a:r>
              <a:rPr lang="en-GB" sz="2000" dirty="0"/>
              <a:t>If TLS is not possible</a:t>
            </a:r>
            <a:r>
              <a:rPr lang="en-GB" sz="2000" b="1" dirty="0"/>
              <a:t>, payload encryption and at least hash or encrypt the password in the CONNECT message of your client.</a:t>
            </a:r>
            <a:endParaRPr lang="en-IE" sz="2000" b="1" dirty="0"/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89AF8231-1F3E-44B2-B0F1-4DA4545F6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929" b="4"/>
          <a:stretch/>
        </p:blipFill>
        <p:spPr>
          <a:xfrm>
            <a:off x="7198553" y="2475203"/>
            <a:ext cx="3730372" cy="25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D32782-E266-49EB-BE2A-31ECE1A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/>
              <a:t>Application Level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452D-63F7-44F1-AED0-B2E9C6422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GB" sz="2000" dirty="0"/>
              <a:t>End to End encryption between publisher and subscriber</a:t>
            </a:r>
          </a:p>
          <a:p>
            <a:r>
              <a:rPr lang="en-GB" sz="2000" dirty="0"/>
              <a:t>Encrypt the payload without having to configure the MQTT broker</a:t>
            </a:r>
          </a:p>
          <a:p>
            <a:pPr lvl="1"/>
            <a:r>
              <a:rPr lang="en-GB" sz="2000" dirty="0"/>
              <a:t>Means publisher and subscriber applications have to “know” encryption/decryption method. Has to be coded</a:t>
            </a:r>
          </a:p>
          <a:p>
            <a:r>
              <a:rPr lang="en-GB" sz="2000" dirty="0"/>
              <a:t>Possible alternative for constrained devices that cannot support TLS</a:t>
            </a:r>
          </a:p>
          <a:p>
            <a:r>
              <a:rPr lang="en-GB" sz="2000" dirty="0"/>
              <a:t>Possible (less secure) alternative for using public brokers.</a:t>
            </a:r>
          </a:p>
          <a:p>
            <a:endParaRPr lang="en-IE" sz="2000" dirty="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2235E1A-6232-4569-81F2-322C53F64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7" r="-2" b="-2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8BD5C-6249-4DED-A363-FB4D7B878E7F}"/>
              </a:ext>
            </a:extLst>
          </p:cNvPr>
          <p:cNvSpPr txBox="1"/>
          <p:nvPr/>
        </p:nvSpPr>
        <p:spPr>
          <a:xfrm>
            <a:off x="9046757" y="592903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en.wikiversity.org/wiki/Internet_Protocol_Analysis/Network_Monito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54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D936-698F-49C1-9BF8-0840B7C0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MQTT Clients in Python: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FA98-788D-40B4-9688-C708D9DE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</a:t>
            </a:r>
            <a:r>
              <a:rPr lang="en-GB" b="1" dirty="0" err="1"/>
              <a:t>Paho</a:t>
            </a:r>
            <a:r>
              <a:rPr lang="en-GB" dirty="0"/>
              <a:t> MQTT python client from Eclipse</a:t>
            </a:r>
          </a:p>
          <a:p>
            <a:r>
              <a:rPr lang="en-GB" dirty="0"/>
              <a:t>Import the </a:t>
            </a:r>
            <a:r>
              <a:rPr lang="en-GB" b="1" dirty="0"/>
              <a:t>client class </a:t>
            </a:r>
            <a:r>
              <a:rPr lang="en-GB" dirty="0"/>
              <a:t>to provide functions to publish messages and subscribe to topics on MQTT brokers</a:t>
            </a:r>
            <a:r>
              <a:rPr lang="en-IE" dirty="0"/>
              <a:t>.</a:t>
            </a:r>
          </a:p>
          <a:p>
            <a:r>
              <a:rPr lang="en-IE" dirty="0"/>
              <a:t>Create instance and connect to a broker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CF45C-496E-40D2-914D-EA143CF7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49" y="3936637"/>
            <a:ext cx="6038495" cy="21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4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2EF5-CEC4-4362-86E8-F98204B6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MQTT Clients in Python: Subscribing  Client </a:t>
            </a:r>
            <a:r>
              <a:rPr lang="en-IE" dirty="0" err="1"/>
              <a:t>Callback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3260-393E-4429-8CD3-72E816CE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the client receives messages it generate the </a:t>
            </a:r>
            <a:r>
              <a:rPr lang="en-GB" dirty="0" err="1"/>
              <a:t>on_message</a:t>
            </a:r>
            <a:r>
              <a:rPr lang="en-GB" dirty="0"/>
              <a:t> </a:t>
            </a:r>
            <a:r>
              <a:rPr lang="en-GB" dirty="0" err="1"/>
              <a:t>callback</a:t>
            </a:r>
            <a:r>
              <a:rPr lang="en-GB" dirty="0"/>
              <a:t>.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85E00E-FD81-4102-ABCB-340C4992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70"/>
            <a:ext cx="184731" cy="5635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6DF78-B190-409F-8F33-AEDA5A79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04" y="2930525"/>
            <a:ext cx="63817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645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Office Theme</vt:lpstr>
      <vt:lpstr>Recap MQTT</vt:lpstr>
      <vt:lpstr>Connection</vt:lpstr>
      <vt:lpstr>MQTT QoS </vt:lpstr>
      <vt:lpstr>MQTT Security</vt:lpstr>
      <vt:lpstr>Security in IoT</vt:lpstr>
      <vt:lpstr>Security in MQTT</vt:lpstr>
      <vt:lpstr>MQTT Authentication</vt:lpstr>
      <vt:lpstr>MQTT authentication/authorisation</vt:lpstr>
      <vt:lpstr>Transport Layer Security (TLS) and Secure Sockets Layer (SSL)</vt:lpstr>
      <vt:lpstr>Application Level Encryption</vt:lpstr>
      <vt:lpstr>Creating MQTT Clients in Python: Publishing Client</vt:lpstr>
      <vt:lpstr>Creating MQTT Clients in Python: Subscribing  Client Callback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X Walsh</cp:lastModifiedBy>
  <cp:revision>20</cp:revision>
  <dcterms:created xsi:type="dcterms:W3CDTF">2021-02-26T14:11:12Z</dcterms:created>
  <dcterms:modified xsi:type="dcterms:W3CDTF">2021-03-01T10:21:20Z</dcterms:modified>
</cp:coreProperties>
</file>