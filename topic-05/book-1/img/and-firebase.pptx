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3" r:id="rId3"/>
    <p:sldId id="284" r:id="rId4"/>
    <p:sldId id="285" r:id="rId5"/>
    <p:sldId id="306" r:id="rId6"/>
    <p:sldId id="286" r:id="rId7"/>
    <p:sldId id="287" r:id="rId8"/>
    <p:sldId id="288" r:id="rId9"/>
    <p:sldId id="289" r:id="rId10"/>
    <p:sldId id="290" r:id="rId11"/>
    <p:sldId id="291" r:id="rId12"/>
    <p:sldId id="308" r:id="rId13"/>
    <p:sldId id="260" r:id="rId14"/>
    <p:sldId id="307" r:id="rId15"/>
    <p:sldId id="261" r:id="rId16"/>
    <p:sldId id="262" r:id="rId17"/>
    <p:sldId id="309" r:id="rId18"/>
    <p:sldId id="263" r:id="rId19"/>
    <p:sldId id="268" r:id="rId20"/>
    <p:sldId id="269" r:id="rId21"/>
    <p:sldId id="270" r:id="rId22"/>
    <p:sldId id="271" r:id="rId23"/>
    <p:sldId id="272" r:id="rId24"/>
    <p:sldId id="273" r:id="rId25"/>
    <p:sldId id="315" r:id="rId26"/>
    <p:sldId id="316" r:id="rId27"/>
    <p:sldId id="323" r:id="rId28"/>
    <p:sldId id="317" r:id="rId29"/>
    <p:sldId id="318" r:id="rId30"/>
    <p:sldId id="319" r:id="rId31"/>
    <p:sldId id="320" r:id="rId32"/>
    <p:sldId id="321" r:id="rId33"/>
    <p:sldId id="322" r:id="rId34"/>
    <p:sldId id="310" r:id="rId35"/>
    <p:sldId id="265" r:id="rId36"/>
    <p:sldId id="274" r:id="rId37"/>
    <p:sldId id="275" r:id="rId38"/>
    <p:sldId id="294" r:id="rId39"/>
    <p:sldId id="311" r:id="rId40"/>
    <p:sldId id="264" r:id="rId41"/>
    <p:sldId id="276" r:id="rId42"/>
    <p:sldId id="277" r:id="rId43"/>
    <p:sldId id="278" r:id="rId44"/>
    <p:sldId id="312" r:id="rId45"/>
    <p:sldId id="266" r:id="rId46"/>
    <p:sldId id="279" r:id="rId47"/>
    <p:sldId id="280" r:id="rId48"/>
    <p:sldId id="313" r:id="rId49"/>
    <p:sldId id="267" r:id="rId50"/>
    <p:sldId id="314" r:id="rId51"/>
    <p:sldId id="293" r:id="rId52"/>
    <p:sldId id="295" r:id="rId53"/>
    <p:sldId id="296" r:id="rId54"/>
    <p:sldId id="297" r:id="rId55"/>
    <p:sldId id="298" r:id="rId56"/>
    <p:sldId id="292" r:id="rId57"/>
    <p:sldId id="282" r:id="rId5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98" d="100"/>
          <a:sy n="98" d="100"/>
        </p:scale>
        <p:origin x="198" y="8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2/18/2020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console.developers.google.com/apis/" TargetMode="External"/><Relationship Id="rId2" Type="http://schemas.openxmlformats.org/officeDocument/2006/relationships/hyperlink" Target="https://partner.android.com/things/console#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console.firebase.google.com/" TargetMode="External"/><Relationship Id="rId4" Type="http://schemas.openxmlformats.org/officeDocument/2006/relationships/hyperlink" Target="https://developers.google.com/beacons/dashboard/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firebase.google.com/docs/android/setup#available_libraries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hyperlink" Target="https://console.firebase.google.com/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hyperlink" Target="https://firebase.google.com/docs/database/security/quickstart" TargetMode="Externa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hyperlink" Target="https://firebase.google.com/docs/firestore/" TargetMode="Externa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firebase/FirebaseUI-Android" TargetMode="Externa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hyperlink" Target="https://firebase.google.com/docs/storage/security/start" TargetMode="External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hyperlink" Target="https://firebase.google.com/docs/functions/get-started" TargetMode="External"/><Relationship Id="rId2" Type="http://schemas.openxmlformats.org/officeDocument/2006/relationships/hyperlink" Target="https://www.youtube.com/watch?v=bpFAdhNkA6c" TargetMode="Externa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hyperlink" Target="https://firebase.google.com/docs/" TargetMode="External"/><Relationship Id="rId2" Type="http://schemas.openxmlformats.org/officeDocument/2006/relationships/hyperlink" Target="https://console.firebase.google.com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classroom.udacity.com/courses/ud0352" TargetMode="External"/><Relationship Id="rId4" Type="http://schemas.openxmlformats.org/officeDocument/2006/relationships/hyperlink" Target="https://codelabs.developers.google.com/codelabs/firebase-android/#0" TargetMode="Externa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mtClean="0"/>
              <a:t>Cosc 5/4735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mtClean="0"/>
              <a:t>Firebase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2028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What is firebase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 smtClean="0"/>
              <a:t>It's basically middle ware that allows you do a number of things cross platform</a:t>
            </a:r>
          </a:p>
          <a:p>
            <a:pPr lvl="1"/>
            <a:r>
              <a:rPr lang="en-US" dirty="0" smtClean="0"/>
              <a:t>Analytics</a:t>
            </a:r>
          </a:p>
          <a:p>
            <a:pPr lvl="2"/>
            <a:r>
              <a:rPr lang="en-US" dirty="0" smtClean="0"/>
              <a:t>is a free and unlimited analytics tool to help you get insight on app usage and user engagement.  No extra code needed, only console.</a:t>
            </a:r>
          </a:p>
          <a:p>
            <a:pPr lvl="1"/>
            <a:r>
              <a:rPr lang="en-US" dirty="0" smtClean="0"/>
              <a:t>Cloud </a:t>
            </a:r>
            <a:r>
              <a:rPr lang="en-US" dirty="0"/>
              <a:t>Messaging  (covered in another lecture</a:t>
            </a:r>
            <a:r>
              <a:rPr lang="en-US" dirty="0" smtClean="0"/>
              <a:t>)</a:t>
            </a:r>
          </a:p>
          <a:p>
            <a:pPr lvl="2"/>
            <a:r>
              <a:rPr lang="en-US" dirty="0" smtClean="0"/>
              <a:t>Firebase Cloud Messaging lets you deliver and receive messages across platforms reliably.</a:t>
            </a:r>
          </a:p>
          <a:p>
            <a:pPr lvl="1"/>
            <a:r>
              <a:rPr lang="en-US" dirty="0" smtClean="0"/>
              <a:t>Notifications </a:t>
            </a:r>
          </a:p>
          <a:p>
            <a:pPr lvl="2"/>
            <a:r>
              <a:rPr lang="en-US" dirty="0" smtClean="0"/>
              <a:t>helps you re-engage with users at the right moment. No extra code needed, only console</a:t>
            </a:r>
          </a:p>
          <a:p>
            <a:pPr lvl="1"/>
            <a:r>
              <a:rPr lang="en-US" dirty="0" smtClean="0"/>
              <a:t>Authentication </a:t>
            </a:r>
          </a:p>
          <a:p>
            <a:pPr lvl="2"/>
            <a:r>
              <a:rPr lang="en-US" dirty="0" smtClean="0"/>
              <a:t>a key feature for protecting the data in your database and storage.</a:t>
            </a:r>
          </a:p>
          <a:p>
            <a:pPr lvl="1"/>
            <a:r>
              <a:rPr lang="en-US" dirty="0" err="1" smtClean="0"/>
              <a:t>Realtime</a:t>
            </a:r>
            <a:r>
              <a:rPr lang="en-US" dirty="0" smtClean="0"/>
              <a:t> Database  (previous covered, so quick refresher)</a:t>
            </a:r>
          </a:p>
          <a:p>
            <a:pPr lvl="2"/>
            <a:r>
              <a:rPr lang="en-US" dirty="0" smtClean="0"/>
              <a:t>lets you sync data across all clients in </a:t>
            </a:r>
            <a:r>
              <a:rPr lang="en-US" dirty="0" err="1" smtClean="0"/>
              <a:t>realtime</a:t>
            </a:r>
            <a:r>
              <a:rPr lang="en-US" dirty="0" smtClean="0"/>
              <a:t> and remains available when your app goes offline.</a:t>
            </a:r>
          </a:p>
          <a:p>
            <a:pPr lvl="1"/>
            <a:r>
              <a:rPr lang="en-US" dirty="0"/>
              <a:t>Cloud </a:t>
            </a:r>
            <a:r>
              <a:rPr lang="en-US" dirty="0" err="1"/>
              <a:t>Firestore</a:t>
            </a:r>
            <a:r>
              <a:rPr lang="en-US" dirty="0"/>
              <a:t> (previous covered, so quick refresher)</a:t>
            </a:r>
          </a:p>
          <a:p>
            <a:pPr lvl="2"/>
            <a:r>
              <a:rPr lang="en-US" dirty="0"/>
              <a:t>Combines cloud database and functions together.  Uses a scalable NoSQL cloud database to store and sync data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Storage</a:t>
            </a:r>
          </a:p>
          <a:p>
            <a:pPr lvl="2"/>
            <a:r>
              <a:rPr lang="en-US" dirty="0" smtClean="0"/>
              <a:t>lets you store and serve user-generated content, such as photos or videos. Firebase Storage is backed by Google Cloud Storage</a:t>
            </a:r>
          </a:p>
        </p:txBody>
      </p:sp>
    </p:spTree>
    <p:extLst>
      <p:ext uri="{BB962C8B-B14F-4D97-AF65-F5344CB8AC3E}">
        <p14:creationId xmlns:p14="http://schemas.microsoft.com/office/powerpoint/2010/main" val="14750173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</a:t>
            </a:r>
            <a:r>
              <a:rPr lang="en-US" dirty="0" smtClean="0"/>
              <a:t>firebase (2)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417638"/>
            <a:ext cx="11125200" cy="4830762"/>
          </a:xfrm>
        </p:spPr>
        <p:txBody>
          <a:bodyPr>
            <a:normAutofit fontScale="55000" lnSpcReduction="20000"/>
          </a:bodyPr>
          <a:lstStyle/>
          <a:p>
            <a:r>
              <a:rPr lang="en-US" dirty="0"/>
              <a:t>Functions</a:t>
            </a:r>
          </a:p>
          <a:p>
            <a:pPr lvl="1"/>
            <a:r>
              <a:rPr lang="en-US" dirty="0"/>
              <a:t>Run your mobile backend code without managing servers</a:t>
            </a:r>
          </a:p>
          <a:p>
            <a:r>
              <a:rPr lang="en-US" dirty="0" smtClean="0"/>
              <a:t>Hosting </a:t>
            </a:r>
            <a:r>
              <a:rPr lang="en-US" dirty="0"/>
              <a:t>(not covered here)</a:t>
            </a:r>
            <a:endParaRPr lang="en-US" dirty="0" smtClean="0"/>
          </a:p>
          <a:p>
            <a:pPr lvl="1"/>
            <a:r>
              <a:rPr lang="en-US" dirty="0" smtClean="0"/>
              <a:t> provides </a:t>
            </a:r>
            <a:r>
              <a:rPr lang="en-US" dirty="0"/>
              <a:t>fast and secure </a:t>
            </a:r>
            <a:r>
              <a:rPr lang="en-US" b="1" u="sng" dirty="0"/>
              <a:t>static</a:t>
            </a:r>
            <a:r>
              <a:rPr lang="en-US" dirty="0"/>
              <a:t> </a:t>
            </a:r>
            <a:r>
              <a:rPr lang="en-US" dirty="0" smtClean="0"/>
              <a:t>hosting.  No backend, but delivers .html,.css, </a:t>
            </a:r>
            <a:r>
              <a:rPr lang="en-US" dirty="0" err="1" smtClean="0"/>
              <a:t>etc</a:t>
            </a:r>
            <a:r>
              <a:rPr lang="en-US" dirty="0" smtClean="0"/>
              <a:t> files.</a:t>
            </a:r>
          </a:p>
          <a:p>
            <a:r>
              <a:rPr lang="en-US" dirty="0" smtClean="0"/>
              <a:t>Remote </a:t>
            </a:r>
            <a:r>
              <a:rPr lang="en-US" dirty="0" err="1"/>
              <a:t>Config</a:t>
            </a:r>
            <a:r>
              <a:rPr lang="en-US" dirty="0"/>
              <a:t> 	</a:t>
            </a:r>
            <a:endParaRPr lang="en-US" dirty="0" smtClean="0"/>
          </a:p>
          <a:p>
            <a:pPr lvl="1"/>
            <a:r>
              <a:rPr lang="en-US" dirty="0" smtClean="0"/>
              <a:t>change </a:t>
            </a:r>
            <a:r>
              <a:rPr lang="en-US" dirty="0"/>
              <a:t>the behavior and appearance of your </a:t>
            </a:r>
            <a:r>
              <a:rPr lang="en-US" dirty="0" smtClean="0"/>
              <a:t>app without </a:t>
            </a:r>
            <a:r>
              <a:rPr lang="en-US" dirty="0"/>
              <a:t>publishing an app update</a:t>
            </a:r>
            <a:r>
              <a:rPr lang="en-US" dirty="0" smtClean="0"/>
              <a:t>.</a:t>
            </a:r>
          </a:p>
          <a:p>
            <a:r>
              <a:rPr lang="en-US" dirty="0"/>
              <a:t>App Indexing (not covered here)</a:t>
            </a:r>
            <a:endParaRPr lang="en-US" dirty="0" smtClean="0"/>
          </a:p>
          <a:p>
            <a:pPr lvl="1"/>
            <a:r>
              <a:rPr lang="en-US" dirty="0" smtClean="0"/>
              <a:t>With </a:t>
            </a:r>
            <a:r>
              <a:rPr lang="en-US" dirty="0"/>
              <a:t>Firebase App Indexing, you can drive organic search traffic to your app, helping potential users of your app become your app’s biggest fans</a:t>
            </a:r>
            <a:r>
              <a:rPr lang="en-US" dirty="0" smtClean="0"/>
              <a:t>.</a:t>
            </a:r>
          </a:p>
          <a:p>
            <a:r>
              <a:rPr lang="en-US" dirty="0"/>
              <a:t>Dynamic Links (not covered here)</a:t>
            </a:r>
            <a:endParaRPr lang="en-US" dirty="0" smtClean="0"/>
          </a:p>
          <a:p>
            <a:pPr lvl="1"/>
            <a:r>
              <a:rPr lang="en-US" dirty="0" smtClean="0"/>
              <a:t>lets </a:t>
            </a:r>
            <a:r>
              <a:rPr lang="en-US" dirty="0"/>
              <a:t>you pull users right to the content they were interested in, keeping them engaged and increasing the likelihood that they will continue to use the app</a:t>
            </a:r>
            <a:r>
              <a:rPr lang="en-US" dirty="0" smtClean="0"/>
              <a:t>.</a:t>
            </a:r>
          </a:p>
          <a:p>
            <a:r>
              <a:rPr lang="en-US" dirty="0"/>
              <a:t>Invites </a:t>
            </a:r>
            <a:r>
              <a:rPr lang="en-US" dirty="0" smtClean="0"/>
              <a:t>(depreciated, replaced by dynamic links)</a:t>
            </a:r>
          </a:p>
          <a:p>
            <a:pPr lvl="1"/>
            <a:r>
              <a:rPr lang="en-US" dirty="0" smtClean="0"/>
              <a:t>Firebase </a:t>
            </a:r>
            <a:r>
              <a:rPr lang="en-US" dirty="0"/>
              <a:t>Invites helps your users share your app with others</a:t>
            </a:r>
            <a:r>
              <a:rPr lang="en-US" dirty="0" smtClean="0"/>
              <a:t>.   referral codes or share content from the app.  Uses the Dynamic Links so links survive the install of the app. </a:t>
            </a:r>
          </a:p>
          <a:p>
            <a:r>
              <a:rPr lang="en-US" dirty="0" smtClean="0"/>
              <a:t>AdWords </a:t>
            </a:r>
            <a:r>
              <a:rPr lang="en-US" dirty="0"/>
              <a:t>(not covered here)</a:t>
            </a:r>
          </a:p>
          <a:p>
            <a:pPr lvl="1"/>
            <a:r>
              <a:rPr lang="en-US" dirty="0"/>
              <a:t>help you search potential users with online ads.</a:t>
            </a:r>
          </a:p>
          <a:p>
            <a:r>
              <a:rPr lang="en-US" dirty="0" err="1" smtClean="0"/>
              <a:t>AdMob</a:t>
            </a:r>
            <a:r>
              <a:rPr lang="en-US" dirty="0" smtClean="0"/>
              <a:t>  (covered in another lecture)</a:t>
            </a:r>
            <a:endParaRPr lang="en-US" dirty="0"/>
          </a:p>
          <a:p>
            <a:pPr lvl="1"/>
            <a:r>
              <a:rPr lang="en-US" dirty="0"/>
              <a:t> provides easy and powerful ad monetization with full support in Firebase</a:t>
            </a:r>
            <a:r>
              <a:rPr lang="en-US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679577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firebase </a:t>
            </a:r>
            <a:r>
              <a:rPr lang="en-US" dirty="0" smtClean="0"/>
              <a:t>(3)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 smtClean="0"/>
              <a:t>ML </a:t>
            </a:r>
            <a:r>
              <a:rPr lang="en-US" dirty="0"/>
              <a:t>Kit</a:t>
            </a:r>
          </a:p>
          <a:p>
            <a:pPr lvl="1"/>
            <a:r>
              <a:rPr lang="en-US" dirty="0" smtClean="0"/>
              <a:t>"</a:t>
            </a:r>
            <a:r>
              <a:rPr lang="en-US" dirty="0"/>
              <a:t>use machine learning to solve problems."  </a:t>
            </a:r>
            <a:r>
              <a:rPr lang="en-US" dirty="0" smtClean="0"/>
              <a:t>Currently, it </a:t>
            </a:r>
            <a:r>
              <a:rPr lang="en-US" dirty="0"/>
              <a:t>is </a:t>
            </a:r>
            <a:r>
              <a:rPr lang="en-US" dirty="0" smtClean="0"/>
              <a:t>updated the </a:t>
            </a:r>
            <a:r>
              <a:rPr lang="en-US" dirty="0"/>
              <a:t>Vision APIs for text recognition, face detection, barcode scanning</a:t>
            </a:r>
            <a:r>
              <a:rPr lang="en-US" dirty="0" smtClean="0"/>
              <a:t>, plus </a:t>
            </a:r>
            <a:r>
              <a:rPr lang="en-US" dirty="0"/>
              <a:t>image </a:t>
            </a:r>
            <a:r>
              <a:rPr lang="en-US" dirty="0" smtClean="0"/>
              <a:t>labeling </a:t>
            </a:r>
            <a:r>
              <a:rPr lang="en-US" dirty="0"/>
              <a:t>and landmark recognition. </a:t>
            </a:r>
            <a:r>
              <a:rPr lang="en-US" dirty="0" smtClean="0"/>
              <a:t>This </a:t>
            </a:r>
            <a:r>
              <a:rPr lang="en-US" dirty="0"/>
              <a:t>would use the cloud based systems instead of just the device </a:t>
            </a:r>
            <a:r>
              <a:rPr lang="en-US" dirty="0" err="1"/>
              <a:t>cpu</a:t>
            </a:r>
            <a:r>
              <a:rPr lang="en-US" dirty="0" smtClean="0"/>
              <a:t>.</a:t>
            </a:r>
          </a:p>
          <a:p>
            <a:r>
              <a:rPr lang="en-US" dirty="0" smtClean="0"/>
              <a:t>A/B Testing</a:t>
            </a:r>
          </a:p>
          <a:p>
            <a:pPr lvl="1"/>
            <a:r>
              <a:rPr lang="en-US" dirty="0" smtClean="0"/>
              <a:t>Let you optimize your app experience based on analytics.  Change it for different demographics, make it different experience for say a teenage group verses a retired group.  Without having to deploy two version of the app.  Needs remote </a:t>
            </a:r>
            <a:r>
              <a:rPr lang="en-US" dirty="0" err="1" smtClean="0"/>
              <a:t>config</a:t>
            </a:r>
            <a:r>
              <a:rPr lang="en-US" dirty="0" smtClean="0"/>
              <a:t>.  </a:t>
            </a:r>
          </a:p>
          <a:p>
            <a:pPr lvl="1"/>
            <a:r>
              <a:rPr lang="en-US" dirty="0" smtClean="0"/>
              <a:t>Deploy a new feature to a group and evaluate the effect of the changes on app use.</a:t>
            </a:r>
          </a:p>
          <a:p>
            <a:r>
              <a:rPr lang="en-US" dirty="0" smtClean="0"/>
              <a:t>Predictions</a:t>
            </a:r>
          </a:p>
          <a:p>
            <a:pPr lvl="1"/>
            <a:r>
              <a:rPr lang="en-US" dirty="0"/>
              <a:t>Uses remote </a:t>
            </a:r>
            <a:r>
              <a:rPr lang="en-US" dirty="0" err="1"/>
              <a:t>config</a:t>
            </a:r>
            <a:r>
              <a:rPr lang="en-US" dirty="0"/>
              <a:t>, </a:t>
            </a:r>
            <a:r>
              <a:rPr lang="en-US" dirty="0" smtClean="0"/>
              <a:t>providing </a:t>
            </a:r>
            <a:r>
              <a:rPr lang="en-US" dirty="0"/>
              <a:t>a custom experience based on each of your users' predicted behavior</a:t>
            </a:r>
            <a:r>
              <a:rPr lang="en-US" dirty="0" smtClean="0"/>
              <a:t>.</a:t>
            </a:r>
            <a:endParaRPr lang="en-US" dirty="0"/>
          </a:p>
          <a:p>
            <a:pPr lvl="1"/>
            <a:r>
              <a:rPr lang="en-US" dirty="0"/>
              <a:t>You can use Predictions with the Notifications composer to deliver the right message to the right user groups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58086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Console and project SETUP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86239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Firebase console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Google has a number of "consoles".</a:t>
            </a:r>
          </a:p>
          <a:p>
            <a:pPr lvl="1"/>
            <a:r>
              <a:rPr lang="en-US" dirty="0" smtClean="0"/>
              <a:t>These are webpages to control varying things.</a:t>
            </a:r>
          </a:p>
          <a:p>
            <a:pPr lvl="2"/>
            <a:r>
              <a:rPr lang="en-US" dirty="0" smtClean="0"/>
              <a:t>Other Examples:</a:t>
            </a:r>
          </a:p>
          <a:p>
            <a:pPr lvl="3"/>
            <a:r>
              <a:rPr lang="en-US" dirty="0">
                <a:hlinkClick r:id="rId2"/>
              </a:rPr>
              <a:t>https://partner.android.com/things/console</a:t>
            </a:r>
            <a:r>
              <a:rPr lang="en-US" dirty="0" smtClean="0">
                <a:hlinkClick r:id="rId2"/>
              </a:rPr>
              <a:t>#/</a:t>
            </a:r>
            <a:r>
              <a:rPr lang="en-US" dirty="0" smtClean="0"/>
              <a:t>   android things</a:t>
            </a:r>
          </a:p>
          <a:p>
            <a:pPr lvl="3"/>
            <a:r>
              <a:rPr lang="en-US" dirty="0">
                <a:hlinkClick r:id="rId3"/>
              </a:rPr>
              <a:t>https://console.developers.google.com/apis</a:t>
            </a:r>
            <a:r>
              <a:rPr lang="en-US" dirty="0" smtClean="0">
                <a:hlinkClick r:id="rId3"/>
              </a:rPr>
              <a:t>/</a:t>
            </a:r>
            <a:r>
              <a:rPr lang="en-US" dirty="0" smtClean="0"/>
              <a:t>   for </a:t>
            </a:r>
            <a:r>
              <a:rPr lang="en-US" dirty="0" err="1" smtClean="0"/>
              <a:t>apis</a:t>
            </a:r>
            <a:r>
              <a:rPr lang="en-US" dirty="0" smtClean="0"/>
              <a:t> like maps</a:t>
            </a:r>
          </a:p>
          <a:p>
            <a:pPr lvl="3"/>
            <a:r>
              <a:rPr lang="en-US" dirty="0">
                <a:hlinkClick r:id="rId4"/>
              </a:rPr>
              <a:t>https://developers.google.com/beacons/dashboard</a:t>
            </a:r>
            <a:r>
              <a:rPr lang="en-US" dirty="0" smtClean="0">
                <a:hlinkClick r:id="rId4"/>
              </a:rPr>
              <a:t>/</a:t>
            </a:r>
            <a:r>
              <a:rPr lang="en-US" dirty="0" smtClean="0"/>
              <a:t>  for beacons</a:t>
            </a:r>
          </a:p>
          <a:p>
            <a:r>
              <a:rPr lang="en-US" dirty="0" smtClean="0"/>
              <a:t>Firebase has it's own as well.</a:t>
            </a:r>
          </a:p>
          <a:p>
            <a:pPr lvl="1"/>
            <a:r>
              <a:rPr lang="en-US" dirty="0">
                <a:hlinkClick r:id="rId5"/>
              </a:rPr>
              <a:t>https://console.firebase.google.com</a:t>
            </a:r>
            <a:r>
              <a:rPr lang="en-US" dirty="0" smtClean="0">
                <a:hlinkClick r:id="rId5"/>
              </a:rPr>
              <a:t>/</a:t>
            </a:r>
            <a:r>
              <a:rPr lang="en-US" dirty="0" smtClean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67408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Firebase </a:t>
            </a:r>
            <a:r>
              <a:rPr lang="en-US" dirty="0" smtClean="0"/>
              <a:t>console (2)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You will need to log into the console</a:t>
            </a:r>
          </a:p>
          <a:p>
            <a:pPr lvl="1"/>
            <a:r>
              <a:rPr lang="en-US" dirty="0" smtClean="0"/>
              <a:t>And setup a project.  As primer guide, I'm skipping all this.</a:t>
            </a:r>
          </a:p>
          <a:p>
            <a:pPr lvl="2"/>
            <a:r>
              <a:rPr lang="en-US" dirty="0" smtClean="0"/>
              <a:t>It can be done pretty easy with android studio.</a:t>
            </a:r>
          </a:p>
          <a:p>
            <a:pPr marL="914400" lvl="2" indent="0">
              <a:buNone/>
            </a:pPr>
            <a:endParaRPr lang="en-US" dirty="0" smtClean="0"/>
          </a:p>
          <a:p>
            <a:r>
              <a:rPr lang="en-US" dirty="0" smtClean="0"/>
              <a:t>Last part to remember, this is platform independent.</a:t>
            </a:r>
          </a:p>
          <a:p>
            <a:pPr lvl="1"/>
            <a:r>
              <a:rPr lang="en-US" dirty="0" smtClean="0"/>
              <a:t>Can be used on </a:t>
            </a:r>
            <a:r>
              <a:rPr lang="en-US" dirty="0" err="1" smtClean="0"/>
              <a:t>IoS</a:t>
            </a:r>
            <a:r>
              <a:rPr lang="en-US" dirty="0" smtClean="0"/>
              <a:t>, Android, Unity, </a:t>
            </a:r>
            <a:r>
              <a:rPr lang="en-US" dirty="0"/>
              <a:t>C</a:t>
            </a:r>
            <a:r>
              <a:rPr lang="en-US" dirty="0" smtClean="0"/>
              <a:t>++, and on the Web as well.</a:t>
            </a:r>
          </a:p>
          <a:p>
            <a:pPr lvl="1"/>
            <a:endParaRPr lang="en-US" dirty="0"/>
          </a:p>
          <a:p>
            <a:r>
              <a:rPr lang="en-US" dirty="0" smtClean="0"/>
              <a:t>Firebase versions will be listed in the following slides</a:t>
            </a:r>
            <a:r>
              <a:rPr lang="en-US" dirty="0"/>
              <a:t>, but see </a:t>
            </a:r>
            <a:r>
              <a:rPr lang="en-US" dirty="0">
                <a:hlinkClick r:id="rId2"/>
              </a:rPr>
              <a:t>https://</a:t>
            </a:r>
            <a:r>
              <a:rPr lang="en-US" dirty="0" smtClean="0">
                <a:hlinkClick r:id="rId2"/>
              </a:rPr>
              <a:t>firebase.google.com/docs/android/setup#available_libraries</a:t>
            </a:r>
            <a:r>
              <a:rPr lang="en-US" dirty="0" smtClean="0"/>
              <a:t> for the current versions.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55925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Basic setup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9677400" cy="639762"/>
          </a:xfrm>
        </p:spPr>
        <p:txBody>
          <a:bodyPr>
            <a:normAutofit/>
          </a:bodyPr>
          <a:lstStyle/>
          <a:p>
            <a:r>
              <a:rPr lang="en-US" b="0" dirty="0" smtClean="0"/>
              <a:t>In Studio  (this is setup the </a:t>
            </a:r>
            <a:r>
              <a:rPr lang="en-US" b="0" dirty="0" err="1" smtClean="0"/>
              <a:t>the</a:t>
            </a:r>
            <a:r>
              <a:rPr lang="en-US" b="0" dirty="0" smtClean="0"/>
              <a:t> </a:t>
            </a:r>
            <a:r>
              <a:rPr lang="en-US" b="0" dirty="0" err="1" smtClean="0"/>
              <a:t>Realtime</a:t>
            </a:r>
            <a:r>
              <a:rPr lang="en-US" b="0" dirty="0" smtClean="0"/>
              <a:t> Database)</a:t>
            </a:r>
            <a:endParaRPr lang="en-US" b="0" dirty="0"/>
          </a:p>
        </p:txBody>
      </p:sp>
      <p:pic>
        <p:nvPicPr>
          <p:cNvPr id="12" name="Content Placeholder 11"/>
          <p:cNvPicPr>
            <a:picLocks noGrp="1" noChangeAspect="1"/>
          </p:cNvPicPr>
          <p:nvPr>
            <p:ph sz="quarter" idx="4"/>
          </p:nvPr>
        </p:nvPicPr>
        <p:blipFill>
          <a:blip r:embed="rId2"/>
          <a:stretch>
            <a:fillRect/>
          </a:stretch>
        </p:blipFill>
        <p:spPr>
          <a:xfrm>
            <a:off x="3048000" y="2362200"/>
            <a:ext cx="4222750" cy="3951288"/>
          </a:xfrm>
          <a:prstGeom prst="rect">
            <a:avLst/>
          </a:prstGeom>
        </p:spPr>
      </p:pic>
      <p:pic>
        <p:nvPicPr>
          <p:cNvPr id="11" name="Content Placeholder 5"/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538573" y="2292350"/>
            <a:ext cx="2150550" cy="322920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7600" y="2284467"/>
            <a:ext cx="4284329" cy="4394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89561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Basic Setup (2)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" y="1784898"/>
            <a:ext cx="10820400" cy="639762"/>
          </a:xfrm>
        </p:spPr>
        <p:txBody>
          <a:bodyPr/>
          <a:lstStyle/>
          <a:p>
            <a:r>
              <a:rPr lang="en-US" b="0" dirty="0" smtClean="0"/>
              <a:t>In the browser                           Back in Studio</a:t>
            </a:r>
            <a:endParaRPr lang="en-US" b="0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-40629" y="2438400"/>
            <a:ext cx="4090381" cy="3124200"/>
          </a:xfrm>
          <a:prstGeom prst="rect">
            <a:avLst/>
          </a:prstGeom>
        </p:spPr>
      </p:pic>
      <p:pic>
        <p:nvPicPr>
          <p:cNvPr id="8" name="Content Placeholder 7"/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3864819" y="2465880"/>
            <a:ext cx="4462361" cy="3951288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39200" y="2481646"/>
            <a:ext cx="2895600" cy="4029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84750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Basic Setup (3)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You should now have the project in the firebase console as well</a:t>
            </a:r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0800" y="2286000"/>
            <a:ext cx="5924550" cy="4447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44467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Through the console only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Create a project and </a:t>
            </a:r>
          </a:p>
          <a:p>
            <a:r>
              <a:rPr lang="en-US" dirty="0" smtClean="0"/>
              <a:t>add the app project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048000"/>
            <a:ext cx="4629150" cy="122872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876" y="4765513"/>
            <a:ext cx="3981450" cy="170497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6348" y="1525482"/>
            <a:ext cx="5096054" cy="4924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91071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Analytics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7299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Analytics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7924800" cy="4525963"/>
          </a:xfrm>
        </p:spPr>
        <p:txBody>
          <a:bodyPr>
            <a:normAutofit/>
          </a:bodyPr>
          <a:lstStyle/>
          <a:p>
            <a:r>
              <a:rPr lang="en-US" dirty="0" smtClean="0"/>
              <a:t>add firebase analytics</a:t>
            </a:r>
          </a:p>
          <a:p>
            <a:pPr lvl="2"/>
            <a:r>
              <a:rPr lang="en-US" sz="1600" dirty="0" smtClean="0"/>
              <a:t>implementation </a:t>
            </a:r>
            <a:r>
              <a:rPr lang="en-US" sz="1600" dirty="0"/>
              <a:t>'com.google.firebase:firebase-analytics:17.2.2'</a:t>
            </a:r>
            <a:r>
              <a:rPr lang="en-US" sz="1600" dirty="0" smtClean="0"/>
              <a:t>	</a:t>
            </a:r>
          </a:p>
          <a:p>
            <a:r>
              <a:rPr lang="en-US" dirty="0" smtClean="0"/>
              <a:t>The rest is done within the </a:t>
            </a:r>
            <a:r>
              <a:rPr lang="en-US" dirty="0" smtClean="0">
                <a:hlinkClick r:id="rId2"/>
              </a:rPr>
              <a:t>https://console.firebase.google.com/</a:t>
            </a:r>
            <a:r>
              <a:rPr lang="en-US" dirty="0" smtClean="0"/>
              <a:t> </a:t>
            </a:r>
          </a:p>
          <a:p>
            <a:pPr lvl="1"/>
            <a:r>
              <a:rPr lang="en-US" dirty="0" smtClean="0"/>
              <a:t>You can look many different things, from first time usage, how long the app is up, demographics of users, etc.</a:t>
            </a:r>
          </a:p>
          <a:p>
            <a:pPr lvl="1"/>
            <a:r>
              <a:rPr lang="en-US" dirty="0" smtClean="0"/>
              <a:t>Data updates once every 24 hours.  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5699" y="1048875"/>
            <a:ext cx="1933833" cy="5790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89265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Notifications  (not cloud messaging)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8299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Notifications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Not to be confused with cloud messaging</a:t>
            </a:r>
          </a:p>
          <a:p>
            <a:pPr lvl="1"/>
            <a:r>
              <a:rPr lang="en-US" dirty="0" smtClean="0"/>
              <a:t>Covered in the next lecture.</a:t>
            </a:r>
          </a:p>
          <a:p>
            <a:r>
              <a:rPr lang="en-US" dirty="0" smtClean="0"/>
              <a:t>This allows you send a notification to the all (or some) of the devices where your app is instead.</a:t>
            </a:r>
          </a:p>
          <a:p>
            <a:pPr lvl="1"/>
            <a:r>
              <a:rPr lang="en-US" dirty="0" smtClean="0"/>
              <a:t>You need on include firebase core and message in dependencies</a:t>
            </a:r>
          </a:p>
          <a:p>
            <a:pPr lvl="2"/>
            <a:r>
              <a:rPr lang="en-US" dirty="0" smtClean="0"/>
              <a:t>implementation 'com.google.firebase:firebase-messaging:20.1.0'</a:t>
            </a:r>
          </a:p>
          <a:p>
            <a:r>
              <a:rPr lang="en-US" dirty="0" smtClean="0"/>
              <a:t>The rest is done in the console.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76607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Notifications (2)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8915400" cy="4525963"/>
          </a:xfrm>
        </p:spPr>
        <p:txBody>
          <a:bodyPr>
            <a:normAutofit/>
          </a:bodyPr>
          <a:lstStyle/>
          <a:p>
            <a:r>
              <a:rPr lang="en-US" dirty="0" smtClean="0"/>
              <a:t>You create a message in the notifications section.</a:t>
            </a:r>
          </a:p>
          <a:p>
            <a:r>
              <a:rPr lang="en-US" dirty="0" smtClean="0"/>
              <a:t>Send the message.</a:t>
            </a:r>
          </a:p>
          <a:p>
            <a:r>
              <a:rPr lang="en-US" dirty="0" smtClean="0"/>
              <a:t>It will then show up on the device as a notification.</a:t>
            </a:r>
          </a:p>
          <a:p>
            <a:pPr lvl="1"/>
            <a:r>
              <a:rPr lang="en-US" dirty="0" smtClean="0"/>
              <a:t>If they click the notification it will launch you app.</a:t>
            </a:r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Note, if the app is up then the users won't see it (without extra code from cloud messaging).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0" y="1145540"/>
            <a:ext cx="1484141" cy="5435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7588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Realtime</a:t>
            </a:r>
            <a:r>
              <a:rPr lang="en-US" dirty="0" smtClean="0"/>
              <a:t> database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quick refresher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51425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Realtime</a:t>
            </a:r>
            <a:r>
              <a:rPr lang="en-US" dirty="0" smtClean="0"/>
              <a:t> Database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Is a cloud based database with live connections to the app.</a:t>
            </a:r>
          </a:p>
          <a:p>
            <a:pPr lvl="1"/>
            <a:r>
              <a:rPr lang="en-US" dirty="0" smtClean="0"/>
              <a:t>The data is stored a </a:t>
            </a:r>
            <a:r>
              <a:rPr lang="en-US" dirty="0" err="1" smtClean="0"/>
              <a:t>json</a:t>
            </a:r>
            <a:r>
              <a:rPr lang="en-US" dirty="0" smtClean="0"/>
              <a:t> objects and is only intended for text, to allow for fast responses.</a:t>
            </a:r>
            <a:endParaRPr lang="en-US" dirty="0"/>
          </a:p>
          <a:p>
            <a:pPr lvl="1"/>
            <a:r>
              <a:rPr lang="en-US" dirty="0" smtClean="0"/>
              <a:t>Authentication is needed.</a:t>
            </a:r>
          </a:p>
          <a:p>
            <a:pPr lvl="1"/>
            <a:r>
              <a:rPr lang="en-US" dirty="0" smtClean="0"/>
              <a:t>Works even offline, with cached data then sync when online.</a:t>
            </a:r>
            <a:endParaRPr lang="en-US" dirty="0"/>
          </a:p>
          <a:p>
            <a:pPr lvl="1"/>
            <a:r>
              <a:rPr lang="en-US" dirty="0" smtClean="0"/>
              <a:t>dependencies</a:t>
            </a:r>
            <a:endParaRPr lang="en-US" dirty="0"/>
          </a:p>
          <a:p>
            <a:pPr lvl="2"/>
            <a:r>
              <a:rPr lang="en-US" dirty="0"/>
              <a:t>implementation </a:t>
            </a:r>
            <a:r>
              <a:rPr lang="en-US" dirty="0" smtClean="0"/>
              <a:t>'com.google.firebase:firebase-database:19.2.0'</a:t>
            </a:r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080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6553200" cy="2209799"/>
          </a:xfrm>
        </p:spPr>
        <p:txBody>
          <a:bodyPr/>
          <a:lstStyle/>
          <a:p>
            <a:r>
              <a:rPr lang="en-US" dirty="0" smtClean="0"/>
              <a:t>The data is stored as a </a:t>
            </a:r>
            <a:r>
              <a:rPr lang="en-US" dirty="0" err="1" smtClean="0"/>
              <a:t>json</a:t>
            </a:r>
            <a:r>
              <a:rPr lang="en-US" dirty="0" smtClean="0"/>
              <a:t> object.</a:t>
            </a:r>
          </a:p>
          <a:p>
            <a:pPr lvl="1"/>
            <a:r>
              <a:rPr lang="en-US" dirty="0" smtClean="0"/>
              <a:t>The L7W.. Is a unique key, that I didn't have to create.</a:t>
            </a:r>
            <a:endParaRPr lang="en-US" dirty="0"/>
          </a:p>
          <a:p>
            <a:pPr lvl="1"/>
            <a:r>
              <a:rPr lang="en-US" dirty="0" smtClean="0"/>
              <a:t>You will need a POJO class that matches your data names</a:t>
            </a:r>
            <a:endParaRPr lang="en-US" dirty="0"/>
          </a:p>
        </p:txBody>
      </p:sp>
      <p:pic>
        <p:nvPicPr>
          <p:cNvPr id="1028" name="Picture 4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6200" y="685800"/>
            <a:ext cx="3124200" cy="5695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0554" y="3992563"/>
            <a:ext cx="4924425" cy="2562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590503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Database setup and use.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Setup a connection and reference.</a:t>
            </a:r>
            <a:endParaRPr lang="en-US" dirty="0"/>
          </a:p>
          <a:p>
            <a:pPr lvl="1"/>
            <a:r>
              <a:rPr lang="en-US" dirty="0" err="1"/>
              <a:t>FirebaseDatabase</a:t>
            </a:r>
            <a:r>
              <a:rPr lang="en-US" dirty="0"/>
              <a:t> database = </a:t>
            </a:r>
            <a:r>
              <a:rPr lang="en-US" dirty="0" err="1"/>
              <a:t>FirebaseDatabase.getInstance</a:t>
            </a:r>
            <a:r>
              <a:rPr lang="en-US" dirty="0" smtClean="0"/>
              <a:t>();</a:t>
            </a:r>
          </a:p>
          <a:p>
            <a:pPr lvl="1"/>
            <a:r>
              <a:rPr lang="en-US" dirty="0" err="1" smtClean="0"/>
              <a:t>DatabaseReference</a:t>
            </a:r>
            <a:r>
              <a:rPr lang="en-US" dirty="0" smtClean="0"/>
              <a:t> </a:t>
            </a:r>
            <a:r>
              <a:rPr lang="en-US" dirty="0" err="1" smtClean="0"/>
              <a:t>dbReference</a:t>
            </a:r>
            <a:r>
              <a:rPr lang="en-US" dirty="0" smtClean="0"/>
              <a:t> = </a:t>
            </a:r>
            <a:r>
              <a:rPr lang="en-US" dirty="0" err="1"/>
              <a:t>d</a:t>
            </a:r>
            <a:r>
              <a:rPr lang="en-US" dirty="0" err="1" smtClean="0"/>
              <a:t>atabase.getReference</a:t>
            </a:r>
            <a:r>
              <a:rPr lang="en-US" dirty="0"/>
              <a:t>().child("messages</a:t>
            </a:r>
            <a:r>
              <a:rPr lang="en-US" dirty="0" smtClean="0"/>
              <a:t>");</a:t>
            </a:r>
          </a:p>
          <a:p>
            <a:r>
              <a:rPr lang="en-US" dirty="0" smtClean="0"/>
              <a:t>To add a new value use the push and </a:t>
            </a:r>
            <a:r>
              <a:rPr lang="en-US" dirty="0" err="1" smtClean="0"/>
              <a:t>setValue</a:t>
            </a:r>
            <a:endParaRPr lang="en-US" dirty="0" smtClean="0"/>
          </a:p>
          <a:p>
            <a:pPr lvl="1"/>
            <a:r>
              <a:rPr lang="en-US" dirty="0" err="1" smtClean="0"/>
              <a:t>dbReference.push</a:t>
            </a:r>
            <a:r>
              <a:rPr lang="en-US" dirty="0"/>
              <a:t>().</a:t>
            </a:r>
            <a:r>
              <a:rPr lang="en-US" dirty="0" err="1"/>
              <a:t>setValue</a:t>
            </a:r>
            <a:r>
              <a:rPr lang="en-US" dirty="0" smtClean="0"/>
              <a:t>( </a:t>
            </a:r>
            <a:r>
              <a:rPr lang="en-US" dirty="0" err="1" smtClean="0"/>
              <a:t>friendlyMessage</a:t>
            </a:r>
            <a:r>
              <a:rPr lang="en-US" dirty="0" smtClean="0"/>
              <a:t>);</a:t>
            </a:r>
          </a:p>
          <a:p>
            <a:pPr lvl="2"/>
            <a:r>
              <a:rPr lang="en-US" dirty="0" smtClean="0"/>
              <a:t>Where </a:t>
            </a:r>
            <a:r>
              <a:rPr lang="en-US" dirty="0" err="1" smtClean="0"/>
              <a:t>friendlyMessage</a:t>
            </a:r>
            <a:r>
              <a:rPr lang="en-US" dirty="0" smtClean="0"/>
              <a:t> is a object holding the data.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47571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Database setup and use</a:t>
            </a:r>
            <a:r>
              <a:rPr lang="en-US" dirty="0" smtClean="0"/>
              <a:t>. (2)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 smtClean="0"/>
              <a:t>Listener for new data</a:t>
            </a:r>
          </a:p>
          <a:p>
            <a:pPr marL="0" indent="0">
              <a:buNone/>
            </a:pPr>
            <a:r>
              <a:rPr lang="en-US" dirty="0" err="1" smtClean="0"/>
              <a:t>ChildEventListener</a:t>
            </a:r>
            <a:r>
              <a:rPr lang="en-US" dirty="0" smtClean="0"/>
              <a:t> </a:t>
            </a:r>
            <a:r>
              <a:rPr lang="en-US" dirty="0" err="1" smtClean="0">
                <a:solidFill>
                  <a:schemeClr val="accent1"/>
                </a:solidFill>
              </a:rPr>
              <a:t>mChildEventListener</a:t>
            </a:r>
            <a:r>
              <a:rPr lang="en-US" dirty="0" smtClean="0"/>
              <a:t> </a:t>
            </a:r>
            <a:r>
              <a:rPr lang="en-US" dirty="0"/>
              <a:t>= new </a:t>
            </a:r>
            <a:r>
              <a:rPr lang="en-US" dirty="0" err="1"/>
              <a:t>ChildEventListener</a:t>
            </a:r>
            <a:r>
              <a:rPr lang="en-US" dirty="0"/>
              <a:t>() {</a:t>
            </a:r>
            <a:br>
              <a:rPr lang="en-US" dirty="0"/>
            </a:br>
            <a:r>
              <a:rPr lang="en-US" dirty="0"/>
              <a:t>    @Override</a:t>
            </a:r>
            <a:br>
              <a:rPr lang="en-US" dirty="0"/>
            </a:br>
            <a:r>
              <a:rPr lang="en-US" dirty="0"/>
              <a:t>    public void </a:t>
            </a:r>
            <a:r>
              <a:rPr lang="en-US" dirty="0" err="1"/>
              <a:t>onChildAdded</a:t>
            </a:r>
            <a:r>
              <a:rPr lang="en-US" dirty="0"/>
              <a:t>(</a:t>
            </a:r>
            <a:r>
              <a:rPr lang="en-US" dirty="0" err="1"/>
              <a:t>DataSnapshot</a:t>
            </a:r>
            <a:r>
              <a:rPr lang="en-US" dirty="0"/>
              <a:t> </a:t>
            </a:r>
            <a:r>
              <a:rPr lang="en-US" dirty="0" err="1"/>
              <a:t>dataSnapshot</a:t>
            </a:r>
            <a:r>
              <a:rPr lang="en-US" dirty="0"/>
              <a:t>, String s) {</a:t>
            </a:r>
            <a:br>
              <a:rPr lang="en-US" dirty="0"/>
            </a:br>
            <a:r>
              <a:rPr lang="en-US" dirty="0"/>
              <a:t>        </a:t>
            </a:r>
            <a:r>
              <a:rPr lang="en-US" dirty="0" err="1"/>
              <a:t>FriendlyMessage</a:t>
            </a:r>
            <a:r>
              <a:rPr lang="en-US" dirty="0"/>
              <a:t> </a:t>
            </a:r>
            <a:r>
              <a:rPr lang="en-US" dirty="0" err="1"/>
              <a:t>friendlyMessage</a:t>
            </a:r>
            <a:r>
              <a:rPr lang="en-US" dirty="0"/>
              <a:t> = </a:t>
            </a:r>
            <a:r>
              <a:rPr lang="en-US" dirty="0" err="1" smtClean="0">
                <a:solidFill>
                  <a:srgbClr val="FF0000"/>
                </a:solidFill>
              </a:rPr>
              <a:t>dataSnapshot.getValue</a:t>
            </a:r>
            <a:r>
              <a:rPr lang="en-US" dirty="0" smtClean="0">
                <a:solidFill>
                  <a:srgbClr val="FF0000"/>
                </a:solidFill>
              </a:rPr>
              <a:t>(</a:t>
            </a:r>
            <a:r>
              <a:rPr lang="en-US" dirty="0" err="1" smtClean="0">
                <a:solidFill>
                  <a:srgbClr val="FF0000"/>
                </a:solidFill>
              </a:rPr>
              <a:t>FriendlyMessage.class</a:t>
            </a:r>
            <a:r>
              <a:rPr lang="en-US" dirty="0" smtClean="0">
                <a:solidFill>
                  <a:srgbClr val="FF0000"/>
                </a:solidFill>
              </a:rPr>
              <a:t>);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	</a:t>
            </a:r>
            <a:r>
              <a:rPr lang="en-US" dirty="0" smtClean="0">
                <a:solidFill>
                  <a:srgbClr val="FF0000"/>
                </a:solidFill>
              </a:rPr>
              <a:t>//now do something with the data</a:t>
            </a:r>
            <a:r>
              <a:rPr lang="en-US" dirty="0">
                <a:solidFill>
                  <a:srgbClr val="FF0000"/>
                </a:solidFill>
              </a:rPr>
              <a:t/>
            </a:r>
            <a:br>
              <a:rPr lang="en-US" dirty="0">
                <a:solidFill>
                  <a:srgbClr val="FF0000"/>
                </a:solidFill>
              </a:rPr>
            </a:br>
            <a:r>
              <a:rPr lang="en-US" dirty="0" smtClean="0"/>
              <a:t>}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    public void </a:t>
            </a:r>
            <a:r>
              <a:rPr lang="en-US" dirty="0" err="1"/>
              <a:t>onChildChanged</a:t>
            </a:r>
            <a:r>
              <a:rPr lang="en-US" dirty="0"/>
              <a:t>(</a:t>
            </a:r>
            <a:r>
              <a:rPr lang="en-US" dirty="0" err="1"/>
              <a:t>DataSnapshot</a:t>
            </a:r>
            <a:r>
              <a:rPr lang="en-US" dirty="0"/>
              <a:t> </a:t>
            </a:r>
            <a:r>
              <a:rPr lang="en-US" dirty="0" err="1"/>
              <a:t>dataSnapshot</a:t>
            </a:r>
            <a:r>
              <a:rPr lang="en-US" dirty="0"/>
              <a:t>, String s) {             }</a:t>
            </a:r>
            <a:br>
              <a:rPr lang="en-US" dirty="0"/>
            </a:br>
            <a:r>
              <a:rPr lang="en-US" dirty="0"/>
              <a:t>    public void </a:t>
            </a:r>
            <a:r>
              <a:rPr lang="en-US" dirty="0" err="1"/>
              <a:t>onChildRemoved</a:t>
            </a:r>
            <a:r>
              <a:rPr lang="en-US" dirty="0"/>
              <a:t>(</a:t>
            </a:r>
            <a:r>
              <a:rPr lang="en-US" dirty="0" err="1"/>
              <a:t>DataSnapshot</a:t>
            </a:r>
            <a:r>
              <a:rPr lang="en-US" dirty="0"/>
              <a:t> </a:t>
            </a:r>
            <a:r>
              <a:rPr lang="en-US" dirty="0" err="1"/>
              <a:t>dataSnapshot</a:t>
            </a:r>
            <a:r>
              <a:rPr lang="en-US" dirty="0"/>
              <a:t>) {             }</a:t>
            </a:r>
            <a:br>
              <a:rPr lang="en-US" dirty="0"/>
            </a:br>
            <a:r>
              <a:rPr lang="en-US" dirty="0"/>
              <a:t>    public void </a:t>
            </a:r>
            <a:r>
              <a:rPr lang="en-US" dirty="0" err="1"/>
              <a:t>onChildMoved</a:t>
            </a:r>
            <a:r>
              <a:rPr lang="en-US" dirty="0"/>
              <a:t>(</a:t>
            </a:r>
            <a:r>
              <a:rPr lang="en-US" dirty="0" err="1"/>
              <a:t>DataSnapshot</a:t>
            </a:r>
            <a:r>
              <a:rPr lang="en-US" dirty="0"/>
              <a:t> </a:t>
            </a:r>
            <a:r>
              <a:rPr lang="en-US" dirty="0" err="1"/>
              <a:t>dataSnapshot</a:t>
            </a:r>
            <a:r>
              <a:rPr lang="en-US" dirty="0"/>
              <a:t>, String s) {               }</a:t>
            </a:r>
            <a:br>
              <a:rPr lang="en-US" dirty="0"/>
            </a:br>
            <a:r>
              <a:rPr lang="en-US" dirty="0"/>
              <a:t>    public void </a:t>
            </a:r>
            <a:r>
              <a:rPr lang="en-US" dirty="0" err="1"/>
              <a:t>onCancelled</a:t>
            </a:r>
            <a:r>
              <a:rPr lang="en-US" dirty="0"/>
              <a:t>(</a:t>
            </a:r>
            <a:r>
              <a:rPr lang="en-US" dirty="0" err="1"/>
              <a:t>DatabaseError</a:t>
            </a:r>
            <a:r>
              <a:rPr lang="en-US" dirty="0"/>
              <a:t> </a:t>
            </a:r>
            <a:r>
              <a:rPr lang="en-US" dirty="0" err="1"/>
              <a:t>databaseError</a:t>
            </a:r>
            <a:r>
              <a:rPr lang="en-US" dirty="0"/>
              <a:t>) {                }</a:t>
            </a:r>
            <a:br>
              <a:rPr lang="en-US" dirty="0"/>
            </a:br>
            <a:r>
              <a:rPr lang="en-US" dirty="0"/>
              <a:t>};</a:t>
            </a:r>
            <a:br>
              <a:rPr lang="en-US" dirty="0"/>
            </a:br>
            <a:r>
              <a:rPr lang="en-US" dirty="0" err="1"/>
              <a:t>mMessagesDatabaseReference.addChildEventListener</a:t>
            </a:r>
            <a:r>
              <a:rPr lang="en-US" dirty="0">
                <a:solidFill>
                  <a:schemeClr val="accent1"/>
                </a:solidFill>
              </a:rPr>
              <a:t>(</a:t>
            </a:r>
            <a:r>
              <a:rPr lang="en-US" dirty="0" err="1">
                <a:solidFill>
                  <a:schemeClr val="accent1"/>
                </a:solidFill>
              </a:rPr>
              <a:t>mChildEventListener</a:t>
            </a:r>
            <a:r>
              <a:rPr lang="en-US" dirty="0" smtClean="0"/>
              <a:t>);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 smtClean="0"/>
              <a:t>Don’t forget to remove listeners in </a:t>
            </a:r>
            <a:r>
              <a:rPr lang="en-US" dirty="0" err="1" smtClean="0"/>
              <a:t>onPause</a:t>
            </a:r>
            <a:r>
              <a:rPr lang="en-US" dirty="0" smtClean="0"/>
              <a:t>, add them in </a:t>
            </a:r>
            <a:r>
              <a:rPr lang="en-US" dirty="0" err="1" smtClean="0"/>
              <a:t>onResume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43457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Database notes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Firebase </a:t>
            </a:r>
            <a:r>
              <a:rPr lang="en-US" dirty="0" err="1"/>
              <a:t>Realtime</a:t>
            </a:r>
            <a:r>
              <a:rPr lang="en-US" dirty="0"/>
              <a:t> Database allows nesting data up to 32 levels </a:t>
            </a:r>
            <a:r>
              <a:rPr lang="en-US" dirty="0" smtClean="0"/>
              <a:t>deep, but where possible avoid nesting deep.</a:t>
            </a:r>
          </a:p>
          <a:p>
            <a:r>
              <a:rPr lang="en-US" dirty="0" smtClean="0"/>
              <a:t>Also don't use </a:t>
            </a:r>
            <a:r>
              <a:rPr lang="en-US" dirty="0" err="1" smtClean="0"/>
              <a:t>json</a:t>
            </a:r>
            <a:r>
              <a:rPr lang="en-US" dirty="0" smtClean="0"/>
              <a:t> arrays.</a:t>
            </a:r>
          </a:p>
          <a:p>
            <a:endParaRPr lang="en-US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2800" y="1154845"/>
            <a:ext cx="4191948" cy="54166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096639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Database and security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By default only authenticated users can read and write the database.</a:t>
            </a:r>
          </a:p>
          <a:p>
            <a:r>
              <a:rPr lang="en-US" smtClean="0"/>
              <a:t>Console: </a:t>
            </a:r>
          </a:p>
          <a:p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0" y="3276600"/>
            <a:ext cx="7275260" cy="26646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8610689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Database and </a:t>
            </a:r>
            <a:r>
              <a:rPr lang="en-US" dirty="0" smtClean="0"/>
              <a:t>security (2)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It can be changed, but not recommend.</a:t>
            </a:r>
          </a:p>
          <a:p>
            <a:r>
              <a:rPr lang="en-US" dirty="0" smtClean="0"/>
              <a:t>You can setup very complex rules, where only some users can access data, etc.  With cascading rules for the depth of nodes.</a:t>
            </a:r>
          </a:p>
          <a:p>
            <a:endParaRPr lang="en-US" dirty="0"/>
          </a:p>
          <a:p>
            <a:r>
              <a:rPr lang="en-US" dirty="0" smtClean="0"/>
              <a:t>See the documentation:</a:t>
            </a:r>
          </a:p>
          <a:p>
            <a:pPr lvl="1"/>
            <a:r>
              <a:rPr lang="en-US" dirty="0">
                <a:hlinkClick r:id="rId2"/>
              </a:rPr>
              <a:t>https://</a:t>
            </a:r>
            <a:r>
              <a:rPr lang="en-US" dirty="0" smtClean="0">
                <a:hlinkClick r:id="rId2"/>
              </a:rPr>
              <a:t>firebase.google.com/docs/database/security/quickstart</a:t>
            </a:r>
            <a:r>
              <a:rPr lang="en-US" dirty="0" smtClean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34809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FIREstore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5904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FireStore</a:t>
            </a:r>
            <a:r>
              <a:rPr lang="en-US" dirty="0" smtClean="0"/>
              <a:t> Database.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Is going to replace </a:t>
            </a:r>
            <a:r>
              <a:rPr lang="en-US" dirty="0" err="1" smtClean="0"/>
              <a:t>realtime</a:t>
            </a:r>
            <a:r>
              <a:rPr lang="en-US" dirty="0" smtClean="0"/>
              <a:t> </a:t>
            </a:r>
            <a:r>
              <a:rPr lang="en-US" dirty="0" err="1" smtClean="0"/>
              <a:t>db</a:t>
            </a:r>
            <a:r>
              <a:rPr lang="en-US" dirty="0" smtClean="0"/>
              <a:t> at some point.</a:t>
            </a:r>
          </a:p>
          <a:p>
            <a:r>
              <a:rPr lang="en-US" dirty="0" smtClean="0"/>
              <a:t>For </a:t>
            </a:r>
            <a:r>
              <a:rPr lang="en-US" dirty="0" err="1" smtClean="0"/>
              <a:t>flexibity</a:t>
            </a:r>
            <a:r>
              <a:rPr lang="en-US" dirty="0" smtClean="0"/>
              <a:t>, query the database, and scalable.</a:t>
            </a:r>
          </a:p>
          <a:p>
            <a:pPr lvl="1"/>
            <a:r>
              <a:rPr lang="en-US" dirty="0" smtClean="0"/>
              <a:t>Like </a:t>
            </a:r>
            <a:r>
              <a:rPr lang="en-US" dirty="0" err="1" smtClean="0"/>
              <a:t>realtime</a:t>
            </a:r>
            <a:r>
              <a:rPr lang="en-US" dirty="0"/>
              <a:t> </a:t>
            </a:r>
            <a:r>
              <a:rPr lang="en-US" dirty="0" err="1" smtClean="0"/>
              <a:t>db</a:t>
            </a:r>
            <a:r>
              <a:rPr lang="en-US" dirty="0" smtClean="0"/>
              <a:t>, </a:t>
            </a:r>
            <a:r>
              <a:rPr lang="en-US" dirty="0" err="1" smtClean="0"/>
              <a:t>realtime</a:t>
            </a:r>
            <a:r>
              <a:rPr lang="en-US" dirty="0" smtClean="0"/>
              <a:t> updates and offline support.</a:t>
            </a:r>
          </a:p>
          <a:p>
            <a:r>
              <a:rPr lang="en-US" dirty="0" smtClean="0"/>
              <a:t>Uses a NoSQL data model.</a:t>
            </a:r>
          </a:p>
          <a:p>
            <a:r>
              <a:rPr lang="en-US" dirty="0" smtClean="0"/>
              <a:t>You have a collections, which contain documents, which can contain </a:t>
            </a:r>
            <a:r>
              <a:rPr lang="en-US" dirty="0" err="1" smtClean="0"/>
              <a:t>subcollections</a:t>
            </a:r>
            <a:r>
              <a:rPr lang="en-US" dirty="0" smtClean="0"/>
              <a:t> to build hierarchical data structures.</a:t>
            </a:r>
          </a:p>
          <a:p>
            <a:r>
              <a:rPr lang="en-US" dirty="0" smtClean="0"/>
              <a:t>Allows for efficient questions, by creating shallow queries or nested questions.</a:t>
            </a:r>
          </a:p>
          <a:p>
            <a:r>
              <a:rPr lang="en-US" dirty="0">
                <a:hlinkClick r:id="rId2"/>
              </a:rPr>
              <a:t>https://firebase.google.com/docs/firestore</a:t>
            </a:r>
            <a:r>
              <a:rPr lang="en-US" dirty="0" smtClean="0">
                <a:hlinkClick r:id="rId2"/>
              </a:rPr>
              <a:t>/</a:t>
            </a:r>
            <a:r>
              <a:rPr lang="en-US" dirty="0" smtClean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841593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Rules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For simple authentication you rules will look like this:</a:t>
            </a:r>
          </a:p>
          <a:p>
            <a:pPr marL="0" indent="0">
              <a:buNone/>
            </a:pPr>
            <a:r>
              <a:rPr lang="en-US" dirty="0"/>
              <a:t>service </a:t>
            </a:r>
            <a:r>
              <a:rPr lang="en-US" dirty="0" err="1"/>
              <a:t>cloud.firestore</a:t>
            </a:r>
            <a:r>
              <a:rPr lang="en-US" dirty="0"/>
              <a:t> {</a:t>
            </a:r>
          </a:p>
          <a:p>
            <a:pPr marL="0" indent="0">
              <a:buNone/>
            </a:pPr>
            <a:r>
              <a:rPr lang="en-US" dirty="0"/>
              <a:t>  match /databases/{database}/documents {</a:t>
            </a:r>
          </a:p>
          <a:p>
            <a:pPr marL="0" indent="0">
              <a:buNone/>
            </a:pPr>
            <a:r>
              <a:rPr lang="en-US" dirty="0"/>
              <a:t>    match /{document=**} {</a:t>
            </a:r>
          </a:p>
          <a:p>
            <a:pPr marL="0" indent="0">
              <a:buNone/>
            </a:pPr>
            <a:r>
              <a:rPr lang="en-US" dirty="0"/>
              <a:t>       allow read, write: if </a:t>
            </a:r>
            <a:r>
              <a:rPr lang="en-US" dirty="0" err="1"/>
              <a:t>request.auth</a:t>
            </a:r>
            <a:r>
              <a:rPr lang="en-US" dirty="0"/>
              <a:t> != null;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r>
              <a:rPr lang="en-US" dirty="0"/>
              <a:t>  }</a:t>
            </a:r>
          </a:p>
          <a:p>
            <a:pPr marL="0" indent="0">
              <a:buNone/>
            </a:pPr>
            <a:r>
              <a:rPr lang="en-US" dirty="0" smtClean="0"/>
              <a:t>}</a:t>
            </a:r>
          </a:p>
          <a:p>
            <a:r>
              <a:rPr lang="en-US" dirty="0" smtClean="0"/>
              <a:t>this is covered in later slides for </a:t>
            </a:r>
            <a:r>
              <a:rPr lang="en-US" dirty="0" err="1" smtClean="0"/>
              <a:t>authenticiation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419597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Getting started.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In the console turn on </a:t>
            </a:r>
            <a:r>
              <a:rPr lang="en-US" dirty="0" err="1" smtClean="0"/>
              <a:t>firestore</a:t>
            </a:r>
            <a:r>
              <a:rPr lang="en-US" dirty="0" smtClean="0"/>
              <a:t>.</a:t>
            </a:r>
          </a:p>
          <a:p>
            <a:r>
              <a:rPr lang="en-US" dirty="0" smtClean="0"/>
              <a:t>First add firestone to </a:t>
            </a:r>
            <a:r>
              <a:rPr lang="en-US" dirty="0" err="1" smtClean="0"/>
              <a:t>gradle</a:t>
            </a:r>
            <a:r>
              <a:rPr lang="en-US" dirty="0" smtClean="0"/>
              <a:t> </a:t>
            </a:r>
          </a:p>
          <a:p>
            <a:pPr lvl="1"/>
            <a:r>
              <a:rPr lang="en-US" dirty="0"/>
              <a:t>implementation </a:t>
            </a:r>
            <a:r>
              <a:rPr lang="en-US" dirty="0" smtClean="0"/>
              <a:t>'com.google.firebase:firebase-firestore:21.4.0'</a:t>
            </a:r>
            <a:endParaRPr lang="en-US" dirty="0"/>
          </a:p>
          <a:p>
            <a:r>
              <a:rPr lang="en-US" dirty="0" smtClean="0"/>
              <a:t>Access your database</a:t>
            </a:r>
          </a:p>
          <a:p>
            <a:pPr marL="0" indent="0">
              <a:buNone/>
            </a:pPr>
            <a:r>
              <a:rPr lang="en-US" dirty="0" err="1"/>
              <a:t>FirebaseFirestore</a:t>
            </a:r>
            <a:r>
              <a:rPr lang="en-US" dirty="0"/>
              <a:t> </a:t>
            </a:r>
            <a:r>
              <a:rPr lang="en-US" dirty="0" err="1" smtClean="0"/>
              <a:t>db</a:t>
            </a:r>
            <a:r>
              <a:rPr lang="en-US" dirty="0"/>
              <a:t> </a:t>
            </a:r>
            <a:r>
              <a:rPr lang="en-US" dirty="0" smtClean="0"/>
              <a:t>= </a:t>
            </a:r>
            <a:r>
              <a:rPr lang="en-US" dirty="0" err="1" smtClean="0"/>
              <a:t>FirebaseFirestore.getInstance</a:t>
            </a:r>
            <a:r>
              <a:rPr lang="en-US" dirty="0" smtClean="0"/>
              <a:t>();</a:t>
            </a:r>
          </a:p>
          <a:p>
            <a:r>
              <a:rPr lang="en-US" dirty="0" smtClean="0"/>
              <a:t>Adding data, create a </a:t>
            </a:r>
            <a:r>
              <a:rPr lang="en-US" dirty="0" err="1" smtClean="0"/>
              <a:t>HashMap</a:t>
            </a:r>
            <a:endParaRPr lang="en-US" dirty="0" smtClean="0"/>
          </a:p>
          <a:p>
            <a:pPr marL="0" indent="0">
              <a:buNone/>
            </a:pPr>
            <a:r>
              <a:rPr lang="en-US" dirty="0"/>
              <a:t> Map&lt;String, Object&gt; data = new </a:t>
            </a:r>
            <a:r>
              <a:rPr lang="en-US" dirty="0" err="1"/>
              <a:t>HashMap</a:t>
            </a:r>
            <a:r>
              <a:rPr lang="en-US" dirty="0"/>
              <a:t>&lt;&gt;();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err="1" smtClean="0"/>
              <a:t>data.put</a:t>
            </a:r>
            <a:r>
              <a:rPr lang="en-US" dirty="0" smtClean="0"/>
              <a:t>("back in 5 minutes", </a:t>
            </a:r>
            <a:r>
              <a:rPr lang="en-US" dirty="0" err="1"/>
              <a:t>et_msg.getText</a:t>
            </a:r>
            <a:r>
              <a:rPr lang="en-US" dirty="0"/>
              <a:t>().</a:t>
            </a:r>
            <a:r>
              <a:rPr lang="en-US" dirty="0" err="1"/>
              <a:t>toString</a:t>
            </a:r>
            <a:r>
              <a:rPr lang="en-US" dirty="0"/>
              <a:t>());</a:t>
            </a:r>
          </a:p>
          <a:p>
            <a:pPr marL="0" indent="0">
              <a:buNone/>
            </a:pPr>
            <a:r>
              <a:rPr lang="en-US" dirty="0" smtClean="0"/>
              <a:t> </a:t>
            </a:r>
            <a:r>
              <a:rPr lang="en-US" dirty="0" err="1" smtClean="0"/>
              <a:t>data.put</a:t>
            </a:r>
            <a:r>
              <a:rPr lang="en-US" dirty="0"/>
              <a:t>("Arrow", </a:t>
            </a:r>
            <a:r>
              <a:rPr lang="en-US" dirty="0" smtClean="0"/>
              <a:t>"none");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549773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Adding data.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dirty="0" smtClean="0"/>
              <a:t>Now Add the data to the level you want it.  In this case, /sign/</a:t>
            </a:r>
            <a:r>
              <a:rPr lang="en-US" dirty="0" err="1" smtClean="0"/>
              <a:t>jim</a:t>
            </a:r>
            <a:r>
              <a:rPr lang="en-US" dirty="0" smtClean="0"/>
              <a:t>/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err="1"/>
              <a:t>db.collection</a:t>
            </a:r>
            <a:r>
              <a:rPr lang="en-US" dirty="0"/>
              <a:t>("sign").document("Jim")</a:t>
            </a:r>
          </a:p>
          <a:p>
            <a:pPr marL="0" indent="0">
              <a:buNone/>
            </a:pPr>
            <a:r>
              <a:rPr lang="en-US" dirty="0"/>
              <a:t>            .set(</a:t>
            </a:r>
            <a:r>
              <a:rPr lang="en-US" dirty="0">
                <a:solidFill>
                  <a:srgbClr val="FF0000"/>
                </a:solidFill>
              </a:rPr>
              <a:t>data</a:t>
            </a:r>
            <a:r>
              <a:rPr lang="en-US" dirty="0" smtClean="0"/>
              <a:t>)  //</a:t>
            </a:r>
            <a:r>
              <a:rPr lang="en-US" dirty="0" err="1" smtClean="0"/>
              <a:t>hashmap</a:t>
            </a:r>
            <a:r>
              <a:rPr lang="en-US" dirty="0" smtClean="0"/>
              <a:t> previously created.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    .</a:t>
            </a:r>
            <a:r>
              <a:rPr lang="en-US" dirty="0" err="1"/>
              <a:t>addOnSuccessListener</a:t>
            </a:r>
            <a:r>
              <a:rPr lang="en-US" dirty="0"/>
              <a:t>(new </a:t>
            </a:r>
            <a:r>
              <a:rPr lang="en-US" dirty="0" err="1"/>
              <a:t>OnSuccessListener</a:t>
            </a:r>
            <a:r>
              <a:rPr lang="en-US" dirty="0"/>
              <a:t>&lt;Void&gt;() {</a:t>
            </a:r>
          </a:p>
          <a:p>
            <a:pPr marL="0" indent="0">
              <a:buNone/>
            </a:pPr>
            <a:r>
              <a:rPr lang="en-US" dirty="0"/>
              <a:t>                @Override</a:t>
            </a:r>
          </a:p>
          <a:p>
            <a:pPr marL="0" indent="0">
              <a:buNone/>
            </a:pPr>
            <a:r>
              <a:rPr lang="en-US" dirty="0"/>
              <a:t>                public void </a:t>
            </a:r>
            <a:r>
              <a:rPr lang="en-US" dirty="0" err="1"/>
              <a:t>onSuccess</a:t>
            </a:r>
            <a:r>
              <a:rPr lang="en-US" dirty="0"/>
              <a:t>(Void </a:t>
            </a:r>
            <a:r>
              <a:rPr lang="en-US" dirty="0" err="1"/>
              <a:t>aVoid</a:t>
            </a:r>
            <a:r>
              <a:rPr lang="en-US" dirty="0"/>
              <a:t>) {</a:t>
            </a:r>
          </a:p>
          <a:p>
            <a:pPr marL="0" indent="0">
              <a:buNone/>
            </a:pPr>
            <a:r>
              <a:rPr lang="en-US" dirty="0"/>
              <a:t>                    </a:t>
            </a:r>
            <a:r>
              <a:rPr lang="en-US" dirty="0" err="1"/>
              <a:t>Log.d</a:t>
            </a:r>
            <a:r>
              <a:rPr lang="en-US" dirty="0"/>
              <a:t>(TAG, "</a:t>
            </a:r>
            <a:r>
              <a:rPr lang="en-US" dirty="0" err="1"/>
              <a:t>DocumentSnapshot</a:t>
            </a:r>
            <a:r>
              <a:rPr lang="en-US" dirty="0"/>
              <a:t> successfully written!");</a:t>
            </a:r>
          </a:p>
          <a:p>
            <a:pPr marL="0" indent="0">
              <a:buNone/>
            </a:pPr>
            <a:r>
              <a:rPr lang="en-US" dirty="0"/>
              <a:t>                }</a:t>
            </a:r>
          </a:p>
          <a:p>
            <a:pPr marL="0" indent="0">
              <a:buNone/>
            </a:pPr>
            <a:r>
              <a:rPr lang="en-US" dirty="0"/>
              <a:t>            })</a:t>
            </a:r>
          </a:p>
          <a:p>
            <a:pPr marL="0" indent="0">
              <a:buNone/>
            </a:pPr>
            <a:r>
              <a:rPr lang="en-US" dirty="0"/>
              <a:t>            .</a:t>
            </a:r>
            <a:r>
              <a:rPr lang="en-US" dirty="0" err="1"/>
              <a:t>addOnFailureListener</a:t>
            </a:r>
            <a:r>
              <a:rPr lang="en-US" dirty="0"/>
              <a:t>(new </a:t>
            </a:r>
            <a:r>
              <a:rPr lang="en-US" dirty="0" err="1"/>
              <a:t>OnFailureListener</a:t>
            </a:r>
            <a:r>
              <a:rPr lang="en-US" dirty="0"/>
              <a:t>() {</a:t>
            </a:r>
          </a:p>
          <a:p>
            <a:pPr marL="0" indent="0">
              <a:buNone/>
            </a:pPr>
            <a:r>
              <a:rPr lang="en-US" dirty="0"/>
              <a:t>                @Override</a:t>
            </a:r>
          </a:p>
          <a:p>
            <a:pPr marL="0" indent="0">
              <a:buNone/>
            </a:pPr>
            <a:r>
              <a:rPr lang="en-US" dirty="0"/>
              <a:t>                public void </a:t>
            </a:r>
            <a:r>
              <a:rPr lang="en-US" dirty="0" err="1"/>
              <a:t>onFailure</a:t>
            </a:r>
            <a:r>
              <a:rPr lang="en-US" dirty="0"/>
              <a:t>(@</a:t>
            </a:r>
            <a:r>
              <a:rPr lang="en-US" dirty="0" err="1"/>
              <a:t>NonNull</a:t>
            </a:r>
            <a:r>
              <a:rPr lang="en-US" dirty="0"/>
              <a:t> Exception e) {</a:t>
            </a:r>
          </a:p>
          <a:p>
            <a:pPr marL="0" indent="0">
              <a:buNone/>
            </a:pPr>
            <a:r>
              <a:rPr lang="en-US" dirty="0"/>
              <a:t>                    </a:t>
            </a:r>
            <a:r>
              <a:rPr lang="en-US" dirty="0" err="1"/>
              <a:t>Log.w</a:t>
            </a:r>
            <a:r>
              <a:rPr lang="en-US" dirty="0"/>
              <a:t>(TAG, "Error writing document", e);</a:t>
            </a:r>
          </a:p>
          <a:p>
            <a:pPr marL="0" indent="0">
              <a:buNone/>
            </a:pPr>
            <a:r>
              <a:rPr lang="en-US" dirty="0"/>
              <a:t>                }</a:t>
            </a:r>
          </a:p>
          <a:p>
            <a:pPr marL="0" indent="0">
              <a:buNone/>
            </a:pPr>
            <a:r>
              <a:rPr lang="en-US" dirty="0"/>
              <a:t>            });</a:t>
            </a:r>
          </a:p>
        </p:txBody>
      </p:sp>
    </p:spTree>
    <p:extLst>
      <p:ext uri="{BB962C8B-B14F-4D97-AF65-F5344CB8AC3E}">
        <p14:creationId xmlns:p14="http://schemas.microsoft.com/office/powerpoint/2010/main" val="99157113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 the console it looks like this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19200" y="1828800"/>
            <a:ext cx="8829675" cy="259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638725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Receive the data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 </a:t>
            </a:r>
            <a:r>
              <a:rPr lang="en-US" dirty="0" err="1"/>
              <a:t>db.collection</a:t>
            </a:r>
            <a:r>
              <a:rPr lang="en-US" dirty="0"/>
              <a:t>("users").document("Jim").get()</a:t>
            </a:r>
          </a:p>
          <a:p>
            <a:pPr marL="0" indent="0">
              <a:buNone/>
            </a:pPr>
            <a:r>
              <a:rPr lang="en-US" dirty="0"/>
              <a:t>            .</a:t>
            </a:r>
            <a:r>
              <a:rPr lang="en-US" dirty="0" err="1"/>
              <a:t>addOnCompleteListener</a:t>
            </a:r>
            <a:r>
              <a:rPr lang="en-US" dirty="0"/>
              <a:t>(new </a:t>
            </a:r>
            <a:r>
              <a:rPr lang="en-US" dirty="0" err="1"/>
              <a:t>OnCompleteListener</a:t>
            </a:r>
            <a:r>
              <a:rPr lang="en-US" dirty="0"/>
              <a:t>&lt;</a:t>
            </a:r>
            <a:r>
              <a:rPr lang="en-US" dirty="0" err="1"/>
              <a:t>DocumentSnapshot</a:t>
            </a:r>
            <a:r>
              <a:rPr lang="en-US" dirty="0"/>
              <a:t>&gt;() {</a:t>
            </a:r>
          </a:p>
          <a:p>
            <a:pPr marL="0" indent="0">
              <a:buNone/>
            </a:pPr>
            <a:r>
              <a:rPr lang="en-US" dirty="0"/>
              <a:t>                @Override</a:t>
            </a:r>
          </a:p>
          <a:p>
            <a:pPr marL="0" indent="0">
              <a:buNone/>
            </a:pPr>
            <a:r>
              <a:rPr lang="en-US" dirty="0"/>
              <a:t>                public void </a:t>
            </a:r>
            <a:r>
              <a:rPr lang="en-US" dirty="0" err="1"/>
              <a:t>onComplete</a:t>
            </a:r>
            <a:r>
              <a:rPr lang="en-US" dirty="0"/>
              <a:t>(@</a:t>
            </a:r>
            <a:r>
              <a:rPr lang="en-US" dirty="0" err="1"/>
              <a:t>NonNull</a:t>
            </a:r>
            <a:r>
              <a:rPr lang="en-US" dirty="0"/>
              <a:t> Task&lt;</a:t>
            </a:r>
            <a:r>
              <a:rPr lang="en-US" dirty="0" err="1"/>
              <a:t>DocumentSnapshot</a:t>
            </a:r>
            <a:r>
              <a:rPr lang="en-US" dirty="0"/>
              <a:t>&gt; task) {</a:t>
            </a:r>
          </a:p>
          <a:p>
            <a:pPr marL="0" indent="0">
              <a:buNone/>
            </a:pPr>
            <a:r>
              <a:rPr lang="en-US" dirty="0"/>
              <a:t>                    if (</a:t>
            </a:r>
            <a:r>
              <a:rPr lang="en-US" dirty="0" err="1"/>
              <a:t>task.isSuccessful</a:t>
            </a:r>
            <a:r>
              <a:rPr lang="en-US" dirty="0"/>
              <a:t>()) {</a:t>
            </a:r>
          </a:p>
          <a:p>
            <a:pPr marL="0" indent="0">
              <a:buNone/>
            </a:pPr>
            <a:r>
              <a:rPr lang="en-US" dirty="0"/>
              <a:t>                       </a:t>
            </a:r>
            <a:r>
              <a:rPr lang="en-US" dirty="0" err="1"/>
              <a:t>DocumentSnapshot</a:t>
            </a:r>
            <a:r>
              <a:rPr lang="en-US" dirty="0"/>
              <a:t> snapshot = </a:t>
            </a:r>
            <a:r>
              <a:rPr lang="en-US" dirty="0" err="1"/>
              <a:t>task.getResult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/>
              <a:t>                        Map&lt;String, Object&gt; data = </a:t>
            </a:r>
            <a:r>
              <a:rPr lang="en-US" dirty="0" err="1"/>
              <a:t>snapshot.getData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                 </a:t>
            </a:r>
            <a:r>
              <a:rPr lang="en-US" dirty="0" err="1" smtClean="0"/>
              <a:t>TestText</a:t>
            </a:r>
            <a:r>
              <a:rPr lang="en-US" dirty="0" smtClean="0"/>
              <a:t> </a:t>
            </a:r>
            <a:r>
              <a:rPr lang="en-US" dirty="0"/>
              <a:t>= </a:t>
            </a:r>
            <a:r>
              <a:rPr lang="en-US" dirty="0" err="1"/>
              <a:t>String.valueOf</a:t>
            </a:r>
            <a:r>
              <a:rPr lang="en-US" dirty="0"/>
              <a:t>(</a:t>
            </a:r>
            <a:r>
              <a:rPr lang="en-US" dirty="0" err="1"/>
              <a:t>data.get</a:t>
            </a:r>
            <a:r>
              <a:rPr lang="en-US" dirty="0"/>
              <a:t>("text"));</a:t>
            </a:r>
          </a:p>
          <a:p>
            <a:pPr marL="0" indent="0">
              <a:buNone/>
            </a:pPr>
            <a:r>
              <a:rPr lang="en-US" dirty="0"/>
              <a:t>                     </a:t>
            </a:r>
            <a:r>
              <a:rPr lang="en-US" dirty="0" smtClean="0"/>
              <a:t>   </a:t>
            </a:r>
            <a:r>
              <a:rPr lang="en-US" dirty="0" err="1" smtClean="0"/>
              <a:t>Arr</a:t>
            </a:r>
            <a:r>
              <a:rPr lang="en-US" dirty="0" smtClean="0"/>
              <a:t> </a:t>
            </a:r>
            <a:r>
              <a:rPr lang="en-US" dirty="0"/>
              <a:t>= </a:t>
            </a:r>
            <a:r>
              <a:rPr lang="en-US" dirty="0" err="1"/>
              <a:t>String.valueOf</a:t>
            </a:r>
            <a:r>
              <a:rPr lang="en-US" dirty="0"/>
              <a:t>(</a:t>
            </a:r>
            <a:r>
              <a:rPr lang="en-US" dirty="0" err="1"/>
              <a:t>data.get</a:t>
            </a:r>
            <a:r>
              <a:rPr lang="en-US" dirty="0"/>
              <a:t>("Arrow"));</a:t>
            </a:r>
          </a:p>
          <a:p>
            <a:pPr marL="0" indent="0">
              <a:buNone/>
            </a:pPr>
            <a:r>
              <a:rPr lang="en-US" dirty="0"/>
              <a:t>                    }</a:t>
            </a:r>
          </a:p>
          <a:p>
            <a:pPr marL="0" indent="0">
              <a:buNone/>
            </a:pPr>
            <a:r>
              <a:rPr lang="en-US" dirty="0"/>
              <a:t>                }</a:t>
            </a:r>
          </a:p>
          <a:p>
            <a:pPr marL="0" indent="0">
              <a:buNone/>
            </a:pPr>
            <a:r>
              <a:rPr lang="en-US" dirty="0"/>
              <a:t>            });</a:t>
            </a:r>
          </a:p>
        </p:txBody>
      </p:sp>
    </p:spTree>
    <p:extLst>
      <p:ext uri="{BB962C8B-B14F-4D97-AF65-F5344CB8AC3E}">
        <p14:creationId xmlns:p14="http://schemas.microsoft.com/office/powerpoint/2010/main" val="244036228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 get multiple documents from a collection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 err="1"/>
              <a:t>db.collection</a:t>
            </a:r>
            <a:r>
              <a:rPr lang="en-US" dirty="0"/>
              <a:t>("users")</a:t>
            </a:r>
          </a:p>
          <a:p>
            <a:pPr marL="0" indent="0">
              <a:buNone/>
            </a:pPr>
            <a:r>
              <a:rPr lang="en-US" dirty="0"/>
              <a:t>        .get()</a:t>
            </a:r>
          </a:p>
          <a:p>
            <a:pPr marL="0" indent="0">
              <a:buNone/>
            </a:pPr>
            <a:r>
              <a:rPr lang="en-US" dirty="0"/>
              <a:t>        .</a:t>
            </a:r>
            <a:r>
              <a:rPr lang="en-US" dirty="0" err="1"/>
              <a:t>addOnCompleteListener</a:t>
            </a:r>
            <a:r>
              <a:rPr lang="en-US" dirty="0"/>
              <a:t>(new </a:t>
            </a:r>
            <a:r>
              <a:rPr lang="en-US" dirty="0" err="1"/>
              <a:t>OnCompleteListener</a:t>
            </a:r>
            <a:r>
              <a:rPr lang="en-US" dirty="0"/>
              <a:t>&lt;</a:t>
            </a:r>
            <a:r>
              <a:rPr lang="en-US" dirty="0" err="1"/>
              <a:t>QuerySnapshot</a:t>
            </a:r>
            <a:r>
              <a:rPr lang="en-US" dirty="0"/>
              <a:t>&gt;() {</a:t>
            </a:r>
          </a:p>
          <a:p>
            <a:pPr marL="0" indent="0">
              <a:buNone/>
            </a:pPr>
            <a:r>
              <a:rPr lang="en-US" dirty="0"/>
              <a:t>            @Override</a:t>
            </a:r>
          </a:p>
          <a:p>
            <a:pPr marL="0" indent="0">
              <a:buNone/>
            </a:pPr>
            <a:r>
              <a:rPr lang="en-US" dirty="0"/>
              <a:t>            public void </a:t>
            </a:r>
            <a:r>
              <a:rPr lang="en-US" dirty="0" err="1"/>
              <a:t>onComplete</a:t>
            </a:r>
            <a:r>
              <a:rPr lang="en-US" dirty="0"/>
              <a:t>(@</a:t>
            </a:r>
            <a:r>
              <a:rPr lang="en-US" dirty="0" err="1"/>
              <a:t>NonNull</a:t>
            </a:r>
            <a:r>
              <a:rPr lang="en-US" dirty="0"/>
              <a:t> Task&lt;</a:t>
            </a:r>
            <a:r>
              <a:rPr lang="en-US" dirty="0" err="1"/>
              <a:t>QuerySnapshot</a:t>
            </a:r>
            <a:r>
              <a:rPr lang="en-US" dirty="0"/>
              <a:t>&gt; task) {</a:t>
            </a:r>
          </a:p>
          <a:p>
            <a:pPr marL="0" indent="0">
              <a:buNone/>
            </a:pPr>
            <a:r>
              <a:rPr lang="en-US" dirty="0"/>
              <a:t>                if (</a:t>
            </a:r>
            <a:r>
              <a:rPr lang="en-US" dirty="0" err="1"/>
              <a:t>task.isSuccessful</a:t>
            </a:r>
            <a:r>
              <a:rPr lang="en-US" dirty="0"/>
              <a:t>()) </a:t>
            </a:r>
            <a:r>
              <a:rPr lang="en-US" dirty="0" smtClean="0"/>
              <a:t>{  //iterate over the documents.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            for (</a:t>
            </a:r>
            <a:r>
              <a:rPr lang="en-US" dirty="0" err="1"/>
              <a:t>QueryDocumentSnapshot</a:t>
            </a:r>
            <a:r>
              <a:rPr lang="en-US" dirty="0"/>
              <a:t> document : </a:t>
            </a:r>
            <a:r>
              <a:rPr lang="en-US" dirty="0" err="1"/>
              <a:t>task.getResult</a:t>
            </a:r>
            <a:r>
              <a:rPr lang="en-US" dirty="0"/>
              <a:t>()) {</a:t>
            </a:r>
          </a:p>
          <a:p>
            <a:pPr marL="0" indent="0">
              <a:buNone/>
            </a:pPr>
            <a:r>
              <a:rPr lang="en-US" dirty="0" smtClean="0"/>
              <a:t>		//using </a:t>
            </a:r>
            <a:r>
              <a:rPr lang="en-US" dirty="0" err="1" smtClean="0"/>
              <a:t>document.getData</a:t>
            </a:r>
            <a:r>
              <a:rPr lang="en-US" dirty="0" smtClean="0"/>
              <a:t>() to get each one.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            }</a:t>
            </a:r>
          </a:p>
          <a:p>
            <a:pPr marL="0" indent="0">
              <a:buNone/>
            </a:pPr>
            <a:r>
              <a:rPr lang="en-US" dirty="0"/>
              <a:t>                } else {</a:t>
            </a:r>
          </a:p>
          <a:p>
            <a:pPr marL="0" indent="0">
              <a:buNone/>
            </a:pPr>
            <a:r>
              <a:rPr lang="en-US" dirty="0"/>
              <a:t>                    </a:t>
            </a:r>
            <a:r>
              <a:rPr lang="en-US" dirty="0" err="1"/>
              <a:t>Log.w</a:t>
            </a:r>
            <a:r>
              <a:rPr lang="en-US" dirty="0"/>
              <a:t>(TAG, "Error getting documents.", </a:t>
            </a:r>
            <a:r>
              <a:rPr lang="en-US" dirty="0" err="1"/>
              <a:t>task.getException</a:t>
            </a:r>
            <a:r>
              <a:rPr lang="en-US" dirty="0"/>
              <a:t>());</a:t>
            </a:r>
          </a:p>
          <a:p>
            <a:pPr marL="0" indent="0">
              <a:buNone/>
            </a:pPr>
            <a:r>
              <a:rPr lang="en-US" dirty="0"/>
              <a:t>                }</a:t>
            </a:r>
          </a:p>
          <a:p>
            <a:pPr marL="0" indent="0">
              <a:buNone/>
            </a:pPr>
            <a:r>
              <a:rPr lang="en-US" dirty="0"/>
              <a:t>            }</a:t>
            </a:r>
          </a:p>
          <a:p>
            <a:pPr marL="0" indent="0">
              <a:buNone/>
            </a:pPr>
            <a:r>
              <a:rPr lang="en-US" dirty="0"/>
              <a:t>        });</a:t>
            </a:r>
          </a:p>
        </p:txBody>
      </p:sp>
    </p:spTree>
    <p:extLst>
      <p:ext uri="{BB962C8B-B14F-4D97-AF65-F5344CB8AC3E}">
        <p14:creationId xmlns:p14="http://schemas.microsoft.com/office/powerpoint/2010/main" val="10098455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Retrieve via a listener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 err="1"/>
              <a:t>DocumentReference</a:t>
            </a:r>
            <a:r>
              <a:rPr lang="en-US" dirty="0"/>
              <a:t> </a:t>
            </a:r>
            <a:r>
              <a:rPr lang="en-US" dirty="0" err="1"/>
              <a:t>docRef</a:t>
            </a:r>
            <a:r>
              <a:rPr lang="en-US" dirty="0"/>
              <a:t> = </a:t>
            </a:r>
            <a:r>
              <a:rPr lang="en-US" dirty="0" err="1"/>
              <a:t>db.collection</a:t>
            </a:r>
            <a:r>
              <a:rPr lang="en-US" dirty="0"/>
              <a:t>("sign").document("Jim");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docRef.addSnapshotListener</a:t>
            </a:r>
            <a:r>
              <a:rPr lang="en-US" dirty="0"/>
              <a:t>(new </a:t>
            </a:r>
            <a:r>
              <a:rPr lang="en-US" dirty="0" err="1"/>
              <a:t>EventListener</a:t>
            </a:r>
            <a:r>
              <a:rPr lang="en-US" dirty="0"/>
              <a:t>&lt;</a:t>
            </a:r>
            <a:r>
              <a:rPr lang="en-US" dirty="0" err="1"/>
              <a:t>DocumentSnapshot</a:t>
            </a:r>
            <a:r>
              <a:rPr lang="en-US" dirty="0"/>
              <a:t>&gt;() {</a:t>
            </a:r>
          </a:p>
          <a:p>
            <a:pPr marL="0" indent="0">
              <a:buNone/>
            </a:pPr>
            <a:r>
              <a:rPr lang="en-US" dirty="0"/>
              <a:t>            @Override</a:t>
            </a:r>
          </a:p>
          <a:p>
            <a:pPr marL="0" indent="0">
              <a:buNone/>
            </a:pPr>
            <a:r>
              <a:rPr lang="en-US" dirty="0"/>
              <a:t>            public void </a:t>
            </a:r>
            <a:r>
              <a:rPr lang="en-US" dirty="0" err="1"/>
              <a:t>onEvent</a:t>
            </a:r>
            <a:r>
              <a:rPr lang="en-US" dirty="0"/>
              <a:t>(@</a:t>
            </a:r>
            <a:r>
              <a:rPr lang="en-US" dirty="0" err="1"/>
              <a:t>Nullable</a:t>
            </a:r>
            <a:r>
              <a:rPr lang="en-US" dirty="0"/>
              <a:t> </a:t>
            </a:r>
            <a:r>
              <a:rPr lang="en-US" dirty="0" err="1"/>
              <a:t>DocumentSnapshot</a:t>
            </a:r>
            <a:r>
              <a:rPr lang="en-US" dirty="0"/>
              <a:t> snapshot</a:t>
            </a:r>
            <a:r>
              <a:rPr lang="en-US" dirty="0" smtClean="0"/>
              <a:t>, </a:t>
            </a:r>
            <a:r>
              <a:rPr lang="en-US" dirty="0"/>
              <a:t>@</a:t>
            </a:r>
            <a:r>
              <a:rPr lang="en-US" dirty="0" err="1"/>
              <a:t>Nullable</a:t>
            </a:r>
            <a:r>
              <a:rPr lang="en-US" dirty="0"/>
              <a:t> </a:t>
            </a:r>
            <a:r>
              <a:rPr lang="en-US" dirty="0" err="1"/>
              <a:t>FirebaseFirestoreException</a:t>
            </a:r>
            <a:r>
              <a:rPr lang="en-US" dirty="0"/>
              <a:t> e) {</a:t>
            </a:r>
          </a:p>
          <a:p>
            <a:pPr marL="0" indent="0">
              <a:buNone/>
            </a:pPr>
            <a:r>
              <a:rPr lang="en-US" dirty="0"/>
              <a:t>                if (e != null) </a:t>
            </a:r>
            <a:r>
              <a:rPr lang="en-US" dirty="0" smtClean="0"/>
              <a:t>{  </a:t>
            </a:r>
            <a:r>
              <a:rPr lang="en-US" dirty="0" err="1"/>
              <a:t>Log.w</a:t>
            </a:r>
            <a:r>
              <a:rPr lang="en-US" dirty="0"/>
              <a:t>(TAG, "Listen failed.", e</a:t>
            </a:r>
            <a:r>
              <a:rPr lang="en-US" dirty="0" smtClean="0"/>
              <a:t>);    </a:t>
            </a:r>
            <a:r>
              <a:rPr lang="en-US" dirty="0"/>
              <a:t>return</a:t>
            </a:r>
            <a:r>
              <a:rPr lang="en-US" dirty="0" smtClean="0"/>
              <a:t>;          </a:t>
            </a:r>
            <a:r>
              <a:rPr lang="en-US" dirty="0"/>
              <a:t>}</a:t>
            </a:r>
          </a:p>
          <a:p>
            <a:pPr marL="0" indent="0">
              <a:buNone/>
            </a:pPr>
            <a:r>
              <a:rPr lang="en-US" dirty="0" smtClean="0"/>
              <a:t>                //retrieve the data if it exists.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        if (snapshot != null &amp;&amp; </a:t>
            </a:r>
            <a:r>
              <a:rPr lang="en-US" dirty="0" err="1"/>
              <a:t>snapshot.exists</a:t>
            </a:r>
            <a:r>
              <a:rPr lang="en-US" dirty="0"/>
              <a:t>()) {</a:t>
            </a:r>
          </a:p>
          <a:p>
            <a:pPr marL="0" indent="0">
              <a:buNone/>
            </a:pPr>
            <a:r>
              <a:rPr lang="en-US" dirty="0" smtClean="0"/>
              <a:t>                    </a:t>
            </a:r>
            <a:r>
              <a:rPr lang="en-US" dirty="0"/>
              <a:t>Map&lt;String, Object&gt; data = </a:t>
            </a:r>
            <a:r>
              <a:rPr lang="en-US" dirty="0" err="1"/>
              <a:t>snapshot.getData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 smtClean="0"/>
              <a:t>                    </a:t>
            </a:r>
            <a:r>
              <a:rPr lang="en-US" dirty="0" err="1"/>
              <a:t>TestText</a:t>
            </a:r>
            <a:r>
              <a:rPr lang="en-US" dirty="0"/>
              <a:t> = </a:t>
            </a:r>
            <a:r>
              <a:rPr lang="en-US" dirty="0" err="1"/>
              <a:t>String.valueOf</a:t>
            </a:r>
            <a:r>
              <a:rPr lang="en-US" dirty="0"/>
              <a:t>(</a:t>
            </a:r>
            <a:r>
              <a:rPr lang="en-US" dirty="0" err="1"/>
              <a:t>data.get</a:t>
            </a:r>
            <a:r>
              <a:rPr lang="en-US" dirty="0"/>
              <a:t>("text"));</a:t>
            </a:r>
          </a:p>
          <a:p>
            <a:pPr marL="0" indent="0">
              <a:buNone/>
            </a:pPr>
            <a:r>
              <a:rPr lang="en-US" dirty="0" smtClean="0"/>
              <a:t>                     </a:t>
            </a:r>
            <a:r>
              <a:rPr lang="en-US" dirty="0" err="1" smtClean="0"/>
              <a:t>Arr</a:t>
            </a:r>
            <a:r>
              <a:rPr lang="en-US" dirty="0" smtClean="0"/>
              <a:t> </a:t>
            </a:r>
            <a:r>
              <a:rPr lang="en-US" dirty="0"/>
              <a:t>= </a:t>
            </a:r>
            <a:r>
              <a:rPr lang="en-US" dirty="0" err="1"/>
              <a:t>String.valueOf</a:t>
            </a:r>
            <a:r>
              <a:rPr lang="en-US" dirty="0"/>
              <a:t>(</a:t>
            </a:r>
            <a:r>
              <a:rPr lang="en-US" dirty="0" err="1"/>
              <a:t>data.get</a:t>
            </a:r>
            <a:r>
              <a:rPr lang="en-US" dirty="0"/>
              <a:t>("Arrow"));</a:t>
            </a:r>
          </a:p>
          <a:p>
            <a:pPr marL="0" indent="0">
              <a:buNone/>
            </a:pPr>
            <a:r>
              <a:rPr lang="en-US" dirty="0" smtClean="0"/>
              <a:t>                  } </a:t>
            </a:r>
          </a:p>
          <a:p>
            <a:pPr marL="0" indent="0">
              <a:buNone/>
            </a:pPr>
            <a:r>
              <a:rPr lang="en-US" dirty="0" smtClean="0"/>
              <a:t>                }        </a:t>
            </a:r>
            <a:r>
              <a:rPr lang="en-US" dirty="0"/>
              <a:t>});</a:t>
            </a:r>
          </a:p>
        </p:txBody>
      </p:sp>
    </p:spTree>
    <p:extLst>
      <p:ext uri="{BB962C8B-B14F-4D97-AF65-F5344CB8AC3E}">
        <p14:creationId xmlns:p14="http://schemas.microsoft.com/office/powerpoint/2010/main" val="311295453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Authentication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422075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</a:t>
            </a:r>
            <a:r>
              <a:rPr lang="en-US" dirty="0" smtClean="0"/>
              <a:t>uthentication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Allows the user to "login" to your app.</a:t>
            </a:r>
          </a:p>
          <a:p>
            <a:pPr lvl="1"/>
            <a:r>
              <a:rPr lang="en-US" dirty="0" smtClean="0"/>
              <a:t>With any number of services using </a:t>
            </a:r>
            <a:r>
              <a:rPr lang="en-US" dirty="0" err="1" smtClean="0"/>
              <a:t>FirebaseUI</a:t>
            </a:r>
            <a:endParaRPr lang="en-US" dirty="0" smtClean="0"/>
          </a:p>
          <a:p>
            <a:pPr lvl="2"/>
            <a:r>
              <a:rPr lang="en-US" dirty="0" smtClean="0"/>
              <a:t>Currently: phone number, email and password, google, </a:t>
            </a:r>
            <a:r>
              <a:rPr lang="en-US" dirty="0" err="1" smtClean="0"/>
              <a:t>facebook</a:t>
            </a:r>
            <a:r>
              <a:rPr lang="en-US" dirty="0" smtClean="0"/>
              <a:t>, twitter, </a:t>
            </a:r>
            <a:r>
              <a:rPr lang="en-US" dirty="0" err="1" smtClean="0"/>
              <a:t>github</a:t>
            </a:r>
            <a:r>
              <a:rPr lang="en-US" dirty="0" smtClean="0"/>
              <a:t>, yahoo, Microsoft, apple and anonymous.</a:t>
            </a:r>
          </a:p>
          <a:p>
            <a:pPr lvl="3"/>
            <a:r>
              <a:rPr lang="en-US" dirty="0" smtClean="0"/>
              <a:t>Note </a:t>
            </a:r>
            <a:r>
              <a:rPr lang="en-US" dirty="0" err="1" smtClean="0"/>
              <a:t>facebook</a:t>
            </a:r>
            <a:r>
              <a:rPr lang="en-US" dirty="0" smtClean="0"/>
              <a:t>, twitter, </a:t>
            </a:r>
            <a:r>
              <a:rPr lang="en-US" dirty="0" err="1" smtClean="0"/>
              <a:t>github</a:t>
            </a:r>
            <a:r>
              <a:rPr lang="en-US" dirty="0" smtClean="0"/>
              <a:t>, yahoo, Microsoft, and apple require their </a:t>
            </a:r>
            <a:r>
              <a:rPr lang="en-US" dirty="0" err="1" smtClean="0"/>
              <a:t>api</a:t>
            </a:r>
            <a:r>
              <a:rPr lang="en-US" dirty="0" smtClean="0"/>
              <a:t> key in order for it to work.</a:t>
            </a:r>
          </a:p>
          <a:p>
            <a:pPr lvl="2"/>
            <a:r>
              <a:rPr lang="en-US" dirty="0" smtClean="0"/>
              <a:t>You don't write the code, just call the method for sign in or sign out.</a:t>
            </a:r>
          </a:p>
          <a:p>
            <a:pPr lvl="3"/>
            <a:r>
              <a:rPr lang="en-US" dirty="0" smtClean="0"/>
              <a:t>It keeps track, even the password for email.</a:t>
            </a:r>
          </a:p>
          <a:p>
            <a:pPr lvl="2"/>
            <a:r>
              <a:rPr lang="en-US" dirty="0" smtClean="0"/>
              <a:t>MAKE sure to enable the ones you want in the console FIRST!</a:t>
            </a:r>
            <a:endParaRPr lang="en-US" dirty="0"/>
          </a:p>
          <a:p>
            <a:pPr lvl="1"/>
            <a:r>
              <a:rPr lang="en-US" dirty="0"/>
              <a:t>dependencies</a:t>
            </a:r>
          </a:p>
          <a:p>
            <a:pPr lvl="2"/>
            <a:r>
              <a:rPr lang="en-US" dirty="0"/>
              <a:t>implementation </a:t>
            </a:r>
            <a:r>
              <a:rPr lang="en-US" dirty="0" smtClean="0"/>
              <a:t>'com.google.firebase:firebase-auth:19.2.0'</a:t>
            </a:r>
          </a:p>
          <a:p>
            <a:pPr lvl="2"/>
            <a:r>
              <a:rPr lang="en-US" dirty="0"/>
              <a:t>implementation </a:t>
            </a:r>
            <a:r>
              <a:rPr lang="en-US" dirty="0" smtClean="0"/>
              <a:t>'com.firebaseui:firebase-ui-auth:6.2.0'</a:t>
            </a:r>
          </a:p>
          <a:p>
            <a:pPr lvl="3"/>
            <a:r>
              <a:rPr lang="en-US" dirty="0"/>
              <a:t>See </a:t>
            </a:r>
            <a:r>
              <a:rPr lang="en-US" dirty="0">
                <a:hlinkClick r:id="rId2"/>
              </a:rPr>
              <a:t>https://</a:t>
            </a:r>
            <a:r>
              <a:rPr lang="en-US" dirty="0" smtClean="0">
                <a:hlinkClick r:id="rId2"/>
              </a:rPr>
              <a:t>github.com/firebase/FirebaseUI-Android</a:t>
            </a:r>
            <a:r>
              <a:rPr lang="en-US" dirty="0" smtClean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30854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Setup and use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private </a:t>
            </a:r>
            <a:r>
              <a:rPr lang="en-US" dirty="0" err="1" smtClean="0"/>
              <a:t>FirebaseAuth</a:t>
            </a:r>
            <a:r>
              <a:rPr lang="en-US" dirty="0" smtClean="0"/>
              <a:t> </a:t>
            </a:r>
            <a:r>
              <a:rPr lang="en-US" dirty="0" err="1" smtClean="0"/>
              <a:t>mFirebaseAuth</a:t>
            </a:r>
            <a:r>
              <a:rPr lang="en-US" dirty="0" smtClean="0"/>
              <a:t>;</a:t>
            </a:r>
          </a:p>
          <a:p>
            <a:r>
              <a:rPr lang="en-US" dirty="0" smtClean="0"/>
              <a:t>private </a:t>
            </a:r>
            <a:r>
              <a:rPr lang="en-US" dirty="0" err="1" smtClean="0"/>
              <a:t>FirebaseAuth.AuthStateListener</a:t>
            </a:r>
            <a:r>
              <a:rPr lang="en-US" dirty="0" smtClean="0"/>
              <a:t> </a:t>
            </a:r>
            <a:r>
              <a:rPr lang="en-US" dirty="0" err="1" smtClean="0"/>
              <a:t>mAuthStateListener</a:t>
            </a:r>
            <a:r>
              <a:rPr lang="en-US" dirty="0" smtClean="0"/>
              <a:t>;</a:t>
            </a:r>
          </a:p>
          <a:p>
            <a:r>
              <a:rPr lang="en-US" dirty="0" err="1" smtClean="0"/>
              <a:t>mFirebaseAuth</a:t>
            </a:r>
            <a:r>
              <a:rPr lang="en-US" dirty="0" smtClean="0"/>
              <a:t> = </a:t>
            </a:r>
            <a:r>
              <a:rPr lang="en-US" dirty="0" err="1" smtClean="0"/>
              <a:t>FirebaseAuth.getInstance</a:t>
            </a:r>
            <a:r>
              <a:rPr lang="en-US" dirty="0" smtClean="0"/>
              <a:t>();</a:t>
            </a:r>
            <a:endParaRPr 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6201" y="4038601"/>
            <a:ext cx="3586163" cy="2290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2759158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Setup and use (2)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10820400" cy="4876800"/>
          </a:xfrm>
        </p:spPr>
        <p:txBody>
          <a:bodyPr>
            <a:normAutofit fontScale="47500" lnSpcReduction="20000"/>
          </a:bodyPr>
          <a:lstStyle/>
          <a:p>
            <a:r>
              <a:rPr lang="en-US" dirty="0" smtClean="0"/>
              <a:t>In </a:t>
            </a:r>
            <a:r>
              <a:rPr lang="en-US" dirty="0" err="1" smtClean="0"/>
              <a:t>onResume</a:t>
            </a:r>
            <a:r>
              <a:rPr lang="en-US" dirty="0" smtClean="0"/>
              <a:t>, </a:t>
            </a:r>
          </a:p>
          <a:p>
            <a:pPr marL="0" indent="0">
              <a:buNone/>
            </a:pPr>
            <a:r>
              <a:rPr lang="en-US" dirty="0" err="1" smtClean="0"/>
              <a:t>mFirebaseAuth.addAuthStateListener</a:t>
            </a:r>
            <a:r>
              <a:rPr lang="en-US" dirty="0" smtClean="0"/>
              <a:t>(</a:t>
            </a:r>
            <a:r>
              <a:rPr lang="en-US" dirty="0" err="1" smtClean="0"/>
              <a:t>mAuthStateListener</a:t>
            </a:r>
            <a:r>
              <a:rPr lang="en-US" dirty="0" smtClean="0"/>
              <a:t>);</a:t>
            </a:r>
          </a:p>
          <a:p>
            <a:r>
              <a:rPr lang="en-US" dirty="0" smtClean="0"/>
              <a:t>Where </a:t>
            </a:r>
          </a:p>
          <a:p>
            <a:pPr marL="0" indent="0">
              <a:buNone/>
            </a:pPr>
            <a:r>
              <a:rPr lang="en-US" dirty="0" err="1" smtClean="0"/>
              <a:t>mAuthStateListener</a:t>
            </a:r>
            <a:r>
              <a:rPr lang="en-US" dirty="0" smtClean="0"/>
              <a:t> = new </a:t>
            </a:r>
            <a:r>
              <a:rPr lang="en-US" dirty="0" err="1" smtClean="0"/>
              <a:t>FirebaseAuth.AuthStateListener</a:t>
            </a:r>
            <a:r>
              <a:rPr lang="en-US" dirty="0" smtClean="0"/>
              <a:t>() {</a:t>
            </a:r>
            <a:br>
              <a:rPr lang="en-US" dirty="0" smtClean="0"/>
            </a:br>
            <a:r>
              <a:rPr lang="en-US" dirty="0" smtClean="0"/>
              <a:t>    @Override</a:t>
            </a:r>
            <a:br>
              <a:rPr lang="en-US" dirty="0" smtClean="0"/>
            </a:br>
            <a:r>
              <a:rPr lang="en-US" dirty="0" smtClean="0"/>
              <a:t>    public void </a:t>
            </a:r>
            <a:r>
              <a:rPr lang="en-US" dirty="0" err="1" smtClean="0"/>
              <a:t>onAuthStateChanged</a:t>
            </a:r>
            <a:r>
              <a:rPr lang="en-US" dirty="0" smtClean="0"/>
              <a:t>(@</a:t>
            </a:r>
            <a:r>
              <a:rPr lang="en-US" dirty="0" err="1" smtClean="0"/>
              <a:t>NonNull</a:t>
            </a:r>
            <a:r>
              <a:rPr lang="en-US" dirty="0" smtClean="0"/>
              <a:t> </a:t>
            </a:r>
            <a:r>
              <a:rPr lang="en-US" dirty="0" err="1" smtClean="0"/>
              <a:t>FirebaseAuth</a:t>
            </a:r>
            <a:r>
              <a:rPr lang="en-US" dirty="0" smtClean="0"/>
              <a:t> </a:t>
            </a:r>
            <a:r>
              <a:rPr lang="en-US" dirty="0" err="1" smtClean="0"/>
              <a:t>firebaseAuth</a:t>
            </a:r>
            <a:r>
              <a:rPr lang="en-US" dirty="0" smtClean="0"/>
              <a:t>) {</a:t>
            </a:r>
            <a:br>
              <a:rPr lang="en-US" dirty="0" smtClean="0"/>
            </a:br>
            <a:r>
              <a:rPr lang="en-US" dirty="0" smtClean="0"/>
              <a:t>        </a:t>
            </a:r>
            <a:r>
              <a:rPr lang="en-US" dirty="0" err="1" smtClean="0"/>
              <a:t>FirebaseUser</a:t>
            </a:r>
            <a:r>
              <a:rPr lang="en-US" dirty="0" smtClean="0"/>
              <a:t> user = </a:t>
            </a:r>
            <a:r>
              <a:rPr lang="en-US" dirty="0" err="1" smtClean="0"/>
              <a:t>firebaseAuth.getCurrentUser</a:t>
            </a:r>
            <a:r>
              <a:rPr lang="en-US" dirty="0" smtClean="0"/>
              <a:t>();</a:t>
            </a:r>
            <a:br>
              <a:rPr lang="en-US" dirty="0" smtClean="0"/>
            </a:br>
            <a:r>
              <a:rPr lang="en-US" dirty="0" smtClean="0"/>
              <a:t>        if (user != null) {</a:t>
            </a:r>
            <a:br>
              <a:rPr lang="en-US" dirty="0" smtClean="0"/>
            </a:br>
            <a:r>
              <a:rPr lang="en-US" dirty="0" smtClean="0"/>
              <a:t>            // User is signed in  use  </a:t>
            </a:r>
            <a:r>
              <a:rPr lang="en-US" dirty="0" err="1" smtClean="0"/>
              <a:t>user.getDisplayName</a:t>
            </a:r>
            <a:r>
              <a:rPr lang="en-US" dirty="0" smtClean="0"/>
              <a:t>() to get the name.</a:t>
            </a:r>
            <a:br>
              <a:rPr lang="en-US" dirty="0" smtClean="0"/>
            </a:br>
            <a:r>
              <a:rPr lang="en-US" dirty="0" smtClean="0"/>
              <a:t>        } else {</a:t>
            </a:r>
            <a:br>
              <a:rPr lang="en-US" dirty="0" smtClean="0"/>
            </a:br>
            <a:r>
              <a:rPr lang="en-US" dirty="0" smtClean="0"/>
              <a:t>            // User is signed out</a:t>
            </a:r>
            <a:br>
              <a:rPr lang="en-US" dirty="0" smtClean="0"/>
            </a:br>
            <a:r>
              <a:rPr lang="en-US" dirty="0" smtClean="0">
                <a:solidFill>
                  <a:srgbClr val="C00000"/>
                </a:solidFill>
              </a:rPr>
              <a:t>            </a:t>
            </a:r>
            <a:r>
              <a:rPr lang="en-US" dirty="0" err="1" smtClean="0">
                <a:solidFill>
                  <a:srgbClr val="C00000"/>
                </a:solidFill>
              </a:rPr>
              <a:t>startActivityForResult</a:t>
            </a:r>
            <a:r>
              <a:rPr lang="en-US" dirty="0" smtClean="0"/>
              <a:t>(</a:t>
            </a:r>
            <a:br>
              <a:rPr lang="en-US" dirty="0" smtClean="0"/>
            </a:br>
            <a:r>
              <a:rPr lang="en-US" dirty="0" smtClean="0">
                <a:solidFill>
                  <a:srgbClr val="0070C0"/>
                </a:solidFill>
              </a:rPr>
              <a:t>                    </a:t>
            </a:r>
            <a:r>
              <a:rPr lang="en-US" dirty="0" err="1" smtClean="0">
                <a:solidFill>
                  <a:srgbClr val="0070C0"/>
                </a:solidFill>
              </a:rPr>
              <a:t>AuthUI.</a:t>
            </a:r>
            <a:r>
              <a:rPr lang="en-US" i="1" dirty="0" err="1" smtClean="0">
                <a:solidFill>
                  <a:srgbClr val="0070C0"/>
                </a:solidFill>
              </a:rPr>
              <a:t>getInstance</a:t>
            </a:r>
            <a:r>
              <a:rPr lang="en-US" dirty="0" smtClean="0">
                <a:solidFill>
                  <a:srgbClr val="0070C0"/>
                </a:solidFill>
              </a:rPr>
              <a:t>()  //see firebase UI for documentation. </a:t>
            </a:r>
            <a:br>
              <a:rPr lang="en-US" dirty="0" smtClean="0">
                <a:solidFill>
                  <a:srgbClr val="0070C0"/>
                </a:solidFill>
              </a:rPr>
            </a:br>
            <a:r>
              <a:rPr lang="en-US" dirty="0" smtClean="0">
                <a:solidFill>
                  <a:srgbClr val="0070C0"/>
                </a:solidFill>
              </a:rPr>
              <a:t>                            .</a:t>
            </a:r>
            <a:r>
              <a:rPr lang="en-US" dirty="0" err="1" smtClean="0">
                <a:solidFill>
                  <a:srgbClr val="0070C0"/>
                </a:solidFill>
              </a:rPr>
              <a:t>createSignInIntentBuilder</a:t>
            </a:r>
            <a:r>
              <a:rPr lang="en-US" dirty="0" smtClean="0">
                <a:solidFill>
                  <a:srgbClr val="0070C0"/>
                </a:solidFill>
              </a:rPr>
              <a:t>()  .</a:t>
            </a:r>
            <a:r>
              <a:rPr lang="en-US" dirty="0" err="1" smtClean="0">
                <a:solidFill>
                  <a:srgbClr val="0070C0"/>
                </a:solidFill>
              </a:rPr>
              <a:t>setIsSmartLockEnabled</a:t>
            </a:r>
            <a:r>
              <a:rPr lang="en-US" dirty="0" smtClean="0">
                <a:solidFill>
                  <a:srgbClr val="0070C0"/>
                </a:solidFill>
              </a:rPr>
              <a:t>(false)</a:t>
            </a:r>
            <a:br>
              <a:rPr lang="en-US" dirty="0" smtClean="0">
                <a:solidFill>
                  <a:srgbClr val="0070C0"/>
                </a:solidFill>
              </a:rPr>
            </a:br>
            <a:r>
              <a:rPr lang="en-US" dirty="0" smtClean="0">
                <a:solidFill>
                  <a:srgbClr val="0070C0"/>
                </a:solidFill>
              </a:rPr>
              <a:t>                            .</a:t>
            </a:r>
            <a:r>
              <a:rPr lang="en-US" dirty="0" err="1" smtClean="0">
                <a:solidFill>
                  <a:srgbClr val="0070C0"/>
                </a:solidFill>
              </a:rPr>
              <a:t>setAvailableProviders</a:t>
            </a:r>
            <a:r>
              <a:rPr lang="en-US" dirty="0" smtClean="0">
                <a:solidFill>
                  <a:srgbClr val="0070C0"/>
                </a:solidFill>
              </a:rPr>
              <a:t>(</a:t>
            </a:r>
            <a:r>
              <a:rPr lang="en-US" dirty="0" err="1" smtClean="0">
                <a:solidFill>
                  <a:srgbClr val="0070C0"/>
                </a:solidFill>
              </a:rPr>
              <a:t>Arrays.</a:t>
            </a:r>
            <a:r>
              <a:rPr lang="en-US" i="1" dirty="0" err="1" smtClean="0">
                <a:solidFill>
                  <a:srgbClr val="0070C0"/>
                </a:solidFill>
              </a:rPr>
              <a:t>asList</a:t>
            </a:r>
            <a:r>
              <a:rPr lang="en-US" dirty="0" smtClean="0">
                <a:solidFill>
                  <a:srgbClr val="0070C0"/>
                </a:solidFill>
              </a:rPr>
              <a:t>( new </a:t>
            </a:r>
            <a:r>
              <a:rPr lang="en-US" dirty="0" err="1">
                <a:solidFill>
                  <a:srgbClr val="0070C0"/>
                </a:solidFill>
              </a:rPr>
              <a:t>new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AuthUI.IdpConfig.EmailBuilder</a:t>
            </a:r>
            <a:r>
              <a:rPr lang="en-US" dirty="0">
                <a:solidFill>
                  <a:srgbClr val="0070C0"/>
                </a:solidFill>
              </a:rPr>
              <a:t>().build(),</a:t>
            </a:r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                                new </a:t>
            </a:r>
            <a:r>
              <a:rPr lang="en-US" dirty="0" err="1">
                <a:solidFill>
                  <a:srgbClr val="0070C0"/>
                </a:solidFill>
              </a:rPr>
              <a:t>AuthUI.IdpConfig.GoogleBuilder</a:t>
            </a:r>
            <a:r>
              <a:rPr lang="en-US" dirty="0">
                <a:solidFill>
                  <a:srgbClr val="0070C0"/>
                </a:solidFill>
              </a:rPr>
              <a:t>().build(),</a:t>
            </a:r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                                new </a:t>
            </a:r>
            <a:r>
              <a:rPr lang="en-US" dirty="0" err="1">
                <a:solidFill>
                  <a:srgbClr val="0070C0"/>
                </a:solidFill>
              </a:rPr>
              <a:t>AuthUI.IdpConfig.PhoneBuilder</a:t>
            </a:r>
            <a:r>
              <a:rPr lang="en-US" dirty="0">
                <a:solidFill>
                  <a:srgbClr val="0070C0"/>
                </a:solidFill>
              </a:rPr>
              <a:t>().build()))</a:t>
            </a:r>
            <a:r>
              <a:rPr lang="en-US" dirty="0" smtClean="0">
                <a:solidFill>
                  <a:srgbClr val="0070C0"/>
                </a:solidFill>
              </a:rPr>
              <a:t/>
            </a:r>
            <a:br>
              <a:rPr lang="en-US" dirty="0" smtClean="0">
                <a:solidFill>
                  <a:srgbClr val="0070C0"/>
                </a:solidFill>
              </a:rPr>
            </a:br>
            <a:r>
              <a:rPr lang="en-US" dirty="0" smtClean="0">
                <a:solidFill>
                  <a:srgbClr val="0070C0"/>
                </a:solidFill>
              </a:rPr>
              <a:t>                            .build(),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                    </a:t>
            </a:r>
            <a:r>
              <a:rPr lang="en-US" i="1" dirty="0" smtClean="0"/>
              <a:t>RC_SIGN_IN</a:t>
            </a:r>
            <a:r>
              <a:rPr lang="en-US" dirty="0" smtClean="0"/>
              <a:t>);</a:t>
            </a:r>
            <a:br>
              <a:rPr lang="en-US" dirty="0" smtClean="0"/>
            </a:br>
            <a:r>
              <a:rPr lang="en-US" dirty="0" smtClean="0"/>
              <a:t>        }</a:t>
            </a:r>
            <a:br>
              <a:rPr lang="en-US" dirty="0" smtClean="0"/>
            </a:br>
            <a:r>
              <a:rPr lang="en-US" dirty="0" smtClean="0"/>
              <a:t>    }</a:t>
            </a:r>
            <a:br>
              <a:rPr lang="en-US" dirty="0" smtClean="0"/>
            </a:br>
            <a:r>
              <a:rPr lang="en-US" dirty="0" smtClean="0"/>
              <a:t>};</a:t>
            </a:r>
          </a:p>
          <a:p>
            <a:r>
              <a:rPr lang="en-US" dirty="0" smtClean="0"/>
              <a:t>Again, don't forget to remove the listener in </a:t>
            </a:r>
            <a:r>
              <a:rPr lang="en-US" dirty="0" err="1" smtClean="0"/>
              <a:t>onPause</a:t>
            </a:r>
            <a:r>
              <a:rPr lang="en-US" dirty="0" smtClean="0"/>
              <a:t>()</a:t>
            </a:r>
          </a:p>
          <a:p>
            <a:pPr marL="0" indent="0">
              <a:buNone/>
            </a:pPr>
            <a:r>
              <a:rPr lang="en-US" dirty="0" err="1" smtClean="0"/>
              <a:t>mFirebaseAuth.removeAuthStateListener</a:t>
            </a:r>
            <a:r>
              <a:rPr lang="en-US" dirty="0" smtClean="0"/>
              <a:t>(</a:t>
            </a:r>
            <a:r>
              <a:rPr lang="en-US" dirty="0" err="1" smtClean="0"/>
              <a:t>mAuthStateListener</a:t>
            </a:r>
            <a:r>
              <a:rPr lang="en-US" dirty="0" smtClean="0"/>
              <a:t>);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659490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Setup and use </a:t>
            </a:r>
            <a:r>
              <a:rPr lang="en-US" dirty="0" smtClean="0"/>
              <a:t>(3)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In </a:t>
            </a:r>
            <a:r>
              <a:rPr lang="en-US" dirty="0" err="1" smtClean="0"/>
              <a:t>onActivityResult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if </a:t>
            </a:r>
            <a:r>
              <a:rPr lang="en-US" dirty="0"/>
              <a:t>(</a:t>
            </a:r>
            <a:r>
              <a:rPr lang="en-US" dirty="0" err="1"/>
              <a:t>requestCode</a:t>
            </a:r>
            <a:r>
              <a:rPr lang="en-US" dirty="0"/>
              <a:t> == </a:t>
            </a:r>
            <a:r>
              <a:rPr lang="en-US" dirty="0" err="1"/>
              <a:t>MainActivity.RC_SIGN_IN</a:t>
            </a:r>
            <a:r>
              <a:rPr lang="en-US" dirty="0"/>
              <a:t>) {</a:t>
            </a:r>
          </a:p>
          <a:p>
            <a:pPr marL="0" indent="0">
              <a:buNone/>
            </a:pPr>
            <a:r>
              <a:rPr lang="en-US" dirty="0"/>
              <a:t>            if (</a:t>
            </a:r>
            <a:r>
              <a:rPr lang="en-US" dirty="0" err="1"/>
              <a:t>resultCode</a:t>
            </a:r>
            <a:r>
              <a:rPr lang="en-US" dirty="0"/>
              <a:t> == RESULT_OK) </a:t>
            </a:r>
            <a:r>
              <a:rPr lang="en-US" dirty="0" smtClean="0"/>
              <a:t>{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		</a:t>
            </a:r>
            <a:r>
              <a:rPr lang="en-US" dirty="0" err="1" smtClean="0"/>
              <a:t>mFirebaseUser</a:t>
            </a:r>
            <a:r>
              <a:rPr lang="en-US" dirty="0" smtClean="0"/>
              <a:t> </a:t>
            </a:r>
            <a:r>
              <a:rPr lang="en-US" dirty="0"/>
              <a:t>= </a:t>
            </a:r>
            <a:r>
              <a:rPr lang="en-US" dirty="0" err="1"/>
              <a:t>mFirebaseAuth.getCurrentUser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 smtClean="0"/>
              <a:t>		</a:t>
            </a:r>
            <a:r>
              <a:rPr lang="en-US" dirty="0" err="1" smtClean="0"/>
              <a:t>mUsername</a:t>
            </a:r>
            <a:r>
              <a:rPr lang="en-US" dirty="0" smtClean="0"/>
              <a:t> </a:t>
            </a:r>
            <a:r>
              <a:rPr lang="en-US" dirty="0"/>
              <a:t>= </a:t>
            </a:r>
            <a:r>
              <a:rPr lang="en-US" dirty="0" err="1"/>
              <a:t>mFirebaseUser.getDisplayName</a:t>
            </a:r>
            <a:r>
              <a:rPr lang="en-US" dirty="0" smtClean="0"/>
              <a:t>();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} else { 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      //failed login.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869613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storage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096172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Storage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This allows for file storage in the cloud</a:t>
            </a:r>
          </a:p>
          <a:p>
            <a:pPr lvl="1"/>
            <a:r>
              <a:rPr lang="en-US" dirty="0" smtClean="0"/>
              <a:t>It handles all the networking and syncing between cloud and device.</a:t>
            </a:r>
            <a:endParaRPr lang="en-US" dirty="0"/>
          </a:p>
          <a:p>
            <a:pPr lvl="1"/>
            <a:r>
              <a:rPr lang="en-US" dirty="0" smtClean="0"/>
              <a:t>Again should use authentication.</a:t>
            </a:r>
          </a:p>
          <a:p>
            <a:pPr lvl="1"/>
            <a:r>
              <a:rPr lang="en-US" dirty="0" smtClean="0"/>
              <a:t>Can specify any of rules on what the users are allowed to write to/read from the storage.</a:t>
            </a:r>
          </a:p>
          <a:p>
            <a:pPr lvl="1"/>
            <a:endParaRPr lang="en-US" dirty="0"/>
          </a:p>
          <a:p>
            <a:pPr lvl="1"/>
            <a:r>
              <a:rPr lang="en-US" dirty="0" smtClean="0"/>
              <a:t>dependencies</a:t>
            </a:r>
            <a:endParaRPr lang="en-US" dirty="0"/>
          </a:p>
          <a:p>
            <a:pPr lvl="2"/>
            <a:r>
              <a:rPr lang="en-US" dirty="0"/>
              <a:t>implementation </a:t>
            </a:r>
            <a:r>
              <a:rPr lang="en-US" dirty="0" smtClean="0"/>
              <a:t>'com.google.firebase:firebase-storage:19.1.1'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22067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Setup and use.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private </a:t>
            </a:r>
            <a:r>
              <a:rPr lang="en-US" dirty="0" err="1"/>
              <a:t>FirebaseStorage</a:t>
            </a:r>
            <a:r>
              <a:rPr lang="en-US" dirty="0"/>
              <a:t> </a:t>
            </a:r>
            <a:r>
              <a:rPr lang="en-US" dirty="0" err="1" smtClean="0"/>
              <a:t>mFirebaseStorage</a:t>
            </a:r>
            <a:r>
              <a:rPr lang="en-US" dirty="0"/>
              <a:t> = </a:t>
            </a:r>
            <a:r>
              <a:rPr lang="en-US" dirty="0" err="1"/>
              <a:t>FirebaseStorage.</a:t>
            </a:r>
            <a:r>
              <a:rPr lang="en-US" i="1" dirty="0" err="1"/>
              <a:t>getInstance</a:t>
            </a:r>
            <a:r>
              <a:rPr lang="en-US" dirty="0" smtClean="0"/>
              <a:t>(); </a:t>
            </a:r>
          </a:p>
          <a:p>
            <a:r>
              <a:rPr lang="en-US" dirty="0" smtClean="0"/>
              <a:t>private </a:t>
            </a:r>
            <a:r>
              <a:rPr lang="en-US" dirty="0" err="1"/>
              <a:t>StorageReference</a:t>
            </a:r>
            <a:r>
              <a:rPr lang="en-US" dirty="0"/>
              <a:t> </a:t>
            </a:r>
            <a:r>
              <a:rPr lang="en-US" dirty="0" err="1" smtClean="0"/>
              <a:t>mChatPhotosStorageReference</a:t>
            </a:r>
            <a:r>
              <a:rPr lang="en-US" dirty="0" smtClean="0"/>
              <a:t> </a:t>
            </a:r>
            <a:r>
              <a:rPr lang="en-US" dirty="0"/>
              <a:t>= </a:t>
            </a:r>
            <a:r>
              <a:rPr lang="en-US" dirty="0" err="1"/>
              <a:t>mFirebaseStorage.getReference</a:t>
            </a:r>
            <a:r>
              <a:rPr lang="en-US" dirty="0"/>
              <a:t>().child</a:t>
            </a:r>
            <a:r>
              <a:rPr lang="en-US" dirty="0" smtClean="0"/>
              <a:t>("photos</a:t>
            </a:r>
            <a:r>
              <a:rPr lang="en-US" dirty="0"/>
              <a:t>");</a:t>
            </a:r>
          </a:p>
          <a:p>
            <a:pPr lvl="1"/>
            <a:r>
              <a:rPr lang="en-US" dirty="0" smtClean="0"/>
              <a:t>Where photos is directory in storage.  See the console to create directories.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946678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Setup and </a:t>
            </a:r>
            <a:r>
              <a:rPr lang="en-US" dirty="0" smtClean="0"/>
              <a:t>use (2)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en-US" dirty="0" smtClean="0"/>
              <a:t>Add to storage</a:t>
            </a:r>
          </a:p>
          <a:p>
            <a:pPr marL="0" indent="0">
              <a:buNone/>
            </a:pPr>
            <a:r>
              <a:rPr lang="en-US" dirty="0" err="1"/>
              <a:t>StorageReference</a:t>
            </a:r>
            <a:r>
              <a:rPr lang="en-US" dirty="0"/>
              <a:t> </a:t>
            </a:r>
            <a:r>
              <a:rPr lang="en-US" dirty="0" err="1">
                <a:solidFill>
                  <a:schemeClr val="accent1"/>
                </a:solidFill>
              </a:rPr>
              <a:t>photoRef</a:t>
            </a:r>
            <a:r>
              <a:rPr lang="en-US" dirty="0"/>
              <a:t> = </a:t>
            </a:r>
            <a:r>
              <a:rPr lang="en-US" dirty="0" err="1"/>
              <a:t>mPhotosStorageReference.child</a:t>
            </a:r>
            <a:r>
              <a:rPr lang="en-US" dirty="0"/>
              <a:t>(filename</a:t>
            </a:r>
            <a:r>
              <a:rPr lang="en-US" dirty="0" smtClean="0"/>
              <a:t>);  </a:t>
            </a:r>
          </a:p>
          <a:p>
            <a:pPr lvl="1"/>
            <a:r>
              <a:rPr lang="en-US" dirty="0" smtClean="0"/>
              <a:t>Where filename is the name you want to the file to use in storage.</a:t>
            </a:r>
          </a:p>
          <a:p>
            <a:r>
              <a:rPr lang="en-US" dirty="0" smtClean="0"/>
              <a:t>Upload </a:t>
            </a:r>
            <a:r>
              <a:rPr lang="en-US" dirty="0"/>
              <a:t>file to Firebase </a:t>
            </a:r>
            <a:r>
              <a:rPr lang="en-US" dirty="0" smtClean="0"/>
              <a:t>Storage</a:t>
            </a:r>
          </a:p>
          <a:p>
            <a:pPr marL="0" indent="0">
              <a:buNone/>
            </a:pPr>
            <a:r>
              <a:rPr lang="en-US" dirty="0" smtClean="0"/>
              <a:t> </a:t>
            </a:r>
            <a:r>
              <a:rPr lang="en-US" dirty="0" err="1"/>
              <a:t>UploadTask</a:t>
            </a:r>
            <a:r>
              <a:rPr lang="en-US" dirty="0"/>
              <a:t> </a:t>
            </a:r>
            <a:r>
              <a:rPr lang="en-US" dirty="0" err="1"/>
              <a:t>uploadTask</a:t>
            </a:r>
            <a:r>
              <a:rPr lang="en-US" dirty="0"/>
              <a:t> = </a:t>
            </a:r>
            <a:r>
              <a:rPr lang="en-US" dirty="0" err="1"/>
              <a:t>photoRef.putFile</a:t>
            </a:r>
            <a:r>
              <a:rPr lang="en-US" dirty="0"/>
              <a:t>(</a:t>
            </a:r>
            <a:r>
              <a:rPr lang="en-US" dirty="0" err="1"/>
              <a:t>selectedImageUri</a:t>
            </a:r>
            <a:r>
              <a:rPr lang="en-US" dirty="0"/>
              <a:t>);</a:t>
            </a:r>
          </a:p>
          <a:p>
            <a:r>
              <a:rPr lang="en-US" dirty="0"/>
              <a:t>            </a:t>
            </a:r>
            <a:r>
              <a:rPr lang="en-US" dirty="0" smtClean="0"/>
              <a:t>now </a:t>
            </a:r>
            <a:r>
              <a:rPr lang="en-US" dirty="0"/>
              <a:t>we need the download </a:t>
            </a:r>
            <a:r>
              <a:rPr lang="en-US" dirty="0" err="1"/>
              <a:t>url</a:t>
            </a:r>
            <a:r>
              <a:rPr lang="en-US" dirty="0"/>
              <a:t> to add the </a:t>
            </a:r>
            <a:r>
              <a:rPr lang="en-US" dirty="0" err="1"/>
              <a:t>db</a:t>
            </a:r>
            <a:r>
              <a:rPr lang="en-US" dirty="0"/>
              <a:t>, but have do it with second task.</a:t>
            </a:r>
          </a:p>
          <a:p>
            <a:pPr marL="0" indent="0">
              <a:buNone/>
            </a:pPr>
            <a:r>
              <a:rPr lang="en-US" dirty="0"/>
              <a:t>            Task&lt;Uri&gt; </a:t>
            </a:r>
            <a:r>
              <a:rPr lang="en-US" dirty="0" err="1"/>
              <a:t>urlTask</a:t>
            </a:r>
            <a:r>
              <a:rPr lang="en-US" dirty="0"/>
              <a:t> = </a:t>
            </a:r>
            <a:r>
              <a:rPr lang="en-US" dirty="0" err="1"/>
              <a:t>uploadTask.continueWithTask</a:t>
            </a:r>
            <a:r>
              <a:rPr lang="en-US" dirty="0"/>
              <a:t>(new Continuation&lt;</a:t>
            </a:r>
            <a:r>
              <a:rPr lang="en-US" dirty="0" err="1"/>
              <a:t>UploadTask.TaskSnapshot</a:t>
            </a:r>
            <a:r>
              <a:rPr lang="en-US" dirty="0"/>
              <a:t>, Task&lt;Uri&gt;&gt;() {</a:t>
            </a:r>
          </a:p>
          <a:p>
            <a:pPr marL="0" indent="0">
              <a:buNone/>
            </a:pPr>
            <a:r>
              <a:rPr lang="en-US" dirty="0"/>
              <a:t>                @Override</a:t>
            </a:r>
          </a:p>
          <a:p>
            <a:pPr marL="0" indent="0">
              <a:buNone/>
            </a:pPr>
            <a:r>
              <a:rPr lang="en-US" dirty="0"/>
              <a:t>                public Task&lt;Uri&gt; then(@</a:t>
            </a:r>
            <a:r>
              <a:rPr lang="en-US" dirty="0" err="1"/>
              <a:t>NonNull</a:t>
            </a:r>
            <a:r>
              <a:rPr lang="en-US" dirty="0"/>
              <a:t> Task&lt;</a:t>
            </a:r>
            <a:r>
              <a:rPr lang="en-US" dirty="0" err="1"/>
              <a:t>UploadTask.TaskSnapshot</a:t>
            </a:r>
            <a:r>
              <a:rPr lang="en-US" dirty="0"/>
              <a:t>&gt; task) throws Exception {</a:t>
            </a:r>
          </a:p>
          <a:p>
            <a:pPr marL="0" indent="0">
              <a:buNone/>
            </a:pPr>
            <a:r>
              <a:rPr lang="en-US" dirty="0"/>
              <a:t>                    if (!</a:t>
            </a:r>
            <a:r>
              <a:rPr lang="en-US" dirty="0" err="1"/>
              <a:t>task.isSuccessful</a:t>
            </a:r>
            <a:r>
              <a:rPr lang="en-US" dirty="0"/>
              <a:t>()) </a:t>
            </a:r>
            <a:r>
              <a:rPr lang="en-US" dirty="0" smtClean="0"/>
              <a:t>{                        </a:t>
            </a:r>
            <a:r>
              <a:rPr lang="en-US" dirty="0"/>
              <a:t>throw </a:t>
            </a:r>
            <a:r>
              <a:rPr lang="en-US" dirty="0" err="1"/>
              <a:t>task.getException</a:t>
            </a:r>
            <a:r>
              <a:rPr lang="en-US" dirty="0" smtClean="0"/>
              <a:t>();                    </a:t>
            </a:r>
            <a:r>
              <a:rPr lang="en-US" dirty="0"/>
              <a:t>}</a:t>
            </a:r>
          </a:p>
          <a:p>
            <a:r>
              <a:rPr lang="en-US" dirty="0" smtClean="0"/>
              <a:t> </a:t>
            </a:r>
            <a:r>
              <a:rPr lang="en-US" dirty="0"/>
              <a:t>Continue with the task to get the download URL</a:t>
            </a:r>
          </a:p>
          <a:p>
            <a:pPr marL="0" indent="0">
              <a:buNone/>
            </a:pPr>
            <a:r>
              <a:rPr lang="en-US" dirty="0"/>
              <a:t>                    return </a:t>
            </a:r>
            <a:r>
              <a:rPr lang="en-US" dirty="0" err="1"/>
              <a:t>photoRef.getDownloadUrl</a:t>
            </a:r>
            <a:r>
              <a:rPr lang="en-US" dirty="0" smtClean="0"/>
              <a:t>();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        }</a:t>
            </a:r>
          </a:p>
          <a:p>
            <a:pPr marL="0" indent="0">
              <a:buNone/>
            </a:pPr>
            <a:r>
              <a:rPr lang="en-US" dirty="0"/>
              <a:t>            }).</a:t>
            </a:r>
            <a:r>
              <a:rPr lang="en-US" dirty="0" err="1"/>
              <a:t>addOnCompleteListener</a:t>
            </a:r>
            <a:r>
              <a:rPr lang="en-US" dirty="0"/>
              <a:t>(new </a:t>
            </a:r>
            <a:r>
              <a:rPr lang="en-US" dirty="0" err="1"/>
              <a:t>OnCompleteListener</a:t>
            </a:r>
            <a:r>
              <a:rPr lang="en-US" dirty="0"/>
              <a:t>&lt;Uri&gt;() {</a:t>
            </a:r>
          </a:p>
          <a:p>
            <a:pPr marL="0" indent="0">
              <a:buNone/>
            </a:pPr>
            <a:r>
              <a:rPr lang="en-US" dirty="0"/>
              <a:t>                @Override</a:t>
            </a:r>
          </a:p>
          <a:p>
            <a:pPr marL="0" indent="0">
              <a:buNone/>
            </a:pPr>
            <a:r>
              <a:rPr lang="en-US" dirty="0"/>
              <a:t>                public void </a:t>
            </a:r>
            <a:r>
              <a:rPr lang="en-US" dirty="0" err="1"/>
              <a:t>onComplete</a:t>
            </a:r>
            <a:r>
              <a:rPr lang="en-US" dirty="0"/>
              <a:t>(@</a:t>
            </a:r>
            <a:r>
              <a:rPr lang="en-US" dirty="0" err="1"/>
              <a:t>NonNull</a:t>
            </a:r>
            <a:r>
              <a:rPr lang="en-US" dirty="0"/>
              <a:t> Task&lt;Uri&gt; task) {</a:t>
            </a:r>
          </a:p>
          <a:p>
            <a:pPr marL="0" indent="0">
              <a:buNone/>
            </a:pPr>
            <a:r>
              <a:rPr lang="en-US" dirty="0"/>
              <a:t>                    if (</a:t>
            </a:r>
            <a:r>
              <a:rPr lang="en-US" dirty="0" err="1"/>
              <a:t>task.isSuccessful</a:t>
            </a:r>
            <a:r>
              <a:rPr lang="en-US" dirty="0"/>
              <a:t>()) {</a:t>
            </a:r>
          </a:p>
          <a:p>
            <a:pPr marL="0" indent="0">
              <a:buNone/>
            </a:pPr>
            <a:r>
              <a:rPr lang="en-US" dirty="0"/>
              <a:t>                        </a:t>
            </a:r>
            <a:r>
              <a:rPr lang="en-US" dirty="0">
                <a:solidFill>
                  <a:srgbClr val="FF0000"/>
                </a:solidFill>
              </a:rPr>
              <a:t>Uri </a:t>
            </a:r>
            <a:r>
              <a:rPr lang="en-US" dirty="0" err="1">
                <a:solidFill>
                  <a:srgbClr val="FF0000"/>
                </a:solidFill>
              </a:rPr>
              <a:t>downloadUri</a:t>
            </a:r>
            <a:r>
              <a:rPr lang="en-US" dirty="0">
                <a:solidFill>
                  <a:srgbClr val="FF0000"/>
                </a:solidFill>
              </a:rPr>
              <a:t> = </a:t>
            </a:r>
            <a:r>
              <a:rPr lang="en-US" dirty="0" err="1">
                <a:solidFill>
                  <a:srgbClr val="FF0000"/>
                </a:solidFill>
              </a:rPr>
              <a:t>task.getResult</a:t>
            </a:r>
            <a:r>
              <a:rPr lang="en-US" dirty="0">
                <a:solidFill>
                  <a:srgbClr val="FF0000"/>
                </a:solidFill>
              </a:rPr>
              <a:t>();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              } </a:t>
            </a:r>
            <a:r>
              <a:rPr lang="en-US" dirty="0"/>
              <a:t>else </a:t>
            </a:r>
            <a:r>
              <a:rPr lang="en-US" dirty="0" smtClean="0"/>
              <a:t>{  </a:t>
            </a:r>
            <a:r>
              <a:rPr lang="en-US" dirty="0"/>
              <a:t>// Handle </a:t>
            </a:r>
            <a:r>
              <a:rPr lang="en-US" dirty="0" smtClean="0"/>
              <a:t>failures}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        </a:t>
            </a:r>
            <a:r>
              <a:rPr lang="en-US" dirty="0" smtClean="0"/>
              <a:t>}</a:t>
            </a:r>
          </a:p>
          <a:p>
            <a:pPr marL="0" indent="0">
              <a:buNone/>
            </a:pPr>
            <a:r>
              <a:rPr lang="en-US" dirty="0" smtClean="0"/>
              <a:t>Download from</a:t>
            </a:r>
          </a:p>
          <a:p>
            <a:pPr lvl="1"/>
            <a:r>
              <a:rPr lang="en-US" dirty="0" smtClean="0"/>
              <a:t>Use any method to download with a standard </a:t>
            </a:r>
            <a:r>
              <a:rPr lang="en-US" dirty="0" err="1" smtClean="0"/>
              <a:t>url</a:t>
            </a:r>
            <a:r>
              <a:rPr lang="en-US" dirty="0" err="1"/>
              <a:t>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31922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Security and authentication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Storage by default doesn't have any security.</a:t>
            </a:r>
          </a:p>
          <a:p>
            <a:r>
              <a:rPr lang="en-US" dirty="0" smtClean="0"/>
              <a:t>It's suggested you use something like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2894012"/>
            <a:ext cx="8420100" cy="294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/>
          <p:nvPr/>
        </p:nvSpPr>
        <p:spPr>
          <a:xfrm>
            <a:off x="1899649" y="6019800"/>
            <a:ext cx="610135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https://firebase.google.com/docs/storage/security/start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9394377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remote </a:t>
            </a:r>
            <a:r>
              <a:rPr lang="en-US" dirty="0" err="1" smtClean="0"/>
              <a:t>config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92486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Remote </a:t>
            </a:r>
            <a:r>
              <a:rPr lang="en-US" dirty="0" err="1" smtClean="0"/>
              <a:t>Config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Allows you to put some variables in the cloud</a:t>
            </a:r>
          </a:p>
          <a:p>
            <a:pPr lvl="1"/>
            <a:r>
              <a:rPr lang="en-US" dirty="0" smtClean="0"/>
              <a:t>This allows you change them in the console and push them to the app.</a:t>
            </a:r>
          </a:p>
          <a:p>
            <a:pPr lvl="2"/>
            <a:r>
              <a:rPr lang="en-US" dirty="0" smtClean="0"/>
              <a:t>You can push different values to groups of devices as well.   (maybe based on what you see in the analytics)</a:t>
            </a:r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dependencies</a:t>
            </a:r>
            <a:endParaRPr lang="en-US" dirty="0"/>
          </a:p>
          <a:p>
            <a:pPr lvl="2"/>
            <a:r>
              <a:rPr lang="en-US" dirty="0"/>
              <a:t>implementation </a:t>
            </a:r>
            <a:r>
              <a:rPr lang="en-US" dirty="0" smtClean="0"/>
              <a:t>'com.google.firebase:firebase-config:19.1.1'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573061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Setup and use.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 smtClean="0"/>
              <a:t>First in the console add the parameters and values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In the app:</a:t>
            </a:r>
          </a:p>
          <a:p>
            <a:pPr lvl="1"/>
            <a:r>
              <a:rPr lang="en-US" dirty="0" smtClean="0"/>
              <a:t>Have default value for all parameters</a:t>
            </a:r>
          </a:p>
          <a:p>
            <a:pPr lvl="1"/>
            <a:r>
              <a:rPr lang="en-US" dirty="0" smtClean="0"/>
              <a:t>private </a:t>
            </a:r>
            <a:r>
              <a:rPr lang="en-US" dirty="0" err="1"/>
              <a:t>FirebaseRemoteConfig</a:t>
            </a:r>
            <a:r>
              <a:rPr lang="en-US" dirty="0"/>
              <a:t> </a:t>
            </a:r>
            <a:r>
              <a:rPr lang="en-US" dirty="0" err="1" smtClean="0"/>
              <a:t>mFirebaseRemoteConfig</a:t>
            </a:r>
            <a:r>
              <a:rPr lang="en-US" dirty="0"/>
              <a:t> = </a:t>
            </a:r>
            <a:r>
              <a:rPr lang="en-US" dirty="0" err="1"/>
              <a:t>FirebaseRemoteConfig.</a:t>
            </a:r>
            <a:r>
              <a:rPr lang="en-US" i="1" dirty="0" err="1"/>
              <a:t>getInstance</a:t>
            </a:r>
            <a:r>
              <a:rPr lang="en-US" dirty="0"/>
              <a:t>();</a:t>
            </a:r>
            <a:br>
              <a:rPr lang="en-US" dirty="0"/>
            </a:br>
            <a:r>
              <a:rPr lang="en-US" dirty="0" err="1"/>
              <a:t>FirebaseRemoteConfigSettings</a:t>
            </a:r>
            <a:r>
              <a:rPr lang="en-US" dirty="0"/>
              <a:t> </a:t>
            </a:r>
            <a:r>
              <a:rPr lang="en-US" dirty="0" err="1"/>
              <a:t>configSettings</a:t>
            </a:r>
            <a:r>
              <a:rPr lang="en-US" dirty="0"/>
              <a:t> = new </a:t>
            </a:r>
            <a:r>
              <a:rPr lang="en-US" dirty="0" err="1"/>
              <a:t>FirebaseRemoteConfigSettings.Builder</a:t>
            </a:r>
            <a:r>
              <a:rPr lang="en-US" dirty="0"/>
              <a:t>()</a:t>
            </a:r>
            <a:br>
              <a:rPr lang="en-US" dirty="0"/>
            </a:br>
            <a:r>
              <a:rPr lang="en-US" dirty="0"/>
              <a:t>         .</a:t>
            </a:r>
            <a:r>
              <a:rPr lang="en-US" dirty="0" err="1"/>
              <a:t>setMinimumFetchIntervalInSeconds</a:t>
            </a:r>
            <a:r>
              <a:rPr lang="en-US" dirty="0"/>
              <a:t>(0L)  //</a:t>
            </a:r>
            <a:r>
              <a:rPr lang="en-US" dirty="0" smtClean="0"/>
              <a:t>3600L for normal, every 5 minutes.  0 for debug</a:t>
            </a:r>
          </a:p>
          <a:p>
            <a:pPr marL="457200" lvl="1" indent="0">
              <a:buNone/>
            </a:pPr>
            <a:r>
              <a:rPr lang="en-US" dirty="0"/>
              <a:t> </a:t>
            </a:r>
            <a:r>
              <a:rPr lang="en-US" dirty="0" smtClean="0"/>
              <a:t>            </a:t>
            </a:r>
            <a:r>
              <a:rPr lang="en-US" dirty="0"/>
              <a:t>.build();</a:t>
            </a:r>
            <a:br>
              <a:rPr lang="en-US" dirty="0"/>
            </a:br>
            <a:r>
              <a:rPr lang="en-US" dirty="0" err="1"/>
              <a:t>mFirebaseRemoteConfig.setConfigSettings</a:t>
            </a:r>
            <a:r>
              <a:rPr lang="en-US" dirty="0"/>
              <a:t>(</a:t>
            </a:r>
            <a:r>
              <a:rPr lang="en-US" dirty="0" err="1"/>
              <a:t>configSettings</a:t>
            </a:r>
            <a:r>
              <a:rPr lang="en-US" dirty="0"/>
              <a:t>);</a:t>
            </a:r>
            <a:endParaRPr lang="en-US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2002614"/>
            <a:ext cx="7667625" cy="1850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166780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Setup and </a:t>
            </a:r>
            <a:r>
              <a:rPr lang="en-US" dirty="0" smtClean="0"/>
              <a:t>use (2)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 dirty="0" smtClean="0"/>
              <a:t>Define </a:t>
            </a:r>
            <a:r>
              <a:rPr lang="en-US" dirty="0"/>
              <a:t>default </a:t>
            </a:r>
            <a:r>
              <a:rPr lang="en-US" dirty="0" err="1"/>
              <a:t>config</a:t>
            </a:r>
            <a:r>
              <a:rPr lang="en-US" dirty="0"/>
              <a:t> values. Defaults are used when fetched </a:t>
            </a:r>
            <a:r>
              <a:rPr lang="en-US" dirty="0" err="1"/>
              <a:t>config</a:t>
            </a:r>
            <a:r>
              <a:rPr lang="en-US" dirty="0"/>
              <a:t> values are </a:t>
            </a:r>
            <a:r>
              <a:rPr lang="en-US" dirty="0" smtClean="0"/>
              <a:t>not </a:t>
            </a:r>
            <a:r>
              <a:rPr lang="en-US" dirty="0"/>
              <a:t>available. </a:t>
            </a:r>
            <a:r>
              <a:rPr lang="en-US" dirty="0" err="1"/>
              <a:t>Eg</a:t>
            </a:r>
            <a:r>
              <a:rPr lang="en-US" dirty="0"/>
              <a:t>: if an error occurred fetching values from the server.</a:t>
            </a:r>
          </a:p>
          <a:p>
            <a:pPr marL="0" indent="0">
              <a:buNone/>
            </a:pPr>
            <a:r>
              <a:rPr lang="en-US" dirty="0" smtClean="0"/>
              <a:t>Map&lt;String</a:t>
            </a:r>
            <a:r>
              <a:rPr lang="en-US" dirty="0"/>
              <a:t>, Object&gt; </a:t>
            </a:r>
            <a:r>
              <a:rPr lang="en-US" dirty="0" err="1"/>
              <a:t>defaultConfigMap</a:t>
            </a:r>
            <a:r>
              <a:rPr lang="en-US" dirty="0"/>
              <a:t> = new </a:t>
            </a:r>
            <a:r>
              <a:rPr lang="en-US" dirty="0" err="1"/>
              <a:t>HashMap</a:t>
            </a:r>
            <a:r>
              <a:rPr lang="en-US" dirty="0"/>
              <a:t>&lt;&gt;();</a:t>
            </a:r>
          </a:p>
          <a:p>
            <a:pPr marL="0" indent="0">
              <a:buNone/>
            </a:pPr>
            <a:r>
              <a:rPr lang="en-US" dirty="0" err="1"/>
              <a:t>defaultConfigMap.put</a:t>
            </a:r>
            <a:r>
              <a:rPr lang="en-US" dirty="0"/>
              <a:t>(NOTE_LENGTH_KEY, DEFAULT_MSG_LENGTH_LIMIT);</a:t>
            </a:r>
          </a:p>
          <a:p>
            <a:pPr marL="0" indent="0">
              <a:buNone/>
            </a:pPr>
            <a:r>
              <a:rPr lang="en-US" dirty="0" err="1" smtClean="0"/>
              <a:t>mFirebaseRemoteConfig.setDefaults</a:t>
            </a:r>
            <a:r>
              <a:rPr lang="en-US" dirty="0" smtClean="0"/>
              <a:t>(</a:t>
            </a:r>
            <a:r>
              <a:rPr lang="en-US" dirty="0" err="1" smtClean="0"/>
              <a:t>defaultConfigMap</a:t>
            </a:r>
            <a:r>
              <a:rPr lang="en-US" dirty="0" smtClean="0"/>
              <a:t>);</a:t>
            </a:r>
          </a:p>
          <a:p>
            <a:r>
              <a:rPr lang="en-US" dirty="0" smtClean="0"/>
              <a:t>Now fetch the parameters.</a:t>
            </a:r>
          </a:p>
          <a:p>
            <a:pPr marL="0" indent="0">
              <a:buNone/>
            </a:pPr>
            <a:r>
              <a:rPr lang="en-US" dirty="0" err="1"/>
              <a:t>mFirebaseRemoteConfig.fetch</a:t>
            </a:r>
            <a:r>
              <a:rPr lang="en-US" dirty="0"/>
              <a:t>(</a:t>
            </a:r>
            <a:r>
              <a:rPr lang="en-US" dirty="0" err="1"/>
              <a:t>cacheExpiration</a:t>
            </a:r>
            <a:r>
              <a:rPr lang="en-US" dirty="0"/>
              <a:t>)</a:t>
            </a:r>
            <a:br>
              <a:rPr lang="en-US" dirty="0"/>
            </a:br>
            <a:r>
              <a:rPr lang="en-US" dirty="0"/>
              <a:t>        .</a:t>
            </a:r>
            <a:r>
              <a:rPr lang="en-US" dirty="0" err="1"/>
              <a:t>addOnSuccessListener</a:t>
            </a:r>
            <a:r>
              <a:rPr lang="en-US" dirty="0"/>
              <a:t>(new </a:t>
            </a:r>
            <a:r>
              <a:rPr lang="en-US" dirty="0" err="1"/>
              <a:t>OnSuccessListener</a:t>
            </a:r>
            <a:r>
              <a:rPr lang="en-US" dirty="0"/>
              <a:t>&lt;Void&gt;() {</a:t>
            </a:r>
            <a:br>
              <a:rPr lang="en-US" dirty="0"/>
            </a:br>
            <a:r>
              <a:rPr lang="en-US" dirty="0"/>
              <a:t>            @Override</a:t>
            </a:r>
            <a:br>
              <a:rPr lang="en-US" dirty="0"/>
            </a:br>
            <a:r>
              <a:rPr lang="en-US" dirty="0"/>
              <a:t>            public void </a:t>
            </a:r>
            <a:r>
              <a:rPr lang="en-US" dirty="0" err="1"/>
              <a:t>onSuccess</a:t>
            </a:r>
            <a:r>
              <a:rPr lang="en-US" dirty="0"/>
              <a:t>(Void </a:t>
            </a:r>
            <a:r>
              <a:rPr lang="en-US" dirty="0" err="1"/>
              <a:t>aVoid</a:t>
            </a:r>
            <a:r>
              <a:rPr lang="en-US" dirty="0"/>
              <a:t>) </a:t>
            </a:r>
            <a:r>
              <a:rPr lang="en-US" dirty="0" smtClean="0"/>
              <a:t>{	</a:t>
            </a:r>
            <a:r>
              <a:rPr lang="en-US" dirty="0" err="1" smtClean="0">
                <a:solidFill>
                  <a:srgbClr val="0070C0"/>
                </a:solidFill>
              </a:rPr>
              <a:t>mFirebaseRemoteConfig.activateFetched</a:t>
            </a:r>
            <a:r>
              <a:rPr lang="en-US" dirty="0" smtClean="0">
                <a:solidFill>
                  <a:srgbClr val="0070C0"/>
                </a:solidFill>
              </a:rPr>
              <a:t>();}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        })</a:t>
            </a:r>
            <a:br>
              <a:rPr lang="en-US" dirty="0"/>
            </a:br>
            <a:r>
              <a:rPr lang="en-US" dirty="0"/>
              <a:t>        .</a:t>
            </a:r>
            <a:r>
              <a:rPr lang="en-US" dirty="0" err="1"/>
              <a:t>addOnFailureListener</a:t>
            </a:r>
            <a:r>
              <a:rPr lang="en-US" dirty="0"/>
              <a:t>(new </a:t>
            </a:r>
            <a:r>
              <a:rPr lang="en-US" dirty="0" err="1"/>
              <a:t>OnFailureListener</a:t>
            </a:r>
            <a:r>
              <a:rPr lang="en-US" dirty="0"/>
              <a:t>() {</a:t>
            </a:r>
            <a:br>
              <a:rPr lang="en-US" dirty="0"/>
            </a:br>
            <a:r>
              <a:rPr lang="en-US" dirty="0"/>
              <a:t>            @Override</a:t>
            </a:r>
            <a:br>
              <a:rPr lang="en-US" dirty="0"/>
            </a:br>
            <a:r>
              <a:rPr lang="en-US" dirty="0"/>
              <a:t>            public void </a:t>
            </a:r>
            <a:r>
              <a:rPr lang="en-US" dirty="0" err="1"/>
              <a:t>onFailure</a:t>
            </a:r>
            <a:r>
              <a:rPr lang="en-US" dirty="0"/>
              <a:t>(@</a:t>
            </a:r>
            <a:r>
              <a:rPr lang="en-US" dirty="0" err="1"/>
              <a:t>NonNull</a:t>
            </a:r>
            <a:r>
              <a:rPr lang="en-US" dirty="0"/>
              <a:t> Exception e) {</a:t>
            </a:r>
            <a:br>
              <a:rPr lang="en-US" dirty="0"/>
            </a:br>
            <a:r>
              <a:rPr lang="en-US" dirty="0"/>
              <a:t>                // An error occurred when fetching the </a:t>
            </a:r>
            <a:r>
              <a:rPr lang="en-US" dirty="0" err="1"/>
              <a:t>config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                </a:t>
            </a:r>
            <a:r>
              <a:rPr lang="en-US" dirty="0" err="1"/>
              <a:t>Log.</a:t>
            </a:r>
            <a:r>
              <a:rPr lang="en-US" i="1" dirty="0" err="1"/>
              <a:t>w</a:t>
            </a:r>
            <a:r>
              <a:rPr lang="en-US" dirty="0"/>
              <a:t>(</a:t>
            </a:r>
            <a:r>
              <a:rPr lang="en-US" i="1" dirty="0"/>
              <a:t>TAG</a:t>
            </a:r>
            <a:r>
              <a:rPr lang="en-US" dirty="0"/>
              <a:t>, "Error fetching </a:t>
            </a:r>
            <a:r>
              <a:rPr lang="en-US" dirty="0" err="1"/>
              <a:t>config</a:t>
            </a:r>
            <a:r>
              <a:rPr lang="en-US" dirty="0"/>
              <a:t>", e);</a:t>
            </a:r>
            <a:br>
              <a:rPr lang="en-US" dirty="0"/>
            </a:br>
            <a:r>
              <a:rPr lang="en-US" dirty="0"/>
              <a:t> </a:t>
            </a:r>
            <a:r>
              <a:rPr lang="en-US" dirty="0" smtClean="0"/>
              <a:t>            }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        </a:t>
            </a:r>
            <a:r>
              <a:rPr lang="en-US" dirty="0" smtClean="0"/>
              <a:t>});</a:t>
            </a:r>
          </a:p>
          <a:p>
            <a:r>
              <a:rPr lang="en-US" dirty="0" smtClean="0"/>
              <a:t>Somewhere else called likely in success and failure (remember defaults!)</a:t>
            </a:r>
          </a:p>
          <a:p>
            <a:pPr marL="0" indent="0">
              <a:buNone/>
            </a:pPr>
            <a:r>
              <a:rPr lang="en-US" dirty="0"/>
              <a:t> long </a:t>
            </a:r>
            <a:r>
              <a:rPr lang="en-US" dirty="0" err="1"/>
              <a:t>note_msg_length</a:t>
            </a:r>
            <a:r>
              <a:rPr lang="en-US" dirty="0"/>
              <a:t> = </a:t>
            </a:r>
            <a:r>
              <a:rPr lang="en-US" dirty="0" err="1"/>
              <a:t>mFirebaseRemoteConfig.getLong</a:t>
            </a:r>
            <a:r>
              <a:rPr lang="en-US" dirty="0"/>
              <a:t>(NOTE_LENGTH_KEY);</a:t>
            </a:r>
          </a:p>
        </p:txBody>
      </p:sp>
    </p:spTree>
    <p:extLst>
      <p:ext uri="{BB962C8B-B14F-4D97-AF65-F5344CB8AC3E}">
        <p14:creationId xmlns:p14="http://schemas.microsoft.com/office/powerpoint/2010/main" val="141200581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functions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828999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Functions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You can write the "functions" you need (via Node.js) and use them on google cloud systems.</a:t>
            </a:r>
          </a:p>
          <a:p>
            <a:r>
              <a:rPr lang="en-US" dirty="0" smtClean="0"/>
              <a:t>Low maintenance and it keeps your logic private and secure (not within the app itself)</a:t>
            </a:r>
          </a:p>
          <a:p>
            <a:r>
              <a:rPr lang="en-US" dirty="0" smtClean="0"/>
              <a:t>Allows for you to use more </a:t>
            </a:r>
            <a:r>
              <a:rPr lang="en-US" dirty="0" err="1" smtClean="0"/>
              <a:t>cpu</a:t>
            </a:r>
            <a:r>
              <a:rPr lang="en-US" dirty="0" smtClean="0"/>
              <a:t> power then a device has.</a:t>
            </a:r>
          </a:p>
          <a:p>
            <a:r>
              <a:rPr lang="en-US" dirty="0" smtClean="0"/>
              <a:t>These can connect to storage and database.</a:t>
            </a:r>
          </a:p>
          <a:p>
            <a:pPr lvl="1"/>
            <a:r>
              <a:rPr lang="en-US" dirty="0">
                <a:hlinkClick r:id="rId2"/>
              </a:rPr>
              <a:t>https://</a:t>
            </a:r>
            <a:r>
              <a:rPr lang="en-US" dirty="0" smtClean="0">
                <a:hlinkClick r:id="rId2"/>
              </a:rPr>
              <a:t>www.youtube.com/watch?v=bpFAdhNkA6c</a:t>
            </a:r>
            <a:r>
              <a:rPr lang="en-US" dirty="0" smtClean="0"/>
              <a:t> </a:t>
            </a:r>
            <a:endParaRPr lang="en-US" dirty="0"/>
          </a:p>
          <a:p>
            <a:endParaRPr lang="en-US" dirty="0" smtClean="0"/>
          </a:p>
          <a:p>
            <a:pPr lvl="1"/>
            <a:r>
              <a:rPr lang="en-US" dirty="0" smtClean="0"/>
              <a:t>You will need Node.js, </a:t>
            </a:r>
            <a:r>
              <a:rPr lang="en-US" dirty="0" err="1" smtClean="0"/>
              <a:t>npm</a:t>
            </a:r>
            <a:r>
              <a:rPr lang="en-US" dirty="0" smtClean="0"/>
              <a:t> (included in node), and firebase-tools.   This all command line, not studio.  </a:t>
            </a:r>
            <a:r>
              <a:rPr lang="en-US" dirty="0"/>
              <a:t>See </a:t>
            </a:r>
            <a:r>
              <a:rPr lang="en-US" dirty="0">
                <a:hlinkClick r:id="rId3"/>
              </a:rPr>
              <a:t>https://</a:t>
            </a:r>
            <a:r>
              <a:rPr lang="en-US" dirty="0" smtClean="0">
                <a:hlinkClick r:id="rId3"/>
              </a:rPr>
              <a:t>firebase.google.com/docs/functions/get-started</a:t>
            </a:r>
            <a:r>
              <a:rPr lang="en-US" dirty="0" smtClean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281453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google authentication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19311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Using Google Authentication with firebase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If you app already uses google authentication, (</a:t>
            </a:r>
            <a:r>
              <a:rPr lang="en-US" dirty="0" err="1" smtClean="0"/>
              <a:t>ie</a:t>
            </a:r>
            <a:r>
              <a:rPr lang="en-US" dirty="0" smtClean="0"/>
              <a:t> requires a google </a:t>
            </a:r>
            <a:r>
              <a:rPr lang="en-US" dirty="0" err="1" smtClean="0"/>
              <a:t>signin</a:t>
            </a:r>
            <a:r>
              <a:rPr lang="en-US" dirty="0" smtClean="0"/>
              <a:t>)</a:t>
            </a:r>
          </a:p>
          <a:p>
            <a:pPr lvl="1"/>
            <a:r>
              <a:rPr lang="en-US" dirty="0" smtClean="0"/>
              <a:t>Then you can use that to login to firebase as well.</a:t>
            </a:r>
          </a:p>
          <a:p>
            <a:r>
              <a:rPr lang="en-US" dirty="0" smtClean="0"/>
              <a:t>First sign in with </a:t>
            </a:r>
            <a:r>
              <a:rPr lang="en-US" smtClean="0"/>
              <a:t>Google Authentication</a:t>
            </a:r>
            <a:endParaRPr lang="en-US" dirty="0" smtClean="0"/>
          </a:p>
          <a:p>
            <a:r>
              <a:rPr lang="en-US" dirty="0" smtClean="0"/>
              <a:t>Pass the credentials off to firebase.</a:t>
            </a:r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pPr lvl="3"/>
            <a:r>
              <a:rPr lang="en-US" dirty="0" smtClean="0"/>
              <a:t>https</a:t>
            </a:r>
            <a:r>
              <a:rPr lang="en-US" dirty="0"/>
              <a:t>://developers.google.com/identity/sign-in/android/sign-in</a:t>
            </a:r>
          </a:p>
        </p:txBody>
      </p:sp>
    </p:spTree>
    <p:extLst>
      <p:ext uri="{BB962C8B-B14F-4D97-AF65-F5344CB8AC3E}">
        <p14:creationId xmlns:p14="http://schemas.microsoft.com/office/powerpoint/2010/main" val="161411305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Google </a:t>
            </a:r>
            <a:r>
              <a:rPr lang="en-US" dirty="0" err="1" smtClean="0"/>
              <a:t>SignIn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/>
              <a:t>In </a:t>
            </a:r>
            <a:r>
              <a:rPr lang="en-US" dirty="0" err="1" smtClean="0"/>
              <a:t>FireBase</a:t>
            </a:r>
            <a:r>
              <a:rPr lang="en-US" dirty="0" smtClean="0"/>
              <a:t> UI, we let it do the heavy lifting.</a:t>
            </a:r>
          </a:p>
          <a:p>
            <a:r>
              <a:rPr lang="en-US" dirty="0" smtClean="0"/>
              <a:t>Here we will do it manually.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err="1"/>
              <a:t>GoogleSignInOptions</a:t>
            </a:r>
            <a:r>
              <a:rPr lang="en-US" dirty="0"/>
              <a:t> </a:t>
            </a:r>
            <a:r>
              <a:rPr lang="en-US" dirty="0" err="1"/>
              <a:t>gso</a:t>
            </a:r>
            <a:r>
              <a:rPr lang="en-US" dirty="0"/>
              <a:t> = new </a:t>
            </a:r>
            <a:r>
              <a:rPr lang="en-US" dirty="0" err="1"/>
              <a:t>GoogleSignInOptions.Builder</a:t>
            </a:r>
            <a:r>
              <a:rPr lang="en-US" dirty="0" smtClean="0"/>
              <a:t>( </a:t>
            </a:r>
            <a:r>
              <a:rPr lang="en-US" dirty="0" err="1" smtClean="0"/>
              <a:t>GoogleSignInOptions.DEFAULT_SIGN_IN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            .</a:t>
            </a:r>
            <a:r>
              <a:rPr lang="en-US" dirty="0" err="1"/>
              <a:t>requestIdToken</a:t>
            </a:r>
            <a:r>
              <a:rPr lang="en-US" dirty="0"/>
              <a:t>(</a:t>
            </a:r>
            <a:r>
              <a:rPr lang="en-US" dirty="0" err="1"/>
              <a:t>getString</a:t>
            </a:r>
            <a:r>
              <a:rPr lang="en-US" dirty="0"/>
              <a:t>(</a:t>
            </a:r>
            <a:r>
              <a:rPr lang="en-US" dirty="0" err="1"/>
              <a:t>R.string.default_web_client_id</a:t>
            </a:r>
            <a:r>
              <a:rPr lang="en-US" dirty="0"/>
              <a:t>))</a:t>
            </a:r>
          </a:p>
          <a:p>
            <a:pPr marL="0" indent="0">
              <a:buNone/>
            </a:pPr>
            <a:r>
              <a:rPr lang="en-US" dirty="0"/>
              <a:t>            .</a:t>
            </a:r>
            <a:r>
              <a:rPr lang="en-US" dirty="0" err="1"/>
              <a:t>requestEmail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/>
              <a:t>            .build</a:t>
            </a:r>
            <a:r>
              <a:rPr lang="en-US" dirty="0" smtClean="0"/>
              <a:t>();</a:t>
            </a:r>
            <a:endParaRPr lang="en-US" dirty="0"/>
          </a:p>
          <a:p>
            <a:r>
              <a:rPr lang="en-US" dirty="0" smtClean="0"/>
              <a:t>get </a:t>
            </a:r>
            <a:r>
              <a:rPr lang="en-US" dirty="0"/>
              <a:t>the sign in </a:t>
            </a:r>
            <a:r>
              <a:rPr lang="en-US" dirty="0" smtClean="0"/>
              <a:t>client and start the activity for it.</a:t>
            </a:r>
            <a:endParaRPr lang="en-US" dirty="0"/>
          </a:p>
          <a:p>
            <a:pPr marL="0" indent="0">
              <a:buNone/>
            </a:pPr>
            <a:r>
              <a:rPr lang="en-US" dirty="0" err="1" smtClean="0"/>
              <a:t>mGoogleSignInClient</a:t>
            </a:r>
            <a:r>
              <a:rPr lang="en-US" dirty="0" smtClean="0"/>
              <a:t> </a:t>
            </a:r>
            <a:r>
              <a:rPr lang="en-US" dirty="0"/>
              <a:t>= </a:t>
            </a:r>
            <a:r>
              <a:rPr lang="en-US" dirty="0" err="1"/>
              <a:t>GoogleSignIn.getClient</a:t>
            </a:r>
            <a:r>
              <a:rPr lang="en-US" dirty="0"/>
              <a:t>(</a:t>
            </a:r>
            <a:r>
              <a:rPr lang="en-US" dirty="0" err="1"/>
              <a:t>getContext</a:t>
            </a:r>
            <a:r>
              <a:rPr lang="en-US" dirty="0"/>
              <a:t>(), </a:t>
            </a:r>
            <a:r>
              <a:rPr lang="en-US" dirty="0" err="1"/>
              <a:t>gso</a:t>
            </a:r>
            <a:r>
              <a:rPr lang="en-US" dirty="0" smtClean="0"/>
              <a:t>);</a:t>
            </a:r>
          </a:p>
          <a:p>
            <a:pPr marL="0" indent="0">
              <a:buNone/>
            </a:pPr>
            <a:r>
              <a:rPr lang="en-US" dirty="0" smtClean="0"/>
              <a:t>Intent </a:t>
            </a:r>
            <a:r>
              <a:rPr lang="en-US" dirty="0" err="1"/>
              <a:t>signInIntent</a:t>
            </a:r>
            <a:r>
              <a:rPr lang="en-US" dirty="0"/>
              <a:t> = </a:t>
            </a:r>
            <a:r>
              <a:rPr lang="en-US" dirty="0" err="1"/>
              <a:t>mGoogleSignInClient.getSignInIntent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 err="1" smtClean="0"/>
              <a:t>startActivityForResult</a:t>
            </a:r>
            <a:r>
              <a:rPr lang="en-US" dirty="0" smtClean="0"/>
              <a:t>(</a:t>
            </a:r>
            <a:r>
              <a:rPr lang="en-US" dirty="0" err="1" smtClean="0"/>
              <a:t>signInIntent</a:t>
            </a:r>
            <a:r>
              <a:rPr lang="en-US" dirty="0"/>
              <a:t>, </a:t>
            </a:r>
            <a:r>
              <a:rPr lang="en-US" dirty="0" err="1"/>
              <a:t>MainActivity.RC_G_SIGN_IN</a:t>
            </a:r>
            <a:r>
              <a:rPr lang="en-US" dirty="0"/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270162512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Google </a:t>
            </a:r>
            <a:r>
              <a:rPr lang="en-US" dirty="0" err="1" smtClean="0"/>
              <a:t>SignIn</a:t>
            </a:r>
            <a:r>
              <a:rPr lang="en-US" dirty="0" smtClean="0"/>
              <a:t> (2)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 smtClean="0"/>
              <a:t>In </a:t>
            </a:r>
            <a:r>
              <a:rPr lang="en-US" dirty="0" err="1" smtClean="0"/>
              <a:t>onActivityResult</a:t>
            </a:r>
            <a:endParaRPr lang="en-US" dirty="0" smtClean="0"/>
          </a:p>
          <a:p>
            <a:pPr marL="0" indent="0">
              <a:buNone/>
            </a:pPr>
            <a:r>
              <a:rPr lang="en-US" dirty="0"/>
              <a:t> if (</a:t>
            </a:r>
            <a:r>
              <a:rPr lang="en-US" dirty="0" err="1"/>
              <a:t>requestCode</a:t>
            </a:r>
            <a:r>
              <a:rPr lang="en-US" dirty="0"/>
              <a:t> == </a:t>
            </a:r>
            <a:r>
              <a:rPr lang="en-US" dirty="0" err="1"/>
              <a:t>MainActivity.RC_G_SIGN_IN</a:t>
            </a:r>
            <a:r>
              <a:rPr lang="en-US" dirty="0"/>
              <a:t>) {</a:t>
            </a:r>
          </a:p>
          <a:p>
            <a:pPr marL="0" indent="0">
              <a:buNone/>
            </a:pPr>
            <a:r>
              <a:rPr lang="en-US" dirty="0" smtClean="0"/>
              <a:t>            </a:t>
            </a:r>
            <a:r>
              <a:rPr lang="en-US" dirty="0"/>
              <a:t>Task&lt;</a:t>
            </a:r>
            <a:r>
              <a:rPr lang="en-US" dirty="0" err="1"/>
              <a:t>GoogleSignInAccount</a:t>
            </a:r>
            <a:r>
              <a:rPr lang="en-US" dirty="0"/>
              <a:t>&gt; task = </a:t>
            </a:r>
            <a:r>
              <a:rPr lang="en-US" dirty="0" err="1"/>
              <a:t>GoogleSignIn.getSignedInAccountFromIntent</a:t>
            </a:r>
            <a:r>
              <a:rPr lang="en-US" dirty="0"/>
              <a:t>(data);</a:t>
            </a:r>
          </a:p>
          <a:p>
            <a:pPr marL="0" indent="0">
              <a:buNone/>
            </a:pPr>
            <a:r>
              <a:rPr lang="en-US" dirty="0"/>
              <a:t>            try {</a:t>
            </a:r>
          </a:p>
          <a:p>
            <a:pPr marL="0" indent="0">
              <a:buNone/>
            </a:pPr>
            <a:r>
              <a:rPr lang="en-US" dirty="0"/>
              <a:t>                </a:t>
            </a:r>
            <a:r>
              <a:rPr lang="en-US" dirty="0" err="1"/>
              <a:t>GoogleSignInAccount</a:t>
            </a:r>
            <a:r>
              <a:rPr lang="en-US" dirty="0"/>
              <a:t> account = </a:t>
            </a:r>
            <a:r>
              <a:rPr lang="en-US" dirty="0" err="1"/>
              <a:t>task.getResult</a:t>
            </a:r>
            <a:r>
              <a:rPr lang="en-US" dirty="0"/>
              <a:t>(</a:t>
            </a:r>
            <a:r>
              <a:rPr lang="en-US" dirty="0" err="1"/>
              <a:t>ApiException.class</a:t>
            </a:r>
            <a:r>
              <a:rPr lang="en-US" dirty="0"/>
              <a:t>);</a:t>
            </a:r>
          </a:p>
          <a:p>
            <a:pPr marL="0" indent="0">
              <a:buNone/>
            </a:pPr>
            <a:r>
              <a:rPr lang="en-US" dirty="0" smtClean="0"/>
              <a:t>                // </a:t>
            </a:r>
            <a:r>
              <a:rPr lang="en-US" dirty="0"/>
              <a:t>Google Sign In was successful, authenticate with Firebase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                </a:t>
            </a:r>
            <a:r>
              <a:rPr lang="en-US" dirty="0" err="1">
                <a:solidFill>
                  <a:srgbClr val="FF0000"/>
                </a:solidFill>
              </a:rPr>
              <a:t>firebaseAuthWithGoogle</a:t>
            </a:r>
            <a:r>
              <a:rPr lang="en-US" dirty="0">
                <a:solidFill>
                  <a:srgbClr val="FF0000"/>
                </a:solidFill>
              </a:rPr>
              <a:t>(account</a:t>
            </a:r>
            <a:r>
              <a:rPr lang="en-US" dirty="0" smtClean="0">
                <a:solidFill>
                  <a:srgbClr val="FF0000"/>
                </a:solidFill>
              </a:rPr>
              <a:t>);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    } catch (</a:t>
            </a:r>
            <a:r>
              <a:rPr lang="en-US" dirty="0" err="1"/>
              <a:t>ApiException</a:t>
            </a:r>
            <a:r>
              <a:rPr lang="en-US" dirty="0"/>
              <a:t> e) </a:t>
            </a:r>
            <a:r>
              <a:rPr lang="en-US" dirty="0" smtClean="0"/>
              <a:t>{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	//failed to sign in.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	}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}</a:t>
            </a:r>
          </a:p>
        </p:txBody>
      </p:sp>
    </p:spTree>
    <p:extLst>
      <p:ext uri="{BB962C8B-B14F-4D97-AF65-F5344CB8AC3E}">
        <p14:creationId xmlns:p14="http://schemas.microsoft.com/office/powerpoint/2010/main" val="63132521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firebaseAuthWithGoogle</a:t>
            </a:r>
            <a:r>
              <a:rPr lang="en-US" dirty="0" smtClean="0"/>
              <a:t> part.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dirty="0" smtClean="0"/>
              <a:t>Get the credential from the account.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err="1"/>
              <a:t>AuthCredential</a:t>
            </a:r>
            <a:r>
              <a:rPr lang="en-US" dirty="0"/>
              <a:t> credential = </a:t>
            </a:r>
            <a:r>
              <a:rPr lang="en-US" dirty="0" err="1"/>
              <a:t>GoogleAuthProvider.getCredential</a:t>
            </a:r>
            <a:r>
              <a:rPr lang="en-US" dirty="0"/>
              <a:t>(</a:t>
            </a:r>
            <a:r>
              <a:rPr lang="en-US" dirty="0" err="1"/>
              <a:t>acct.getIdToken</a:t>
            </a:r>
            <a:r>
              <a:rPr lang="en-US" dirty="0"/>
              <a:t>(), null</a:t>
            </a:r>
            <a:r>
              <a:rPr lang="en-US" dirty="0" smtClean="0"/>
              <a:t>);</a:t>
            </a:r>
          </a:p>
          <a:p>
            <a:r>
              <a:rPr lang="en-US" dirty="0" smtClean="0"/>
              <a:t>Now sign in to the firebase.</a:t>
            </a:r>
            <a:endParaRPr lang="en-US" dirty="0"/>
          </a:p>
          <a:p>
            <a:pPr marL="0" indent="0">
              <a:buNone/>
            </a:pPr>
            <a:r>
              <a:rPr lang="en-US" dirty="0" err="1" smtClean="0"/>
              <a:t>mFirebaseAuth.signInWithCredential</a:t>
            </a:r>
            <a:r>
              <a:rPr lang="en-US" dirty="0" smtClean="0"/>
              <a:t>(credential)</a:t>
            </a:r>
          </a:p>
          <a:p>
            <a:pPr marL="0" indent="0">
              <a:buNone/>
            </a:pPr>
            <a:r>
              <a:rPr lang="en-US" dirty="0"/>
              <a:t> .</a:t>
            </a:r>
            <a:r>
              <a:rPr lang="en-US" dirty="0" err="1"/>
              <a:t>addOnCompleteListener</a:t>
            </a:r>
            <a:r>
              <a:rPr lang="en-US" dirty="0"/>
              <a:t>(</a:t>
            </a:r>
            <a:r>
              <a:rPr lang="en-US" dirty="0" err="1"/>
              <a:t>getActivity</a:t>
            </a:r>
            <a:r>
              <a:rPr lang="en-US" dirty="0"/>
              <a:t>(), new </a:t>
            </a:r>
            <a:r>
              <a:rPr lang="en-US" dirty="0" err="1"/>
              <a:t>OnCompleteListener</a:t>
            </a:r>
            <a:r>
              <a:rPr lang="en-US" dirty="0"/>
              <a:t>&lt;</a:t>
            </a:r>
            <a:r>
              <a:rPr lang="en-US" dirty="0" err="1"/>
              <a:t>AuthResult</a:t>
            </a:r>
            <a:r>
              <a:rPr lang="en-US" dirty="0"/>
              <a:t>&gt;() {</a:t>
            </a:r>
          </a:p>
          <a:p>
            <a:pPr marL="0" indent="0">
              <a:buNone/>
            </a:pPr>
            <a:r>
              <a:rPr lang="en-US" dirty="0"/>
              <a:t>                @Override</a:t>
            </a:r>
          </a:p>
          <a:p>
            <a:pPr marL="0" indent="0">
              <a:buNone/>
            </a:pPr>
            <a:r>
              <a:rPr lang="en-US" dirty="0"/>
              <a:t>                public void </a:t>
            </a:r>
            <a:r>
              <a:rPr lang="en-US" dirty="0" err="1"/>
              <a:t>onComplete</a:t>
            </a:r>
            <a:r>
              <a:rPr lang="en-US" dirty="0"/>
              <a:t>(@</a:t>
            </a:r>
            <a:r>
              <a:rPr lang="en-US" dirty="0" err="1"/>
              <a:t>NonNull</a:t>
            </a:r>
            <a:r>
              <a:rPr lang="en-US" dirty="0"/>
              <a:t> Task&lt;</a:t>
            </a:r>
            <a:r>
              <a:rPr lang="en-US" dirty="0" err="1"/>
              <a:t>AuthResult</a:t>
            </a:r>
            <a:r>
              <a:rPr lang="en-US" dirty="0"/>
              <a:t>&gt; task) {</a:t>
            </a:r>
          </a:p>
          <a:p>
            <a:pPr lvl="1"/>
            <a:r>
              <a:rPr lang="en-US" dirty="0" smtClean="0"/>
              <a:t>if </a:t>
            </a:r>
            <a:r>
              <a:rPr lang="en-US" dirty="0"/>
              <a:t>sign in fails, display a message to the user. If sign in </a:t>
            </a:r>
            <a:r>
              <a:rPr lang="en-US" dirty="0" smtClean="0"/>
              <a:t>succeeds the </a:t>
            </a:r>
            <a:r>
              <a:rPr lang="en-US" dirty="0" err="1"/>
              <a:t>auth</a:t>
            </a:r>
            <a:r>
              <a:rPr lang="en-US" dirty="0"/>
              <a:t> state listener will be notified and logic to handle </a:t>
            </a:r>
            <a:r>
              <a:rPr lang="en-US" dirty="0" smtClean="0"/>
              <a:t>the </a:t>
            </a:r>
            <a:r>
              <a:rPr lang="en-US" dirty="0"/>
              <a:t>signed in user can be handled in the listener.</a:t>
            </a:r>
          </a:p>
          <a:p>
            <a:pPr marL="0" indent="0">
              <a:buNone/>
            </a:pPr>
            <a:r>
              <a:rPr lang="en-US" dirty="0"/>
              <a:t>                    if (!</a:t>
            </a:r>
            <a:r>
              <a:rPr lang="en-US" dirty="0" err="1"/>
              <a:t>task.isSuccessful</a:t>
            </a:r>
            <a:r>
              <a:rPr lang="en-US" dirty="0"/>
              <a:t>()) {</a:t>
            </a:r>
          </a:p>
          <a:p>
            <a:pPr marL="0" indent="0">
              <a:buNone/>
            </a:pPr>
            <a:r>
              <a:rPr lang="en-US" dirty="0" smtClean="0"/>
              <a:t> 	         </a:t>
            </a:r>
            <a:r>
              <a:rPr lang="en-US" dirty="0" err="1" smtClean="0"/>
              <a:t>Log.w</a:t>
            </a:r>
            <a:r>
              <a:rPr lang="en-US" dirty="0" smtClean="0"/>
              <a:t>(TAG</a:t>
            </a:r>
            <a:r>
              <a:rPr lang="en-US" dirty="0"/>
              <a:t>, "</a:t>
            </a:r>
            <a:r>
              <a:rPr lang="en-US" dirty="0" err="1"/>
              <a:t>signInWithCredential</a:t>
            </a:r>
            <a:r>
              <a:rPr lang="en-US" dirty="0"/>
              <a:t>", </a:t>
            </a:r>
            <a:r>
              <a:rPr lang="en-US" dirty="0" err="1"/>
              <a:t>task.getException</a:t>
            </a:r>
            <a:r>
              <a:rPr lang="en-US" dirty="0"/>
              <a:t>());</a:t>
            </a:r>
          </a:p>
          <a:p>
            <a:pPr marL="0" indent="0">
              <a:buNone/>
            </a:pPr>
            <a:r>
              <a:rPr lang="en-US" dirty="0"/>
              <a:t>                    } else {</a:t>
            </a:r>
          </a:p>
          <a:p>
            <a:pPr lvl="1"/>
            <a:r>
              <a:rPr lang="en-US" dirty="0" err="1" smtClean="0"/>
              <a:t>SignIn</a:t>
            </a:r>
            <a:r>
              <a:rPr lang="en-US" dirty="0" smtClean="0"/>
              <a:t> </a:t>
            </a:r>
            <a:r>
              <a:rPr lang="en-US" dirty="0"/>
              <a:t>Success</a:t>
            </a:r>
            <a:r>
              <a:rPr lang="en-US" dirty="0" smtClean="0"/>
              <a:t>"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                </a:t>
            </a:r>
            <a:r>
              <a:rPr lang="en-US" dirty="0" err="1"/>
              <a:t>mFirebaseUser</a:t>
            </a:r>
            <a:r>
              <a:rPr lang="en-US" dirty="0"/>
              <a:t> = </a:t>
            </a:r>
            <a:r>
              <a:rPr lang="en-US" dirty="0" err="1"/>
              <a:t>mFirebaseAuth.getCurrentUser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/>
              <a:t>                        </a:t>
            </a:r>
            <a:r>
              <a:rPr lang="en-US" dirty="0" err="1"/>
              <a:t>mUsername</a:t>
            </a:r>
            <a:r>
              <a:rPr lang="en-US" dirty="0"/>
              <a:t> = </a:t>
            </a:r>
            <a:r>
              <a:rPr lang="en-US" dirty="0" err="1"/>
              <a:t>mFirebaseUser.getDisplayName</a:t>
            </a:r>
            <a:r>
              <a:rPr lang="en-US" dirty="0" smtClean="0"/>
              <a:t>();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            </a:t>
            </a:r>
            <a:r>
              <a:rPr lang="en-US" dirty="0" smtClean="0"/>
              <a:t>}     }   </a:t>
            </a:r>
            <a:r>
              <a:rPr lang="en-US" dirty="0"/>
              <a:t>});</a:t>
            </a:r>
          </a:p>
        </p:txBody>
      </p:sp>
    </p:spTree>
    <p:extLst>
      <p:ext uri="{BB962C8B-B14F-4D97-AF65-F5344CB8AC3E}">
        <p14:creationId xmlns:p14="http://schemas.microsoft.com/office/powerpoint/2010/main" val="173828222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code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The </a:t>
            </a:r>
            <a:r>
              <a:rPr lang="en-US" dirty="0" err="1" smtClean="0"/>
              <a:t>FbDatabaseAuthDemo</a:t>
            </a:r>
            <a:r>
              <a:rPr lang="en-US" dirty="0" smtClean="0"/>
              <a:t> </a:t>
            </a:r>
          </a:p>
          <a:p>
            <a:pPr lvl="1"/>
            <a:r>
              <a:rPr lang="en-US" dirty="0" smtClean="0"/>
              <a:t>Has code to firebase sign example</a:t>
            </a:r>
          </a:p>
          <a:p>
            <a:pPr lvl="1"/>
            <a:r>
              <a:rPr lang="en-US" dirty="0" err="1" smtClean="0"/>
              <a:t>DBlistFragment</a:t>
            </a:r>
            <a:r>
              <a:rPr lang="en-US" dirty="0" smtClean="0"/>
              <a:t> and </a:t>
            </a:r>
            <a:r>
              <a:rPr lang="en-US" dirty="0" err="1" smtClean="0"/>
              <a:t>DBSimpleFragment</a:t>
            </a:r>
            <a:r>
              <a:rPr lang="en-US" dirty="0" smtClean="0"/>
              <a:t> use </a:t>
            </a:r>
            <a:r>
              <a:rPr lang="en-US" dirty="0" err="1" smtClean="0"/>
              <a:t>RealTime</a:t>
            </a:r>
            <a:r>
              <a:rPr lang="en-US" dirty="0" smtClean="0"/>
              <a:t> database example.</a:t>
            </a:r>
          </a:p>
          <a:p>
            <a:pPr lvl="1"/>
            <a:r>
              <a:rPr lang="en-US" dirty="0" err="1" smtClean="0"/>
              <a:t>RCFragment</a:t>
            </a:r>
            <a:r>
              <a:rPr lang="en-US" dirty="0" smtClean="0"/>
              <a:t> has </a:t>
            </a:r>
            <a:r>
              <a:rPr lang="en-US" dirty="0" err="1" smtClean="0"/>
              <a:t>remoteconfig</a:t>
            </a:r>
            <a:endParaRPr lang="en-US" dirty="0" smtClean="0"/>
          </a:p>
          <a:p>
            <a:pPr lvl="1"/>
            <a:r>
              <a:rPr lang="en-US" dirty="0" err="1" smtClean="0"/>
              <a:t>StorageFragment</a:t>
            </a:r>
            <a:r>
              <a:rPr lang="en-US" dirty="0" smtClean="0"/>
              <a:t> has all the code for storage</a:t>
            </a:r>
          </a:p>
          <a:p>
            <a:pPr lvl="1"/>
            <a:r>
              <a:rPr lang="en-US" dirty="0" err="1" smtClean="0"/>
              <a:t>MessingService</a:t>
            </a:r>
            <a:r>
              <a:rPr lang="en-US" dirty="0" smtClean="0"/>
              <a:t> will catch notification message (not cloud) even when the app is running.</a:t>
            </a:r>
          </a:p>
          <a:p>
            <a:pPr lvl="1"/>
            <a:r>
              <a:rPr lang="en-US" dirty="0" err="1" smtClean="0"/>
              <a:t>InviteAntFragment</a:t>
            </a:r>
            <a:r>
              <a:rPr lang="en-US" dirty="0" smtClean="0"/>
              <a:t> is an attempt at invites, but doesn't seem to work</a:t>
            </a:r>
            <a:r>
              <a:rPr lang="en-US" dirty="0" smtClean="0"/>
              <a:t>.</a:t>
            </a:r>
          </a:p>
          <a:p>
            <a:r>
              <a:rPr lang="en-US" dirty="0" err="1" smtClean="0"/>
              <a:t>FirebaseFireStoreDemo</a:t>
            </a:r>
            <a:endParaRPr lang="en-US" dirty="0" smtClean="0"/>
          </a:p>
          <a:p>
            <a:pPr lvl="1"/>
            <a:r>
              <a:rPr lang="en-US" dirty="0" smtClean="0"/>
              <a:t>uses the </a:t>
            </a:r>
            <a:r>
              <a:rPr lang="en-US" dirty="0" err="1" smtClean="0"/>
              <a:t>firestore</a:t>
            </a:r>
            <a:r>
              <a:rPr lang="en-US" dirty="0" smtClean="0"/>
              <a:t> </a:t>
            </a:r>
            <a:r>
              <a:rPr lang="en-US" dirty="0" err="1" smtClean="0"/>
              <a:t>db</a:t>
            </a:r>
            <a:r>
              <a:rPr lang="en-US" dirty="0" smtClean="0"/>
              <a:t> (can't have </a:t>
            </a:r>
            <a:r>
              <a:rPr lang="en-US" dirty="0" err="1" smtClean="0"/>
              <a:t>realtime</a:t>
            </a:r>
            <a:r>
              <a:rPr lang="en-US" dirty="0" smtClean="0"/>
              <a:t> and </a:t>
            </a:r>
            <a:r>
              <a:rPr lang="en-US" dirty="0" err="1" smtClean="0"/>
              <a:t>firestore</a:t>
            </a:r>
            <a:r>
              <a:rPr lang="en-US" dirty="0" smtClean="0"/>
              <a:t> in the sam</a:t>
            </a:r>
            <a:r>
              <a:rPr lang="en-US" dirty="0" smtClean="0"/>
              <a:t>e project) and authentication.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461527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>
                <a:hlinkClick r:id="rId2"/>
              </a:rPr>
              <a:t>https://console.firebase.google.com</a:t>
            </a:r>
            <a:r>
              <a:rPr lang="en-US" dirty="0" smtClean="0">
                <a:hlinkClick r:id="rId2"/>
              </a:rPr>
              <a:t>/</a:t>
            </a:r>
            <a:r>
              <a:rPr lang="en-US" dirty="0" smtClean="0"/>
              <a:t> </a:t>
            </a:r>
          </a:p>
          <a:p>
            <a:r>
              <a:rPr lang="en-US" dirty="0">
                <a:hlinkClick r:id="rId3"/>
              </a:rPr>
              <a:t>https://firebase.google.com/docs</a:t>
            </a:r>
            <a:r>
              <a:rPr lang="en-US" dirty="0" smtClean="0">
                <a:hlinkClick r:id="rId3"/>
              </a:rPr>
              <a:t>/</a:t>
            </a:r>
            <a:r>
              <a:rPr lang="en-US" dirty="0" smtClean="0"/>
              <a:t> </a:t>
            </a:r>
          </a:p>
          <a:p>
            <a:pPr lvl="1"/>
            <a:r>
              <a:rPr lang="en-US" dirty="0" smtClean="0"/>
              <a:t>Many of the sub doc's where listed on slides.</a:t>
            </a:r>
          </a:p>
          <a:p>
            <a:pPr lvl="1"/>
            <a:endParaRPr lang="en-US" dirty="0"/>
          </a:p>
          <a:p>
            <a:r>
              <a:rPr lang="en-US" dirty="0" smtClean="0"/>
              <a:t>Code lab:  </a:t>
            </a:r>
            <a:r>
              <a:rPr lang="en-US" dirty="0" err="1" smtClean="0"/>
              <a:t>FriendlyChat</a:t>
            </a:r>
            <a:r>
              <a:rPr lang="en-US" dirty="0" smtClean="0"/>
              <a:t> app  (about 2ish hours)</a:t>
            </a:r>
          </a:p>
          <a:p>
            <a:pPr lvl="1"/>
            <a:r>
              <a:rPr lang="en-US" dirty="0">
                <a:hlinkClick r:id="rId4"/>
              </a:rPr>
              <a:t>https://codelabs.developers.google.com/codelabs/firebase-android/#</a:t>
            </a:r>
            <a:r>
              <a:rPr lang="en-US" dirty="0" smtClean="0">
                <a:hlinkClick r:id="rId4"/>
              </a:rPr>
              <a:t>0</a:t>
            </a:r>
            <a:r>
              <a:rPr lang="en-US" dirty="0" smtClean="0"/>
              <a:t> </a:t>
            </a:r>
          </a:p>
          <a:p>
            <a:pPr lvl="2"/>
            <a:r>
              <a:rPr lang="en-US" dirty="0" smtClean="0"/>
              <a:t>Covers database, </a:t>
            </a:r>
            <a:r>
              <a:rPr lang="en-US" dirty="0" err="1" smtClean="0"/>
              <a:t>auth</a:t>
            </a:r>
            <a:r>
              <a:rPr lang="en-US" dirty="0" smtClean="0"/>
              <a:t>, invites, remote </a:t>
            </a:r>
            <a:r>
              <a:rPr lang="en-US" dirty="0" err="1" smtClean="0"/>
              <a:t>config</a:t>
            </a:r>
            <a:r>
              <a:rPr lang="en-US" dirty="0" smtClean="0"/>
              <a:t>, </a:t>
            </a:r>
            <a:r>
              <a:rPr lang="en-US" dirty="0" err="1" smtClean="0"/>
              <a:t>admob</a:t>
            </a:r>
            <a:r>
              <a:rPr lang="en-US" dirty="0" smtClean="0"/>
              <a:t>, analytics, and firebase notifications.  </a:t>
            </a:r>
            <a:endParaRPr lang="en-US" dirty="0"/>
          </a:p>
          <a:p>
            <a:r>
              <a:rPr lang="en-US" dirty="0" smtClean="0"/>
              <a:t>A short course (about 8 hours) Firebase in a weekend</a:t>
            </a:r>
          </a:p>
          <a:p>
            <a:pPr lvl="1"/>
            <a:r>
              <a:rPr lang="en-US" dirty="0">
                <a:hlinkClick r:id="rId5"/>
              </a:rPr>
              <a:t>https://</a:t>
            </a:r>
            <a:r>
              <a:rPr lang="en-US" dirty="0" smtClean="0">
                <a:hlinkClick r:id="rId5"/>
              </a:rPr>
              <a:t>classroom.udacity.com/courses/ud0352</a:t>
            </a:r>
            <a:r>
              <a:rPr lang="en-US" dirty="0" smtClean="0"/>
              <a:t> (free course)</a:t>
            </a:r>
          </a:p>
          <a:p>
            <a:pPr lvl="2"/>
            <a:r>
              <a:rPr lang="en-US" dirty="0" smtClean="0"/>
              <a:t>It's dated, but still pretty good.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458273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ext Box 2"/>
          <p:cNvSpPr txBox="1">
            <a:spLocks noChangeArrowheads="1"/>
          </p:cNvSpPr>
          <p:nvPr/>
        </p:nvSpPr>
        <p:spPr bwMode="auto">
          <a:xfrm>
            <a:off x="4243389" y="1676401"/>
            <a:ext cx="1735137" cy="2378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15000" b="1">
                <a:latin typeface="Tahoma" pitchFamily="34" charset="0"/>
              </a:rPr>
              <a:t>Q</a:t>
            </a:r>
          </a:p>
        </p:txBody>
      </p:sp>
      <p:sp>
        <p:nvSpPr>
          <p:cNvPr id="41987" name="Text Box 3"/>
          <p:cNvSpPr txBox="1">
            <a:spLocks noChangeArrowheads="1"/>
          </p:cNvSpPr>
          <p:nvPr/>
        </p:nvSpPr>
        <p:spPr bwMode="auto">
          <a:xfrm>
            <a:off x="6054725" y="2044701"/>
            <a:ext cx="1735138" cy="2378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15000" b="1">
                <a:latin typeface="Tahoma" pitchFamily="34" charset="0"/>
              </a:rPr>
              <a:t>A</a:t>
            </a:r>
          </a:p>
        </p:txBody>
      </p:sp>
      <p:sp>
        <p:nvSpPr>
          <p:cNvPr id="41988" name="Text Box 4"/>
          <p:cNvSpPr txBox="1">
            <a:spLocks noChangeArrowheads="1"/>
          </p:cNvSpPr>
          <p:nvPr/>
        </p:nvSpPr>
        <p:spPr bwMode="auto">
          <a:xfrm>
            <a:off x="5334000" y="2679701"/>
            <a:ext cx="1735138" cy="1616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10000" b="1">
                <a:latin typeface="Tahoma" pitchFamily="34" charset="0"/>
              </a:rPr>
              <a:t>&amp;</a:t>
            </a:r>
            <a:endParaRPr lang="en-US" sz="15000" b="1">
              <a:latin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41692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19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19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19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19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5" presetID="2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19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19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86" grpId="0" autoUpdateAnimBg="0"/>
      <p:bldP spid="41987" grpId="0" autoUpdateAnimBg="0"/>
      <p:bldP spid="41988" grpId="0" autoUpdateAnimBg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5456</TotalTime>
  <Words>3248</Words>
  <Application>Microsoft Office PowerPoint</Application>
  <PresentationFormat>Widescreen</PresentationFormat>
  <Paragraphs>403</Paragraphs>
  <Slides>57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61" baseType="lpstr">
      <vt:lpstr>Arial</vt:lpstr>
      <vt:lpstr>Calibri</vt:lpstr>
      <vt:lpstr>Tahoma</vt:lpstr>
      <vt:lpstr>Office Theme</vt:lpstr>
      <vt:lpstr>Cosc 5/4735</vt:lpstr>
      <vt:lpstr>What is firebase</vt:lpstr>
      <vt:lpstr>What is firebase (2)</vt:lpstr>
      <vt:lpstr>What is firebase (3)</vt:lpstr>
      <vt:lpstr>Console and project SETUP</vt:lpstr>
      <vt:lpstr>Firebase console</vt:lpstr>
      <vt:lpstr>Firebase console (2)</vt:lpstr>
      <vt:lpstr>Basic setup</vt:lpstr>
      <vt:lpstr>Basic Setup (2)</vt:lpstr>
      <vt:lpstr>Basic Setup (3)</vt:lpstr>
      <vt:lpstr>Through the console only</vt:lpstr>
      <vt:lpstr>Analytics</vt:lpstr>
      <vt:lpstr>Analytics</vt:lpstr>
      <vt:lpstr>Notifications  (not cloud messaging)</vt:lpstr>
      <vt:lpstr>Notifications</vt:lpstr>
      <vt:lpstr>Notifications (2)</vt:lpstr>
      <vt:lpstr>Realtime database</vt:lpstr>
      <vt:lpstr>Realtime Database</vt:lpstr>
      <vt:lpstr>Data</vt:lpstr>
      <vt:lpstr>Database setup and use.</vt:lpstr>
      <vt:lpstr>Database setup and use. (2)</vt:lpstr>
      <vt:lpstr>Database notes</vt:lpstr>
      <vt:lpstr>Database and security</vt:lpstr>
      <vt:lpstr>Database and security (2)</vt:lpstr>
      <vt:lpstr>FIREstore</vt:lpstr>
      <vt:lpstr>FireStore Database.</vt:lpstr>
      <vt:lpstr>Rules</vt:lpstr>
      <vt:lpstr>Getting started.</vt:lpstr>
      <vt:lpstr>Adding data.</vt:lpstr>
      <vt:lpstr>In the console it looks like this</vt:lpstr>
      <vt:lpstr>Receive the data</vt:lpstr>
      <vt:lpstr>To get multiple documents from a collection</vt:lpstr>
      <vt:lpstr>Retrieve via a listener</vt:lpstr>
      <vt:lpstr>Authentication</vt:lpstr>
      <vt:lpstr>Authentication</vt:lpstr>
      <vt:lpstr>Setup and use</vt:lpstr>
      <vt:lpstr>Setup and use (2)</vt:lpstr>
      <vt:lpstr>Setup and use (3)</vt:lpstr>
      <vt:lpstr>storage</vt:lpstr>
      <vt:lpstr>Storage</vt:lpstr>
      <vt:lpstr>Setup and use.</vt:lpstr>
      <vt:lpstr>Setup and use (2)</vt:lpstr>
      <vt:lpstr>Security and authentication</vt:lpstr>
      <vt:lpstr>remote config</vt:lpstr>
      <vt:lpstr>Remote Config</vt:lpstr>
      <vt:lpstr>Setup and use.</vt:lpstr>
      <vt:lpstr>Setup and use (2)</vt:lpstr>
      <vt:lpstr>functions</vt:lpstr>
      <vt:lpstr>Functions</vt:lpstr>
      <vt:lpstr>google authentication</vt:lpstr>
      <vt:lpstr>Using Google Authentication with firebase</vt:lpstr>
      <vt:lpstr>Google SignIn</vt:lpstr>
      <vt:lpstr>Google SignIn (2)</vt:lpstr>
      <vt:lpstr>firebaseAuthWithGoogle part.</vt:lpstr>
      <vt:lpstr>Example code</vt:lpstr>
      <vt:lpstr>References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James S. Ward</dc:creator>
  <cp:lastModifiedBy>James S. Ward</cp:lastModifiedBy>
  <cp:revision>58</cp:revision>
  <dcterms:created xsi:type="dcterms:W3CDTF">2006-08-16T00:00:00Z</dcterms:created>
  <dcterms:modified xsi:type="dcterms:W3CDTF">2020-02-18T21:43:10Z</dcterms:modified>
</cp:coreProperties>
</file>